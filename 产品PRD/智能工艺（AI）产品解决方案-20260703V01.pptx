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png" ContentType="image/png"/>
  <Default Extension="wmf" ContentType="image/x-wmf"/>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3" r:id="rId3"/>
    <p:sldMasterId id="2147483666" r:id="rId4"/>
    <p:sldMasterId id="2147483677" r:id="rId5"/>
    <p:sldMasterId id="2147483687" r:id="rId6"/>
  </p:sldMasterIdLst>
  <p:notesMasterIdLst>
    <p:notesMasterId r:id="rId9"/>
  </p:notesMasterIdLst>
  <p:handoutMasterIdLst>
    <p:handoutMasterId r:id="rId80"/>
  </p:handoutMasterIdLst>
  <p:sldIdLst>
    <p:sldId id="16603468" r:id="rId7"/>
    <p:sldId id="16603616" r:id="rId8"/>
    <p:sldId id="16603626" r:id="rId10"/>
    <p:sldId id="16603627" r:id="rId11"/>
    <p:sldId id="16603617" r:id="rId12"/>
    <p:sldId id="16603618" r:id="rId13"/>
    <p:sldId id="16603619" r:id="rId14"/>
    <p:sldId id="16603620" r:id="rId15"/>
    <p:sldId id="16603621" r:id="rId16"/>
    <p:sldId id="16603622" r:id="rId17"/>
    <p:sldId id="16603628" r:id="rId18"/>
    <p:sldId id="16603623" r:id="rId19"/>
    <p:sldId id="16603624" r:id="rId20"/>
    <p:sldId id="16603548" r:id="rId21"/>
    <p:sldId id="16603504" r:id="rId22"/>
    <p:sldId id="16603521" r:id="rId23"/>
    <p:sldId id="16603519" r:id="rId24"/>
    <p:sldId id="16603516" r:id="rId25"/>
    <p:sldId id="16603517" r:id="rId26"/>
    <p:sldId id="16603518" r:id="rId27"/>
    <p:sldId id="16603481" r:id="rId28"/>
    <p:sldId id="16603609" r:id="rId29"/>
    <p:sldId id="16603604" r:id="rId30"/>
    <p:sldId id="16603536" r:id="rId31"/>
    <p:sldId id="16603605" r:id="rId32"/>
    <p:sldId id="16603600" r:id="rId33"/>
    <p:sldId id="16603601" r:id="rId34"/>
    <p:sldId id="16603608" r:id="rId35"/>
    <p:sldId id="16603603" r:id="rId36"/>
    <p:sldId id="16603544" r:id="rId37"/>
    <p:sldId id="16603545" r:id="rId38"/>
    <p:sldId id="16603546" r:id="rId39"/>
    <p:sldId id="16603547" r:id="rId40"/>
    <p:sldId id="16603596" r:id="rId41"/>
    <p:sldId id="16603520" r:id="rId42"/>
    <p:sldId id="16603512" r:id="rId43"/>
    <p:sldId id="16603597" r:id="rId44"/>
    <p:sldId id="16603523" r:id="rId45"/>
    <p:sldId id="16603524" r:id="rId46"/>
    <p:sldId id="16603549" r:id="rId47"/>
    <p:sldId id="16603607" r:id="rId48"/>
    <p:sldId id="16603590" r:id="rId49"/>
    <p:sldId id="16603572" r:id="rId50"/>
    <p:sldId id="16603573" r:id="rId51"/>
    <p:sldId id="16603574" r:id="rId52"/>
    <p:sldId id="16603575" r:id="rId53"/>
    <p:sldId id="16603612" r:id="rId54"/>
    <p:sldId id="16603576" r:id="rId55"/>
    <p:sldId id="16603613" r:id="rId56"/>
    <p:sldId id="16603577" r:id="rId57"/>
    <p:sldId id="16603578" r:id="rId58"/>
    <p:sldId id="16603611" r:id="rId59"/>
    <p:sldId id="16603579" r:id="rId60"/>
    <p:sldId id="16603580" r:id="rId61"/>
    <p:sldId id="16603614" r:id="rId62"/>
    <p:sldId id="16603581" r:id="rId63"/>
    <p:sldId id="16603615" r:id="rId64"/>
    <p:sldId id="16603582" r:id="rId65"/>
    <p:sldId id="16603583" r:id="rId66"/>
    <p:sldId id="16603584" r:id="rId67"/>
    <p:sldId id="16603585" r:id="rId68"/>
    <p:sldId id="16603586" r:id="rId69"/>
    <p:sldId id="16603587" r:id="rId70"/>
    <p:sldId id="16603588" r:id="rId71"/>
    <p:sldId id="16603591" r:id="rId72"/>
    <p:sldId id="16603592" r:id="rId73"/>
    <p:sldId id="16603593" r:id="rId74"/>
    <p:sldId id="16603594" r:id="rId75"/>
    <p:sldId id="16603595" r:id="rId76"/>
    <p:sldId id="16603610" r:id="rId77"/>
    <p:sldId id="16603599" r:id="rId78"/>
    <p:sldId id="16603467" r:id="rId79"/>
  </p:sldIdLst>
  <p:sldSz cx="12192000" cy="6858000"/>
  <p:notesSz cx="6858000" cy="9144000"/>
  <p:custDataLst>
    <p:tags r:id="rId8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52" userDrawn="1">
          <p15:clr>
            <a:srgbClr val="A4A3A4"/>
          </p15:clr>
        </p15:guide>
        <p15:guide id="2" pos="270" userDrawn="1">
          <p15:clr>
            <a:srgbClr val="A4A3A4"/>
          </p15:clr>
        </p15:guide>
        <p15:guide id="3" pos="7107" userDrawn="1">
          <p15:clr>
            <a:srgbClr val="A4A3A4"/>
          </p15:clr>
        </p15:guide>
        <p15:guide id="4" orient="horz" pos="1012" userDrawn="1">
          <p15:clr>
            <a:srgbClr val="A4A3A4"/>
          </p15:clr>
        </p15:guide>
        <p15:guide id="5" orient="horz" pos="3868" userDrawn="1">
          <p15:clr>
            <a:srgbClr val="A4A3A4"/>
          </p15:clr>
        </p15:guide>
        <p15:guide id="6" orient="horz" pos="800" userDrawn="1">
          <p15:clr>
            <a:srgbClr val="A4A3A4"/>
          </p15:clr>
        </p15:guide>
        <p15:guide id="7" pos="4426" userDrawn="1">
          <p15:clr>
            <a:srgbClr val="A4A3A4"/>
          </p15:clr>
        </p15:guide>
        <p15:guide id="8" pos="2914" userDrawn="1">
          <p15:clr>
            <a:srgbClr val="A4A3A4"/>
          </p15:clr>
        </p15:guide>
        <p15:guide id="9" pos="64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李芳芳" initials="李芳芳" lastIdx="7" clrIdx="0"/>
  <p:cmAuthor id="1" name="于小康" initials="于小康" lastIdx="2" clrIdx="0"/>
  <p:cmAuthor id="2" name="何云飞" initials="何云飞" lastIdx="1" clrIdx="1"/>
  <p:cmAuthor id="3" name="祝士勇" initials="祝士勇" lastIdx="10" clrIdx="2"/>
  <p:cmAuthor id="4" name="Ray Yu" initials="RY" lastIdx="1" clrIdx="3"/>
  <p:cmAuthor id="5" name="余彬" initials="余" lastIdx="3" clrIdx="4"/>
  <p:cmAuthor id="6" name="weity" initials="w" lastIdx="1" clrIdx="5"/>
  <p:cmAuthor id="7" name="chengzhengliang" initials="c" lastIdx="2" clrIdx="6"/>
  <p:cmAuthor id="8" name="Microsoft Office User" initials="MOU" lastIdx="1" clrIdx="7"/>
  <p:cmAuthor id="9" name="羽 杨" initials="羽杨" lastIdx="1" clrIdx="8"/>
  <p:cmAuthor id="10" name="Bao Yafei" initials="BY" lastIdx="5" clrIdx="9"/>
  <p:cmAuthor id="11" name="gaozhongjun" initials="g" lastIdx="1" clrIdx="10"/>
  <p:cmAuthor id="12" name="fanhaizhou" initials="f" lastIdx="1" clrIdx="11"/>
  <p:cmAuthor id="13" name="10118178" initials="1" lastIdx="11" clrIdx="10"/>
  <p:cmAuthor id="14" name="zhouwd" initials="z" lastIdx="1" clrIdx="11"/>
  <p:cmAuthor id="15" name="马云飞10014438" initials="马" lastIdx="4" clrIdx="0"/>
  <p:cmAuthor id="16" name="John" initials="J" lastIdx="36" clrIdx="13"/>
  <p:cmAuthor id="17" name="10025093" initials="1" lastIdx="51" clrIdx="14"/>
  <p:cmAuthor id="18" name="10078380" initials="1" lastIdx="1" clrIdx="15"/>
  <p:cmAuthor id="19" name="00035181" initials="0" lastIdx="1" clrIdx="16"/>
  <p:cmAuthor id="20" name="张燕" initials="张" lastIdx="1" clrIdx="17"/>
  <p:cmAuthor id="21" name="Saku Uchikawa" initials="S" lastIdx="11" clrIdx="0"/>
  <p:cmAuthor id="22" name="10066351" initials="1" lastIdx="2" clrIdx="0"/>
  <p:cmAuthor id="23" name="ThinkPad" initials="T" lastIdx="2" clrIdx="22"/>
  <p:cmAuthor id="2000" name="钟仁红_ArYfjaey" initials="authorId_1476495870" lastIdx="0" clrIdx="0"/>
  <p:cmAuthor id="2001" name="方诚_Q7J3JVN3" initials="authorId_555311982" lastIdx="0" clrIdx="0"/>
  <p:cmAuthor id="2002" name="杜明月_vmuinInQ" initials="authorId_1491000826" lastIdx="0" clrIdx="0"/>
  <p:cmAuthor id="781852055" name="水底石头" initials="水" lastIdx="1" clrIdx="8"/>
  <p:cmAuthor id="1550889729" name="高中军" initials="高" lastIdx="1" clrIdx="28"/>
  <p:cmAuthor id="287024677" name="varsha" initials="v" lastIdx="3" clrIdx="2"/>
  <p:cmAuthor id="1669379011" name="李世昌" initials="李" lastIdx="1" clrIdx="6"/>
  <p:cmAuthor id="24" name="HQY" initials="H" lastIdx="1" clrIdx="24"/>
  <p:cmAuthor id="25" name="26582" initials="2" lastIdx="1" clrIdx="26"/>
  <p:cmAuthor id="26" name="宋 磊" initials="宋" lastIdx="1" clrIdx="25"/>
  <p:cmAuthor id="27" name="未知用户6" initials="未知用户6" lastIdx="1" clrIdx="9"/>
  <p:cmAuthor id="28" name="Windows 用户" initials="W用" lastIdx="1" clrIdx="26"/>
  <p:cmAuthor id="29" name="liu qiaobo" initials="lq" lastIdx="1" clrIdx="12"/>
  <p:cmAuthor id="33" name="Carl蔡司" initials="C" lastIdx="1" clrIdx="32"/>
  <p:cmAuthor id="34" name="ren" initials="r" lastIdx="3" clrIdx="33"/>
  <p:cmAuthor id="78" name="zhangshh" initials="z" lastIdx="1" clrIdx="66"/>
  <p:cmAuthor id="42" name="作者" initials="A" lastIdx="0" clrIdx="41"/>
  <p:cmAuthor id="43" name="未知的使用者150" initials="未" lastIdx="0" clrIdx="42"/>
  <p:cmAuthor id="44" name="PC" initials="P" lastIdx="0" clrIdx="43"/>
  <p:cmAuthor id="45" name="未知的使用者83" initials="未" lastIdx="0" clrIdx="44"/>
  <p:cmAuthor id="46" name="未知的使用者85" initials="未" lastIdx="0" clrIdx="45"/>
  <p:cmAuthor id="47" name="楚" initials="楚" lastIdx="0" clrIdx="46"/>
  <p:cmAuthor id="48" name="MuZi Li (李公海)-浪潮国际" initials="ML(" lastIdx="0" clrIdx="47"/>
  <p:cmAuthor id="49" name="未知的使用者161" initials="未" lastIdx="0" clrIdx="48"/>
  <p:cmAuthor id="50" name="未知的使用者162" initials="未" lastIdx="0" clrIdx="49"/>
  <p:cmAuthor id="51" name="未知的使用者152" initials="未" lastIdx="0" clrIdx="50"/>
  <p:cmAuthor id="52" name="未知的使用者81" initials="未" lastIdx="0" clrIdx="51"/>
  <p:cmAuthor id="53" name="未知用户27" initials="未" lastIdx="0" clrIdx="52"/>
  <p:cmAuthor id="54" name="alpha" initials="a" lastIdx="0" clrIdx="53"/>
  <p:cmAuthor id="55" name="未知用户37" initials="未" lastIdx="0" clrIdx="54"/>
  <p:cmAuthor id="56" name="Unknown User22" initials="U" lastIdx="0" clrIdx="55"/>
  <p:cmAuthor id="57" name="Unknown User23" initials="U" lastIdx="0" clrIdx="56"/>
  <p:cmAuthor id="58" name="未知的使用者75" initials="未" lastIdx="0" clrIdx="57"/>
  <p:cmAuthor id="59" name="未知的使用者170" initials="未" lastIdx="0" clrIdx="58"/>
  <p:cmAuthor id="60" name="Unknown User117" initials="U" lastIdx="0" clrIdx="59"/>
  <p:cmAuthor id="61" name="未知的使用者79" initials="未" lastIdx="0" clrIdx="60"/>
  <p:cmAuthor id="62" name="未知用户75" initials="未" lastIdx="0" clrIdx="61"/>
  <p:cmAuthor id="63" name="未知的使用者84" initials="未" lastIdx="0" clrIdx="62"/>
  <p:cmAuthor id="64" name="MA15" initials="M" lastIdx="0" clrIdx="63"/>
  <p:cmAuthor id="65" name="未知的使用者87" initials="未" lastIdx="0" clrIdx="64"/>
  <p:cmAuthor id="66" name="未知的使用者90" initials="未" lastIdx="0" clrIdx="65"/>
  <p:cmAuthor id="67" name="未知的使用者91" initials="未" lastIdx="0" clrIdx="66"/>
  <p:cmAuthor id="68" name="未知的使用者127" initials="未" lastIdx="0" clrIdx="67"/>
  <p:cmAuthor id="69" name="未知用户71" initials="未知用户71" lastIdx="0" clrIdx="68"/>
  <p:cmAuthor id="70" name="未知用户72" initials="未知用户72" lastIdx="0" clrIdx="69"/>
  <p:cmAuthor id="71" name="未知用户73" initials="未知用户73" lastIdx="0" clrIdx="70"/>
  <p:cmAuthor id="72" name="未知的使用者102" initials="未" lastIdx="0" clrIdx="71"/>
  <p:cmAuthor id="73" name="仝德志" initials="仝" lastIdx="0" clrIdx="72"/>
  <p:cmAuthor id="74" name="方诚" initials="方" lastIdx="0" clrIdx="73"/>
  <p:cmAuthor id="75" name="未知用户112" initials="未知用户112" lastIdx="0" clrIdx="74"/>
  <p:cmAuthor id="76" name="hanjuncompany" initials="h" lastIdx="0" clrIdx="75"/>
  <p:cmAuthor id="77" name="未知的使用者169" initials="未" lastIdx="0" clrIdx="76"/>
  <p:cmAuthor id="79" name="未知的使用者7" initials="未" lastIdx="0" clrIdx="78"/>
  <p:cmAuthor id="80" name="未知的使用者182" initials="未" lastIdx="0" clrIdx="79"/>
  <p:cmAuthor id="81" name="qihua-DCMS" initials="q" lastIdx="0" clrIdx="80"/>
  <p:cmAuthor id="82" name="未知的使用者173" initials="未" lastIdx="0" clrIdx="81"/>
  <p:cmAuthor id="83" name="未知用户8" initials="未" lastIdx="0" clrIdx="82"/>
  <p:cmAuthor id="84" name="針對所選的門市進行小範圍實驗，捕捉驅動績效的關鍵影響因子" initials="針" lastIdx="0" clrIdx="83"/>
  <p:cmAuthor id="85" name="yuanzh" initials="y" lastIdx="0" clrIdx="84"/>
  <p:cmAuthor id="86" name="yulitao" initials="y" lastIdx="0" clrIdx="85"/>
  <p:cmAuthor id="87" name="YUMINGNJ" initials="Y" lastIdx="0" clrIdx="86"/>
  <p:cmAuthor id="88" name="未知的使用者114" initials="未" lastIdx="0" clrIdx="87"/>
  <p:cmAuthor id="89" name="daphne" initials="d" lastIdx="0" clrIdx="88"/>
  <p:cmAuthor id="90" name="mm" initials="m" lastIdx="0" clrIdx="89"/>
  <p:cmAuthor id="91" name="未知的使用者184" initials="未" lastIdx="0" clrIdx="90"/>
  <p:cmAuthor id="92" name="Deanna Schuler (Bookey Consulting)" initials="D" lastIdx="0" clrIdx="91"/>
  <p:cmAuthor id="93" name="未知的使用者185" initials="未" lastIdx="0" clrIdx="92"/>
  <p:cmAuthor id="94" name="未知的使用者186" initials="未" lastIdx="0" clrIdx="93"/>
  <p:cmAuthor id="95" name="Louis Lu" initials="L" lastIdx="0" clrIdx="94"/>
  <p:cmAuthor id="96" name="未知的使用者175" initials="未" lastIdx="0" clrIdx="95"/>
  <p:cmAuthor id="97" name="未知的使用者1" initials="未" lastIdx="0" clrIdx="96"/>
  <p:cmAuthor id="98" name="未知的使用者176" initials="未" lastIdx="0" clrIdx="97"/>
  <p:cmAuthor id="99" name="未知的使用者29" initials="未" lastIdx="0" clrIdx="98"/>
  <p:cmAuthor id="100" name="未知的使用者187" initials="未" lastIdx="0" clrIdx="99"/>
  <p:cmAuthor id="101" name="未知的使用者178" initials="未" lastIdx="0" clrIdx="100"/>
  <p:cmAuthor id="102" name="Wenwen" initials="W" lastIdx="0" clrIdx="101"/>
  <p:cmAuthor id="103" name="未知的使用者179" initials="未" lastIdx="0" clrIdx="102"/>
  <p:cmAuthor id="104" name="未知用户33" initials="未" lastIdx="0" clrIdx="103"/>
  <p:cmAuthor id="105" name="未知的使用者180" initials="未" lastIdx="0" clrIdx="104"/>
  <p:cmAuthor id="106" name="未知的使用者11" initials="未" lastIdx="0" clrIdx="105"/>
  <p:cmAuthor id="107" name="未知的使用者181" initials="未" lastIdx="0" clrIdx="106"/>
  <p:cmAuthor id="108" name="Unknown User7" initials="U" lastIdx="0" clrIdx="107"/>
  <p:cmAuthor id="109" name="yuximin" initials="y" lastIdx="0" clrIdx="108"/>
  <p:cmAuthor id="110" name="未知用户10" initials="未知用户10" lastIdx="0" clrIdx="109"/>
  <p:cmAuthor id="111" name="CHRISYU" initials="C" lastIdx="0" clrIdx="110"/>
  <p:cmAuthor id="112" name="未知的使用者24" initials="未" lastIdx="0" clrIdx="111"/>
  <p:cmAuthor id="113" name="liucunri" initials="l" lastIdx="0" clrIdx="112"/>
  <p:cmAuthor id="114" name="WPS_1679281038" initials="W" lastIdx="0" clrIdx="113"/>
  <p:cmAuthor id="115" name="未知的使用者25" initials="未" lastIdx="0" clrIdx="114"/>
  <p:cmAuthor id="116" name="未知的使用者26" initials="未" lastIdx="0" clrIdx="115"/>
  <p:cmAuthor id="117" name="未知用户15" initials="未" lastIdx="0" clrIdx="116"/>
  <p:cmAuthor id="118" name="未知用户11" initials="未知用户11" lastIdx="0" clrIdx="117"/>
  <p:cmAuthor id="119" name="未知的使用者31" initials="未" lastIdx="0" clrIdx="118"/>
  <p:cmAuthor id="120" name="未知的使用者145" initials="未" lastIdx="0" clrIdx="119"/>
  <p:cmAuthor id="121" name="未知的使用者9" initials="未" lastIdx="0" clrIdx="120"/>
  <p:cmAuthor id="122" name="未知的使用者146" initials="未" lastIdx="0" clrIdx="121"/>
  <p:cmAuthor id="123" name="Jason Wang" initials="J" lastIdx="0" clrIdx="122"/>
  <p:cmAuthor id="124" name="未知的使用者147" initials="未" lastIdx="0" clrIdx="123"/>
  <p:cmAuthor id="125" name="未知用户7" initials="未知用户7" lastIdx="0" clrIdx="124"/>
  <p:cmAuthor id="126" name="未知用户113" initials="未知用户113" lastIdx="0" clrIdx="125"/>
  <p:cmAuthor id="127" name="未知的使用者46" initials="未" lastIdx="0" clrIdx="126"/>
  <p:cmAuthor id="128" name="未知的使用者22" initials="未" lastIdx="0" clrIdx="127"/>
  <p:cmAuthor id="129" name="未知用户138" initials="未" lastIdx="0" clrIdx="128"/>
  <p:cmAuthor id="130" name="未知的使用者23" initials="未" lastIdx="0" clrIdx="129"/>
  <p:cmAuthor id="131" name="未知用户130" initials="未" lastIdx="0" clrIdx="130"/>
  <p:cmAuthor id="132" name="P00035_jeremy" initials="P" lastIdx="0" clrIdx="131"/>
  <p:cmAuthor id="133" name="未知用户131" initials="未" lastIdx="0" clrIdx="132"/>
  <p:cmAuthor id="134" name="未知用户132" initials="未" lastIdx="0" clrIdx="133"/>
  <p:cmAuthor id="135" name="未知用户133" initials="未" lastIdx="0" clrIdx="134"/>
  <p:cmAuthor id="136" name="lianghb" initials="l" lastIdx="0" clrIdx="135"/>
  <p:cmAuthor id="137" name="未知用户134" initials="未" lastIdx="0" clrIdx="136"/>
  <p:cmAuthor id="138" name="未知用户135" initials="未" lastIdx="0" clrIdx="137"/>
  <p:cmAuthor id="139" name="未知用户17" initials="未知用户17" lastIdx="0" clrIdx="138"/>
  <p:cmAuthor id="140" name="未知用户137" initials="未" lastIdx="0" clrIdx="139"/>
  <p:cmAuthor id="141" name="未知的使用者48" initials="未" lastIdx="0" clrIdx="140"/>
  <p:cmAuthor id="142" name="未知用户136" initials="未" lastIdx="0" clrIdx="141"/>
  <p:cmAuthor id="143" name="未知用户19" initials="未知用户19" lastIdx="0" clrIdx="142"/>
  <p:cmAuthor id="144" name="未知用户20" initials="未知用户20" lastIdx="0" clrIdx="143"/>
  <p:cmAuthor id="145" name="Yoyo Wu" initials="Y" lastIdx="0" clrIdx="144"/>
  <p:cmAuthor id="146" name="zhangbin" initials="z" lastIdx="0" clrIdx="145"/>
  <p:cmAuthor id="147" name="未知用户55" initials="未" lastIdx="0" clrIdx="146"/>
  <p:cmAuthor id="148" name="未知用户22" initials="未知用户22" lastIdx="0" clrIdx="147"/>
  <p:cmAuthor id="149" name="Unknown User25" initials="U" lastIdx="0" clrIdx="148"/>
  <p:cmAuthor id="150" name="未知的使用者36" initials="未" lastIdx="0" clrIdx="149"/>
  <p:cmAuthor id="151" name="Unknown User26" initials="U" lastIdx="0" clrIdx="150"/>
  <p:cmAuthor id="152" name="未知的使用者49" initials="" lastIdx="0" clrIdx="151"/>
  <p:cmAuthor id="153" name="Unknown User27" initials="U" lastIdx="0" clrIdx="152"/>
  <p:cmAuthor id="154" name="未知的使用者33" initials="未" lastIdx="0" clrIdx="153"/>
  <p:cmAuthor id="155" name="Unknown User11" initials="U" lastIdx="0" clrIdx="154"/>
  <p:cmAuthor id="156" name="未知的使用者42" initials="未" lastIdx="0" clrIdx="155"/>
  <p:cmAuthor id="157" name="Unknown User112" initials="U" lastIdx="0" clrIdx="156"/>
  <p:cmAuthor id="158" name="未知用户81" initials="未" lastIdx="0" clrIdx="157"/>
  <p:cmAuthor id="159" name="Unknown User59" initials="U" lastIdx="0" clrIdx="158"/>
  <p:cmAuthor id="160" name="未知用户82" initials="未" lastIdx="0" clrIdx="159"/>
  <p:cmAuthor id="161" name="Unknown User113" initials="U" lastIdx="0" clrIdx="160"/>
  <p:cmAuthor id="162" name="未知用户83" initials="未" lastIdx="0" clrIdx="161"/>
  <p:cmAuthor id="163" name="未知的使用者67" initials="未" lastIdx="0" clrIdx="162"/>
  <p:cmAuthor id="164" name="未知的使用者68" initials="未" lastIdx="0" clrIdx="163"/>
  <p:cmAuthor id="165" name="未知的使用者69" initials="未" lastIdx="0" clrIdx="164"/>
  <p:cmAuthor id="166" name="未知的使用者56" initials="未" lastIdx="0" clrIdx="165"/>
  <p:cmAuthor id="167" name="未知的使用者55" initials="未" lastIdx="0" clrIdx="166"/>
  <p:cmAuthor id="168" name="未知的使用者52" initials="未" lastIdx="0" clrIdx="167"/>
  <p:cmAuthor id="169" name="未知的使用者72" initials="未" lastIdx="0" clrIdx="168"/>
  <p:cmAuthor id="170" name="未知的使用者74" initials="未" lastIdx="0" clrIdx="169"/>
  <p:cmAuthor id="171" name="未知的使用者71" initials="未" lastIdx="0" clrIdx="170"/>
  <p:cmAuthor id="172" name="P1063cindychen" initials="P" lastIdx="0" clrIdx="171"/>
  <p:cmAuthor id="173" name="未知的使用者126" initials="未" lastIdx="0" clrIdx="172"/>
  <p:cmAuthor id="174" name="王鹏凯" initials="王" lastIdx="0" clrIdx="173"/>
  <p:cmAuthor id="175" name="未知的使用者34" initials="未" lastIdx="0" clrIdx="174"/>
  <p:cmAuthor id="176" name="未知的使用者39" initials="未" lastIdx="0" clrIdx="175"/>
  <p:cmAuthor id="177" name="LeeElva" initials="L" lastIdx="0" clrIdx="176"/>
  <p:cmAuthor id="178" name="linyd" initials="l" lastIdx="0" clrIdx="177"/>
  <p:cmAuthor id="179" name="muzi wei" initials="m" lastIdx="0" clrIdx="178"/>
  <p:cmAuthor id="180" name="未知的使用者38" initials="未" lastIdx="0" clrIdx="179"/>
  <p:cmAuthor id="181" name="未知的使用者35" initials="" lastIdx="0" clrIdx="180"/>
  <p:cmAuthor id="182" name="未知的使用者30" initials="未" lastIdx="0" clrIdx="181"/>
  <p:cmAuthor id="183" name="未知的使用者32" initials="未" lastIdx="0" clrIdx="182"/>
  <p:cmAuthor id="184" name="曾红" initials="曾" lastIdx="0" clrIdx="183"/>
  <p:cmAuthor id="185" name="未知的使用者59" initials="未" lastIdx="0" clrIdx="184"/>
  <p:cmAuthor id="186" name="未知用户76" initials="未知用户76" lastIdx="0" clrIdx="185"/>
  <p:cmAuthor id="187" name="未知用户28" initials="未" lastIdx="0" clrIdx="186"/>
  <p:cmAuthor id="188" name="liupeng" initials="l" lastIdx="0" clrIdx="187"/>
  <p:cmAuthor id="189" name="周宏達JerryChou" initials="周" lastIdx="0" clrIdx="188"/>
  <p:cmAuthor id="190" name="luxu" initials="l" lastIdx="0" clrIdx="189"/>
  <p:cmAuthor id="191" name="hl sun" initials="h" lastIdx="0" clrIdx="190"/>
  <p:cmAuthor id="192" name="不明使用者20" initials="不" lastIdx="0" clrIdx="191"/>
  <p:cmAuthor id="193" name="不明使用者21" initials="不" lastIdx="0" clrIdx="192"/>
  <p:cmAuthor id="194" name="未知用户77" initials="未知用户77" lastIdx="0" clrIdx="193"/>
  <p:cmAuthor id="195" name="不明使用者19" initials="不" lastIdx="0" clrIdx="194"/>
  <p:cmAuthor id="196" name="yuexuejun" initials="y" lastIdx="0" clrIdx="195"/>
  <p:cmAuthor id="197" name="未知的使用者76" initials="未" lastIdx="0" clrIdx="196"/>
  <p:cmAuthor id="198" name="未知的使用者70" initials="未" lastIdx="0" clrIdx="197"/>
  <p:cmAuthor id="199" name="未知的使用者73" initials="未" lastIdx="0" clrIdx="198"/>
  <p:cmAuthor id="200" name="未知用户57" initials="未" lastIdx="0" clrIdx="199"/>
  <p:cmAuthor id="201" name="未知用户58" initials="未" lastIdx="0" clrIdx="200"/>
  <p:cmAuthor id="202" name="未知用户59" initials="未" lastIdx="0" clrIdx="201"/>
  <p:cmAuthor id="203" name="未知用户105" initials="未知用户105" lastIdx="0" clrIdx="202"/>
  <p:cmAuthor id="204" name="jet" initials="j" lastIdx="0" clrIdx="203"/>
  <p:cmAuthor id="205" name="Christina" initials="C" lastIdx="0" clrIdx="204"/>
  <p:cmAuthor id="206" name="未知用户104" initials="未" lastIdx="0" clrIdx="205"/>
  <p:cmAuthor id="207" name="未知用户84" initials="未" lastIdx="0" clrIdx="206"/>
  <p:cmAuthor id="208" name="未知的使用者95" initials="未" lastIdx="0" clrIdx="207"/>
  <p:cmAuthor id="209" name="未知的使用者92" initials="未" lastIdx="0" clrIdx="208"/>
  <p:cmAuthor id="210" name="未知的使用者93" initials="未" lastIdx="0" clrIdx="209"/>
  <p:cmAuthor id="211" name="未知的使用者94" initials="未" lastIdx="0" clrIdx="210"/>
  <p:cmAuthor id="212" name="未知的使用者119" initials="未" lastIdx="0" clrIdx="211"/>
  <p:cmAuthor id="213" name="未知的使用者120" initials="未" lastIdx="0" clrIdx="212"/>
  <p:cmAuthor id="214" name="未知用户116" initials="未知用户116" lastIdx="0" clrIdx="213"/>
  <p:cmAuthor id="215" name="未知用户23" initials="未知用户23" lastIdx="0" clrIdx="214"/>
  <p:cmAuthor id="216" name="未知用户114" initials="未" lastIdx="0" clrIdx="215"/>
  <p:cmAuthor id="217" name="未知用户115" initials="未" lastIdx="0" clrIdx="216"/>
  <p:cmAuthor id="218" name="未知用户117" initials="未" lastIdx="0" clrIdx="217"/>
  <p:cmAuthor id="219" name="未知用户61" initials="未" lastIdx="0" clrIdx="218"/>
  <p:cmAuthor id="220" name="未知用户60" initials="未" lastIdx="0" clrIdx="219"/>
  <p:cmAuthor id="221" name="未知用户24" initials="未知用户24" lastIdx="0" clrIdx="220"/>
  <p:cmAuthor id="222" name="未知用户25" initials="未知用户25" lastIdx="0" clrIdx="221"/>
  <p:cmAuthor id="223" name="未知用户123" initials="未" lastIdx="0" clrIdx="222"/>
  <p:cmAuthor id="224" name="Vincent" initials="V" lastIdx="0" clrIdx="223"/>
  <p:cmAuthor id="225" name="未知用户124" initials="未" lastIdx="0" clrIdx="224"/>
  <p:cmAuthor id="226" name="Unknown User115" initials="U" lastIdx="0" clrIdx="225"/>
  <p:cmAuthor id="227" name="未知用户106" initials="未知用户106" lastIdx="0" clrIdx="226"/>
  <p:cmAuthor id="228" name="Unknown User65" initials="U" lastIdx="0" clrIdx="227"/>
  <p:cmAuthor id="229" name="未知用户29" initials="未知用户29" lastIdx="0" clrIdx="228"/>
  <p:cmAuthor id="230" name="未知用户30" initials="未知用户30" lastIdx="0" clrIdx="229"/>
  <p:cmAuthor id="231" name="未知用户31" initials="未知用户31" lastIdx="0" clrIdx="230"/>
  <p:cmAuthor id="232" name="未知用户32" initials="未知用户32" lastIdx="0" clrIdx="231"/>
  <p:cmAuthor id="233" name="未知用户98" initials="未" lastIdx="0" clrIdx="232"/>
  <p:cmAuthor id="234" name="未知用户100" initials="未" lastIdx="0" clrIdx="233"/>
  <p:cmAuthor id="235" name="未知的使用者137" initials="未" lastIdx="0" clrIdx="234"/>
  <p:cmAuthor id="236" name="Ted Su" initials="T" lastIdx="0" clrIdx="235"/>
  <p:cmAuthor id="237" name="未知用户34" initials="未知用户34" lastIdx="0" clrIdx="236"/>
  <p:cmAuthor id="238" name="未知的使用者118" initials="未" lastIdx="0" clrIdx="237"/>
  <p:cmAuthor id="239" name="未知的使用者115" initials="未" lastIdx="0" clrIdx="238"/>
  <p:cmAuthor id="240" name="未知用户35" initials="未知用户35" lastIdx="0" clrIdx="239"/>
  <p:cmAuthor id="241" name="未知用户36" initials="未知用户36" lastIdx="0" clrIdx="240"/>
  <p:cmAuthor id="242" name="未知用户85" initials="未" lastIdx="0" clrIdx="241"/>
  <p:cmAuthor id="243" name="未知用户38" initials="未知用户38" lastIdx="0" clrIdx="242"/>
  <p:cmAuthor id="244" name="未知用户127" initials="未" lastIdx="0" clrIdx="243"/>
  <p:cmAuthor id="245" name="未知用户128" initials="未" lastIdx="0" clrIdx="244"/>
  <p:cmAuthor id="246" name="shinin" initials="s" lastIdx="0" clrIdx="245"/>
  <p:cmAuthor id="247" name="未知的使用者111" initials="未" lastIdx="0" clrIdx="246"/>
  <p:cmAuthor id="248" name="未知的使用者41" initials="未" lastIdx="0" clrIdx="247"/>
  <p:cmAuthor id="249" name="kathy chen" initials="k" lastIdx="0" clrIdx="248"/>
  <p:cmAuthor id="250" name="未知用户118" initials="未知用户118" lastIdx="0" clrIdx="249"/>
  <p:cmAuthor id="251" name="未知用户119" initials="未知用户119" lastIdx="0" clrIdx="250"/>
  <p:cmAuthor id="252" name="未知用户91" initials="未" lastIdx="0" clrIdx="251"/>
  <p:cmAuthor id="253" name="未知用户92" initials="未" lastIdx="0" clrIdx="252"/>
  <p:cmAuthor id="254" name="未知用户74" initials="未" lastIdx="0" clrIdx="253"/>
  <p:cmAuthor id="255" name="未知用户120" initials="未知用户120" lastIdx="0" clrIdx="254"/>
  <p:cmAuthor id="256" name="未知用户125" initials="未" lastIdx="0" clrIdx="255"/>
  <p:cmAuthor id="257" name="Unknown User116" initials="U" lastIdx="0" clrIdx="256"/>
  <p:cmAuthor id="258" name="未知用户78" initials="未" lastIdx="0" clrIdx="257"/>
  <p:cmAuthor id="259" name="未知用户121" initials="未知用户121" lastIdx="0" clrIdx="258"/>
  <p:cmAuthor id="260" name="未知用户122" initials="未知用户122" lastIdx="0" clrIdx="259"/>
  <p:cmAuthor id="261" name="Unknown User68" initials="U" lastIdx="0" clrIdx="260"/>
  <p:cmAuthor id="262" name="未知用户107" initials="未知用户107" lastIdx="0" clrIdx="261"/>
  <p:cmAuthor id="263" name="未知的使用者113" initials="未" lastIdx="0" clrIdx="262"/>
  <p:cmAuthor id="264" name="未知的使用者112" initials="未" lastIdx="0" clrIdx="263"/>
  <p:cmAuthor id="265" name="未知的使用者117" initials="未" lastIdx="0" clrIdx="264"/>
  <p:cmAuthor id="266" name="唐可欣" initials="唐" lastIdx="0" clrIdx="265"/>
  <p:cmAuthor id="267" name="未知的使用者50" initials="未" lastIdx="0" clrIdx="266"/>
  <p:cmAuthor id="268" name="未知的使用者77" initials="未" lastIdx="0" clrIdx="267"/>
  <p:cmAuthor id="269" name="未知用户40" initials="未知用户40" lastIdx="0" clrIdx="268"/>
  <p:cmAuthor id="270" name="未知用户41" initials="未知用户41" lastIdx="0" clrIdx="269"/>
  <p:cmAuthor id="271" name="未知用户42" initials="未知用户42" lastIdx="0" clrIdx="270"/>
  <p:cmAuthor id="272" name="未知用户43" initials="未知用户43" lastIdx="0" clrIdx="271"/>
  <p:cmAuthor id="273" name="未知用户44" initials="未知用户44" lastIdx="0" clrIdx="272"/>
  <p:cmAuthor id="274" name="未知用户45" initials="未知用户45" lastIdx="0" clrIdx="273"/>
  <p:cmAuthor id="275" name="未知用户26" initials="未" lastIdx="0" clrIdx="274"/>
  <p:cmAuthor id="276" name="未知用户46" initials="未知用户46" lastIdx="0" clrIdx="275"/>
  <p:cmAuthor id="277" name="未知用户47" initials="未知用户47" lastIdx="0" clrIdx="276"/>
  <p:cmAuthor id="278" name="未知用户48" initials="未知用户48" lastIdx="0" clrIdx="277"/>
  <p:cmAuthor id="279" name="未知用户49" initials="未知用户49" lastIdx="0" clrIdx="278"/>
  <p:cmAuthor id="280" name="未知用户50" initials="未知用户50" lastIdx="0" clrIdx="279"/>
  <p:cmAuthor id="281" name="未知用户51" initials="未知用户51" lastIdx="0" clrIdx="280"/>
  <p:cmAuthor id="282" name="未知用户52" initials="未知用户52" lastIdx="0" clrIdx="281"/>
  <p:cmAuthor id="283" name="未知用户53" initials="未知用户53" lastIdx="0" clrIdx="282"/>
  <p:cmAuthor id="284" name="未知的使用者40" initials="未" lastIdx="0" clrIdx="283"/>
  <p:cmAuthor id="285" name="未知的使用者105" initials="未" lastIdx="0" clrIdx="284"/>
  <p:cmAuthor id="286" name="未知用户54" initials="未知用户54" lastIdx="0" clrIdx="285"/>
  <p:cmAuthor id="287" name="未知用户56" initials="未知用户56" lastIdx="0" clrIdx="286"/>
  <p:cmAuthor id="288" name="Unknown User66" initials="U" lastIdx="0" clrIdx="287"/>
  <p:cmAuthor id="289" name="未知的使用者37" initials="未" lastIdx="0" clrIdx="288"/>
  <p:cmAuthor id="290" name="未知的使用者45" initials="未" lastIdx="0" clrIdx="289"/>
  <p:cmAuthor id="291" name="Unknown User70" initials="U" lastIdx="0" clrIdx="290"/>
  <p:cmAuthor id="292" name="未知用户152" initials="未" lastIdx="0" clrIdx="291"/>
  <p:cmAuthor id="293" name="未知用户62" initials="未知用户62" lastIdx="0" clrIdx="292"/>
  <p:cmAuthor id="294" name="未知用户154" initials="未" lastIdx="0" clrIdx="293"/>
  <p:cmAuthor id="295" name="未知用户63" initials="未知用户63" lastIdx="0" clrIdx="294"/>
  <p:cmAuthor id="296" name="Sara Chen" initials="S" lastIdx="0" clrIdx="295"/>
  <p:cmAuthor id="297" name="未知用户64" initials="未知用户64" lastIdx="0" clrIdx="296"/>
  <p:cmAuthor id="298" name="未知用户170" initials="未" lastIdx="0" clrIdx="297"/>
  <p:cmAuthor id="299" name="未知用户65" initials="未知用户65" lastIdx="0" clrIdx="298"/>
  <p:cmAuthor id="300" name="未知用户108" initials="未知用户108" lastIdx="0" clrIdx="299"/>
  <p:cmAuthor id="301" name="未知用户67" initials="未知用户67" lastIdx="0" clrIdx="300"/>
  <p:cmAuthor id="302" name="未知用户68" initials="未知用户68" lastIdx="0" clrIdx="301"/>
  <p:cmAuthor id="303" name="未知用户69" initials="未知用户69" lastIdx="0" clrIdx="302"/>
  <p:cmAuthor id="304" name="未知用户151" initials="未" lastIdx="0" clrIdx="303"/>
  <p:cmAuthor id="305" name="未知的使用者47" initials="未" lastIdx="0" clrIdx="304"/>
  <p:cmAuthor id="306" name="未知用户70" initials="未" lastIdx="0" clrIdx="305"/>
  <p:cmAuthor id="307" name="未知的使用者60" initials="未" lastIdx="0" clrIdx="306"/>
  <p:cmAuthor id="308" name="未知用户155" initials="未" lastIdx="0" clrIdx="307"/>
  <p:cmAuthor id="309" name="未知的使用者57" initials="未" lastIdx="0" clrIdx="308"/>
  <p:cmAuthor id="310" name="未知的使用者54" initials="未" lastIdx="0" clrIdx="309"/>
  <p:cmAuthor id="311" name="未知的使用者66" initials="未" lastIdx="0" clrIdx="310"/>
  <p:cmAuthor id="312" name="未知用户156" initials="未" lastIdx="0" clrIdx="311"/>
  <p:cmAuthor id="313" name="maxine" initials="m" lastIdx="0" clrIdx="312"/>
  <p:cmAuthor id="314" name="未知的使用者43" initials="未" lastIdx="0" clrIdx="313"/>
  <p:cmAuthor id="315" name="未知的使用者106" initials="未" lastIdx="0" clrIdx="314"/>
  <p:cmAuthor id="316" name="未知的使用者107" initials="未" lastIdx="0" clrIdx="315"/>
  <p:cmAuthor id="317" name="未知的使用者108" initials="未" lastIdx="0" clrIdx="316"/>
  <p:cmAuthor id="318" name="未知的使用者86" initials="未" lastIdx="0" clrIdx="317"/>
  <p:cmAuthor id="319" name="未知的使用者103" initials="未" lastIdx="0" clrIdx="318"/>
  <p:cmAuthor id="320" name="未知的使用者104" initials="未" lastIdx="0" clrIdx="319"/>
  <p:cmAuthor id="321" name="未知的使用者98" initials="未" lastIdx="0" clrIdx="320"/>
  <p:cmAuthor id="322" name="James" initials="J" lastIdx="0" clrIdx="321"/>
  <p:cmAuthor id="323" name="david xu" initials="d" lastIdx="0" clrIdx="322"/>
  <p:cmAuthor id="324" name="未知的使用者44" initials="未" lastIdx="0" clrIdx="323"/>
  <p:cmAuthor id="325" name="Chun Chung YEH" initials="C" lastIdx="0" clrIdx="324"/>
  <p:cmAuthor id="326" name="user" initials="u" lastIdx="0" clrIdx="325"/>
  <p:cmAuthor id="327" name="Vicky" initials="V" lastIdx="0" clrIdx="326"/>
  <p:cmAuthor id="328" name="未知用户109" initials="未" lastIdx="0" clrIdx="327"/>
  <p:cmAuthor id="329" name="sharon" initials="s" lastIdx="0" clrIdx="328"/>
  <p:cmAuthor id="330" name="未知的使用者128" initials="未" lastIdx="0" clrIdx="329"/>
  <p:cmAuthor id="331" name="未知的使用者124" initials="未" lastIdx="0" clrIdx="330"/>
  <p:cmAuthor id="332" name="未知的使用者125" initials="未" lastIdx="0" clrIdx="331"/>
  <p:cmAuthor id="333" name="未知的使用者61" initials="未" lastIdx="0" clrIdx="332"/>
  <p:cmAuthor id="334" name="huang gerrard" initials="h" lastIdx="0" clrIdx="333"/>
  <p:cmAuthor id="335" name="未知用户171" initials="未" lastIdx="0" clrIdx="334"/>
  <p:cmAuthor id="336" name="未知用户172" initials="未" lastIdx="0" clrIdx="335"/>
  <p:cmAuthor id="337" name="未知用户173" initials="未" lastIdx="0" clrIdx="336"/>
  <p:cmAuthor id="338" name="未知用户149" initials="未" lastIdx="0" clrIdx="337"/>
  <p:cmAuthor id="339" name="未知用户150" initials="未" lastIdx="0" clrIdx="338"/>
  <p:cmAuthor id="340" name="未知的使用者58" initials="未" lastIdx="0" clrIdx="339"/>
  <p:cmAuthor id="341" name="未知用户95" initials="未" lastIdx="0" clrIdx="340"/>
  <p:cmAuthor id="342" name="梅芬 吳" initials="梅芬" lastIdx="0" clrIdx="341"/>
  <p:cmAuthor id="343" name="Admin" initials="A" lastIdx="0" clrIdx="342"/>
  <p:cmAuthor id="344" name="未知用户97" initials="未" lastIdx="0" clrIdx="343"/>
  <p:cmAuthor id="345" name="未知的使用者109" initials="未" lastIdx="0" clrIdx="344"/>
  <p:cmAuthor id="346" name="未知的使用者122" initials="未" lastIdx="0" clrIdx="345"/>
  <p:cmAuthor id="347" name="未知的使用者123" initials="未" lastIdx="0" clrIdx="346"/>
  <p:cmAuthor id="348" name="未知用户79" initials="未" lastIdx="0" clrIdx="347"/>
  <p:cmAuthor id="349" name="未知用户80" initials="未" lastIdx="0" clrIdx="348"/>
  <p:cmAuthor id="350" name="Harry xu" initials="H" lastIdx="0" clrIdx="349"/>
  <p:cmAuthor id="351" name="未知的使用者141" initials="未" lastIdx="0" clrIdx="350"/>
  <p:cmAuthor id="352" name="未知的使用者142" initials="未" lastIdx="0" clrIdx="351"/>
  <p:cmAuthor id="353" name="未知的使用者143" initials="未" lastIdx="0" clrIdx="352"/>
  <p:cmAuthor id="354" name="未知的使用者144" initials="未" lastIdx="0" clrIdx="353"/>
  <p:cmAuthor id="355" name="宁猛进" initials="宁" lastIdx="0" clrIdx="354"/>
  <p:cmAuthor id="356" name="未知的使用者148" initials="未" lastIdx="0" clrIdx="355"/>
  <p:cmAuthor id="357" name="未知的使用者21" initials="未" lastIdx="0" clrIdx="356"/>
  <p:cmAuthor id="358" name="Shawna Strickland" initials="S" lastIdx="0" clrIdx="357"/>
  <p:cmAuthor id="359" name="Sky123.Org" initials="S" lastIdx="0" clrIdx="358"/>
  <p:cmAuthor id="360" name="Mary Feil-Jacobs" initials="M" lastIdx="0" clrIdx="359"/>
  <p:cmAuthor id="361" name="未知用户18" initials="未" lastIdx="0" clrIdx="360"/>
  <p:cmAuthor id="362" name="未知用户21" initials="未" lastIdx="0" clrIdx="361"/>
  <p:cmAuthor id="363" name="未知用户12" initials="未" lastIdx="0" clrIdx="362"/>
  <p:cmAuthor id="364" name="廖麗華" initials="廖" lastIdx="0" clrIdx="363"/>
  <p:cmAuthor id="365" name="未知用户13" initials="未" lastIdx="0" clrIdx="364"/>
  <p:cmAuthor id="366" name="未知的使用者12" initials="未" lastIdx="0" clrIdx="365"/>
  <p:cmAuthor id="367" name="未知的使用者6" initials="未" lastIdx="0" clrIdx="366"/>
  <p:cmAuthor id="368" name="aurora" initials="a" lastIdx="0" clrIdx="367"/>
  <p:cmAuthor id="369" name="ming qiu" initials="m" lastIdx="0" clrIdx="368"/>
  <p:cmAuthor id="370" name="8613480159771" initials="" lastIdx="0" clrIdx="369"/>
  <p:cmAuthor id="371" name="len" initials="l" lastIdx="0" clrIdx="370"/>
  <p:cmAuthor id="372" name="吕晨" initials="吕晨" lastIdx="0" clrIdx="371"/>
  <p:cmAuthor id="373" name="李 雷雨" initials="李" lastIdx="0" clrIdx="372"/>
  <p:cmAuthor id="374" name="沈霄雷" initials="沈" lastIdx="0" clrIdx="373"/>
  <p:cmAuthor id="375" name="49554261@qq.com" initials="4" lastIdx="0" clrIdx="374"/>
  <p:cmAuthor id="376" name="幸全" initials="幸全" lastIdx="0" clrIdx="375"/>
  <p:cmAuthor id="377" name="long tao" initials="lt" lastIdx="0" clrIdx="376"/>
  <p:cmAuthor id="378" name="小延魔法师" initials="小" lastIdx="0" clrIdx="377"/>
  <p:cmAuthor id="379" name="徐 正国" initials="徐" lastIdx="0" clrIdx="378"/>
  <p:cmAuthor id="380" name="dgs" initials="{&quot;applyName&quot;:&quot;危丽萍&quot;,&quot;approverName&quot;:&quot;王潇;&quot;,&quot;creatorTime&quot;:&quot;2022-03-21 21:37:13.0&quot;}" lastIdx="0" clrIdx="379"/>
  <p:cmAuthor id="381" name="朱绍春" initials="朱" lastIdx="0" clrIdx="380"/>
  <p:cmAuthor id="382" name="赵 璐" initials="赵" lastIdx="0" clrIdx="381"/>
  <p:cmAuthor id="383" name="Microsoft Office 用户" initials="M" lastIdx="0" clrIdx="382"/>
  <p:cmAuthor id="384" name="�Ÿ�" initials="�" lastIdx="0" clrIdx="383"/>
  <p:cmAuthor id="385" name="vicky" initials="v" lastIdx="0" clrIdx="384"/>
  <p:cmAuthor id="386" name="djj" initials="d" lastIdx="0" clrIdx="385"/>
  <p:cmAuthor id="387" name="張秀娟" initials="張" lastIdx="0" clrIdx="386"/>
  <p:cmAuthor id="388" name="毕军(0212009)" initials="毕" lastIdx="0" clrIdx="387"/>
  <p:cmAuthor id="389" name="谭涛" initials="谭" lastIdx="0" clrIdx="388"/>
  <p:cmAuthor id="390" name="Kevin Hu" initials="K" lastIdx="0" clrIdx="389"/>
  <p:cmAuthor id="391" name="R affer" initials="R" lastIdx="0" clrIdx="390"/>
  <p:cmAuthor id="392" name="Neno Loje" initials="N" lastIdx="0" clrIdx="391"/>
  <p:cmAuthor id="393" name="未知用户143" initials="未知用户143" lastIdx="0" clrIdx="392"/>
  <p:cmAuthor id="394" name="office365" initials="o" lastIdx="0" clrIdx="393"/>
  <p:cmAuthor id="395" name="Evonlin" initials="E" lastIdx="0" clrIdx="394"/>
  <p:cmAuthor id="396" name="任勇" initials="任" lastIdx="0" clrIdx="395"/>
  <p:cmAuthor id="397" name="樊革霞" initials="樊" lastIdx="0" clrIdx="396"/>
  <p:cmAuthor id="398" name="郭金玲" initials="郭" lastIdx="0" clrIdx="397"/>
  <p:cmAuthor id="399" name="郑汝鸿" initials="郑" lastIdx="0" clrIdx="398"/>
  <p:cmAuthor id="400" name="施普希（菜菜）" initials="施" lastIdx="0" clrIdx="399"/>
  <p:cmAuthor id="401" name="曹 朝辉" initials="曹" lastIdx="0" clrIdx="400"/>
  <p:cmAuthor id="402" name="mei shuo" initials="mei shuo" lastIdx="0" clrIdx="401"/>
  <p:cmAuthor id="403" name="mouse zz" initials="mz" lastIdx="0" clrIdx="402"/>
  <p:cmAuthor id="404" name="杨国杰" initials="杨" lastIdx="0" clrIdx="403"/>
  <p:cmAuthor id="405" name="留毓吟" initials="留" lastIdx="0" clrIdx="404"/>
  <p:cmAuthor id="406" name="李婧宜_YBferYVR" initials="authorId_1217247658" lastIdx="0" clrIdx="405"/>
  <p:cmAuthor id="407" name="淑芬 田" initials="淑田" lastIdx="0" clrIdx="406"/>
  <p:cmAuthor id="408" name="柯宏祥" initials="柯宏祥" lastIdx="0" clrIdx="407"/>
  <p:cmAuthor id="409" name="黄晓平" initials="黄" lastIdx="0" clrIdx="408"/>
  <p:cmAuthor id="410" name="徐琳00159163" initials="徐琳00159163" lastIdx="0" clrIdx="409"/>
  <p:cmAuthor id="411" name="nancy" initials="n" lastIdx="0" clrIdx="410"/>
  <p:cmAuthor id="412" name="庆芳 许" initials="庆" lastIdx="0" clrIdx="411"/>
  <p:cmAuthor id="413" name="宋洁然" initials="宋" lastIdx="0" clrIdx="412"/>
  <p:cmAuthor id="414" name="1206988966@qq.com" initials="1" lastIdx="0" clrIdx="413"/>
  <p:cmAuthor id="415" name="zimowang" initials="z" lastIdx="0" clrIdx="414"/>
  <p:cmAuthor id="416" name="zhangtingrui" initials="z" lastIdx="0" clrIdx="415"/>
  <p:cmAuthor id="417" name="AbuSina" initials="A" lastIdx="0" clrIdx="416"/>
  <p:cmAuthor id="418" name="孙 科江" initials="" lastIdx="0" clrIdx="417"/>
  <p:cmAuthor id="419" name="Jun Li" initials="J" lastIdx="0" clrIdx="418"/>
  <p:cmAuthor id="420" name="宋伟" initials="宋" lastIdx="0" clrIdx="419"/>
  <p:cmAuthor id="421" name="lenovo" initials="l" lastIdx="0" clrIdx="420"/>
  <p:cmAuthor id="422" name="Administrator" initials="A" lastIdx="0" clrIdx="421"/>
  <p:cmAuthor id="423" name="Jiaying Wang" initials="J" lastIdx="0" clrIdx="422"/>
  <p:cmAuthor id="424" name="zhouwu" initials="z" lastIdx="0" clrIdx="423"/>
  <p:cmAuthor id="425" name="王晨昊" initials="王" lastIdx="0" clrIdx="424"/>
  <p:cmAuthor id="426" name="未知用户2" initials="未" lastIdx="0" clrIdx="425"/>
  <p:cmAuthor id="427" name="孙晓晨" initials="孙" lastIdx="0" clrIdx="426"/>
  <p:cmAuthor id="428" name="xiaoxin shen" initials="x" lastIdx="0" clrIdx="427"/>
  <p:cmAuthor id="429" name="王 钟兴" initials="王" lastIdx="0" clrIdx="428"/>
  <p:cmAuthor id="430" name="siwei.wang@rhsmith.umd.edu" initials="s" lastIdx="0" clrIdx="429"/>
  <p:cmAuthor id="431" name="zhao yong" initials="z" lastIdx="0" clrIdx="430"/>
  <p:cmAuthor id="432" name="未知用户157" initials="未" lastIdx="0" clrIdx="431"/>
  <p:cmAuthor id="433" name="未知用户158" initials="未" lastIdx="0" clrIdx="432"/>
  <p:cmAuthor id="434" name="未知用户159" initials="未" lastIdx="0" clrIdx="433"/>
  <p:cmAuthor id="435" name="未知用户160" initials="未" lastIdx="0" clrIdx="434"/>
  <p:cmAuthor id="436" name="未知用户168" initials="未" lastIdx="0" clrIdx="435"/>
  <p:cmAuthor id="437" name="未知用户219" initials="未" lastIdx="0" clrIdx="436"/>
  <p:cmAuthor id="438" name="未知用户222" initials="未" lastIdx="0" clrIdx="437"/>
  <p:cmAuthor id="439" name="未知用户200" initials="未" lastIdx="0" clrIdx="438"/>
  <p:cmAuthor id="440" name="未知用户213" initials="未" lastIdx="0" clrIdx="439"/>
  <p:cmAuthor id="441" name="未知用户214" initials="未" lastIdx="0" clrIdx="440"/>
  <p:cmAuthor id="442" name="未知用户215" initials="未" lastIdx="0" clrIdx="441"/>
  <p:cmAuthor id="443" name="未知用户231" initials="未" lastIdx="0" clrIdx="442"/>
  <p:cmAuthor id="444" name="未知用户293" initials="未" lastIdx="0" clrIdx="443"/>
  <p:cmAuthor id="445" name="未知用户234" initials="未" lastIdx="0" clrIdx="444"/>
  <p:cmAuthor id="446" name="未知用户235" initials="未" lastIdx="0" clrIdx="445"/>
  <p:cmAuthor id="447" name="未知用户236" initials="未" lastIdx="0" clrIdx="446"/>
  <p:cmAuthor id="448" name="未知用户237" initials="未" lastIdx="0" clrIdx="447"/>
  <p:cmAuthor id="449" name="未知用户240" initials="未" lastIdx="0" clrIdx="448"/>
  <p:cmAuthor id="450" name="ll z" initials="l" lastIdx="0" clrIdx="449"/>
  <p:cmAuthor id="451" name="未知用户283" initials="未" lastIdx="0" clrIdx="450"/>
  <p:cmAuthor id="452" name="未知用户284" initials="未" lastIdx="0" clrIdx="451"/>
  <p:cmAuthor id="453" name="guanhh" initials="g" lastIdx="0" clrIdx="452"/>
  <p:cmAuthor id="454" name="未知用户292" initials="未" lastIdx="0" clrIdx="453"/>
  <p:cmAuthor id="455" name="未知用户87" initials="未" lastIdx="0" clrIdx="454"/>
  <p:cmAuthor id="456" name="未知用户295" initials="未" lastIdx="0" clrIdx="455"/>
  <p:cmAuthor id="457" name="未知用户297" initials="未" lastIdx="0" clrIdx="456"/>
  <p:cmAuthor id="458" name="孙" initials="孙" lastIdx="0" clrIdx="457"/>
  <p:cmAuthor id="459" name="未知的使用者139" initials="未" lastIdx="0" clrIdx="458"/>
  <p:cmAuthor id="460" name="未知的使用者140" initials="未" lastIdx="0" clrIdx="459"/>
  <p:cmAuthor id="461" name="未知的使用者196" initials="未" lastIdx="0" clrIdx="460"/>
  <p:cmAuthor id="462" name="未知的使用者203" initials="未" lastIdx="0" clrIdx="461"/>
  <p:cmAuthor id="463" name="Carol Kelly" initials="C" lastIdx="0" clrIdx="462"/>
  <p:cmAuthor id="464" name="ljhdeyx@163.com" initials="l" lastIdx="0" clrIdx="463"/>
  <p:cmAuthor id="465" name="Unknown User55" initials="U" lastIdx="0" clrIdx="464"/>
  <p:cmAuthor id="466" name="Huipeng Cao" initials="H" lastIdx="0" clrIdx="465"/>
  <p:cmAuthor id="467" name="18352" initials="1" lastIdx="0" clrIdx="466"/>
  <p:cmAuthor id="468" name="lizhihui" initials="l" lastIdx="0" clrIdx="467"/>
  <p:cmAuthor id="469" name="Sharr.Xia" initials="S" lastIdx="0" clrIdx="468"/>
  <p:cmAuthor id="470" name="马孟模" initials="马" lastIdx="0" clrIdx="469"/>
  <p:cmAuthor id="471" name="陈 正胤" initials="陈" lastIdx="0" clrIdx="470"/>
  <p:cmAuthor id="472" name="xuyidan" initials="x" lastIdx="0" clrIdx="471"/>
  <p:cmAuthor id="473" name="jiangquanda" initials="j" lastIdx="0" clrIdx="472"/>
  <p:cmAuthor id="474" name="yudi lin" initials="y" lastIdx="0" clrIdx="473"/>
  <p:cmAuthor id="475" name="chaishanshan" initials="c" lastIdx="0" clrIdx="474"/>
  <p:cmAuthor id="476" name="JeremyBai" initials="J" lastIdx="0" clrIdx="475"/>
  <p:cmAuthor id="477" name="fulinying" initials="f" lastIdx="0" clrIdx="476"/>
  <p:cmAuthor id="478" name="liuzga" initials="l" lastIdx="0" clrIdx="477"/>
  <p:cmAuthor id="479" name="August" initials="A" lastIdx="0" clrIdx="478"/>
  <p:cmAuthor id="480" name="zhoukangyun" initials="z" lastIdx="0" clrIdx="479"/>
  <p:cmAuthor id="481" name="未知的使用者28" initials="未" lastIdx="0" clrIdx="480"/>
  <p:cmAuthor id="482" name="administrator1" initials="a" lastIdx="0" clrIdx="481"/>
  <p:cmAuthor id="483" name="Unknown User8" initials="U" lastIdx="0" clrIdx="482"/>
  <p:cmAuthor id="484" name="未知用户233" initials="未" lastIdx="0" clrIdx="483"/>
  <p:cmAuthor id="485" name="未知用户14" initials="未" lastIdx="0" clrIdx="484"/>
  <p:cmAuthor id="486" name="Ashley Eberenz" initials="A" lastIdx="0" clrIdx="485"/>
  <p:cmAuthor id="487" name="周开雷" initials="周" lastIdx="0" clrIdx="486"/>
  <p:cmAuthor id="488" name="未知用户221" initials="未" lastIdx="0" clrIdx="487"/>
  <p:cmAuthor id="489" name="未知用户89" initials="未" lastIdx="0" clrIdx="488"/>
  <p:cmAuthor id="490" name="未知的使用者155" initials="未" lastIdx="0" clrIdx="489"/>
  <p:cmAuthor id="491" name="未知用户110" initials="未" lastIdx="0" clrIdx="490"/>
  <p:cmAuthor id="492" name="li shuiping" initials="ls" lastIdx="0" clrIdx="491"/>
  <p:cmAuthor id="493" name="未知的使用者53" initials="未" lastIdx="0" clrIdx="492"/>
  <p:cmAuthor id="494" name="未知用户343" initials="未" lastIdx="0" clrIdx="493"/>
  <p:cmAuthor id="495" name="朱晓瑜" initials="朱" lastIdx="0" clrIdx="494"/>
  <p:cmAuthor id="496" name="不明使用者1" initials="不" lastIdx="0" clrIdx="495"/>
  <p:cmAuthor id="497" name="张田田" initials="张" lastIdx="0" clrIdx="496"/>
  <p:cmAuthor id="498" name="马静" initials="马" lastIdx="0" clrIdx="497"/>
  <p:cmAuthor id="499" name="不明使用者4" initials="不" lastIdx="0" clrIdx="498"/>
  <p:cmAuthor id="500" name="不明使用者6" initials="不" lastIdx="0" clrIdx="499"/>
  <p:cmAuthor id="501" name="不明使用者5" initials="不" lastIdx="0" clrIdx="500"/>
  <p:cmAuthor id="502" name="不明使用者8" initials="不" lastIdx="0" clrIdx="501"/>
  <p:cmAuthor id="503" name="不明使用者9" initials="不" lastIdx="0" clrIdx="502"/>
  <p:cmAuthor id="504" name="不明使用者10" initials="不" lastIdx="0" clrIdx="503"/>
  <p:cmAuthor id="505" name="未知的使用者3" initials="未" lastIdx="0" clrIdx="504"/>
  <p:cmAuthor id="506" name="不明使用者11" initials="不" lastIdx="0" clrIdx="505"/>
  <p:cmAuthor id="507" name="未知用户103" initials="未" lastIdx="0" clrIdx="506"/>
  <p:cmAuthor id="508" name="未知用户" initials="未" lastIdx="0" clrIdx="507"/>
  <p:cmAuthor id="509" name="不明使用者18" initials="不" lastIdx="0" clrIdx="508"/>
  <p:cmAuthor id="510" name="不明使用者57" initials="不" lastIdx="0" clrIdx="509"/>
  <p:cmAuthor id="511" name="未知的使用者110" initials="未" lastIdx="0" clrIdx="510"/>
  <p:cmAuthor id="512" name="未知的使用者197" initials="未" lastIdx="0" clrIdx="511"/>
  <p:cmAuthor id="513" name="不明使用者56" initials="不" lastIdx="0" clrIdx="512"/>
  <p:cmAuthor id="514" name="未知的使用者133" initials="未" lastIdx="0" clrIdx="513"/>
  <p:cmAuthor id="515" name="未知的使用者135" initials="未" lastIdx="0" clrIdx="514"/>
  <p:cmAuthor id="516" name="不明使用者54" initials="不" lastIdx="0" clrIdx="515"/>
  <p:cmAuthor id="517" name="未知的使用者138" initials="未" lastIdx="0" clrIdx="516"/>
  <p:cmAuthor id="518" name="未知的使用者121" initials="未" lastIdx="0" clrIdx="517"/>
  <p:cmAuthor id="519" name="未知的使用者163" initials="未" lastIdx="0" clrIdx="518"/>
  <p:cmAuthor id="520" name="未知的使用者158" initials="未" lastIdx="0" clrIdx="519"/>
  <p:cmAuthor id="521" name="未知的使用者166" initials="未" lastIdx="0" clrIdx="520"/>
  <p:cmAuthor id="522" name="未知的使用者167" initials="未" lastIdx="0" clrIdx="521"/>
  <p:cmAuthor id="523" name="未知的使用者168" initials="未" lastIdx="0" clrIdx="522"/>
  <p:cmAuthor id="524" name="clinchen" initials="c" lastIdx="0" clrIdx="523"/>
  <p:cmAuthor id="525" name="thomas" initials="t" lastIdx="0" clrIdx="524"/>
  <p:cmAuthor id="526" name="未知的使用者198" initials="未" lastIdx="0" clrIdx="525"/>
  <p:cmAuthor id="527" name="未知的使用者205" initials="未" lastIdx="0" clrIdx="526"/>
  <p:cmAuthor id="528" name="未知的使用者200" initials="未" lastIdx="0" clrIdx="527"/>
  <p:cmAuthor id="529" name="YuQing" initials="Y" lastIdx="0" clrIdx="528"/>
  <p:cmAuthor id="530" name="未知的使用者194" initials="未" lastIdx="0" clrIdx="529"/>
  <p:cmAuthor id="531" name="未知的使用者201" initials="未" lastIdx="0" clrIdx="530"/>
  <p:cmAuthor id="532" name="未知的使用者202" initials="未" lastIdx="0" clrIdx="531"/>
  <p:cmAuthor id="533" name="未知的使用者171" initials="未" lastIdx="0" clrIdx="532"/>
  <p:cmAuthor id="534" name="未知的使用者195" initials="未" lastIdx="0" clrIdx="533"/>
  <p:cmAuthor id="535" name="李刚" initials="李" lastIdx="0" clrIdx="534"/>
  <p:cmAuthor id="536" name="未知用户290" initials="未" lastIdx="0" clrIdx="535"/>
  <p:cmAuthor id="537" name="未知的使用者136" initials="未" lastIdx="0" clrIdx="536"/>
  <p:cmAuthor id="538" name="未知用户39" initials="未" lastIdx="0" clrIdx="537"/>
  <p:cmAuthor id="539" name="未知的使用者64" initials="未" lastIdx="0" clrIdx="538"/>
  <p:cmAuthor id="540" name="未知的使用者65" initials="未" lastIdx="0" clrIdx="539"/>
  <p:cmAuthor id="541" name="FanJQ" initials="F" lastIdx="0" clrIdx="540"/>
  <p:cmAuthor id="542" name="张利英" initials="张" lastIdx="0" clrIdx="541"/>
  <p:cmAuthor id="543" name="张双文" initials="张" lastIdx="0" clrIdx="542"/>
  <p:cmAuthor id="544" name="李天骄" initials="李" lastIdx="0" clrIdx="543"/>
  <p:cmAuthor id="545" name="王川雪" initials="王" lastIdx="0" clrIdx="544"/>
  <p:cmAuthor id="546" name="fgx" initials="f" lastIdx="0" clrIdx="545"/>
  <p:cmAuthor id="547" name="Unknown User24" initials="U" lastIdx="0" clrIdx="546"/>
  <p:cmAuthor id="548" name="Unknown User28" initials="U" lastIdx="0" clrIdx="547"/>
  <p:cmAuthor id="549" name="曾蓓/贝贝" initials="曾" lastIdx="0" clrIdx="548"/>
  <p:cmAuthor id="550" name="px" initials="p" lastIdx="0" clrIdx="549"/>
  <p:cmAuthor id="551" name="未知用户310" initials="未" lastIdx="0" clrIdx="550"/>
  <p:cmAuthor id="552" name="未知用户153" initials="未" lastIdx="0" clrIdx="551"/>
  <p:cmAuthor id="553" name="dcis" initials="d" lastIdx="0" clrIdx="552"/>
  <p:cmAuthor id="554" name="未知的使用者62" initials="未" lastIdx="0" clrIdx="553"/>
  <p:cmAuthor id="555" name="dengwanting" initials="d" lastIdx="0" clrIdx="554"/>
  <p:cmAuthor id="556" name="未知用户101" initials="未" lastIdx="0" clrIdx="555"/>
  <p:cmAuthor id="557" name="未知用户9" initials="未" lastIdx="0" clrIdx="556"/>
  <p:cmAuthor id="558" name="未知用户211" initials="未" lastIdx="0" clrIdx="557"/>
  <p:cmAuthor id="559" name="未知用户212" initials="未" lastIdx="0" clrIdx="558"/>
  <p:cmAuthor id="560" name="未知用户210" initials="未" lastIdx="0" clrIdx="559"/>
  <p:cmAuthor id="561" name="未知用户201" initials="未" lastIdx="0" clrIdx="560"/>
  <p:cmAuthor id="562" name="未知用户161" initials="未" lastIdx="0" clrIdx="561"/>
  <p:cmAuthor id="563" name="未知用户183" initials="未" lastIdx="0" clrIdx="562"/>
  <p:cmAuthor id="564" name="未知用户162" initials="未" lastIdx="0" clrIdx="563"/>
  <p:cmAuthor id="565" name="未知用户163" initials="未" lastIdx="0" clrIdx="564"/>
  <p:cmAuthor id="566" name="未知用户164" initials="未" lastIdx="0" clrIdx="565"/>
  <p:cmAuthor id="567" name="未知用户165" initials="未" lastIdx="0" clrIdx="566"/>
  <p:cmAuthor id="568" name="未知用户191" initials="未" lastIdx="0" clrIdx="567"/>
  <p:cmAuthor id="569" name="未知用户167" initials="未" lastIdx="0" clrIdx="568"/>
  <p:cmAuthor id="570" name="未知用户202" initials="未" lastIdx="0" clrIdx="569"/>
  <p:cmAuthor id="571" name="未知用户169" initials="未" lastIdx="0" clrIdx="570"/>
  <p:cmAuthor id="572" name="未知用户192" initials="未" lastIdx="0" clrIdx="571"/>
  <p:cmAuthor id="573" name="未知用户203" initials="未" lastIdx="0" clrIdx="572"/>
  <p:cmAuthor id="574" name="未知用户174" initials="未" lastIdx="0" clrIdx="573"/>
  <p:cmAuthor id="575" name="未知用户175" initials="未" lastIdx="0" clrIdx="574"/>
  <p:cmAuthor id="576" name="未知用户176" initials="未" lastIdx="0" clrIdx="575"/>
  <p:cmAuthor id="577" name="未知用户177" initials="未" lastIdx="0" clrIdx="576"/>
  <p:cmAuthor id="578" name="未知用户184" initials="未" lastIdx="0" clrIdx="577"/>
  <p:cmAuthor id="579" name="未知用户179" initials="未" lastIdx="0" clrIdx="578"/>
  <p:cmAuthor id="580" name="未知用户185" initials="未" lastIdx="0" clrIdx="579"/>
  <p:cmAuthor id="581" name="未知用户181" initials="未" lastIdx="0" clrIdx="580"/>
  <p:cmAuthor id="582" name="未知用户182" initials="未" lastIdx="0" clrIdx="581"/>
  <p:cmAuthor id="583" name="未知用户204" initials="未" lastIdx="0" clrIdx="582"/>
  <p:cmAuthor id="584" name="未知用户205" initials="未" lastIdx="0" clrIdx="583"/>
  <p:cmAuthor id="585" name="未知用户193" initials="未" lastIdx="0" clrIdx="584"/>
  <p:cmAuthor id="586" name="未知用户194" initials="未" lastIdx="0" clrIdx="585"/>
  <p:cmAuthor id="587" name="未知用户187" initials="未" lastIdx="0" clrIdx="586"/>
  <p:cmAuthor id="588" name="Kent" initials="K" lastIdx="0" clrIdx="587"/>
  <p:cmAuthor id="589" name="未知的使用者204" initials="未" lastIdx="0" clrIdx="588"/>
  <p:cmAuthor id="590" name="未知用户190" initials="未" lastIdx="0" clrIdx="589"/>
  <p:cmAuthor id="591" name="未知用户196" initials="未" lastIdx="0" clrIdx="590"/>
  <p:cmAuthor id="592" name="未知用户199" initials="未" lastIdx="0" clrIdx="591"/>
  <p:cmAuthor id="593" name="未知用户178" initials="未" lastIdx="0" clrIdx="592"/>
  <p:cmAuthor id="594" name="未知用户180" initials="未" lastIdx="0" clrIdx="593"/>
  <p:cmAuthor id="595" name="未知用户186" initials="未" lastIdx="0" clrIdx="594"/>
  <p:cmAuthor id="596" name="未知用户188" initials="未" lastIdx="0" clrIdx="595"/>
  <p:cmAuthor id="597" name="未知用户189" initials="未" lastIdx="0" clrIdx="596"/>
  <p:cmAuthor id="598" name="未知的使用者100" initials="未" lastIdx="0" clrIdx="597"/>
  <p:cmAuthor id="599" name="Unknown User48" initials="U" lastIdx="0" clrIdx="598"/>
  <p:cmAuthor id="600" name="未知的使用者78" initials="未" lastIdx="0" clrIdx="599"/>
  <p:cmAuthor id="601" name="未知的使用者80" initials="未" lastIdx="0" clrIdx="600"/>
  <p:cmAuthor id="602" name="未知的使用者82" initials="未" lastIdx="0" clrIdx="601"/>
  <p:cmAuthor id="603" name="未知的使用者88" initials="未" lastIdx="0" clrIdx="602"/>
  <p:cmAuthor id="604" name="未知的使用者89" initials="未" lastIdx="0" clrIdx="603"/>
  <p:cmAuthor id="605" name="Johnny Hsieh" initials="J" lastIdx="0" clrIdx="604"/>
  <p:cmAuthor id="606" name="未知用户86" initials="未" lastIdx="0" clrIdx="605"/>
  <p:cmAuthor id="607" name="未知的使用者63" initials="未" lastIdx="0" clrIdx="606"/>
  <p:cmAuthor id="608" name="raymond luan" initials="r" lastIdx="0" clrIdx="607"/>
  <p:cmAuthor id="609" name="未知的使用者116" initials="未" lastIdx="0" clrIdx="608"/>
  <p:cmAuthor id="610" name="LYJ" initials="L" lastIdx="0" clrIdx="609"/>
  <p:cmAuthor id="611" name="Arno.Du(杜明星)" initials="A" lastIdx="0" clrIdx="610"/>
  <p:cmAuthor id="612" name="未知的使用者232" initials="" lastIdx="0" clrIdx="611"/>
  <p:cmAuthor id="613" name="未知用户111" initials="未" lastIdx="0" clrIdx="612"/>
  <p:cmAuthor id="614" name="Unknown User114" initials="U" lastIdx="0" clrIdx="613"/>
  <p:cmAuthor id="615" name="Unknown User111" initials="U" lastIdx="0" clrIdx="614"/>
  <p:cmAuthor id="616" name="Unknown User63" initials="U" lastIdx="0" clrIdx="615"/>
  <p:cmAuthor id="617" name="Unknown User67" initials="U" lastIdx="0" clrIdx="616"/>
  <p:cmAuthor id="618" name="Unknown User69" initials="U" lastIdx="0" clrIdx="617"/>
  <p:cmAuthor id="619" name="Unknown User52" initials="U" lastIdx="0" clrIdx="618"/>
  <p:cmAuthor id="620" name="未知的使用者134" initials="未" lastIdx="0" clrIdx="619"/>
  <p:cmAuthor id="621" name="刘云轩" initials="刘" lastIdx="0" clrIdx="620"/>
  <p:cmAuthor id="622" name="未知用户126" initials="未" lastIdx="0" clrIdx="621"/>
  <p:cmAuthor id="623" name="未知用户129" initials="未" lastIdx="0" clrIdx="622"/>
  <p:cmAuthor id="624" name="未知的使用者165" initials="未" lastIdx="0" clrIdx="623"/>
  <p:cmAuthor id="625" name="jerrychou" initials="j" lastIdx="0" clrIdx="624"/>
  <p:cmAuthor id="626" name="不明使用者12" initials="不" lastIdx="0" clrIdx="625"/>
  <p:cmAuthor id="627" name="不明使用者2" initials="不" lastIdx="0" clrIdx="626"/>
  <p:cmAuthor id="628" name="不明使用者3" initials="不" lastIdx="0" clrIdx="627"/>
  <p:cmAuthor id="629" name="未知的使用者159" initials="未" lastIdx="0" clrIdx="628"/>
  <p:cmAuthor id="630" name="未知的使用者160" initials="未" lastIdx="0" clrIdx="629"/>
  <p:cmAuthor id="631" name="未知用户139" initials="未" lastIdx="0" clrIdx="630"/>
  <p:cmAuthor id="632" name="未知用户141" initials="未" lastIdx="0" clrIdx="631"/>
  <p:cmAuthor id="633" name="未知用户144" initials="未" lastIdx="0" clrIdx="632"/>
  <p:cmAuthor id="634" name="未知用户145" initials="未" lastIdx="0" clrIdx="633"/>
  <p:cmAuthor id="635" name="未知用户140" initials="未" lastIdx="0" clrIdx="634"/>
  <p:cmAuthor id="636" name="未知用户142" initials="未" lastIdx="0" clrIdx="635"/>
  <p:cmAuthor id="637" name="未知用户146" initials="未" lastIdx="0" clrIdx="636"/>
  <p:cmAuthor id="638" name="未知用户147" initials="未" lastIdx="0" clrIdx="637"/>
  <p:cmAuthor id="639" name="未知用户148" initials="未" lastIdx="0" clrIdx="638"/>
  <p:cmAuthor id="640" name="未知用户195" initials="未" lastIdx="0" clrIdx="639"/>
  <p:cmAuthor id="641" name="未知用户207" initials="未" lastIdx="0" clrIdx="640"/>
  <p:cmAuthor id="642" name="未知用户208" initials="未" lastIdx="0" clrIdx="641"/>
  <p:cmAuthor id="643" name="未知用户198" initials="未" lastIdx="0" clrIdx="642"/>
  <p:cmAuthor id="644" name="未知用户209" initials="未" lastIdx="0" clrIdx="643"/>
  <p:cmAuthor id="645" name="未知用户206" initials="未" lastIdx="0" clrIdx="644"/>
  <p:cmAuthor id="646" name="未知的使用者207" initials="未" lastIdx="0" clrIdx="645"/>
  <p:cmAuthor id="647" name="未知的使用者208" initials="未" lastIdx="0" clrIdx="646"/>
  <p:cmAuthor id="648" name="未知的使用者188" initials="未" lastIdx="0" clrIdx="647"/>
  <p:cmAuthor id="649" name="未知的使用者189" initials="未" lastIdx="0" clrIdx="648"/>
  <p:cmAuthor id="650" name="未知的使用者190" initials="未" lastIdx="0" clrIdx="649"/>
  <p:cmAuthor id="651" name="未知的使用者191" initials="未" lastIdx="0" clrIdx="650"/>
  <p:cmAuthor id="652" name="未知的使用者192" initials="未" lastIdx="0" clrIdx="651"/>
  <p:cmAuthor id="653" name="未知的使用者193" initials="未" lastIdx="0" clrIdx="652"/>
  <p:cmAuthor id="654" name="未知的使用者209" initials="未" lastIdx="0" clrIdx="653"/>
  <p:cmAuthor id="655" name="未知的使用者210" initials="未" lastIdx="0" clrIdx="654"/>
  <p:cmAuthor id="656" name="未知的使用者211" initials="未" lastIdx="0" clrIdx="655"/>
  <p:cmAuthor id="657" name="未知的使用者212" initials="未" lastIdx="0" clrIdx="656"/>
  <p:cmAuthor id="658" name="未知的使用者213" initials="未" lastIdx="0" clrIdx="657"/>
  <p:cmAuthor id="659" name="未知的使用者214" initials="未" lastIdx="0" clrIdx="658"/>
  <p:cmAuthor id="660" name="未知的使用者215" initials="未" lastIdx="0" clrIdx="659"/>
  <p:cmAuthor id="661" name="未知的使用者216" initials="未" lastIdx="0" clrIdx="660"/>
  <p:cmAuthor id="662" name="未知的使用者217" initials="未" lastIdx="0" clrIdx="661"/>
  <p:cmAuthor id="663" name="未知的使用者218" initials="未" lastIdx="0" clrIdx="662"/>
  <p:cmAuthor id="664" name="未知的使用者219" initials="未" lastIdx="0" clrIdx="663"/>
  <p:cmAuthor id="665" name="未知的使用者220" initials="未" lastIdx="0" clrIdx="664"/>
  <p:cmAuthor id="666" name="未知的使用者153" initials="未" lastIdx="0" clrIdx="665"/>
  <p:cmAuthor id="667" name="未知的使用者154" initials="未" lastIdx="0" clrIdx="666"/>
  <p:cmAuthor id="668" name="未知的使用者156" initials="未" lastIdx="0" clrIdx="667"/>
  <p:cmAuthor id="669" name="未知的使用者157" initials="未" lastIdx="0" clrIdx="668"/>
  <p:cmAuthor id="670" name="未知的使用者151" initials="未" lastIdx="0" clrIdx="669"/>
  <p:cmAuthor id="671" name="未知的使用者129" initials="未" lastIdx="0" clrIdx="670"/>
  <p:cmAuthor id="672" name="未知的使用者130" initials="未" lastIdx="0" clrIdx="671"/>
  <p:cmAuthor id="673" name="未知的使用者131" initials="未" lastIdx="0" clrIdx="672"/>
  <p:cmAuthor id="674" name="未知的使用者132" initials="未" lastIdx="0" clrIdx="673"/>
  <p:cmAuthor id="675" name="未知的使用者164" initials="未" lastIdx="0" clrIdx="674"/>
  <p:cmAuthor id="676" name="未知的使用者172" initials="未" lastIdx="0" clrIdx="675"/>
  <p:cmAuthor id="677" name="未知的使用者174" initials="未" lastIdx="0" clrIdx="676"/>
  <p:cmAuthor id="678" name="未知的使用者247" initials="未" lastIdx="0" clrIdx="677"/>
  <p:cmAuthor id="679" name="未知的使用者249" initials="未" lastIdx="0" clrIdx="678"/>
  <p:cmAuthor id="680" name="未知的使用者250" initials="未" lastIdx="0" clrIdx="679"/>
  <p:cmAuthor id="681" name="未知的使用者251" initials="未" lastIdx="0" clrIdx="680"/>
  <p:cmAuthor id="682" name="未知的使用者246" initials="未" lastIdx="0" clrIdx="681"/>
  <p:cmAuthor id="683" name="未知的使用者224" initials="未" lastIdx="0" clrIdx="682"/>
  <p:cmAuthor id="684" name="未知的使用者252" initials="未" lastIdx="0" clrIdx="683"/>
  <p:cmAuthor id="685" name="未知的使用者253" initials="未" lastIdx="0" clrIdx="684"/>
  <p:cmAuthor id="686" name="未知的使用者254" initials="未" lastIdx="0" clrIdx="685"/>
  <p:cmAuthor id="687" name="未知的使用者255" initials="未" lastIdx="0" clrIdx="686"/>
  <p:cmAuthor id="688" name="未知的使用者226" initials="未" lastIdx="0" clrIdx="687"/>
  <p:cmAuthor id="689" name="未知的使用者227" initials="未" lastIdx="0" clrIdx="688"/>
  <p:cmAuthor id="690" name="未知的使用者270" initials="未" lastIdx="0" clrIdx="689"/>
  <p:cmAuthor id="691" name="未知的使用者228" initials="未" lastIdx="0" clrIdx="690"/>
  <p:cmAuthor id="692" name="未知的使用者229" initials="未" lastIdx="0" clrIdx="691"/>
  <p:cmAuthor id="693" name="未知的使用者230" initials="未" lastIdx="0" clrIdx="692"/>
  <p:cmAuthor id="694" name="未知的使用者231" initials="未" lastIdx="0" clrIdx="693"/>
  <p:cmAuthor id="695" name="未知的使用者256" initials="未" lastIdx="0" clrIdx="694"/>
  <p:cmAuthor id="696" name="未知的使用者233" initials="未" lastIdx="0" clrIdx="695"/>
  <p:cmAuthor id="697" name="未知的使用者234" initials="未" lastIdx="0" clrIdx="696"/>
  <p:cmAuthor id="698" name="未知的使用者235" initials="未" lastIdx="0" clrIdx="697"/>
  <p:cmAuthor id="699" name="未知的使用者236" initials="未" lastIdx="0" clrIdx="698"/>
  <p:cmAuthor id="700" name="未知的使用者257" initials="未" lastIdx="0" clrIdx="699"/>
  <p:cmAuthor id="701" name="未知的使用者237" initials="未" lastIdx="0" clrIdx="700"/>
  <p:cmAuthor id="702" name="未知的使用者238" initials="未" lastIdx="0" clrIdx="701"/>
  <p:cmAuthor id="703" name="未知的使用者239" initials="未" lastIdx="0" clrIdx="702"/>
  <p:cmAuthor id="704" name="未知的使用者240" initials="未" lastIdx="0" clrIdx="703"/>
  <p:cmAuthor id="705" name="未知的使用者241" initials="未" lastIdx="0" clrIdx="704"/>
  <p:cmAuthor id="706" name="未知的使用者242" initials="未" lastIdx="0" clrIdx="705"/>
  <p:cmAuthor id="707" name="未知的使用者243" initials="未" lastIdx="0" clrIdx="706"/>
  <p:cmAuthor id="708" name="未知的使用者258" initials="未" lastIdx="0" clrIdx="707"/>
  <p:cmAuthor id="709" name="未知的使用者259" initials="未" lastIdx="0" clrIdx="708"/>
  <p:cmAuthor id="710" name="未知的使用者260" initials="未" lastIdx="0" clrIdx="709"/>
  <p:cmAuthor id="711" name="未知的使用者261" initials="未" lastIdx="0" clrIdx="710"/>
  <p:cmAuthor id="712" name="未知的使用者262" initials="未" lastIdx="0" clrIdx="711"/>
  <p:cmAuthor id="713" name="未知的使用者263" initials="未" lastIdx="0" clrIdx="712"/>
  <p:cmAuthor id="714" name="未知的使用者264" initials="未" lastIdx="0" clrIdx="713"/>
  <p:cmAuthor id="715" name="未知的使用者265" initials="未" lastIdx="0" clrIdx="714"/>
  <p:cmAuthor id="716" name="未知的使用者266" initials="未" lastIdx="0" clrIdx="715"/>
  <p:cmAuthor id="717" name="未知的使用者267" initials="未" lastIdx="0" clrIdx="716"/>
  <p:cmAuthor id="718" name="未知的使用者268" initials="未" lastIdx="0" clrIdx="717"/>
  <p:cmAuthor id="719" name="未知的使用者269" initials="未" lastIdx="0" clrIdx="718"/>
  <p:cmAuthor id="720" name="lillian" initials="l" lastIdx="0" clrIdx="719"/>
  <p:cmAuthor id="721" name="未知用户197" initials="未" lastIdx="0" clrIdx="720"/>
  <p:cmAuthor id="722" name="Zoe Pang" initials="ZP" lastIdx="0" clrIdx="721"/>
  <p:cmAuthor id="723" name="jiahuifeng (C)" initials="j(" lastIdx="0" clrIdx="722"/>
  <p:cmAuthor id="724" name="Renee ZQ Mo" initials="RZM [2]" lastIdx="0" clrIdx="723"/>
  <p:cmAuthor id="725" name="Avinash Sagar" initials="AS" lastIdx="0" clrIdx="724"/>
  <p:cmAuthor id="726" name="Adaline Li" initials="AL [2]" lastIdx="0" clrIdx="725"/>
  <p:cmAuthor id="727" name="Young Zhu" initials="YZ" lastIdx="0" clrIdx="726"/>
  <p:cmAuthor id="728" name="Doris ZQ Hu" initials="DZH" lastIdx="0" clrIdx="727"/>
  <p:cmAuthor id="729" name="Vivian JX Xu" initials="VJX" lastIdx="0" clrIdx="728"/>
  <p:cmAuthor id="730" name="Nick L Liu" initials="NLL" lastIdx="0" clrIdx="729"/>
  <p:cmAuthor id="731" name="Noah Zhan" initials="NZ" lastIdx="0" clrIdx="730"/>
  <p:cmAuthor id="732" name="Mavis Nie" initials="MN" lastIdx="0" clrIdx="731"/>
  <p:cmAuthor id="733" name="未知用户166" initials="未知用户166" lastIdx="0" clrIdx="732"/>
  <p:cmAuthor id="734" name="不明使用者7" initials="不" lastIdx="0" clrIdx="733"/>
  <p:cmAuthor id="735" name="Eric Zhao" initials="EZ" lastIdx="0" clrIdx="734"/>
  <p:cmAuthor id="736" name="huang aurora" initials="ha" lastIdx="0" clrIdx="735"/>
  <p:cmAuthor id="737" name="姜伟光" initials="姜" lastIdx="0" clrIdx="736"/>
  <p:cmAuthor id="738" name="史 田" initials="史" lastIdx="0" clrIdx="737"/>
  <p:cmAuthor id="739" name="孙宏" initials="孙" lastIdx="0" clrIdx="738"/>
  <p:cmAuthor id="740" name="王岚" initials="王" lastIdx="0" clrIdx="739"/>
  <p:cmAuthor id="741" name="骆倩怡_Znauj26B" initials="authorId_382814100" lastIdx="0" clrIdx="740"/>
  <p:cmAuthor id="742" name="sudaobo" initials="s" lastIdx="0" clrIdx="741"/>
  <p:cmAuthor id="743" name="Yangtianyi" initials="Y" lastIdx="0" clrIdx="742"/>
  <p:cmAuthor id="744" name="houxinlei" initials="h" lastIdx="0" clrIdx="743"/>
  <p:cmAuthor id="745" name="群智集" initials="群" lastIdx="0" clrIdx="744"/>
  <p:cmAuthor id="746" name="xiaofeng yin" initials="x" lastIdx="0" clrIdx="745"/>
  <p:cmAuthor id="747" name="陈 润葆" initials="陈" lastIdx="0" clrIdx="746"/>
  <p:cmAuthor id="748" name="ttwisdom2@outlook.com" initials="t" lastIdx="0" clrIdx="747"/>
  <p:cmAuthor id="749" name="殷格非" initials="殷" lastIdx="0" clrIdx="748"/>
  <p:cmAuthor id="750" name="li siyao" initials="ls" lastIdx="0" clrIdx="749"/>
  <p:cmAuthor id="751" name="z r" initials="zr" lastIdx="0" clrIdx="750"/>
  <p:cmAuthor id="752" name="lc xue" initials="lx" lastIdx="0" clrIdx="751"/>
  <p:cmAuthor id="753" name="郑杨燚|zhengyangyi" initials="郑杨燚" lastIdx="0" clrIdx="752"/>
  <p:cmAuthor id="754" name="叶公义" initials="叶" lastIdx="0" clrIdx="753"/>
  <p:cmAuthor id="755" name="陈东林" initials="陈东林" lastIdx="0" clrIdx="754"/>
  <p:cmAuthor id="756" name="順天" initials="順" lastIdx="0" clrIdx="755"/>
  <p:cmAuthor id="757" name="jiangli1" initials="j" lastIdx="0" clrIdx="756"/>
  <p:cmAuthor id="758" name="panjm" initials="p" lastIdx="0" clrIdx="757"/>
  <p:cmAuthor id="759" name="ye gusong" initials="y" lastIdx="0" clrIdx="758"/>
  <p:cmAuthor id="760" name="未知用户1" initials="未知用户1" lastIdx="0" clrIdx="759"/>
  <p:cmAuthor id="761" name="刘圣林" initials="刘" lastIdx="0" clrIdx="760"/>
  <p:cmAuthor id="762" name="Unknown User58" initials="U" lastIdx="0" clrIdx="761"/>
  <p:cmAuthor id="763" name="备用电脑2" initials="备" lastIdx="0" clrIdx="762"/>
  <p:cmAuthor id="764" name="91257" initials="9" lastIdx="0" clrIdx="763"/>
  <p:cmAuthor id="765" name="86134" initials="8" lastIdx="0" clrIdx="764"/>
  <p:cmAuthor id="766" name="蔡刚" initials="蔡" lastIdx="0" clrIdx="765"/>
  <p:cmAuthor id="767" name="wu weiting" initials="ww" lastIdx="0" clrIdx="766"/>
  <p:cmAuthor id="768" name="gy_yumengting" initials="ymt" lastIdx="0" clrIdx="767"/>
  <p:cmAuthor id="769" name="Shuai Cui" initials="SC" lastIdx="0" clrIdx="768"/>
  <p:cmAuthor id="770" name="郑彦娜" initials="ZYN" lastIdx="0" clrIdx="769"/>
  <p:cmAuthor id="771" name="w zf" initials="wz" lastIdx="0" clrIdx="770"/>
  <p:cmAuthor id="772" name="Lam" initials="L" lastIdx="0" clrIdx="771"/>
  <p:cmAuthor id="773" name="lili" initials="lili" lastIdx="0" clrIdx="772"/>
  <p:cmAuthor id="774" name="进 揭" initials="进" lastIdx="0" clrIdx="773"/>
  <p:cmAuthor id="775" name="王勇民" initials="王勇民" lastIdx="0" clrIdx="774"/>
  <p:cmAuthor id="776" name="蔡伟岸" initials="蔡伟岸" lastIdx="0" clrIdx="775"/>
  <p:cmAuthor id="777" name="ZHX" initials="Z" lastIdx="0" clrIdx="776"/>
  <p:cmAuthor id="778" name="周平" initials="周" lastIdx="0" clrIdx="777"/>
  <p:cmAuthor id="779" name="科江 孙" initials="科孙" lastIdx="0" clrIdx="778"/>
  <p:cmAuthor id="780" name="美惠 郭" initials="美惠" lastIdx="0" clrIdx="779"/>
  <p:cmAuthor id="781" name="efort-1987" initials="e" lastIdx="0" clrIdx="780"/>
  <p:cmAuthor id="782" name="liyongkang" initials="l" lastIdx="0" clrIdx="781"/>
  <p:cmAuthor id="783" name="朱玲玲" initials="朱玲玲" lastIdx="0" clrIdx="782"/>
  <p:cmAuthor id="784" name="孙庆山" initials="authorId_1569006263" lastIdx="0" clrIdx="783"/>
  <p:cmAuthor id="785" name="F" initials="F" lastIdx="0" clrIdx="784"/>
  <p:cmAuthor id="786" name="weijunyi" initials="w" lastIdx="0" clrIdx="785"/>
  <p:cmAuthor id="787" name="钟仁红" initials="钟" lastIdx="0" clrIdx="786"/>
  <p:cmAuthor id="788" name="周业兴" initials="周" lastIdx="0" clrIdx="787"/>
  <p:cmAuthor id="789" name="未知的使用者149" initials="未" lastIdx="0" clrIdx="788"/>
  <p:cmAuthor id="790" name="丁芙蓉" initials="丁" lastIdx="0" clrIdx="789"/>
  <p:cmAuthor id="791" name="hys2" initials="h" lastIdx="0" clrIdx="790"/>
  <p:cmAuthor id="792" name="鲍华明" initials="鲍" lastIdx="0" clrIdx="791"/>
  <p:cmAuthor id="793" name="邹积逊" initials="邹" lastIdx="0" clrIdx="792"/>
  <p:cmAuthor id="794" name="yangyanxia" initials="y" lastIdx="0" clrIdx="793"/>
  <p:cmAuthor id="795" name="赵兰玉" initials="赵" lastIdx="0" clrIdx="794"/>
  <p:cmAuthor id="796" name="许弘扬" initials="许" lastIdx="0" clrIdx="795"/>
  <p:cmAuthor id="797" name="Liu, Leo (MBSHR cs)" initials="L" lastIdx="0" clrIdx="796"/>
  <p:cmAuthor id="798" name="未知用户5" initials="未知用户5" lastIdx="0" clrIdx="797"/>
  <p:cmAuthor id="799" name="kiki" initials="k" lastIdx="0" clrIdx="798"/>
  <p:cmAuthor id="800" name="Perry" initials="P" lastIdx="0" clrIdx="799"/>
  <p:cmAuthor id="801" name="杨旭" initials="杨旭" lastIdx="0" clrIdx="800"/>
  <p:cmAuthor id="802" name="xyzt" initials="x" lastIdx="0" clrIdx="801"/>
  <p:cmAuthor id="803" name="volcano2001" initials="v" lastIdx="0" clrIdx="802"/>
  <p:cmAuthor id="804" name="mengq" initials="m" lastIdx="0" clrIdx="803"/>
  <p:cmAuthor id="805" name="Xuliang NIU" initials="X" lastIdx="0" clrIdx="804"/>
  <p:cmAuthor id="806" name="孙妮" initials="孙" lastIdx="0" clrIdx="805"/>
  <p:cmAuthor id="807" name="石 伟" initials="石" lastIdx="0" clrIdx="806"/>
  <p:cmAuthor id="808" name="王凯10177225" initials="王凯10177225" lastIdx="0" clrIdx="807"/>
  <p:cmAuthor id="809" name="MP" initials="M" lastIdx="0" clrIdx="808"/>
  <p:cmAuthor id="810" name="政府版用户" initials="政府版用户" lastIdx="0" clrIdx="809"/>
  <p:cmAuthor id="811" name="lele6" initials="l" lastIdx="0" clrIdx="810"/>
  <p:cmAuthor id="812" name="ZRGJ" initials="Z" lastIdx="0" clrIdx="811"/>
  <p:cmAuthor id="813" name="ygsoft" initials="YG" lastIdx="0" clrIdx="812"/>
  <p:cmAuthor id="814" name="shuai zhang" initials="s" lastIdx="0" clrIdx="813"/>
  <p:cmAuthor id="815" name="l sp" initials="ls" lastIdx="0" clrIdx="814"/>
  <p:cmAuthor id="816" name="FtpDown" initials="" lastIdx="0" clrIdx="815"/>
  <p:cmAuthor id="817" name="Fan Isaac" initials="FI" lastIdx="0" clrIdx="816"/>
  <p:cmAuthor id="818" name="Ryan" initials="R" lastIdx="0" clrIdx="817"/>
  <p:cmAuthor id="819" name="Zhang Nathan" initials="ZN" lastIdx="0" clrIdx="818"/>
  <p:cmAuthor id="820" name="陈 安怡" initials="陈" lastIdx="0" clrIdx="819"/>
  <p:cmAuthor id="821" name="高 小鱼" initials="高" lastIdx="0" clrIdx="820"/>
  <p:cmAuthor id="822" name="Deng, M." initials="D" lastIdx="0" clrIdx="821"/>
  <p:cmAuthor id="823" name="lijiangtao" initials="l" lastIdx="0" clrIdx="822"/>
  <p:cmAuthor id="824" name="nathen" initials="n" lastIdx="0" clrIdx="823"/>
  <p:cmAuthor id="825" name="woolf zhang" initials="w" lastIdx="0" clrIdx="824"/>
  <p:cmAuthor id="826" name="zheng" initials="z" lastIdx="0" clrIdx="825"/>
  <p:cmAuthor id="827" name="云霄" initials="云" lastIdx="0" clrIdx="826"/>
  <p:cmAuthor id="828" name="李豪" initials="LH" lastIdx="0" clrIdx="827"/>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800"/>
    <a:srgbClr val="E24E0C"/>
    <a:srgbClr val="FFBA55"/>
    <a:srgbClr val="F87D2F"/>
    <a:srgbClr val="34A471"/>
    <a:srgbClr val="F5F5F5"/>
    <a:srgbClr val="F9FBFC"/>
    <a:srgbClr val="FEDEAF"/>
    <a:srgbClr val="F3F5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00" autoAdjust="0"/>
    <p:restoredTop sz="94498" autoAdjust="0"/>
  </p:normalViewPr>
  <p:slideViewPr>
    <p:cSldViewPr snapToGrid="0" showGuides="1">
      <p:cViewPr>
        <p:scale>
          <a:sx n="100" d="100"/>
          <a:sy n="100" d="100"/>
        </p:scale>
        <p:origin x="1116" y="312"/>
      </p:cViewPr>
      <p:guideLst>
        <p:guide orient="horz" pos="2552"/>
        <p:guide pos="270"/>
        <p:guide pos="7107"/>
        <p:guide orient="horz" pos="1012"/>
        <p:guide orient="horz" pos="3868"/>
        <p:guide orient="horz" pos="800"/>
        <p:guide pos="4426"/>
        <p:guide pos="2914"/>
        <p:guide pos="6410"/>
      </p:guideLst>
    </p:cSldViewPr>
  </p:slideViewPr>
  <p:outlineViewPr>
    <p:cViewPr>
      <p:scale>
        <a:sx n="33" d="100"/>
        <a:sy n="33" d="100"/>
      </p:scale>
      <p:origin x="0" y="-464"/>
    </p:cViewPr>
  </p:outlineViewPr>
  <p:notesTextViewPr>
    <p:cViewPr>
      <p:scale>
        <a:sx n="3" d="2"/>
        <a:sy n="3" d="2"/>
      </p:scale>
      <p:origin x="0" y="0"/>
    </p:cViewPr>
  </p:notesTextViewPr>
  <p:sorterViewPr>
    <p:cViewPr>
      <p:scale>
        <a:sx n="110" d="100"/>
        <a:sy n="110" d="100"/>
      </p:scale>
      <p:origin x="0" y="-442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5" Type="http://schemas.openxmlformats.org/officeDocument/2006/relationships/tags" Target="tags/tag304.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2.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9ADB5-1B46-41FB-91AE-45E4851E274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BA3763-07BD-40E4-8FA2-FC10D88F7F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sz="1200"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F34C086-DF50-441F-9D0D-82E71E33C5C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34C086-DF50-441F-9D0D-82E71E33C5C7}" type="slidenum">
              <a:rPr kumimoji="0" lang="en-US" sz="1200" b="0" i="0" u="none" strike="noStrike" kern="1200" cap="none" spc="0" normalizeH="0" baseline="0" noProof="0" smtClean="0">
                <a:ln>
                  <a:noFill/>
                </a:ln>
                <a:solidFill>
                  <a:prstClr val="black"/>
                </a:solidFill>
                <a:effectLst/>
                <a:uLnTx/>
                <a:uFillTx/>
                <a:latin typeface="等线" panose="02010600030101010101" pitchFamily="2" charset="-122"/>
                <a:ea typeface="+mn-ea"/>
                <a:cs typeface="+mn-cs"/>
              </a:rPr>
            </a:fld>
            <a:endParaRPr kumimoji="0" lang="en-US" sz="1200" b="0" i="0" u="none" strike="noStrike" kern="1200" cap="none" spc="0" normalizeH="0" baseline="0" noProof="0">
              <a:ln>
                <a:noFill/>
              </a:ln>
              <a:solidFill>
                <a:prstClr val="black"/>
              </a:solidFill>
              <a:effectLst/>
              <a:uLnTx/>
              <a:uFillTx/>
              <a:latin typeface="等线" panose="02010600030101010101" pitchFamily="2" charset="-122"/>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b="1">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b="1">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b="1">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b="1">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缺乏到</a:t>
            </a:r>
            <a:r>
              <a:rPr lang="en-US" altLang="zh-CN" dirty="0" smtClean="0"/>
              <a:t>L4</a:t>
            </a:r>
            <a:r>
              <a:rPr lang="zh-CN" altLang="en-US" dirty="0" smtClean="0"/>
              <a:t>层的流程卡片说明和业务集成关系描述，导致无法看到清晰的业务作业流程活动，因此无法完整识别业务实体内容和实体在业务流中的流转关系，导致无法清晰的构建逻辑模型</a:t>
            </a:r>
            <a:endParaRPr lang="zh-CN" altLang="en-US" dirty="0"/>
          </a:p>
        </p:txBody>
      </p:sp>
      <p:sp>
        <p:nvSpPr>
          <p:cNvPr id="4" name="灯片编号占位符 3"/>
          <p:cNvSpPr>
            <a:spLocks noGrp="1"/>
          </p:cNvSpPr>
          <p:nvPr>
            <p:ph type="sldNum" sz="quarter" idx="10"/>
          </p:nvPr>
        </p:nvSpPr>
        <p:spPr/>
        <p:txBody>
          <a:bodyPr/>
          <a:lstStyle/>
          <a:p>
            <a:fld id="{5CBA3763-07BD-40E4-8FA2-FC10D88F7FF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缺乏到</a:t>
            </a:r>
            <a:r>
              <a:rPr lang="en-US" altLang="zh-CN" dirty="0" smtClean="0"/>
              <a:t>L5</a:t>
            </a:r>
            <a:r>
              <a:rPr lang="zh-CN" altLang="en-US" dirty="0" smtClean="0"/>
              <a:t>和</a:t>
            </a:r>
            <a:r>
              <a:rPr lang="en-US" altLang="zh-CN" dirty="0" smtClean="0"/>
              <a:t>L6</a:t>
            </a:r>
            <a:r>
              <a:rPr lang="zh-CN" altLang="en-US" dirty="0" smtClean="0"/>
              <a:t>层的详细业务方案识别，无法明确业务活动的作业表单和业务活动的具体操作，导致无法明确业务对象对应的属性内容，也无法对属性进行范式归类形成清晰的逻辑实体，影响逻辑模型设计</a:t>
            </a:r>
            <a:endParaRPr lang="zh-CN" altLang="en-US" dirty="0"/>
          </a:p>
        </p:txBody>
      </p:sp>
      <p:sp>
        <p:nvSpPr>
          <p:cNvPr id="4" name="灯片编号占位符 3"/>
          <p:cNvSpPr>
            <a:spLocks noGrp="1"/>
          </p:cNvSpPr>
          <p:nvPr>
            <p:ph type="sldNum" sz="quarter" idx="10"/>
          </p:nvPr>
        </p:nvSpPr>
        <p:spPr/>
        <p:txBody>
          <a:bodyPr/>
          <a:lstStyle/>
          <a:p>
            <a:fld id="{5CBA3763-07BD-40E4-8FA2-FC10D88F7FF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b="1">
              <a:sym typeface="+mn-ea"/>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9375" y="739775"/>
            <a:ext cx="6577013" cy="3700463"/>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9375" y="739775"/>
            <a:ext cx="6577013" cy="3700463"/>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9375" y="739775"/>
            <a:ext cx="6577013" cy="3700463"/>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9375" y="739775"/>
            <a:ext cx="6577013" cy="3700463"/>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缺乏到</a:t>
            </a:r>
            <a:r>
              <a:rPr lang="en-US" altLang="zh-CN" dirty="0" smtClean="0"/>
              <a:t>L5</a:t>
            </a:r>
            <a:r>
              <a:rPr lang="zh-CN" altLang="en-US" dirty="0" smtClean="0"/>
              <a:t>和</a:t>
            </a:r>
            <a:r>
              <a:rPr lang="en-US" altLang="zh-CN" dirty="0" smtClean="0"/>
              <a:t>L6</a:t>
            </a:r>
            <a:r>
              <a:rPr lang="zh-CN" altLang="en-US" dirty="0" smtClean="0"/>
              <a:t>层的详细业务方案识别，无法明确业务活动的作业表单和业务活动的具体操作，导致无法明确业务对象对应的属性内容，也无法对属性进行范式归类形成清晰的逻辑实体，影响逻辑模型设计</a:t>
            </a:r>
            <a:endParaRPr lang="zh-CN" altLang="en-US" dirty="0"/>
          </a:p>
        </p:txBody>
      </p:sp>
      <p:sp>
        <p:nvSpPr>
          <p:cNvPr id="4" name="灯片编号占位符 3"/>
          <p:cNvSpPr>
            <a:spLocks noGrp="1"/>
          </p:cNvSpPr>
          <p:nvPr>
            <p:ph type="sldNum" sz="quarter" idx="10"/>
          </p:nvPr>
        </p:nvSpPr>
        <p:spPr/>
        <p:txBody>
          <a:bodyPr/>
          <a:lstStyle/>
          <a:p>
            <a:fld id="{5CBA3763-07BD-40E4-8FA2-FC10D88F7FF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缺乏到</a:t>
            </a:r>
            <a:r>
              <a:rPr lang="en-US" altLang="zh-CN" dirty="0" smtClean="0"/>
              <a:t>L5</a:t>
            </a:r>
            <a:r>
              <a:rPr lang="zh-CN" altLang="en-US" dirty="0" smtClean="0"/>
              <a:t>和</a:t>
            </a:r>
            <a:r>
              <a:rPr lang="en-US" altLang="zh-CN" dirty="0" smtClean="0"/>
              <a:t>L6</a:t>
            </a:r>
            <a:r>
              <a:rPr lang="zh-CN" altLang="en-US" dirty="0" smtClean="0"/>
              <a:t>层的详细业务方案识别，无法明确业务活动的作业表单和业务活动的具体操作，导致无法明确业务对象对应的属性内容，也无法对属性进行范式归类形成清晰的逻辑实体，影响逻辑模型设计</a:t>
            </a:r>
            <a:endParaRPr lang="zh-CN" altLang="en-US" dirty="0"/>
          </a:p>
        </p:txBody>
      </p:sp>
      <p:sp>
        <p:nvSpPr>
          <p:cNvPr id="4" name="灯片编号占位符 3"/>
          <p:cNvSpPr>
            <a:spLocks noGrp="1"/>
          </p:cNvSpPr>
          <p:nvPr>
            <p:ph type="sldNum" sz="quarter" idx="10"/>
          </p:nvPr>
        </p:nvSpPr>
        <p:spPr/>
        <p:txBody>
          <a:bodyPr/>
          <a:lstStyle/>
          <a:p>
            <a:fld id="{5CBA3763-07BD-40E4-8FA2-FC10D88F7FF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529" y="-297"/>
            <a:ext cx="12193057" cy="6858594"/>
          </a:xfrm>
          <a:prstGeom prst="rect">
            <a:avLst/>
          </a:prstGeom>
        </p:spPr>
      </p:pic>
      <p:pic>
        <p:nvPicPr>
          <p:cNvPr id="8" name="图片 7" descr="1-1"/>
          <p:cNvPicPr>
            <a:picLocks noChangeAspect="1"/>
          </p:cNvPicPr>
          <p:nvPr userDrawn="1"/>
        </p:nvPicPr>
        <p:blipFill>
          <a:blip r:embed="rId4"/>
          <a:stretch>
            <a:fillRect/>
          </a:stretch>
        </p:blipFill>
        <p:spPr>
          <a:xfrm>
            <a:off x="9875520" y="-187325"/>
            <a:ext cx="2339340" cy="13157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bg>
      <p:bgPr>
        <a:noFill/>
        <a:effectLst/>
      </p:bgPr>
    </p:bg>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0" y="-594"/>
            <a:ext cx="12193057" cy="6858594"/>
          </a:xfrm>
          <a:prstGeom prst="rect">
            <a:avLst/>
          </a:prstGeom>
        </p:spPr>
      </p:pic>
      <p:sp>
        <p:nvSpPr>
          <p:cNvPr id="13" name="文本框 12"/>
          <p:cNvSpPr txBox="1"/>
          <p:nvPr userDrawn="1"/>
        </p:nvSpPr>
        <p:spPr>
          <a:xfrm>
            <a:off x="4504690" y="6567170"/>
            <a:ext cx="2998470" cy="2298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硕磐机密</a:t>
            </a:r>
            <a:r>
              <a:rPr kumimoji="0" lang="en-US" altLang="zh-CN" sz="9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90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www.boulderaitech.com/</a:t>
            </a:r>
            <a:endParaRPr kumimoji="0" lang="en-US" altLang="zh-CN" sz="9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userDrawn="1"/>
        </p:nvSpPr>
        <p:spPr>
          <a:xfrm>
            <a:off x="262890" y="6514465"/>
            <a:ext cx="521335" cy="316865"/>
          </a:xfrm>
          <a:prstGeom prst="rect">
            <a:avLst/>
          </a:prstGeom>
          <a:noFill/>
        </p:spPr>
        <p:txBody>
          <a:bodyPr wrap="square">
            <a:noAutofit/>
          </a:bodyPr>
          <a:lstStyle/>
          <a:p>
            <a:pPr marL="0" marR="0" lvl="0" indent="0" algn="r" defTabSz="914400" rtl="0" eaLnBrk="1" fontAlgn="auto" latinLnBrk="0" hangingPunct="1">
              <a:lnSpc>
                <a:spcPct val="100000"/>
              </a:lnSpc>
              <a:spcBef>
                <a:spcPts val="0"/>
              </a:spcBef>
              <a:spcAft>
                <a:spcPts val="0"/>
              </a:spcAft>
              <a:buClrTx/>
              <a:buSzTx/>
              <a:buFontTx/>
              <a:buNone/>
              <a:defRPr/>
            </a:pPr>
            <a:fld id="{EA19990E-7E10-AC4A-97A6-3A435BBA8B01}" type="slidenum">
              <a:rPr kumimoji="0" lang="zh-CN" altLang="en-US" sz="1000" b="0" i="0" u="none" strike="noStrike" kern="1200" cap="none" spc="0" normalizeH="0" baseline="0" noProof="0" smtClean="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fld>
            <a:endParaRPr kumimoji="0" lang="zh-CN" altLang="en-US" sz="1000" b="0" i="0" u="none" strike="noStrike" kern="1200" cap="none" spc="0" normalizeH="0" baseline="0" noProof="0" dirty="0" smtClean="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userDrawn="1"/>
        </p:nvGrpSpPr>
        <p:grpSpPr>
          <a:xfrm>
            <a:off x="476135" y="898028"/>
            <a:ext cx="9399385" cy="65314"/>
            <a:chOff x="510125" y="1010305"/>
            <a:chExt cx="9399385" cy="65314"/>
          </a:xfrm>
        </p:grpSpPr>
        <p:cxnSp>
          <p:nvCxnSpPr>
            <p:cNvPr id="4" name="直线连接符 10"/>
            <p:cNvCxnSpPr/>
            <p:nvPr>
              <p:custDataLst>
                <p:tags r:id="rId4"/>
              </p:custDataLst>
            </p:nvPr>
          </p:nvCxnSpPr>
          <p:spPr>
            <a:xfrm flipV="1">
              <a:off x="1084891" y="1042962"/>
              <a:ext cx="8824619" cy="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平行四边形 4"/>
            <p:cNvSpPr/>
            <p:nvPr>
              <p:custDataLst>
                <p:tags r:id="rId5"/>
              </p:custDataLst>
            </p:nvPr>
          </p:nvSpPr>
          <p:spPr>
            <a:xfrm>
              <a:off x="510125" y="1010305"/>
              <a:ext cx="1097280" cy="65314"/>
            </a:xfrm>
            <a:prstGeom prst="parallelogram">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 name="标题 1"/>
          <p:cNvSpPr>
            <a:spLocks noGrp="1"/>
          </p:cNvSpPr>
          <p:nvPr>
            <p:ph type="title" hasCustomPrompt="1"/>
            <p:custDataLst>
              <p:tags r:id="rId6"/>
            </p:custDataLst>
          </p:nvPr>
        </p:nvSpPr>
        <p:spPr>
          <a:xfrm>
            <a:off x="487680" y="276225"/>
            <a:ext cx="9387840" cy="586105"/>
          </a:xfrm>
        </p:spPr>
        <p:txBody>
          <a:bodyPr wrap="square">
            <a:spAutoFit/>
          </a:bodyPr>
          <a:lstStyle>
            <a:lvl1pPr>
              <a:defRPr kumimoji="0" sz="3200" i="0" dirty="0">
                <a:ln>
                  <a:noFill/>
                </a:ln>
                <a:solidFill>
                  <a:schemeClr val="tx1">
                    <a:lumMod val="75000"/>
                    <a:lumOff val="25000"/>
                  </a:schemeClr>
                </a:solidFill>
                <a:effectLst/>
                <a:uLnTx/>
                <a:latin typeface="微软雅黑" panose="020B0503020204020204" pitchFamily="34" charset="-122"/>
                <a:sym typeface="+mn-ea"/>
              </a:defRPr>
            </a:lvl1pPr>
          </a:lstStyle>
          <a:p>
            <a:pPr marL="0" marR="0" lvl="0" indent="0">
              <a:spcBef>
                <a:spcPts val="0"/>
              </a:spcBef>
              <a:spcAft>
                <a:spcPts val="0"/>
              </a:spcAft>
              <a:buClrTx/>
              <a:buSzTx/>
              <a:buFontTx/>
            </a:pPr>
            <a:r>
              <a:rPr lang="zh-CN" altLang="en-US" dirty="0">
                <a:sym typeface="+mn-ea"/>
              </a:rPr>
              <a:t>单击此处编辑标题</a:t>
            </a:r>
            <a:endParaRPr dirty="0">
              <a:sym typeface="+mn-ea"/>
            </a:endParaRPr>
          </a:p>
        </p:txBody>
      </p:sp>
      <p:sp>
        <p:nvSpPr>
          <p:cNvPr id="9" name="文本占位符 3"/>
          <p:cNvSpPr>
            <a:spLocks noGrp="1"/>
          </p:cNvSpPr>
          <p:nvPr>
            <p:ph type="body" sz="half" idx="2" hasCustomPrompt="1"/>
            <p:custDataLst>
              <p:tags r:id="rId7"/>
            </p:custDataLst>
          </p:nvPr>
        </p:nvSpPr>
        <p:spPr>
          <a:xfrm>
            <a:off x="486610" y="1052042"/>
            <a:ext cx="11218779" cy="5251768"/>
          </a:xfrm>
        </p:spPr>
        <p:txBody>
          <a:bodyPr vert="horz" lIns="90000" tIns="46800" rIns="90000" bIns="46800" rtlCol="0">
            <a:normAutofit/>
          </a:bodyPr>
          <a:lstStyle>
            <a:lvl1pPr marL="285750" indent="-285750">
              <a:buFont typeface="Arial" panose="020B0604020202020204" pitchFamily="34" charset="0"/>
              <a:buChar char="•"/>
              <a:defRPr sz="1400">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sym typeface="+mn-ea"/>
              </a:rPr>
              <a:t>单击此处编辑内容</a:t>
            </a:r>
            <a:endParaRPr lang="en-US" altLang="zh-CN" dirty="0">
              <a:sym typeface="+mn-ea"/>
            </a:endParaRPr>
          </a:p>
          <a:p>
            <a:pPr lvl="0"/>
            <a:endParaRPr lang="zh-CN" altLang="en-US" dirty="0">
              <a:sym typeface="+mn-ea"/>
            </a:endParaRPr>
          </a:p>
        </p:txBody>
      </p:sp>
      <p:pic>
        <p:nvPicPr>
          <p:cNvPr id="8" name="图片 7" descr="1-1"/>
          <p:cNvPicPr>
            <a:picLocks noChangeAspect="1"/>
          </p:cNvPicPr>
          <p:nvPr userDrawn="1"/>
        </p:nvPicPr>
        <p:blipFill>
          <a:blip r:embed="rId8"/>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9"/>
          <a:stretch>
            <a:fillRect/>
          </a:stretch>
        </p:blipFill>
        <p:spPr>
          <a:xfrm>
            <a:off x="10351770" y="6488430"/>
            <a:ext cx="1595755" cy="26289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8AEE2D24-1670-F04C-856F-A16E101F22BE}"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B61A168-F344-774E-ABE8-99F5515F97BA}"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529" y="-297"/>
            <a:ext cx="12193057" cy="6858594"/>
          </a:xfrm>
          <a:prstGeom prst="rect">
            <a:avLst/>
          </a:prstGeom>
        </p:spPr>
      </p:pic>
      <p:pic>
        <p:nvPicPr>
          <p:cNvPr id="8" name="图片 7" descr="1-1"/>
          <p:cNvPicPr>
            <a:picLocks noChangeAspect="1"/>
          </p:cNvPicPr>
          <p:nvPr userDrawn="1"/>
        </p:nvPicPr>
        <p:blipFill>
          <a:blip r:embed="rId4"/>
          <a:stretch>
            <a:fillRect/>
          </a:stretch>
        </p:blipFill>
        <p:spPr>
          <a:xfrm>
            <a:off x="9875520" y="-187325"/>
            <a:ext cx="2339340" cy="13157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0" y="-594"/>
            <a:ext cx="12193057" cy="6858594"/>
          </a:xfrm>
          <a:prstGeom prst="rect">
            <a:avLst/>
          </a:prstGeom>
        </p:spPr>
      </p:pic>
      <p:sp>
        <p:nvSpPr>
          <p:cNvPr id="13" name="文本框 12"/>
          <p:cNvSpPr txBox="1"/>
          <p:nvPr userDrawn="1"/>
        </p:nvSpPr>
        <p:spPr>
          <a:xfrm>
            <a:off x="4504690" y="6567170"/>
            <a:ext cx="2998470" cy="2298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硕磐机密</a:t>
            </a:r>
            <a:r>
              <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 </a:t>
            </a:r>
            <a:r>
              <a:rPr lang="zh-CN" altLang="en-US" sz="900" noProof="0" dirty="0">
                <a:ln>
                  <a:noFill/>
                </a:ln>
                <a:solidFill>
                  <a:prstClr val="white">
                    <a:lumMod val="65000"/>
                  </a:prstClr>
                </a:solidFill>
                <a:effectLst/>
                <a:uLnTx/>
                <a:uFillTx/>
                <a:latin typeface="FontName" panose="02010600010101010101" pitchFamily="2" charset="-122"/>
                <a:ea typeface="FontName" panose="02010600010101010101" pitchFamily="2" charset="-122"/>
                <a:sym typeface="+mn-ea"/>
              </a:rPr>
              <a:t>www.boulderaitech.com/</a:t>
            </a:r>
            <a:endPar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sp>
        <p:nvSpPr>
          <p:cNvPr id="14" name="文本框 13"/>
          <p:cNvSpPr txBox="1"/>
          <p:nvPr userDrawn="1"/>
        </p:nvSpPr>
        <p:spPr>
          <a:xfrm>
            <a:off x="262890" y="6514465"/>
            <a:ext cx="429895" cy="316865"/>
          </a:xfrm>
          <a:prstGeom prst="rect">
            <a:avLst/>
          </a:prstGeom>
          <a:noFill/>
        </p:spPr>
        <p:txBody>
          <a:bodyPr wrap="square">
            <a:noAutofit/>
          </a:bodyPr>
          <a:lstStyle/>
          <a:p>
            <a:pPr marL="0" marR="0" lvl="0" indent="0" algn="r" defTabSz="914400" rtl="0" eaLnBrk="1" fontAlgn="auto" latinLnBrk="0" hangingPunct="1">
              <a:lnSpc>
                <a:spcPct val="100000"/>
              </a:lnSpc>
              <a:spcBef>
                <a:spcPts val="0"/>
              </a:spcBef>
              <a:spcAft>
                <a:spcPts val="0"/>
              </a:spcAft>
              <a:buClrTx/>
              <a:buSzTx/>
              <a:buFontTx/>
              <a:buNone/>
              <a:defRPr/>
            </a:pPr>
            <a:fld id="{EA19990E-7E10-AC4A-97A6-3A435BBA8B01}" type="slidenum">
              <a:rPr kumimoji="0" lang="zh-CN" altLang="en-US" sz="1000" b="0" i="0" u="none" strike="noStrike" kern="1200" cap="none" spc="0" normalizeH="0" baseline="0" noProof="0" smtClean="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fld>
            <a:endParaRPr kumimoji="0" lang="zh-CN" altLang="en-US" sz="10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grpSp>
        <p:nvGrpSpPr>
          <p:cNvPr id="3" name="组合 2"/>
          <p:cNvGrpSpPr/>
          <p:nvPr userDrawn="1"/>
        </p:nvGrpSpPr>
        <p:grpSpPr>
          <a:xfrm>
            <a:off x="476135" y="755788"/>
            <a:ext cx="9399385" cy="65314"/>
            <a:chOff x="510125" y="1010305"/>
            <a:chExt cx="9399385" cy="65314"/>
          </a:xfrm>
        </p:grpSpPr>
        <p:cxnSp>
          <p:nvCxnSpPr>
            <p:cNvPr id="4" name="直线连接符 10"/>
            <p:cNvCxnSpPr/>
            <p:nvPr>
              <p:custDataLst>
                <p:tags r:id="rId4"/>
              </p:custDataLst>
            </p:nvPr>
          </p:nvCxnSpPr>
          <p:spPr>
            <a:xfrm flipV="1">
              <a:off x="1084891" y="1042962"/>
              <a:ext cx="8824619" cy="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平行四边形 4"/>
            <p:cNvSpPr/>
            <p:nvPr>
              <p:custDataLst>
                <p:tags r:id="rId5"/>
              </p:custDataLst>
            </p:nvPr>
          </p:nvSpPr>
          <p:spPr>
            <a:xfrm>
              <a:off x="510125" y="1010305"/>
              <a:ext cx="1097280" cy="65314"/>
            </a:xfrm>
            <a:prstGeom prst="parallelogram">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 name="标题 1"/>
          <p:cNvSpPr>
            <a:spLocks noGrp="1"/>
          </p:cNvSpPr>
          <p:nvPr>
            <p:ph type="title" hasCustomPrompt="1"/>
            <p:custDataLst>
              <p:tags r:id="rId6"/>
            </p:custDataLst>
          </p:nvPr>
        </p:nvSpPr>
        <p:spPr>
          <a:xfrm>
            <a:off x="487680" y="133985"/>
            <a:ext cx="9387840" cy="586105"/>
          </a:xfrm>
        </p:spPr>
        <p:txBody>
          <a:bodyPr wrap="square">
            <a:spAutoFit/>
          </a:bodyPr>
          <a:lstStyle>
            <a:lvl1pPr>
              <a:defRPr kumimoji="0" sz="3200" i="0" dirty="0">
                <a:ln>
                  <a:noFill/>
                </a:ln>
                <a:solidFill>
                  <a:schemeClr val="tx1">
                    <a:lumMod val="75000"/>
                    <a:lumOff val="25000"/>
                  </a:schemeClr>
                </a:solidFill>
                <a:effectLst/>
                <a:uLnTx/>
                <a:latin typeface="微软雅黑" panose="020B0503020204020204" pitchFamily="34" charset="-122"/>
                <a:sym typeface="+mn-ea"/>
              </a:defRPr>
            </a:lvl1pPr>
          </a:lstStyle>
          <a:p>
            <a:pPr marL="0" marR="0" lvl="0" indent="0">
              <a:spcBef>
                <a:spcPts val="0"/>
              </a:spcBef>
              <a:spcAft>
                <a:spcPts val="0"/>
              </a:spcAft>
              <a:buClrTx/>
              <a:buSzTx/>
              <a:buFontTx/>
            </a:pPr>
            <a:r>
              <a:rPr lang="zh-CN" altLang="en-US" dirty="0">
                <a:sym typeface="+mn-ea"/>
              </a:rPr>
              <a:t>单击此处编辑标题</a:t>
            </a:r>
            <a:endParaRPr dirty="0">
              <a:sym typeface="+mn-ea"/>
            </a:endParaRPr>
          </a:p>
        </p:txBody>
      </p:sp>
      <p:sp>
        <p:nvSpPr>
          <p:cNvPr id="9" name="文本占位符 3"/>
          <p:cNvSpPr>
            <a:spLocks noGrp="1"/>
          </p:cNvSpPr>
          <p:nvPr>
            <p:ph type="body" sz="half" idx="2" hasCustomPrompt="1"/>
            <p:custDataLst>
              <p:tags r:id="rId7"/>
            </p:custDataLst>
          </p:nvPr>
        </p:nvSpPr>
        <p:spPr>
          <a:xfrm>
            <a:off x="486610" y="1052042"/>
            <a:ext cx="11218779" cy="5251768"/>
          </a:xfrm>
        </p:spPr>
        <p:txBody>
          <a:bodyPr vert="horz" lIns="90000" tIns="46800" rIns="90000" bIns="46800" rtlCol="0">
            <a:normAutofit/>
          </a:bodyPr>
          <a:lstStyle>
            <a:lvl1pPr marL="285750" indent="-285750">
              <a:buFont typeface="Arial" panose="020B0604020202020204" pitchFamily="34" charset="0"/>
              <a:buChar char="•"/>
              <a:defRPr sz="1400">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sym typeface="+mn-ea"/>
              </a:rPr>
              <a:t>单击此处编辑内容</a:t>
            </a:r>
            <a:endParaRPr lang="en-US" altLang="zh-CN" dirty="0">
              <a:sym typeface="+mn-ea"/>
            </a:endParaRPr>
          </a:p>
          <a:p>
            <a:pPr lvl="0"/>
            <a:endParaRPr lang="zh-CN" altLang="en-US" dirty="0">
              <a:sym typeface="+mn-ea"/>
            </a:endParaRPr>
          </a:p>
        </p:txBody>
      </p:sp>
      <p:pic>
        <p:nvPicPr>
          <p:cNvPr id="8" name="图片 7" descr="1-1"/>
          <p:cNvPicPr>
            <a:picLocks noChangeAspect="1"/>
          </p:cNvPicPr>
          <p:nvPr userDrawn="1"/>
        </p:nvPicPr>
        <p:blipFill>
          <a:blip r:embed="rId8"/>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9"/>
          <a:stretch>
            <a:fillRect/>
          </a:stretch>
        </p:blipFill>
        <p:spPr>
          <a:xfrm>
            <a:off x="10351770" y="6488430"/>
            <a:ext cx="1595755" cy="2628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H:\盘符(W)\外接画面\会务\240724浙商会客厅 温州数转活动鞋服专场活动供应商\PPT拆分\PPT2：16：9-3.jpgPPT2：16：9-3"/>
          <p:cNvPicPr>
            <a:picLocks noChangeAspect="1"/>
          </p:cNvPicPr>
          <p:nvPr userDrawn="1"/>
        </p:nvPicPr>
        <p:blipFill>
          <a:blip r:embed="rId2"/>
          <a:srcRect/>
          <a:stretch>
            <a:fillRect/>
          </a:stretch>
        </p:blipFill>
        <p:spPr>
          <a:xfrm>
            <a:off x="0" y="0"/>
            <a:ext cx="12191153" cy="6858000"/>
          </a:xfrm>
          <a:prstGeom prst="rect">
            <a:avLst/>
          </a:prstGeom>
        </p:spPr>
      </p:pic>
      <p:pic>
        <p:nvPicPr>
          <p:cNvPr id="4" name="图片 3" descr="1-1"/>
          <p:cNvPicPr>
            <a:picLocks noChangeAspect="1"/>
          </p:cNvPicPr>
          <p:nvPr userDrawn="1"/>
        </p:nvPicPr>
        <p:blipFill>
          <a:blip r:embed="rId3"/>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4"/>
          <a:stretch>
            <a:fillRect/>
          </a:stretch>
        </p:blipFill>
        <p:spPr>
          <a:xfrm>
            <a:off x="10351770" y="6488430"/>
            <a:ext cx="1595755" cy="2628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8AEE2D24-1670-F04C-856F-A16E101F22BE}"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B61A168-F344-774E-ABE8-99F5515F97BA}" type="slidenum">
              <a:rPr kumimoji="1" lang="zh-CN" altLang="en-US" smtClean="0"/>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529" y="-297"/>
            <a:ext cx="12193057" cy="6858594"/>
          </a:xfrm>
          <a:prstGeom prst="rect">
            <a:avLst/>
          </a:prstGeom>
        </p:spPr>
      </p:pic>
      <p:pic>
        <p:nvPicPr>
          <p:cNvPr id="8" name="图片 7" descr="1-1"/>
          <p:cNvPicPr>
            <a:picLocks noChangeAspect="1"/>
          </p:cNvPicPr>
          <p:nvPr userDrawn="1"/>
        </p:nvPicPr>
        <p:blipFill>
          <a:blip r:embed="rId4"/>
          <a:stretch>
            <a:fillRect/>
          </a:stretch>
        </p:blipFill>
        <p:spPr>
          <a:xfrm>
            <a:off x="9875520" y="-187325"/>
            <a:ext cx="2339340" cy="13157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0" y="-594"/>
            <a:ext cx="12193057" cy="6858594"/>
          </a:xfrm>
          <a:prstGeom prst="rect">
            <a:avLst/>
          </a:prstGeom>
        </p:spPr>
      </p:pic>
      <p:sp>
        <p:nvSpPr>
          <p:cNvPr id="13" name="文本框 12"/>
          <p:cNvSpPr txBox="1"/>
          <p:nvPr userDrawn="1"/>
        </p:nvSpPr>
        <p:spPr>
          <a:xfrm>
            <a:off x="4504690" y="6567170"/>
            <a:ext cx="2998470" cy="2298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硕磐机密</a:t>
            </a:r>
            <a:r>
              <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 </a:t>
            </a:r>
            <a:r>
              <a:rPr lang="zh-CN" altLang="en-US" sz="900" noProof="0" dirty="0">
                <a:ln>
                  <a:noFill/>
                </a:ln>
                <a:solidFill>
                  <a:prstClr val="white">
                    <a:lumMod val="65000"/>
                  </a:prstClr>
                </a:solidFill>
                <a:effectLst/>
                <a:uLnTx/>
                <a:uFillTx/>
                <a:latin typeface="FontName" panose="02010600010101010101" pitchFamily="2" charset="-122"/>
                <a:ea typeface="FontName" panose="02010600010101010101" pitchFamily="2" charset="-122"/>
                <a:sym typeface="+mn-ea"/>
              </a:rPr>
              <a:t>www.boulderaitech.com/</a:t>
            </a:r>
            <a:endPar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sp>
        <p:nvSpPr>
          <p:cNvPr id="14" name="文本框 13"/>
          <p:cNvSpPr txBox="1"/>
          <p:nvPr userDrawn="1"/>
        </p:nvSpPr>
        <p:spPr>
          <a:xfrm>
            <a:off x="262890" y="6514465"/>
            <a:ext cx="429895" cy="316865"/>
          </a:xfrm>
          <a:prstGeom prst="rect">
            <a:avLst/>
          </a:prstGeom>
          <a:noFill/>
        </p:spPr>
        <p:txBody>
          <a:bodyPr wrap="square">
            <a:noAutofit/>
          </a:bodyPr>
          <a:lstStyle/>
          <a:p>
            <a:pPr marL="0" marR="0" lvl="0" indent="0" algn="r" defTabSz="914400" rtl="0" eaLnBrk="1" fontAlgn="auto" latinLnBrk="0" hangingPunct="1">
              <a:lnSpc>
                <a:spcPct val="100000"/>
              </a:lnSpc>
              <a:spcBef>
                <a:spcPts val="0"/>
              </a:spcBef>
              <a:spcAft>
                <a:spcPts val="0"/>
              </a:spcAft>
              <a:buClrTx/>
              <a:buSzTx/>
              <a:buFontTx/>
              <a:buNone/>
              <a:defRPr/>
            </a:pPr>
            <a:fld id="{EA19990E-7E10-AC4A-97A6-3A435BBA8B01}" type="slidenum">
              <a:rPr kumimoji="0" lang="zh-CN" altLang="en-US" sz="1000" b="0" i="0" u="none" strike="noStrike" kern="1200" cap="none" spc="0" normalizeH="0" baseline="0" noProof="0" smtClean="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fld>
            <a:endParaRPr kumimoji="0" lang="zh-CN" altLang="en-US" sz="10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grpSp>
        <p:nvGrpSpPr>
          <p:cNvPr id="3" name="组合 2"/>
          <p:cNvGrpSpPr/>
          <p:nvPr userDrawn="1"/>
        </p:nvGrpSpPr>
        <p:grpSpPr>
          <a:xfrm>
            <a:off x="476135" y="755788"/>
            <a:ext cx="9399385" cy="65314"/>
            <a:chOff x="510125" y="1010305"/>
            <a:chExt cx="9399385" cy="65314"/>
          </a:xfrm>
        </p:grpSpPr>
        <p:cxnSp>
          <p:nvCxnSpPr>
            <p:cNvPr id="4" name="直线连接符 10"/>
            <p:cNvCxnSpPr/>
            <p:nvPr>
              <p:custDataLst>
                <p:tags r:id="rId4"/>
              </p:custDataLst>
            </p:nvPr>
          </p:nvCxnSpPr>
          <p:spPr>
            <a:xfrm flipV="1">
              <a:off x="1084891" y="1042962"/>
              <a:ext cx="8824619" cy="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平行四边形 4"/>
            <p:cNvSpPr/>
            <p:nvPr>
              <p:custDataLst>
                <p:tags r:id="rId5"/>
              </p:custDataLst>
            </p:nvPr>
          </p:nvSpPr>
          <p:spPr>
            <a:xfrm>
              <a:off x="510125" y="1010305"/>
              <a:ext cx="1097280" cy="65314"/>
            </a:xfrm>
            <a:prstGeom prst="parallelogram">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 name="标题 1"/>
          <p:cNvSpPr>
            <a:spLocks noGrp="1"/>
          </p:cNvSpPr>
          <p:nvPr>
            <p:ph type="title" hasCustomPrompt="1"/>
            <p:custDataLst>
              <p:tags r:id="rId6"/>
            </p:custDataLst>
          </p:nvPr>
        </p:nvSpPr>
        <p:spPr>
          <a:xfrm>
            <a:off x="487680" y="133985"/>
            <a:ext cx="9387840" cy="586105"/>
          </a:xfrm>
        </p:spPr>
        <p:txBody>
          <a:bodyPr wrap="square">
            <a:spAutoFit/>
          </a:bodyPr>
          <a:lstStyle>
            <a:lvl1pPr>
              <a:defRPr kumimoji="0" sz="3200" i="0" dirty="0">
                <a:ln>
                  <a:noFill/>
                </a:ln>
                <a:solidFill>
                  <a:schemeClr val="tx1">
                    <a:lumMod val="75000"/>
                    <a:lumOff val="25000"/>
                  </a:schemeClr>
                </a:solidFill>
                <a:effectLst/>
                <a:uLnTx/>
                <a:latin typeface="微软雅黑" panose="020B0503020204020204" pitchFamily="34" charset="-122"/>
                <a:sym typeface="+mn-ea"/>
              </a:defRPr>
            </a:lvl1pPr>
          </a:lstStyle>
          <a:p>
            <a:pPr marL="0" marR="0" lvl="0" indent="0">
              <a:spcBef>
                <a:spcPts val="0"/>
              </a:spcBef>
              <a:spcAft>
                <a:spcPts val="0"/>
              </a:spcAft>
              <a:buClrTx/>
              <a:buSzTx/>
              <a:buFontTx/>
            </a:pPr>
            <a:r>
              <a:rPr lang="zh-CN" altLang="en-US" dirty="0">
                <a:sym typeface="+mn-ea"/>
              </a:rPr>
              <a:t>单击此处编辑标题</a:t>
            </a:r>
            <a:endParaRPr dirty="0">
              <a:sym typeface="+mn-ea"/>
            </a:endParaRPr>
          </a:p>
        </p:txBody>
      </p:sp>
      <p:sp>
        <p:nvSpPr>
          <p:cNvPr id="9" name="文本占位符 3"/>
          <p:cNvSpPr>
            <a:spLocks noGrp="1"/>
          </p:cNvSpPr>
          <p:nvPr>
            <p:ph type="body" sz="half" idx="2" hasCustomPrompt="1"/>
            <p:custDataLst>
              <p:tags r:id="rId7"/>
            </p:custDataLst>
          </p:nvPr>
        </p:nvSpPr>
        <p:spPr>
          <a:xfrm>
            <a:off x="486610" y="1052042"/>
            <a:ext cx="11218779" cy="5251768"/>
          </a:xfrm>
        </p:spPr>
        <p:txBody>
          <a:bodyPr vert="horz" lIns="90000" tIns="46800" rIns="90000" bIns="46800" rtlCol="0">
            <a:normAutofit/>
          </a:bodyPr>
          <a:lstStyle>
            <a:lvl1pPr marL="285750" indent="-285750">
              <a:buFont typeface="Arial" panose="020B0604020202020204" pitchFamily="34" charset="0"/>
              <a:buChar char="•"/>
              <a:defRPr sz="1400">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sym typeface="+mn-ea"/>
              </a:rPr>
              <a:t>单击此处编辑内容</a:t>
            </a:r>
            <a:endParaRPr lang="en-US" altLang="zh-CN" dirty="0">
              <a:sym typeface="+mn-ea"/>
            </a:endParaRPr>
          </a:p>
          <a:p>
            <a:pPr lvl="0"/>
            <a:endParaRPr lang="zh-CN" altLang="en-US" dirty="0">
              <a:sym typeface="+mn-ea"/>
            </a:endParaRPr>
          </a:p>
        </p:txBody>
      </p:sp>
      <p:pic>
        <p:nvPicPr>
          <p:cNvPr id="8" name="图片 7" descr="1-1"/>
          <p:cNvPicPr>
            <a:picLocks noChangeAspect="1"/>
          </p:cNvPicPr>
          <p:nvPr userDrawn="1"/>
        </p:nvPicPr>
        <p:blipFill>
          <a:blip r:embed="rId8"/>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9"/>
          <a:stretch>
            <a:fillRect/>
          </a:stretch>
        </p:blipFill>
        <p:spPr>
          <a:xfrm>
            <a:off x="10351770" y="6488430"/>
            <a:ext cx="1595755" cy="26289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H:\盘符(W)\外接画面\会务\240724浙商会客厅 温州数转活动鞋服专场活动供应商\PPT拆分\PPT2：16：9-3.jpgPPT2：16：9-3"/>
          <p:cNvPicPr>
            <a:picLocks noChangeAspect="1"/>
          </p:cNvPicPr>
          <p:nvPr userDrawn="1"/>
        </p:nvPicPr>
        <p:blipFill>
          <a:blip r:embed="rId2"/>
          <a:srcRect/>
          <a:stretch>
            <a:fillRect/>
          </a:stretch>
        </p:blipFill>
        <p:spPr>
          <a:xfrm>
            <a:off x="0" y="0"/>
            <a:ext cx="12191153" cy="6858000"/>
          </a:xfrm>
          <a:prstGeom prst="rect">
            <a:avLst/>
          </a:prstGeom>
        </p:spPr>
      </p:pic>
      <p:pic>
        <p:nvPicPr>
          <p:cNvPr id="4" name="图片 3" descr="1-1"/>
          <p:cNvPicPr>
            <a:picLocks noChangeAspect="1"/>
          </p:cNvPicPr>
          <p:nvPr userDrawn="1"/>
        </p:nvPicPr>
        <p:blipFill>
          <a:blip r:embed="rId3"/>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4"/>
          <a:stretch>
            <a:fillRect/>
          </a:stretch>
        </p:blipFill>
        <p:spPr>
          <a:xfrm>
            <a:off x="10351770" y="6488430"/>
            <a:ext cx="1595755" cy="26289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8AEE2D24-1670-F04C-856F-A16E101F22BE}"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B61A168-F344-774E-ABE8-99F5515F97BA}" type="slidenum">
              <a:rPr kumimoji="1" lang="zh-CN" altLang="en-US" smtClean="0"/>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529" y="-297"/>
            <a:ext cx="12193057" cy="6858594"/>
          </a:xfrm>
          <a:prstGeom prst="rect">
            <a:avLst/>
          </a:prstGeom>
        </p:spPr>
      </p:pic>
      <p:pic>
        <p:nvPicPr>
          <p:cNvPr id="8" name="图片 7" descr="1-1"/>
          <p:cNvPicPr>
            <a:picLocks noChangeAspect="1"/>
          </p:cNvPicPr>
          <p:nvPr userDrawn="1"/>
        </p:nvPicPr>
        <p:blipFill>
          <a:blip r:embed="rId4"/>
          <a:stretch>
            <a:fillRect/>
          </a:stretch>
        </p:blipFill>
        <p:spPr>
          <a:xfrm>
            <a:off x="9875520" y="-187325"/>
            <a:ext cx="2339340" cy="13157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空白">
    <p:bg>
      <p:bgPr>
        <a:noFill/>
        <a:effectLst/>
      </p:bgPr>
    </p:bg>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0" y="-594"/>
            <a:ext cx="12193057" cy="6858594"/>
          </a:xfrm>
          <a:prstGeom prst="rect">
            <a:avLst/>
          </a:prstGeom>
        </p:spPr>
      </p:pic>
      <p:sp>
        <p:nvSpPr>
          <p:cNvPr id="13" name="文本框 12"/>
          <p:cNvSpPr txBox="1"/>
          <p:nvPr userDrawn="1"/>
        </p:nvSpPr>
        <p:spPr>
          <a:xfrm>
            <a:off x="4504690" y="6567170"/>
            <a:ext cx="2998470" cy="2298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硕磐机密</a:t>
            </a:r>
            <a:r>
              <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t> </a:t>
            </a:r>
            <a:r>
              <a:rPr lang="zh-CN" altLang="en-US" sz="900" noProof="0" dirty="0">
                <a:ln>
                  <a:noFill/>
                </a:ln>
                <a:solidFill>
                  <a:prstClr val="white">
                    <a:lumMod val="65000"/>
                  </a:prstClr>
                </a:solidFill>
                <a:effectLst/>
                <a:uLnTx/>
                <a:uFillTx/>
                <a:latin typeface="FontName" panose="02010600010101010101" pitchFamily="2" charset="-122"/>
                <a:ea typeface="FontName" panose="02010600010101010101" pitchFamily="2" charset="-122"/>
                <a:sym typeface="+mn-ea"/>
              </a:rPr>
              <a:t>www.boulderaitech.com/</a:t>
            </a:r>
            <a:endParaRPr kumimoji="0" lang="en-US" altLang="zh-CN" sz="9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sp>
        <p:nvSpPr>
          <p:cNvPr id="14" name="文本框 13"/>
          <p:cNvSpPr txBox="1"/>
          <p:nvPr userDrawn="1"/>
        </p:nvSpPr>
        <p:spPr>
          <a:xfrm>
            <a:off x="262890" y="6514465"/>
            <a:ext cx="429895" cy="316865"/>
          </a:xfrm>
          <a:prstGeom prst="rect">
            <a:avLst/>
          </a:prstGeom>
          <a:noFill/>
        </p:spPr>
        <p:txBody>
          <a:bodyPr wrap="square">
            <a:noAutofit/>
          </a:bodyPr>
          <a:lstStyle/>
          <a:p>
            <a:pPr marL="0" marR="0" lvl="0" indent="0" algn="r" defTabSz="914400" rtl="0" eaLnBrk="1" fontAlgn="auto" latinLnBrk="0" hangingPunct="1">
              <a:lnSpc>
                <a:spcPct val="100000"/>
              </a:lnSpc>
              <a:spcBef>
                <a:spcPts val="0"/>
              </a:spcBef>
              <a:spcAft>
                <a:spcPts val="0"/>
              </a:spcAft>
              <a:buClrTx/>
              <a:buSzTx/>
              <a:buFontTx/>
              <a:buNone/>
              <a:defRPr/>
            </a:pPr>
            <a:fld id="{EA19990E-7E10-AC4A-97A6-3A435BBA8B01}" type="slidenum">
              <a:rPr kumimoji="0" lang="zh-CN" altLang="en-US" sz="1000" b="0" i="0" u="none" strike="noStrike" kern="1200" cap="none" spc="0" normalizeH="0" baseline="0" noProof="0" smtClean="0">
                <a:ln>
                  <a:noFill/>
                </a:ln>
                <a:solidFill>
                  <a:prstClr val="white">
                    <a:lumMod val="65000"/>
                  </a:prstClr>
                </a:solidFill>
                <a:effectLst/>
                <a:uLnTx/>
                <a:uFillTx/>
                <a:latin typeface="FontName" panose="02010600010101010101" pitchFamily="2" charset="-122"/>
                <a:ea typeface="FontName" panose="02010600010101010101" pitchFamily="2" charset="-122"/>
                <a:cs typeface="+mn-cs"/>
              </a:rPr>
            </a:fld>
            <a:endParaRPr kumimoji="0" lang="zh-CN" altLang="en-US" sz="1000" b="0" i="0" u="none" strike="noStrike" kern="1200" cap="none" spc="0" normalizeH="0" baseline="0" noProof="0" dirty="0">
              <a:ln>
                <a:noFill/>
              </a:ln>
              <a:solidFill>
                <a:prstClr val="white">
                  <a:lumMod val="65000"/>
                </a:prstClr>
              </a:solidFill>
              <a:effectLst/>
              <a:uLnTx/>
              <a:uFillTx/>
              <a:latin typeface="FontName" panose="02010600010101010101" pitchFamily="2" charset="-122"/>
              <a:ea typeface="FontName" panose="02010600010101010101" pitchFamily="2" charset="-122"/>
              <a:cs typeface="+mn-cs"/>
            </a:endParaRPr>
          </a:p>
        </p:txBody>
      </p:sp>
      <p:grpSp>
        <p:nvGrpSpPr>
          <p:cNvPr id="3" name="组合 2"/>
          <p:cNvGrpSpPr/>
          <p:nvPr userDrawn="1"/>
        </p:nvGrpSpPr>
        <p:grpSpPr>
          <a:xfrm>
            <a:off x="476135" y="755788"/>
            <a:ext cx="9399385" cy="65314"/>
            <a:chOff x="510125" y="1010305"/>
            <a:chExt cx="9399385" cy="65314"/>
          </a:xfrm>
        </p:grpSpPr>
        <p:cxnSp>
          <p:nvCxnSpPr>
            <p:cNvPr id="4" name="直线连接符 10"/>
            <p:cNvCxnSpPr/>
            <p:nvPr>
              <p:custDataLst>
                <p:tags r:id="rId4"/>
              </p:custDataLst>
            </p:nvPr>
          </p:nvCxnSpPr>
          <p:spPr>
            <a:xfrm flipV="1">
              <a:off x="1084891" y="1042962"/>
              <a:ext cx="8824619" cy="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平行四边形 4"/>
            <p:cNvSpPr/>
            <p:nvPr>
              <p:custDataLst>
                <p:tags r:id="rId5"/>
              </p:custDataLst>
            </p:nvPr>
          </p:nvSpPr>
          <p:spPr>
            <a:xfrm>
              <a:off x="510125" y="1010305"/>
              <a:ext cx="1097280" cy="65314"/>
            </a:xfrm>
            <a:prstGeom prst="parallelogram">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 name="标题 1"/>
          <p:cNvSpPr>
            <a:spLocks noGrp="1"/>
          </p:cNvSpPr>
          <p:nvPr>
            <p:ph type="title" hasCustomPrompt="1"/>
            <p:custDataLst>
              <p:tags r:id="rId6"/>
            </p:custDataLst>
          </p:nvPr>
        </p:nvSpPr>
        <p:spPr>
          <a:xfrm>
            <a:off x="487680" y="133985"/>
            <a:ext cx="9387840" cy="586105"/>
          </a:xfrm>
        </p:spPr>
        <p:txBody>
          <a:bodyPr wrap="square">
            <a:spAutoFit/>
          </a:bodyPr>
          <a:lstStyle>
            <a:lvl1pPr>
              <a:defRPr kumimoji="0" sz="3200" i="0" dirty="0">
                <a:ln>
                  <a:noFill/>
                </a:ln>
                <a:solidFill>
                  <a:schemeClr val="tx1">
                    <a:lumMod val="75000"/>
                    <a:lumOff val="25000"/>
                  </a:schemeClr>
                </a:solidFill>
                <a:effectLst/>
                <a:uLnTx/>
                <a:latin typeface="微软雅黑" panose="020B0503020204020204" pitchFamily="34" charset="-122"/>
                <a:sym typeface="+mn-ea"/>
              </a:defRPr>
            </a:lvl1pPr>
          </a:lstStyle>
          <a:p>
            <a:pPr marL="0" marR="0" lvl="0" indent="0">
              <a:spcBef>
                <a:spcPts val="0"/>
              </a:spcBef>
              <a:spcAft>
                <a:spcPts val="0"/>
              </a:spcAft>
              <a:buClrTx/>
              <a:buSzTx/>
              <a:buFontTx/>
            </a:pPr>
            <a:r>
              <a:rPr lang="zh-CN" altLang="en-US" dirty="0">
                <a:sym typeface="+mn-ea"/>
              </a:rPr>
              <a:t>单击此处编辑标题</a:t>
            </a:r>
            <a:endParaRPr dirty="0">
              <a:sym typeface="+mn-ea"/>
            </a:endParaRPr>
          </a:p>
        </p:txBody>
      </p:sp>
      <p:sp>
        <p:nvSpPr>
          <p:cNvPr id="9" name="文本占位符 3"/>
          <p:cNvSpPr>
            <a:spLocks noGrp="1"/>
          </p:cNvSpPr>
          <p:nvPr>
            <p:ph type="body" sz="half" idx="2" hasCustomPrompt="1"/>
            <p:custDataLst>
              <p:tags r:id="rId7"/>
            </p:custDataLst>
          </p:nvPr>
        </p:nvSpPr>
        <p:spPr>
          <a:xfrm>
            <a:off x="486610" y="1052042"/>
            <a:ext cx="11218779" cy="5251768"/>
          </a:xfrm>
        </p:spPr>
        <p:txBody>
          <a:bodyPr vert="horz" lIns="90000" tIns="46800" rIns="90000" bIns="46800" rtlCol="0">
            <a:normAutofit/>
          </a:bodyPr>
          <a:lstStyle>
            <a:lvl1pPr marL="285750" indent="-285750">
              <a:buFont typeface="Arial" panose="020B0604020202020204" pitchFamily="34" charset="0"/>
              <a:buChar char="•"/>
              <a:defRPr sz="1400">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sym typeface="+mn-ea"/>
              </a:rPr>
              <a:t>单击此处编辑内容</a:t>
            </a:r>
            <a:endParaRPr lang="en-US" altLang="zh-CN" dirty="0">
              <a:sym typeface="+mn-ea"/>
            </a:endParaRPr>
          </a:p>
          <a:p>
            <a:pPr lvl="0"/>
            <a:endParaRPr lang="zh-CN" altLang="en-US" dirty="0">
              <a:sym typeface="+mn-ea"/>
            </a:endParaRPr>
          </a:p>
        </p:txBody>
      </p:sp>
      <p:pic>
        <p:nvPicPr>
          <p:cNvPr id="8" name="图片 7" descr="1-1"/>
          <p:cNvPicPr>
            <a:picLocks noChangeAspect="1"/>
          </p:cNvPicPr>
          <p:nvPr userDrawn="1"/>
        </p:nvPicPr>
        <p:blipFill>
          <a:blip r:embed="rId8"/>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9"/>
          <a:stretch>
            <a:fillRect/>
          </a:stretch>
        </p:blipFill>
        <p:spPr>
          <a:xfrm>
            <a:off x="10351770" y="6488430"/>
            <a:ext cx="1595755" cy="26289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H:\盘符(W)\外接画面\会务\240724浙商会客厅 温州数转活动鞋服专场活动供应商\PPT拆分\PPT2：16：9-3.jpgPPT2：16：9-3"/>
          <p:cNvPicPr>
            <a:picLocks noChangeAspect="1"/>
          </p:cNvPicPr>
          <p:nvPr userDrawn="1"/>
        </p:nvPicPr>
        <p:blipFill>
          <a:blip r:embed="rId2"/>
          <a:srcRect/>
          <a:stretch>
            <a:fillRect/>
          </a:stretch>
        </p:blipFill>
        <p:spPr>
          <a:xfrm>
            <a:off x="0" y="0"/>
            <a:ext cx="12191153" cy="6858000"/>
          </a:xfrm>
          <a:prstGeom prst="rect">
            <a:avLst/>
          </a:prstGeom>
        </p:spPr>
      </p:pic>
      <p:pic>
        <p:nvPicPr>
          <p:cNvPr id="4" name="图片 3" descr="1-1"/>
          <p:cNvPicPr>
            <a:picLocks noChangeAspect="1"/>
          </p:cNvPicPr>
          <p:nvPr userDrawn="1"/>
        </p:nvPicPr>
        <p:blipFill>
          <a:blip r:embed="rId3"/>
          <a:stretch>
            <a:fillRect/>
          </a:stretch>
        </p:blipFill>
        <p:spPr>
          <a:xfrm>
            <a:off x="9875520" y="-187325"/>
            <a:ext cx="2339340" cy="1315720"/>
          </a:xfrm>
          <a:prstGeom prst="rect">
            <a:avLst/>
          </a:prstGeom>
        </p:spPr>
      </p:pic>
      <p:pic>
        <p:nvPicPr>
          <p:cNvPr id="10" name="图片 9" descr="b00f5286384adb97f19ad534450ad1d"/>
          <p:cNvPicPr>
            <a:picLocks noChangeAspect="1"/>
          </p:cNvPicPr>
          <p:nvPr userDrawn="1"/>
        </p:nvPicPr>
        <p:blipFill>
          <a:blip r:embed="rId4"/>
          <a:stretch>
            <a:fillRect/>
          </a:stretch>
        </p:blipFill>
        <p:spPr>
          <a:xfrm>
            <a:off x="10351770" y="6488430"/>
            <a:ext cx="1595755" cy="26289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8AEE2D24-1670-F04C-856F-A16E101F22BE}"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B61A168-F344-774E-ABE8-99F5515F97BA}" type="slidenum">
              <a:rPr kumimoji="1" lang="zh-CN" altLang="en-US" smtClean="0"/>
            </a:fld>
            <a:endParaRPr kumimoji="1"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saturation sat="66000"/>
                    </a14:imgEffect>
                  </a14:imgLayer>
                </a14:imgProps>
              </a:ext>
            </a:extLst>
          </a:blip>
          <a:stretch>
            <a:fillRect/>
          </a:stretch>
        </p:blipFill>
        <p:spPr>
          <a:xfrm>
            <a:off x="-529" y="-297"/>
            <a:ext cx="12193057" cy="6858594"/>
          </a:xfrm>
          <a:prstGeom prst="rect">
            <a:avLst/>
          </a:prstGeom>
        </p:spPr>
      </p:pic>
      <p:sp>
        <p:nvSpPr>
          <p:cNvPr id="7" name="文本框 6"/>
          <p:cNvSpPr txBox="1"/>
          <p:nvPr userDrawn="1"/>
        </p:nvSpPr>
        <p:spPr>
          <a:xfrm>
            <a:off x="442912" y="6262090"/>
            <a:ext cx="1710725" cy="246221"/>
          </a:xfrm>
          <a:prstGeom prst="rect">
            <a:avLst/>
          </a:prstGeom>
          <a:noFill/>
        </p:spPr>
        <p:txBody>
          <a:bodyPr wrap="none">
            <a:spAutoFit/>
          </a:bodyPr>
          <a:lstStyle/>
          <a:p>
            <a:pPr hangingPunct="0">
              <a:spcBef>
                <a:spcPts val="0"/>
              </a:spcBef>
              <a:spcAft>
                <a:spcPts val="0"/>
              </a:spcAft>
            </a:pPr>
            <a:r>
              <a:rPr lang="zh-CN" altLang="en-US" sz="1000" kern="0" dirty="0">
                <a:solidFill>
                  <a:schemeClr val="bg1">
                    <a:lumMod val="65000"/>
                  </a:schemeClr>
                </a:solidFill>
                <a:uFillTx/>
                <a:latin typeface="FontName" panose="02010600010101010101" pitchFamily="2" charset="-122"/>
                <a:ea typeface="FontName" panose="02010600010101010101" pitchFamily="2" charset="-122"/>
                <a:cs typeface="Arial" panose="020B0604020202020204"/>
                <a:sym typeface="Arial" panose="020B0604020202020204"/>
              </a:rPr>
              <a:t>www.boulderaitech.com/</a:t>
            </a:r>
            <a:endParaRPr lang="zh-CN" altLang="en-US" sz="1000" kern="0" dirty="0">
              <a:solidFill>
                <a:schemeClr val="bg1">
                  <a:lumMod val="65000"/>
                </a:schemeClr>
              </a:solidFill>
              <a:uFillTx/>
              <a:latin typeface="FontName" panose="02010600010101010101" pitchFamily="2" charset="-122"/>
              <a:ea typeface="FontName" panose="02010600010101010101" pitchFamily="2" charset="-122"/>
              <a:cs typeface="Arial" panose="020B0604020202020204"/>
              <a:sym typeface="Arial" panose="020B0604020202020204"/>
            </a:endParaRPr>
          </a:p>
        </p:txBody>
      </p:sp>
      <p:sp>
        <p:nvSpPr>
          <p:cNvPr id="8" name="文本框 7"/>
          <p:cNvSpPr txBox="1"/>
          <p:nvPr userDrawn="1"/>
        </p:nvSpPr>
        <p:spPr>
          <a:xfrm>
            <a:off x="11482668" y="6262090"/>
            <a:ext cx="266420" cy="246221"/>
          </a:xfrm>
          <a:prstGeom prst="rect">
            <a:avLst/>
          </a:prstGeom>
          <a:noFill/>
        </p:spPr>
        <p:txBody>
          <a:bodyPr wrap="none">
            <a:spAutoFit/>
          </a:bodyPr>
          <a:lstStyle/>
          <a:p>
            <a:pPr algn="r" hangingPunct="0">
              <a:spcBef>
                <a:spcPts val="0"/>
              </a:spcBef>
              <a:spcAft>
                <a:spcPts val="0"/>
              </a:spcAft>
            </a:pPr>
            <a:fld id="{EA19990E-7E10-AC4A-97A6-3A435BBA8B01}" type="slidenum">
              <a:rPr lang="zh-CN" altLang="en-US" sz="1000" kern="0" smtClean="0">
                <a:solidFill>
                  <a:schemeClr val="bg1">
                    <a:lumMod val="65000"/>
                  </a:schemeClr>
                </a:solidFill>
                <a:uFillTx/>
                <a:latin typeface="FontName" panose="02010600010101010101" pitchFamily="2" charset="-122"/>
                <a:ea typeface="FontName" panose="02010600010101010101" pitchFamily="2" charset="-122"/>
                <a:cs typeface="Arial" panose="020B0604020202020204"/>
                <a:sym typeface="Arial" panose="020B0604020202020204"/>
              </a:rPr>
            </a:fld>
            <a:endParaRPr lang="zh-CN" altLang="en-US" sz="1000" kern="0" dirty="0" smtClean="0">
              <a:solidFill>
                <a:schemeClr val="bg1">
                  <a:lumMod val="65000"/>
                </a:schemeClr>
              </a:solidFill>
              <a:uFillTx/>
              <a:latin typeface="FontName" panose="02010600010101010101" pitchFamily="2" charset="-122"/>
              <a:ea typeface="FontName" panose="02010600010101010101" pitchFamily="2" charset="-122"/>
              <a:cs typeface="Arial" panose="020B0604020202020204"/>
              <a:sym typeface="Arial" panose="020B0604020202020204"/>
            </a:endParaRPr>
          </a:p>
        </p:txBody>
      </p:sp>
      <p:grpSp>
        <p:nvGrpSpPr>
          <p:cNvPr id="9" name="组合 8"/>
          <p:cNvGrpSpPr/>
          <p:nvPr userDrawn="1"/>
        </p:nvGrpSpPr>
        <p:grpSpPr>
          <a:xfrm>
            <a:off x="510126" y="803970"/>
            <a:ext cx="7197634" cy="65314"/>
            <a:chOff x="483326" y="-1068587"/>
            <a:chExt cx="7197634" cy="65314"/>
          </a:xfrm>
        </p:grpSpPr>
        <p:cxnSp>
          <p:nvCxnSpPr>
            <p:cNvPr id="10" name="直线连接符 10"/>
            <p:cNvCxnSpPr/>
            <p:nvPr/>
          </p:nvCxnSpPr>
          <p:spPr>
            <a:xfrm>
              <a:off x="1058092" y="-1035930"/>
              <a:ext cx="662286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平行四边形 10"/>
            <p:cNvSpPr/>
            <p:nvPr/>
          </p:nvSpPr>
          <p:spPr>
            <a:xfrm>
              <a:off x="483326" y="-1068587"/>
              <a:ext cx="1097280" cy="65314"/>
            </a:xfrm>
            <a:prstGeom prst="parallelogram">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sym typeface="Arial" panose="020B0604020202020204"/>
              </a:endParaRPr>
            </a:p>
          </p:txBody>
        </p:sp>
      </p:grpSp>
      <p:sp>
        <p:nvSpPr>
          <p:cNvPr id="13" name="标题占位符 1"/>
          <p:cNvSpPr>
            <a:spLocks noGrp="1"/>
          </p:cNvSpPr>
          <p:nvPr>
            <p:ph type="title"/>
          </p:nvPr>
        </p:nvSpPr>
        <p:spPr>
          <a:xfrm>
            <a:off x="510126" y="316418"/>
            <a:ext cx="10515600" cy="480131"/>
          </a:xfrm>
          <a:prstGeom prst="rect">
            <a:avLst/>
          </a:prstGeom>
          <a:noFill/>
        </p:spPr>
        <p:txBody>
          <a:bodyPr wrap="square" rtlCol="0">
            <a:spAutoFit/>
          </a:bodyPr>
          <a:lstStyle>
            <a:lvl1pPr>
              <a:defRPr lang="zh-CN" altLang="en-US" sz="2800" b="1">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marL="0" lvl="0"/>
            <a:r>
              <a:rPr lang="zh-CN" altLang="en-US"/>
              <a:t>单击此处编辑母版标题样式</a:t>
            </a:r>
            <a:endParaRPr lang="zh-CN" altLang="en-US"/>
          </a:p>
        </p:txBody>
      </p:sp>
      <p:pic>
        <p:nvPicPr>
          <p:cNvPr id="3" name="图片 2" descr="1-1"/>
          <p:cNvPicPr>
            <a:picLocks noChangeAspect="1"/>
          </p:cNvPicPr>
          <p:nvPr userDrawn="1"/>
        </p:nvPicPr>
        <p:blipFill>
          <a:blip r:embed="rId4"/>
          <a:stretch>
            <a:fillRect/>
          </a:stretch>
        </p:blipFill>
        <p:spPr>
          <a:xfrm>
            <a:off x="9511665" y="-356235"/>
            <a:ext cx="2965450" cy="16681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8" Type="http://schemas.openxmlformats.org/officeDocument/2006/relationships/theme" Target="../theme/theme2.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6" Type="http://schemas.openxmlformats.org/officeDocument/2006/relationships/theme" Target="../theme/theme3.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5" Type="http://schemas.openxmlformats.org/officeDocument/2006/relationships/theme" Target="../theme/theme4.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9" Type="http://schemas.openxmlformats.org/officeDocument/2006/relationships/theme" Target="../theme/theme5.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49000">
              <a:schemeClr val="bg1">
                <a:lumMod val="85000"/>
              </a:schemeClr>
            </a:gs>
            <a:gs pos="100000">
              <a:schemeClr val="bg1">
                <a:lumMod val="65000"/>
              </a:schemeClr>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框 6"/>
          <p:cNvSpPr txBox="1"/>
          <p:nvPr userDrawn="1"/>
        </p:nvSpPr>
        <p:spPr>
          <a:xfrm>
            <a:off x="612742" y="5920033"/>
            <a:ext cx="1640264" cy="369332"/>
          </a:xfrm>
          <a:prstGeom prst="rect">
            <a:avLst/>
          </a:prstGeom>
          <a:noFill/>
        </p:spPr>
        <p:txBody>
          <a:bodyPr wrap="square" rtlCol="0">
            <a:spAutoFit/>
          </a:bodyPr>
          <a:lstStyle/>
          <a:p>
            <a:r>
              <a:rPr lang="zh-CN" altLang="en-US" dirty="0"/>
              <a:t>硕磐机密</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49000">
              <a:schemeClr val="bg1">
                <a:lumMod val="85000"/>
              </a:schemeClr>
            </a:gs>
            <a:gs pos="100000">
              <a:schemeClr val="bg1">
                <a:lumMod val="65000"/>
              </a:schemeClr>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框 6"/>
          <p:cNvSpPr txBox="1"/>
          <p:nvPr userDrawn="1"/>
        </p:nvSpPr>
        <p:spPr>
          <a:xfrm>
            <a:off x="612742" y="5920033"/>
            <a:ext cx="1640264" cy="369332"/>
          </a:xfrm>
          <a:prstGeom prst="rect">
            <a:avLst/>
          </a:prstGeom>
          <a:noFill/>
        </p:spPr>
        <p:txBody>
          <a:bodyPr wrap="square" rtlCol="0">
            <a:spAutoFit/>
          </a:bodyPr>
          <a:lstStyle/>
          <a:p>
            <a:r>
              <a:rPr lang="zh-CN" altLang="en-US" dirty="0"/>
              <a:t>硕磐机密</a:t>
            </a:r>
            <a:endParaRPr lang="zh-CN" altLang="en-US"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49000">
              <a:schemeClr val="bg1">
                <a:lumMod val="85000"/>
              </a:schemeClr>
            </a:gs>
            <a:gs pos="100000">
              <a:schemeClr val="bg1">
                <a:lumMod val="65000"/>
              </a:schemeClr>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3"/>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4"/>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5"/>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框 6"/>
          <p:cNvSpPr txBox="1"/>
          <p:nvPr userDrawn="1"/>
        </p:nvSpPr>
        <p:spPr>
          <a:xfrm>
            <a:off x="612742" y="5920033"/>
            <a:ext cx="1640264" cy="369332"/>
          </a:xfrm>
          <a:prstGeom prst="rect">
            <a:avLst/>
          </a:prstGeom>
          <a:noFill/>
        </p:spPr>
        <p:txBody>
          <a:bodyPr wrap="square" rtlCol="0">
            <a:spAutoFit/>
          </a:bodyPr>
          <a:lstStyle/>
          <a:p>
            <a:r>
              <a:rPr lang="zh-CN" altLang="en-US" dirty="0"/>
              <a:t>硕磐机密</a:t>
            </a:r>
            <a:endParaRPr lang="zh-CN" altLang="en-US" dirty="0"/>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pitchFamily="2" charset="2"/>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49000">
              <a:schemeClr val="bg1">
                <a:lumMod val="85000"/>
              </a:schemeClr>
            </a:gs>
            <a:gs pos="100000">
              <a:schemeClr val="bg1">
                <a:lumMod val="65000"/>
              </a:schemeClr>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0"/>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1"/>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框 6"/>
          <p:cNvSpPr txBox="1"/>
          <p:nvPr userDrawn="1"/>
        </p:nvSpPr>
        <p:spPr>
          <a:xfrm>
            <a:off x="612742" y="5920033"/>
            <a:ext cx="1640264" cy="369332"/>
          </a:xfrm>
          <a:prstGeom prst="rect">
            <a:avLst/>
          </a:prstGeom>
          <a:noFill/>
        </p:spPr>
        <p:txBody>
          <a:bodyPr wrap="square" rtlCol="0">
            <a:spAutoFit/>
          </a:bodyPr>
          <a:lstStyle/>
          <a:p>
            <a:r>
              <a:rPr lang="zh-CN" altLang="en-US" dirty="0"/>
              <a:t>硕磐机密</a:t>
            </a:r>
            <a:endParaRPr lang="zh-CN" altLang="en-US" dirty="0"/>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sym typeface="Arial" panose="020B0604020202020204"/>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8.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6.jpeg"/><Relationship Id="rId2" Type="http://schemas.openxmlformats.org/officeDocument/2006/relationships/tags" Target="../tags/tag47.xml"/><Relationship Id="rId1" Type="http://schemas.openxmlformats.org/officeDocument/2006/relationships/tags" Target="../tags/tag46.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7.png"/><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image" Target="../media/image11.png"/><Relationship Id="rId6" Type="http://schemas.openxmlformats.org/officeDocument/2006/relationships/tags" Target="../tags/tag54.xml"/><Relationship Id="rId5" Type="http://schemas.openxmlformats.org/officeDocument/2006/relationships/image" Target="../media/image10.png"/><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image" Target="../media/image9.png"/><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8.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ags" Target="../tags/tag55.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image" Target="../media/image14.png"/><Relationship Id="rId1" Type="http://schemas.openxmlformats.org/officeDocument/2006/relationships/tags" Target="../tags/tag56.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15.png"/><Relationship Id="rId1" Type="http://schemas.openxmlformats.org/officeDocument/2006/relationships/tags" Target="../tags/tag5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tags" Target="../tags/tag58.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tags" Target="../tags/tag59.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8.xml"/><Relationship Id="rId2" Type="http://schemas.openxmlformats.org/officeDocument/2006/relationships/image" Target="../media/image17.png"/><Relationship Id="rId1" Type="http://schemas.openxmlformats.org/officeDocument/2006/relationships/tags" Target="../tags/tag60.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1.vml"/><Relationship Id="rId4" Type="http://schemas.openxmlformats.org/officeDocument/2006/relationships/slideLayout" Target="../slideLayouts/slideLayout18.xml"/><Relationship Id="rId3" Type="http://schemas.openxmlformats.org/officeDocument/2006/relationships/image" Target="../media/image18.wmf"/><Relationship Id="rId2" Type="http://schemas.openxmlformats.org/officeDocument/2006/relationships/package" Target="../embeddings/Workbook1.xlsx"/><Relationship Id="rId1" Type="http://schemas.openxmlformats.org/officeDocument/2006/relationships/tags" Target="../tags/tag6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tags" Target="../tags/tag6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tags" Target="../tags/tag6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8.xml"/><Relationship Id="rId2" Type="http://schemas.openxmlformats.org/officeDocument/2006/relationships/tags" Target="../tags/tag66.xml"/><Relationship Id="rId1" Type="http://schemas.openxmlformats.org/officeDocument/2006/relationships/tags" Target="../tags/tag65.xml"/></Relationships>
</file>

<file path=ppt/slides/_rels/slide16.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5" Type="http://schemas.openxmlformats.org/officeDocument/2006/relationships/notesSlide" Target="../notesSlides/notesSlide13.xml"/><Relationship Id="rId14" Type="http://schemas.openxmlformats.org/officeDocument/2006/relationships/slideLayout" Target="../slideLayouts/slideLayout28.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19.png"/><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6" Type="http://schemas.openxmlformats.org/officeDocument/2006/relationships/notesSlide" Target="../notesSlides/notesSlide19.xml"/><Relationship Id="rId15" Type="http://schemas.openxmlformats.org/officeDocument/2006/relationships/slideLayout" Target="../slideLayouts/slideLayout2.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26.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1" Type="http://schemas.openxmlformats.org/officeDocument/2006/relationships/notesSlide" Target="../notesSlides/notesSlide20.xml"/><Relationship Id="rId20" Type="http://schemas.openxmlformats.org/officeDocument/2006/relationships/slideLayout" Target="../slideLayouts/slideLayout2.xml"/><Relationship Id="rId2" Type="http://schemas.openxmlformats.org/officeDocument/2006/relationships/tags" Target="../tags/tag104.xml"/><Relationship Id="rId19" Type="http://schemas.openxmlformats.org/officeDocument/2006/relationships/tags" Target="../tags/tag121.xml"/><Relationship Id="rId18" Type="http://schemas.openxmlformats.org/officeDocument/2006/relationships/tags" Target="../tags/tag120.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tags" Target="../tags/tag124.xml"/></Relationships>
</file>

<file path=ppt/slides/_rels/slide29.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1" Type="http://schemas.openxmlformats.org/officeDocument/2006/relationships/notesSlide" Target="../notesSlides/notesSlide23.xml"/><Relationship Id="rId20" Type="http://schemas.openxmlformats.org/officeDocument/2006/relationships/slideLayout" Target="../slideLayouts/slideLayout2.xml"/><Relationship Id="rId2" Type="http://schemas.openxmlformats.org/officeDocument/2006/relationships/tags" Target="../tags/tag127.xml"/><Relationship Id="rId19" Type="http://schemas.openxmlformats.org/officeDocument/2006/relationships/tags" Target="../tags/tag144.xml"/><Relationship Id="rId18" Type="http://schemas.openxmlformats.org/officeDocument/2006/relationships/tags" Target="../tags/tag143.xml"/><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tags" Target="../tags/tag126.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tags" Target="../tags/tag15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tags" Target="../tags/tag155.xml"/><Relationship Id="rId1" Type="http://schemas.openxmlformats.org/officeDocument/2006/relationships/tags" Target="../tags/tag15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45.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tags" Target="../tags/tag174.xml"/><Relationship Id="rId5" Type="http://schemas.openxmlformats.org/officeDocument/2006/relationships/image" Target="../media/image20.wmf"/><Relationship Id="rId4" Type="http://schemas.openxmlformats.org/officeDocument/2006/relationships/package" Target="../embeddings/Workbook2.xlsx"/><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tags" Target="../tags/tag180.xml"/><Relationship Id="rId4" Type="http://schemas.openxmlformats.org/officeDocument/2006/relationships/image" Target="../media/image21.wmf"/><Relationship Id="rId3" Type="http://schemas.openxmlformats.org/officeDocument/2006/relationships/package" Target="../embeddings/Workbook3.xlsx"/><Relationship Id="rId2" Type="http://schemas.openxmlformats.org/officeDocument/2006/relationships/tags" Target="../tags/tag179.xml"/><Relationship Id="rId1" Type="http://schemas.openxmlformats.org/officeDocument/2006/relationships/tags" Target="../tags/tag178.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tags" Target="../tags/tag186.xml"/><Relationship Id="rId4" Type="http://schemas.openxmlformats.org/officeDocument/2006/relationships/image" Target="../media/image22.wmf"/><Relationship Id="rId3" Type="http://schemas.openxmlformats.org/officeDocument/2006/relationships/package" Target="../embeddings/Workbook4.xlsx"/><Relationship Id="rId2" Type="http://schemas.openxmlformats.org/officeDocument/2006/relationships/tags" Target="../tags/tag185.xml"/><Relationship Id="rId1" Type="http://schemas.openxmlformats.org/officeDocument/2006/relationships/tags" Target="../tags/tag184.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2.xml"/><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2.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tags" Target="../tags/tag194.xml"/><Relationship Id="rId3" Type="http://schemas.openxmlformats.org/officeDocument/2006/relationships/image" Target="../media/image23.wmf"/><Relationship Id="rId2" Type="http://schemas.openxmlformats.org/officeDocument/2006/relationships/package" Target="../embeddings/Workbook5.xlsx"/><Relationship Id="rId1" Type="http://schemas.openxmlformats.org/officeDocument/2006/relationships/tags" Target="../tags/tag193.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2.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2.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55.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tags" Target="../tags/tag203.xml"/><Relationship Id="rId4" Type="http://schemas.openxmlformats.org/officeDocument/2006/relationships/image" Target="../media/image24.wmf"/><Relationship Id="rId3" Type="http://schemas.openxmlformats.org/officeDocument/2006/relationships/package" Target="../embeddings/Workbook6.xlsx"/><Relationship Id="rId2" Type="http://schemas.openxmlformats.org/officeDocument/2006/relationships/tags" Target="../tags/tag202.xml"/><Relationship Id="rId1" Type="http://schemas.openxmlformats.org/officeDocument/2006/relationships/tags" Target="../tags/tag201.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tags" Target="../tags/tag209.xml"/><Relationship Id="rId4" Type="http://schemas.openxmlformats.org/officeDocument/2006/relationships/image" Target="../media/image25.wmf"/><Relationship Id="rId3" Type="http://schemas.openxmlformats.org/officeDocument/2006/relationships/package" Target="../embeddings/Workbook7.xlsx"/><Relationship Id="rId2" Type="http://schemas.openxmlformats.org/officeDocument/2006/relationships/tags" Target="../tags/tag208.xml"/><Relationship Id="rId1" Type="http://schemas.openxmlformats.org/officeDocument/2006/relationships/tags" Target="../tags/tag207.xml"/></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2.xml"/><Relationship Id="rId4" Type="http://schemas.openxmlformats.org/officeDocument/2006/relationships/tags" Target="../tags/tag215.xml"/><Relationship Id="rId3" Type="http://schemas.openxmlformats.org/officeDocument/2006/relationships/image" Target="../media/image26.png"/><Relationship Id="rId2" Type="http://schemas.openxmlformats.org/officeDocument/2006/relationships/tags" Target="../tags/tag214.xml"/><Relationship Id="rId1" Type="http://schemas.openxmlformats.org/officeDocument/2006/relationships/tags" Target="../tags/tag213.xml"/></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2.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tags" Target="../tags/tag220.xml"/><Relationship Id="rId1" Type="http://schemas.openxmlformats.org/officeDocument/2006/relationships/tags" Target="../tags/tag219.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2.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slideLayout" Target="../slideLayouts/slideLayout2.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tags" Target="../tags/tag228.xml"/><Relationship Id="rId1" Type="http://schemas.openxmlformats.org/officeDocument/2006/relationships/tags" Target="../tags/tag22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9.xml"/></Relationships>
</file>

<file path=ppt/slides/_rels/slide66.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1" Type="http://schemas.openxmlformats.org/officeDocument/2006/relationships/notesSlide" Target="../notesSlides/notesSlide54.xml"/><Relationship Id="rId30" Type="http://schemas.openxmlformats.org/officeDocument/2006/relationships/slideLayout" Target="../slideLayouts/slideLayout37.xml"/><Relationship Id="rId3" Type="http://schemas.openxmlformats.org/officeDocument/2006/relationships/tags" Target="../tags/tag232.xml"/><Relationship Id="rId29" Type="http://schemas.openxmlformats.org/officeDocument/2006/relationships/tags" Target="../tags/tag256.xml"/><Relationship Id="rId28" Type="http://schemas.openxmlformats.org/officeDocument/2006/relationships/tags" Target="../tags/tag255.xml"/><Relationship Id="rId27" Type="http://schemas.openxmlformats.org/officeDocument/2006/relationships/tags" Target="../tags/tag254.xml"/><Relationship Id="rId26" Type="http://schemas.openxmlformats.org/officeDocument/2006/relationships/tags" Target="../tags/tag253.xml"/><Relationship Id="rId25" Type="http://schemas.openxmlformats.org/officeDocument/2006/relationships/tags" Target="../tags/tag252.xml"/><Relationship Id="rId24" Type="http://schemas.openxmlformats.org/officeDocument/2006/relationships/tags" Target="../tags/tag251.xml"/><Relationship Id="rId23" Type="http://schemas.openxmlformats.org/officeDocument/2006/relationships/tags" Target="../tags/tag250.xml"/><Relationship Id="rId22" Type="http://schemas.openxmlformats.org/officeDocument/2006/relationships/tags" Target="../tags/tag249.xml"/><Relationship Id="rId21" Type="http://schemas.openxmlformats.org/officeDocument/2006/relationships/tags" Target="../tags/tag248.xml"/><Relationship Id="rId20" Type="http://schemas.openxmlformats.org/officeDocument/2006/relationships/tags" Target="../tags/tag247.xml"/><Relationship Id="rId2" Type="http://schemas.openxmlformats.org/officeDocument/2006/relationships/tags" Target="../tags/tag231.xml"/><Relationship Id="rId19" Type="http://schemas.openxmlformats.org/officeDocument/2006/relationships/tags" Target="../tags/tag246.xml"/><Relationship Id="rId18" Type="http://schemas.openxmlformats.org/officeDocument/2006/relationships/tags" Target="../tags/tag245.xml"/><Relationship Id="rId17" Type="http://schemas.openxmlformats.org/officeDocument/2006/relationships/tags" Target="../tags/tag244.xml"/><Relationship Id="rId16" Type="http://schemas.openxmlformats.org/officeDocument/2006/relationships/tags" Target="../tags/tag243.xml"/><Relationship Id="rId15" Type="http://schemas.openxmlformats.org/officeDocument/2006/relationships/tags" Target="../tags/tag242.xml"/><Relationship Id="rId14" Type="http://schemas.openxmlformats.org/officeDocument/2006/relationships/tags" Target="../tags/tag241.xml"/><Relationship Id="rId13" Type="http://schemas.openxmlformats.org/officeDocument/2006/relationships/tags" Target="../tags/tag240.xml"/><Relationship Id="rId12" Type="http://schemas.openxmlformats.org/officeDocument/2006/relationships/tags" Target="../tags/tag239.xml"/><Relationship Id="rId11" Type="http://schemas.openxmlformats.org/officeDocument/2006/relationships/tags" Target="../tags/tag238.xml"/><Relationship Id="rId10" Type="http://schemas.openxmlformats.org/officeDocument/2006/relationships/tags" Target="../tags/tag237.xml"/><Relationship Id="rId1" Type="http://schemas.openxmlformats.org/officeDocument/2006/relationships/tags" Target="../tags/tag230.xml"/></Relationships>
</file>

<file path=ppt/slides/_rels/slide67.xml.rels><?xml version="1.0" encoding="UTF-8" standalone="yes"?>
<Relationships xmlns="http://schemas.openxmlformats.org/package/2006/relationships"><Relationship Id="rId9" Type="http://schemas.openxmlformats.org/officeDocument/2006/relationships/tags" Target="../tags/tag265.xml"/><Relationship Id="rId8" Type="http://schemas.openxmlformats.org/officeDocument/2006/relationships/tags" Target="../tags/tag264.xml"/><Relationship Id="rId7" Type="http://schemas.openxmlformats.org/officeDocument/2006/relationships/tags" Target="../tags/tag263.xml"/><Relationship Id="rId6" Type="http://schemas.openxmlformats.org/officeDocument/2006/relationships/tags" Target="../tags/tag262.xml"/><Relationship Id="rId5" Type="http://schemas.openxmlformats.org/officeDocument/2006/relationships/tags" Target="../tags/tag261.xml"/><Relationship Id="rId42" Type="http://schemas.openxmlformats.org/officeDocument/2006/relationships/notesSlide" Target="../notesSlides/notesSlide55.xml"/><Relationship Id="rId41" Type="http://schemas.openxmlformats.org/officeDocument/2006/relationships/slideLayout" Target="../slideLayouts/slideLayout37.xml"/><Relationship Id="rId40" Type="http://schemas.openxmlformats.org/officeDocument/2006/relationships/tags" Target="../tags/tag296.xml"/><Relationship Id="rId4" Type="http://schemas.openxmlformats.org/officeDocument/2006/relationships/tags" Target="../tags/tag260.xml"/><Relationship Id="rId39" Type="http://schemas.openxmlformats.org/officeDocument/2006/relationships/tags" Target="../tags/tag295.xml"/><Relationship Id="rId38" Type="http://schemas.openxmlformats.org/officeDocument/2006/relationships/tags" Target="../tags/tag294.xml"/><Relationship Id="rId37" Type="http://schemas.openxmlformats.org/officeDocument/2006/relationships/tags" Target="../tags/tag293.xml"/><Relationship Id="rId36" Type="http://schemas.openxmlformats.org/officeDocument/2006/relationships/tags" Target="../tags/tag292.xml"/><Relationship Id="rId35" Type="http://schemas.openxmlformats.org/officeDocument/2006/relationships/tags" Target="../tags/tag291.xml"/><Relationship Id="rId34" Type="http://schemas.openxmlformats.org/officeDocument/2006/relationships/tags" Target="../tags/tag290.xml"/><Relationship Id="rId33" Type="http://schemas.openxmlformats.org/officeDocument/2006/relationships/tags" Target="../tags/tag289.xml"/><Relationship Id="rId32" Type="http://schemas.openxmlformats.org/officeDocument/2006/relationships/tags" Target="../tags/tag288.xml"/><Relationship Id="rId31" Type="http://schemas.openxmlformats.org/officeDocument/2006/relationships/tags" Target="../tags/tag287.xml"/><Relationship Id="rId30" Type="http://schemas.openxmlformats.org/officeDocument/2006/relationships/tags" Target="../tags/tag286.xml"/><Relationship Id="rId3" Type="http://schemas.openxmlformats.org/officeDocument/2006/relationships/tags" Target="../tags/tag259.xml"/><Relationship Id="rId29" Type="http://schemas.openxmlformats.org/officeDocument/2006/relationships/tags" Target="../tags/tag285.xml"/><Relationship Id="rId28" Type="http://schemas.openxmlformats.org/officeDocument/2006/relationships/tags" Target="../tags/tag284.xml"/><Relationship Id="rId27" Type="http://schemas.openxmlformats.org/officeDocument/2006/relationships/tags" Target="../tags/tag283.xml"/><Relationship Id="rId26" Type="http://schemas.openxmlformats.org/officeDocument/2006/relationships/tags" Target="../tags/tag282.xml"/><Relationship Id="rId25" Type="http://schemas.openxmlformats.org/officeDocument/2006/relationships/tags" Target="../tags/tag281.xml"/><Relationship Id="rId24" Type="http://schemas.openxmlformats.org/officeDocument/2006/relationships/tags" Target="../tags/tag280.xml"/><Relationship Id="rId23" Type="http://schemas.openxmlformats.org/officeDocument/2006/relationships/tags" Target="../tags/tag279.xml"/><Relationship Id="rId22" Type="http://schemas.openxmlformats.org/officeDocument/2006/relationships/tags" Target="../tags/tag278.xml"/><Relationship Id="rId21" Type="http://schemas.openxmlformats.org/officeDocument/2006/relationships/tags" Target="../tags/tag277.xml"/><Relationship Id="rId20" Type="http://schemas.openxmlformats.org/officeDocument/2006/relationships/tags" Target="../tags/tag276.xml"/><Relationship Id="rId2" Type="http://schemas.openxmlformats.org/officeDocument/2006/relationships/tags" Target="../tags/tag258.xml"/><Relationship Id="rId19" Type="http://schemas.openxmlformats.org/officeDocument/2006/relationships/tags" Target="../tags/tag275.xml"/><Relationship Id="rId18" Type="http://schemas.openxmlformats.org/officeDocument/2006/relationships/tags" Target="../tags/tag274.xml"/><Relationship Id="rId17" Type="http://schemas.openxmlformats.org/officeDocument/2006/relationships/tags" Target="../tags/tag273.xml"/><Relationship Id="rId16" Type="http://schemas.openxmlformats.org/officeDocument/2006/relationships/tags" Target="../tags/tag272.xml"/><Relationship Id="rId15" Type="http://schemas.openxmlformats.org/officeDocument/2006/relationships/tags" Target="../tags/tag271.xml"/><Relationship Id="rId14" Type="http://schemas.openxmlformats.org/officeDocument/2006/relationships/tags" Target="../tags/tag270.xml"/><Relationship Id="rId13" Type="http://schemas.openxmlformats.org/officeDocument/2006/relationships/tags" Target="../tags/tag269.xml"/><Relationship Id="rId12" Type="http://schemas.openxmlformats.org/officeDocument/2006/relationships/tags" Target="../tags/tag268.xml"/><Relationship Id="rId11" Type="http://schemas.openxmlformats.org/officeDocument/2006/relationships/tags" Target="../tags/tag267.xml"/><Relationship Id="rId10" Type="http://schemas.openxmlformats.org/officeDocument/2006/relationships/tags" Target="../tags/tag266.xml"/><Relationship Id="rId1" Type="http://schemas.openxmlformats.org/officeDocument/2006/relationships/tags" Target="../tags/tag257.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37.xml"/><Relationship Id="rId2" Type="http://schemas.openxmlformats.org/officeDocument/2006/relationships/image" Target="../media/image29.png"/><Relationship Id="rId1" Type="http://schemas.openxmlformats.org/officeDocument/2006/relationships/tags" Target="../tags/tag297.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37.xml"/><Relationship Id="rId2" Type="http://schemas.openxmlformats.org/officeDocument/2006/relationships/image" Target="../media/image30.png"/><Relationship Id="rId1" Type="http://schemas.openxmlformats.org/officeDocument/2006/relationships/tags" Target="../tags/tag298.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299.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300.xml"/></Relationships>
</file>

<file path=ppt/slides/_rels/slide7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0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6.jpeg"/><Relationship Id="rId2" Type="http://schemas.openxmlformats.org/officeDocument/2006/relationships/tags" Target="../tags/tag302.xml"/><Relationship Id="rId1" Type="http://schemas.openxmlformats.org/officeDocument/2006/relationships/tags" Target="../tags/tag3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a:p>
            <a:endParaRPr lang="zh-CN" altLang="en-US"/>
          </a:p>
        </p:txBody>
      </p:sp>
      <p:sp>
        <p:nvSpPr>
          <p:cNvPr id="10" name="文本占位符 9"/>
          <p:cNvSpPr>
            <a:spLocks noGrp="1"/>
          </p:cNvSpPr>
          <p:nvPr>
            <p:ph type="body" sz="half" idx="2"/>
            <p:custDataLst>
              <p:tags r:id="rId2"/>
            </p:custDataLst>
          </p:nvPr>
        </p:nvSpPr>
        <p:spPr/>
        <p:txBody>
          <a:bodyPr/>
          <a:p>
            <a:endParaRPr lang="zh-CN" altLang="en-US"/>
          </a:p>
        </p:txBody>
      </p:sp>
      <p:pic>
        <p:nvPicPr>
          <p:cNvPr id="4" name="图片 3" descr="封"/>
          <p:cNvPicPr>
            <a:picLocks noChangeAspect="1"/>
          </p:cNvPicPr>
          <p:nvPr/>
        </p:nvPicPr>
        <p:blipFill>
          <a:blip r:embed="rId3"/>
          <a:stretch>
            <a:fillRect/>
          </a:stretch>
        </p:blipFill>
        <p:spPr>
          <a:xfrm>
            <a:off x="-20320" y="-12700"/>
            <a:ext cx="12212320" cy="6870700"/>
          </a:xfrm>
          <a:prstGeom prst="rect">
            <a:avLst/>
          </a:prstGeom>
        </p:spPr>
      </p:pic>
      <p:sp>
        <p:nvSpPr>
          <p:cNvPr id="6" name="Rectangle 9"/>
          <p:cNvSpPr/>
          <p:nvPr/>
        </p:nvSpPr>
        <p:spPr>
          <a:xfrm>
            <a:off x="-19685" y="-12700"/>
            <a:ext cx="4203700" cy="6870700"/>
          </a:xfrm>
          <a:prstGeom prst="rect">
            <a:avLst/>
          </a:prstGeom>
          <a:solidFill>
            <a:srgbClr val="EC6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图片 2" descr="1-1"/>
          <p:cNvPicPr>
            <a:picLocks noChangeAspect="1"/>
          </p:cNvPicPr>
          <p:nvPr/>
        </p:nvPicPr>
        <p:blipFill>
          <a:blip r:embed="rId4"/>
          <a:stretch>
            <a:fillRect/>
          </a:stretch>
        </p:blipFill>
        <p:spPr>
          <a:xfrm>
            <a:off x="9060815" y="-383540"/>
            <a:ext cx="3312160" cy="1863725"/>
          </a:xfrm>
          <a:prstGeom prst="rect">
            <a:avLst/>
          </a:prstGeom>
        </p:spPr>
      </p:pic>
      <p:pic>
        <p:nvPicPr>
          <p:cNvPr id="2" name="图片 1" descr="b00f5286384adb97f19ad534450ad1d"/>
          <p:cNvPicPr>
            <a:picLocks noChangeAspect="1"/>
          </p:cNvPicPr>
          <p:nvPr/>
        </p:nvPicPr>
        <p:blipFill>
          <a:blip r:embed="rId5"/>
          <a:stretch>
            <a:fillRect/>
          </a:stretch>
        </p:blipFill>
        <p:spPr>
          <a:xfrm>
            <a:off x="8310245" y="6073775"/>
            <a:ext cx="3584575" cy="590550"/>
          </a:xfrm>
          <a:prstGeom prst="rect">
            <a:avLst/>
          </a:prstGeom>
        </p:spPr>
      </p:pic>
      <p:sp>
        <p:nvSpPr>
          <p:cNvPr id="5" name="矩形 4"/>
          <p:cNvSpPr/>
          <p:nvPr/>
        </p:nvSpPr>
        <p:spPr>
          <a:xfrm>
            <a:off x="-225425" y="1958975"/>
            <a:ext cx="4634230" cy="2196465"/>
          </a:xfrm>
          <a:prstGeom prst="rect">
            <a:avLst/>
          </a:prstGeom>
          <a:noFill/>
        </p:spPr>
        <p:txBody>
          <a:bodyPr wrap="square" rtlCol="0">
            <a:noAutofit/>
          </a:bodyPr>
          <a:lstStyle/>
          <a:p>
            <a:pPr indent="0" algn="ctr" fontAlgn="auto">
              <a:lnSpc>
                <a:spcPct val="200000"/>
              </a:lnSpc>
              <a:spcBef>
                <a:spcPts val="0"/>
              </a:spcBef>
              <a:spcAft>
                <a:spcPts val="0"/>
              </a:spcAft>
            </a:pPr>
            <a:r>
              <a:rPr lang="zh-CN" altLang="en-US" sz="24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智能工艺</a:t>
            </a:r>
            <a:r>
              <a:rPr lang="zh-CN" altLang="en-US" sz="2400" b="1" i="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a:t>
            </a:r>
            <a:r>
              <a:rPr lang="en-US" altLang="zh-CN" sz="2400" b="1" i="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AI</a:t>
            </a:r>
            <a:r>
              <a:rPr lang="zh-CN" altLang="en-US" sz="2400" b="1" i="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a:t>
            </a:r>
            <a:r>
              <a:rPr lang="zh-CN" altLang="en-US" sz="24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产品解决方案</a:t>
            </a:r>
            <a:endParaRPr lang="zh-CN" altLang="en-US" sz="24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a:p>
            <a:pPr indent="0" algn="ctr" fontAlgn="auto">
              <a:lnSpc>
                <a:spcPct val="200000"/>
              </a:lnSpc>
              <a:spcBef>
                <a:spcPts val="0"/>
              </a:spcBef>
              <a:spcAft>
                <a:spcPts val="0"/>
              </a:spcAft>
            </a:pPr>
            <a:endParaRPr lang="en-US" altLang="zh-CN" sz="20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a:p>
            <a:pPr indent="0" algn="ctr" fontAlgn="auto">
              <a:lnSpc>
                <a:spcPct val="200000"/>
              </a:lnSpc>
              <a:spcBef>
                <a:spcPts val="0"/>
              </a:spcBef>
              <a:spcAft>
                <a:spcPts val="0"/>
              </a:spcAft>
            </a:pPr>
            <a:r>
              <a:rPr lang="en-US" altLang="zh-CN" sz="20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2026.07</a:t>
            </a:r>
            <a:endParaRPr lang="en-US" altLang="zh-CN" sz="2000" b="1" spc="600" dirty="0">
              <a:ln w="22225">
                <a:solidFill>
                  <a:srgbClr val="FA4F24"/>
                </a:solidFill>
              </a:ln>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dirty="0">
                <a:cs typeface="微软雅黑" panose="020B0503020204020204" pitchFamily="34" charset="-122"/>
              </a:rPr>
              <a:t>主页面</a:t>
            </a:r>
            <a:r>
              <a:rPr lang="en-US" altLang="zh-CN" sz="2800" dirty="0">
                <a:cs typeface="微软雅黑" panose="020B0503020204020204" pitchFamily="34" charset="-122"/>
              </a:rPr>
              <a:t>-1-</a:t>
            </a:r>
            <a:r>
              <a:rPr lang="zh-CN" altLang="en-US" sz="2800" dirty="0">
                <a:cs typeface="微软雅黑" panose="020B0503020204020204" pitchFamily="34" charset="-122"/>
              </a:rPr>
              <a:t>新</a:t>
            </a:r>
            <a:r>
              <a:rPr lang="zh-CN" altLang="en-US" sz="2800" dirty="0">
                <a:cs typeface="微软雅黑" panose="020B0503020204020204" pitchFamily="34" charset="-122"/>
              </a:rPr>
              <a:t>建与查询</a:t>
            </a:r>
            <a:r>
              <a:rPr lang="zh-CN" altLang="en-US" sz="2800" dirty="0">
                <a:cs typeface="微软雅黑" panose="020B0503020204020204" pitchFamily="34" charset="-122"/>
              </a:rPr>
              <a:t>功能</a:t>
            </a:r>
            <a:endParaRPr lang="zh-CN" altLang="en-US" sz="2800" dirty="0">
              <a:cs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975995" y="1000760"/>
            <a:ext cx="10301605" cy="5424170"/>
          </a:xfrm>
          <a:prstGeom prst="rect">
            <a:avLst/>
          </a:prstGeom>
        </p:spPr>
      </p:pic>
      <p:sp>
        <p:nvSpPr>
          <p:cNvPr id="6" name="文本框 5"/>
          <p:cNvSpPr txBox="1"/>
          <p:nvPr/>
        </p:nvSpPr>
        <p:spPr>
          <a:xfrm>
            <a:off x="2297430" y="4093210"/>
            <a:ext cx="715010" cy="257175"/>
          </a:xfrm>
          <a:prstGeom prst="rect">
            <a:avLst/>
          </a:prstGeom>
          <a:solidFill>
            <a:srgbClr val="0070C0"/>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b="1">
                <a:solidFill>
                  <a:schemeClr val="bg1"/>
                </a:solidFill>
                <a:sym typeface="+mn-ea"/>
              </a:rPr>
              <a:t>我的清单</a:t>
            </a:r>
            <a:endParaRPr lang="zh-CN" altLang="en-US" sz="900" b="1">
              <a:solidFill>
                <a:schemeClr val="bg1"/>
              </a:solidFill>
              <a:sym typeface="+mn-ea"/>
            </a:endParaRPr>
          </a:p>
        </p:txBody>
      </p:sp>
      <p:sp>
        <p:nvSpPr>
          <p:cNvPr id="7" name="文本框 6"/>
          <p:cNvSpPr txBox="1"/>
          <p:nvPr/>
        </p:nvSpPr>
        <p:spPr>
          <a:xfrm>
            <a:off x="3087370" y="4104640"/>
            <a:ext cx="715010" cy="257175"/>
          </a:xfrm>
          <a:prstGeom prst="rect">
            <a:avLst/>
          </a:prstGeom>
          <a:solidFill>
            <a:schemeClr val="bg1">
              <a:lumMod val="65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b="1">
                <a:solidFill>
                  <a:schemeClr val="bg1"/>
                </a:solidFill>
                <a:sym typeface="+mn-ea"/>
              </a:rPr>
              <a:t>全部清单</a:t>
            </a:r>
            <a:endParaRPr lang="zh-CN" altLang="en-US" sz="900" b="1">
              <a:solidFill>
                <a:schemeClr val="bg1"/>
              </a:solidFill>
              <a:sym typeface="+mn-ea"/>
            </a:endParaRPr>
          </a:p>
        </p:txBody>
      </p:sp>
      <p:grpSp>
        <p:nvGrpSpPr>
          <p:cNvPr id="10" name="组合 9"/>
          <p:cNvGrpSpPr/>
          <p:nvPr/>
        </p:nvGrpSpPr>
        <p:grpSpPr>
          <a:xfrm>
            <a:off x="10308590" y="2997200"/>
            <a:ext cx="1272540" cy="349250"/>
            <a:chOff x="16234" y="4720"/>
            <a:chExt cx="2004" cy="550"/>
          </a:xfrm>
        </p:grpSpPr>
        <p:sp>
          <p:nvSpPr>
            <p:cNvPr id="8" name="文本框 7"/>
            <p:cNvSpPr txBox="1"/>
            <p:nvPr/>
          </p:nvSpPr>
          <p:spPr>
            <a:xfrm>
              <a:off x="16748" y="4720"/>
              <a:ext cx="1491" cy="550"/>
            </a:xfrm>
            <a:prstGeom prst="rect">
              <a:avLst/>
            </a:prstGeom>
            <a:noFill/>
            <a:ln>
              <a:solidFill>
                <a:schemeClr val="bg1">
                  <a:lumMod val="50000"/>
                </a:schemeClr>
              </a:solidFill>
            </a:ln>
          </p:spPr>
          <p:txBody>
            <a:bodyPr wrap="square" rtlCol="0" anchor="t">
              <a:spAutoFit/>
            </a:bodyPr>
            <a:p>
              <a:pPr indent="0" fontAlgn="auto">
                <a:lnSpc>
                  <a:spcPct val="120000"/>
                </a:lnSpc>
                <a:spcBef>
                  <a:spcPts val="0"/>
                </a:spcBef>
                <a:buFont typeface="Arial" panose="020B0604020202020204" pitchFamily="34" charset="0"/>
                <a:buNone/>
              </a:pPr>
              <a:r>
                <a:rPr lang="zh-CN" altLang="en-US" sz="1400">
                  <a:solidFill>
                    <a:srgbClr val="C00000"/>
                  </a:solidFill>
                  <a:sym typeface="+mn-ea"/>
                </a:rPr>
                <a:t>扩大窗口</a:t>
              </a:r>
              <a:endParaRPr lang="zh-CN" altLang="en-US" sz="1400">
                <a:solidFill>
                  <a:srgbClr val="C00000"/>
                </a:solidFill>
                <a:sym typeface="+mn-ea"/>
              </a:endParaRPr>
            </a:p>
          </p:txBody>
        </p:sp>
        <p:cxnSp>
          <p:nvCxnSpPr>
            <p:cNvPr id="9" name="直接箭头连接符 8"/>
            <p:cNvCxnSpPr>
              <a:stCxn id="8" idx="1"/>
            </p:cNvCxnSpPr>
            <p:nvPr/>
          </p:nvCxnSpPr>
          <p:spPr>
            <a:xfrm flipH="1">
              <a:off x="16234" y="4995"/>
              <a:ext cx="514" cy="258"/>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975995" y="1062990"/>
            <a:ext cx="1296670" cy="349250"/>
            <a:chOff x="1537" y="1674"/>
            <a:chExt cx="2042" cy="550"/>
          </a:xfrm>
        </p:grpSpPr>
        <p:sp>
          <p:nvSpPr>
            <p:cNvPr id="12" name="文本框 11"/>
            <p:cNvSpPr txBox="1"/>
            <p:nvPr/>
          </p:nvSpPr>
          <p:spPr>
            <a:xfrm>
              <a:off x="1537" y="1674"/>
              <a:ext cx="1491" cy="550"/>
            </a:xfrm>
            <a:prstGeom prst="rect">
              <a:avLst/>
            </a:prstGeom>
            <a:noFill/>
            <a:ln>
              <a:solidFill>
                <a:schemeClr val="bg1">
                  <a:lumMod val="50000"/>
                </a:schemeClr>
              </a:solidFill>
            </a:ln>
          </p:spPr>
          <p:txBody>
            <a:bodyPr wrap="square" rtlCol="0" anchor="t">
              <a:spAutoFit/>
            </a:bodyPr>
            <a:p>
              <a:pPr indent="0" fontAlgn="auto">
                <a:lnSpc>
                  <a:spcPct val="120000"/>
                </a:lnSpc>
                <a:spcBef>
                  <a:spcPts val="0"/>
                </a:spcBef>
                <a:buFont typeface="Arial" panose="020B0604020202020204" pitchFamily="34" charset="0"/>
                <a:buNone/>
              </a:pPr>
              <a:r>
                <a:rPr lang="zh-CN" altLang="en-US" sz="1400">
                  <a:solidFill>
                    <a:srgbClr val="C00000"/>
                  </a:solidFill>
                  <a:sym typeface="+mn-ea"/>
                </a:rPr>
                <a:t>这个</a:t>
              </a:r>
              <a:r>
                <a:rPr lang="zh-CN" altLang="en-US" sz="1400">
                  <a:solidFill>
                    <a:srgbClr val="C00000"/>
                  </a:solidFill>
                  <a:sym typeface="+mn-ea"/>
                </a:rPr>
                <a:t>位置</a:t>
              </a:r>
              <a:endParaRPr lang="zh-CN" altLang="en-US" sz="1400">
                <a:solidFill>
                  <a:srgbClr val="C00000"/>
                </a:solidFill>
                <a:sym typeface="+mn-ea"/>
              </a:endParaRPr>
            </a:p>
          </p:txBody>
        </p:sp>
        <p:cxnSp>
          <p:nvCxnSpPr>
            <p:cNvPr id="13" name="直接箭头连接符 12"/>
            <p:cNvCxnSpPr/>
            <p:nvPr/>
          </p:nvCxnSpPr>
          <p:spPr>
            <a:xfrm flipH="1">
              <a:off x="2999" y="1940"/>
              <a:ext cx="580" cy="17"/>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 name="文本框 18"/>
          <p:cNvSpPr txBox="1"/>
          <p:nvPr/>
        </p:nvSpPr>
        <p:spPr>
          <a:xfrm>
            <a:off x="10509250" y="1144270"/>
            <a:ext cx="768350" cy="275590"/>
          </a:xfrm>
          <a:prstGeom prst="rect">
            <a:avLst/>
          </a:prstGeom>
          <a:noFill/>
          <a:ln>
            <a:solidFill>
              <a:schemeClr val="bg1">
                <a:lumMod val="50000"/>
              </a:schemeClr>
            </a:solidFill>
          </a:ln>
        </p:spPr>
        <p:txBody>
          <a:bodyPr wrap="square" rtlCol="0" anchor="t">
            <a:spAutoFit/>
          </a:bodyPr>
          <a:p>
            <a:pPr indent="0" fontAlgn="auto">
              <a:lnSpc>
                <a:spcPct val="120000"/>
              </a:lnSpc>
              <a:spcBef>
                <a:spcPts val="0"/>
              </a:spcBef>
              <a:buFont typeface="Arial" panose="020B0604020202020204" pitchFamily="34" charset="0"/>
              <a:buNone/>
            </a:pPr>
            <a:r>
              <a:rPr lang="zh-CN" altLang="en-US" sz="1000">
                <a:solidFill>
                  <a:srgbClr val="C00000"/>
                </a:solidFill>
                <a:sym typeface="+mn-ea"/>
              </a:rPr>
              <a:t>这个位置</a:t>
            </a:r>
            <a:endParaRPr lang="zh-CN" altLang="en-US" sz="1000">
              <a:solidFill>
                <a:srgbClr val="C00000"/>
              </a:solidFill>
              <a:sym typeface="+mn-ea"/>
            </a:endParaRPr>
          </a:p>
        </p:txBody>
      </p:sp>
      <p:cxnSp>
        <p:nvCxnSpPr>
          <p:cNvPr id="26" name="直接箭头连接符 25"/>
          <p:cNvCxnSpPr/>
          <p:nvPr/>
        </p:nvCxnSpPr>
        <p:spPr>
          <a:xfrm flipV="1">
            <a:off x="10308590" y="1226820"/>
            <a:ext cx="326390" cy="508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545715" y="3723005"/>
            <a:ext cx="723265" cy="254635"/>
          </a:xfrm>
          <a:prstGeom prst="rect">
            <a:avLst/>
          </a:prstGeom>
          <a:noFill/>
          <a:ln>
            <a:solidFill>
              <a:srgbClr val="C00000"/>
            </a:solidFill>
          </a:ln>
        </p:spPr>
        <p:txBody>
          <a:bodyPr wrap="square" rtlCol="0" anchor="t">
            <a:noAutofit/>
          </a:bodyPr>
          <a:p>
            <a:pPr indent="0" algn="ctr" fontAlgn="auto">
              <a:lnSpc>
                <a:spcPct val="120000"/>
              </a:lnSpc>
              <a:spcBef>
                <a:spcPts val="0"/>
              </a:spcBef>
              <a:buFont typeface="Arial" panose="020B0604020202020204" pitchFamily="34" charset="0"/>
              <a:buNone/>
            </a:pPr>
            <a:r>
              <a:rPr lang="zh-CN" altLang="en-US" sz="700">
                <a:sym typeface="+mn-ea"/>
              </a:rPr>
              <a:t>上传模型</a:t>
            </a:r>
            <a:r>
              <a:rPr lang="zh-CN" altLang="en-US" sz="700">
                <a:sym typeface="+mn-ea"/>
              </a:rPr>
              <a:t>图纸</a:t>
            </a:r>
            <a:endParaRPr lang="zh-CN" altLang="en-US" sz="700">
              <a:sym typeface="+mn-ea"/>
            </a:endParaRPr>
          </a:p>
        </p:txBody>
      </p:sp>
      <p:sp>
        <p:nvSpPr>
          <p:cNvPr id="28" name="文本框 27"/>
          <p:cNvSpPr txBox="1"/>
          <p:nvPr/>
        </p:nvSpPr>
        <p:spPr>
          <a:xfrm>
            <a:off x="3556000" y="3657600"/>
            <a:ext cx="723265" cy="254635"/>
          </a:xfrm>
          <a:prstGeom prst="rect">
            <a:avLst/>
          </a:prstGeom>
          <a:noFill/>
          <a:ln>
            <a:solidFill>
              <a:srgbClr val="C00000"/>
            </a:solidFill>
          </a:ln>
        </p:spPr>
        <p:txBody>
          <a:bodyPr wrap="square" rtlCol="0" anchor="t">
            <a:noAutofit/>
          </a:bodyPr>
          <a:p>
            <a:pPr indent="0" algn="ctr" fontAlgn="auto">
              <a:lnSpc>
                <a:spcPct val="120000"/>
              </a:lnSpc>
              <a:spcBef>
                <a:spcPts val="0"/>
              </a:spcBef>
              <a:buFont typeface="Arial" panose="020B0604020202020204" pitchFamily="34" charset="0"/>
              <a:buNone/>
            </a:pPr>
            <a:r>
              <a:rPr lang="zh-CN" altLang="en-US" sz="700">
                <a:sym typeface="+mn-ea"/>
              </a:rPr>
              <a:t>上传技术</a:t>
            </a:r>
            <a:r>
              <a:rPr lang="zh-CN" altLang="en-US" sz="700">
                <a:sym typeface="+mn-ea"/>
              </a:rPr>
              <a:t>文档</a:t>
            </a:r>
            <a:endParaRPr lang="zh-CN" altLang="en-US" sz="700">
              <a:sym typeface="+mn-ea"/>
            </a:endParaRPr>
          </a:p>
        </p:txBody>
      </p:sp>
      <p:sp>
        <p:nvSpPr>
          <p:cNvPr id="29" name="文本框 28"/>
          <p:cNvSpPr txBox="1"/>
          <p:nvPr/>
        </p:nvSpPr>
        <p:spPr>
          <a:xfrm>
            <a:off x="3114040" y="2860675"/>
            <a:ext cx="2503805" cy="243840"/>
          </a:xfrm>
          <a:prstGeom prst="rect">
            <a:avLst/>
          </a:prstGeom>
          <a:noFill/>
          <a:ln>
            <a:solidFill>
              <a:srgbClr val="C00000"/>
            </a:solidFill>
          </a:ln>
        </p:spPr>
        <p:txBody>
          <a:bodyPr wrap="square" rtlCol="0" anchor="t">
            <a:noAutofit/>
          </a:bodyPr>
          <a:p>
            <a:pPr marL="285750" indent="-285750" fontAlgn="auto">
              <a:lnSpc>
                <a:spcPct val="120000"/>
              </a:lnSpc>
              <a:spcBef>
                <a:spcPts val="0"/>
              </a:spcBef>
              <a:buFont typeface="Arial" panose="020B0604020202020204" pitchFamily="34" charset="0"/>
              <a:buChar char="•"/>
            </a:pPr>
            <a:endParaRPr lang="zh-CN" altLang="en-US" sz="1400">
              <a:sym typeface="+mn-ea"/>
            </a:endParaRPr>
          </a:p>
        </p:txBody>
      </p:sp>
      <p:sp>
        <p:nvSpPr>
          <p:cNvPr id="31" name="文本框 30"/>
          <p:cNvSpPr txBox="1"/>
          <p:nvPr/>
        </p:nvSpPr>
        <p:spPr>
          <a:xfrm>
            <a:off x="5765165" y="2849880"/>
            <a:ext cx="723265" cy="254635"/>
          </a:xfrm>
          <a:prstGeom prst="rect">
            <a:avLst/>
          </a:prstGeom>
          <a:noFill/>
          <a:ln>
            <a:solidFill>
              <a:srgbClr val="C00000"/>
            </a:solidFill>
          </a:ln>
        </p:spPr>
        <p:txBody>
          <a:bodyPr wrap="square" rtlCol="0" anchor="t">
            <a:noAutofit/>
          </a:bodyPr>
          <a:p>
            <a:pPr indent="0" algn="ctr" fontAlgn="auto">
              <a:lnSpc>
                <a:spcPct val="120000"/>
              </a:lnSpc>
              <a:spcBef>
                <a:spcPts val="0"/>
              </a:spcBef>
              <a:buFont typeface="Arial" panose="020B0604020202020204" pitchFamily="34" charset="0"/>
              <a:buNone/>
            </a:pPr>
            <a:r>
              <a:rPr lang="zh-CN" altLang="en-US" sz="700">
                <a:sym typeface="+mn-ea"/>
              </a:rPr>
              <a:t>删除</a:t>
            </a:r>
            <a:endParaRPr lang="zh-CN" altLang="en-US" sz="700">
              <a:sym typeface="+mn-ea"/>
            </a:endParaRPr>
          </a:p>
        </p:txBody>
      </p:sp>
      <p:cxnSp>
        <p:nvCxnSpPr>
          <p:cNvPr id="33" name="直接箭头连接符 32"/>
          <p:cNvCxnSpPr/>
          <p:nvPr/>
        </p:nvCxnSpPr>
        <p:spPr>
          <a:xfrm flipV="1">
            <a:off x="5617845" y="2976245"/>
            <a:ext cx="167640" cy="20955"/>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0160000" y="5194300"/>
            <a:ext cx="768350" cy="829945"/>
          </a:xfrm>
          <a:prstGeom prst="rect">
            <a:avLst/>
          </a:prstGeom>
          <a:noFill/>
          <a:ln>
            <a:solidFill>
              <a:schemeClr val="bg1">
                <a:lumMod val="50000"/>
              </a:schemeClr>
            </a:solidFill>
          </a:ln>
        </p:spPr>
        <p:txBody>
          <a:bodyPr wrap="square" rtlCol="0" anchor="t">
            <a:spAutoFit/>
          </a:bodyPr>
          <a:p>
            <a:pPr indent="0" fontAlgn="auto">
              <a:lnSpc>
                <a:spcPct val="120000"/>
              </a:lnSpc>
              <a:spcBef>
                <a:spcPts val="0"/>
              </a:spcBef>
              <a:buFont typeface="Arial" panose="020B0604020202020204" pitchFamily="34" charset="0"/>
              <a:buNone/>
            </a:pPr>
            <a:r>
              <a:rPr lang="zh-CN" altLang="en-US" sz="1000">
                <a:solidFill>
                  <a:srgbClr val="C00000"/>
                </a:solidFill>
                <a:sym typeface="+mn-ea"/>
              </a:rPr>
              <a:t>修改颜色，所有状态统一改成一个</a:t>
            </a:r>
            <a:r>
              <a:rPr lang="zh-CN" altLang="en-US" sz="1000">
                <a:solidFill>
                  <a:srgbClr val="C00000"/>
                </a:solidFill>
                <a:sym typeface="+mn-ea"/>
              </a:rPr>
              <a:t>颜色</a:t>
            </a:r>
            <a:endParaRPr lang="zh-CN" altLang="en-US" sz="1000">
              <a:solidFill>
                <a:srgbClr val="C00000"/>
              </a:solidFill>
              <a:sym typeface="+mn-ea"/>
            </a:endParaRPr>
          </a:p>
        </p:txBody>
      </p:sp>
      <p:cxnSp>
        <p:nvCxnSpPr>
          <p:cNvPr id="37" name="直接箭头连接符 36"/>
          <p:cNvCxnSpPr/>
          <p:nvPr/>
        </p:nvCxnSpPr>
        <p:spPr>
          <a:xfrm flipV="1">
            <a:off x="9982200" y="5329555"/>
            <a:ext cx="326390" cy="508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dirty="0">
                <a:cs typeface="微软雅黑" panose="020B0503020204020204" pitchFamily="34" charset="-122"/>
              </a:rPr>
              <a:t>主页面</a:t>
            </a:r>
            <a:r>
              <a:rPr lang="en-US" altLang="zh-CN" sz="2800" dirty="0">
                <a:cs typeface="微软雅黑" panose="020B0503020204020204" pitchFamily="34" charset="-122"/>
              </a:rPr>
              <a:t>-1-</a:t>
            </a:r>
            <a:r>
              <a:rPr lang="zh-CN" altLang="en-US" sz="2800" dirty="0">
                <a:cs typeface="微软雅黑" panose="020B0503020204020204" pitchFamily="34" charset="-122"/>
              </a:rPr>
              <a:t>查询单个需求单</a:t>
            </a:r>
            <a:r>
              <a:rPr lang="zh-CN" altLang="en-US" sz="2800" dirty="0">
                <a:cs typeface="微软雅黑" panose="020B0503020204020204" pitchFamily="34" charset="-122"/>
              </a:rPr>
              <a:t>详情</a:t>
            </a:r>
            <a:endParaRPr lang="zh-CN" altLang="en-US" sz="2800" dirty="0">
              <a:cs typeface="微软雅黑" panose="020B0503020204020204" pitchFamily="34" charset="-122"/>
            </a:endParaRPr>
          </a:p>
        </p:txBody>
      </p:sp>
      <p:sp>
        <p:nvSpPr>
          <p:cNvPr id="4" name="文本框 3"/>
          <p:cNvSpPr txBox="1"/>
          <p:nvPr/>
        </p:nvSpPr>
        <p:spPr>
          <a:xfrm>
            <a:off x="866140" y="847090"/>
            <a:ext cx="2111375" cy="349250"/>
          </a:xfrm>
          <a:prstGeom prst="rect">
            <a:avLst/>
          </a:prstGeom>
          <a:solidFill>
            <a:schemeClr val="accent4">
              <a:lumMod val="75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需求单号：</a:t>
            </a:r>
            <a:r>
              <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REQ987545</a:t>
            </a:r>
            <a:endPar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3134995" y="847090"/>
            <a:ext cx="2171065" cy="349250"/>
          </a:xfrm>
          <a:prstGeom prst="rect">
            <a:avLst/>
          </a:prstGeom>
          <a:solidFill>
            <a:schemeClr val="accent4">
              <a:lumMod val="75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olidFill>
                  <a:schemeClr val="bg1"/>
                </a:solidFill>
                <a:latin typeface="微软雅黑" panose="020B0503020204020204" pitchFamily="34" charset="-122"/>
                <a:ea typeface="微软雅黑" panose="020B0503020204020204" pitchFamily="34" charset="-122"/>
                <a:sym typeface="+mn-ea"/>
              </a:rPr>
              <a:t>客户名称：兰溪泛翌陶瓷</a:t>
            </a:r>
            <a:endParaRPr lang="zh-CN" altLang="en-US" sz="1400" b="1">
              <a:solidFill>
                <a:schemeClr val="bg1"/>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5436235" y="847090"/>
            <a:ext cx="1690370" cy="349250"/>
          </a:xfrm>
          <a:prstGeom prst="rect">
            <a:avLst/>
          </a:prstGeom>
          <a:solidFill>
            <a:schemeClr val="accent4">
              <a:lumMod val="75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olidFill>
                  <a:schemeClr val="bg1"/>
                </a:solidFill>
                <a:latin typeface="微软雅黑" panose="020B0503020204020204" pitchFamily="34" charset="-122"/>
                <a:ea typeface="微软雅黑" panose="020B0503020204020204" pitchFamily="34" charset="-122"/>
                <a:sym typeface="+mn-ea"/>
              </a:rPr>
              <a:t>提交人：王五</a:t>
            </a:r>
            <a:endParaRPr lang="zh-CN" altLang="en-US" sz="1400" b="1">
              <a:solidFill>
                <a:schemeClr val="bg1"/>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7383145" y="847090"/>
            <a:ext cx="2367280" cy="349250"/>
          </a:xfrm>
          <a:prstGeom prst="rect">
            <a:avLst/>
          </a:prstGeom>
          <a:solidFill>
            <a:schemeClr val="accent4">
              <a:lumMod val="75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提交日期：</a:t>
            </a:r>
            <a:r>
              <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2026-06-20</a:t>
            </a:r>
            <a:endPar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8" name="组合 17"/>
          <p:cNvGrpSpPr/>
          <p:nvPr/>
        </p:nvGrpSpPr>
        <p:grpSpPr>
          <a:xfrm>
            <a:off x="1269365" y="1648460"/>
            <a:ext cx="1408430" cy="5068570"/>
            <a:chOff x="1999" y="2256"/>
            <a:chExt cx="2218" cy="7982"/>
          </a:xfrm>
        </p:grpSpPr>
        <p:pic>
          <p:nvPicPr>
            <p:cNvPr id="3" name="图片 2"/>
            <p:cNvPicPr>
              <a:picLocks noChangeAspect="1"/>
            </p:cNvPicPr>
            <p:nvPr/>
          </p:nvPicPr>
          <p:blipFill>
            <a:blip r:embed="rId2"/>
            <a:stretch>
              <a:fillRect/>
            </a:stretch>
          </p:blipFill>
          <p:spPr>
            <a:xfrm>
              <a:off x="1999" y="2256"/>
              <a:ext cx="2219" cy="7982"/>
            </a:xfrm>
            <a:prstGeom prst="rect">
              <a:avLst/>
            </a:prstGeom>
          </p:spPr>
        </p:pic>
        <p:sp>
          <p:nvSpPr>
            <p:cNvPr id="8" name="文本框 7"/>
            <p:cNvSpPr txBox="1"/>
            <p:nvPr/>
          </p:nvSpPr>
          <p:spPr>
            <a:xfrm>
              <a:off x="1999" y="2256"/>
              <a:ext cx="1800" cy="5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需求提交</a:t>
              </a:r>
              <a:endParaRPr lang="zh-CN" altLang="en-US" sz="1400" b="1">
                <a:sym typeface="+mn-ea"/>
              </a:endParaRPr>
            </a:p>
          </p:txBody>
        </p:sp>
        <p:sp>
          <p:nvSpPr>
            <p:cNvPr id="9" name="文本框 8"/>
            <p:cNvSpPr txBox="1"/>
            <p:nvPr/>
          </p:nvSpPr>
          <p:spPr>
            <a:xfrm>
              <a:off x="1999" y="3074"/>
              <a:ext cx="1800" cy="5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需求</a:t>
              </a:r>
              <a:r>
                <a:rPr lang="zh-CN" altLang="en-US" sz="1400" b="1">
                  <a:sym typeface="+mn-ea"/>
                </a:rPr>
                <a:t>确认</a:t>
              </a:r>
              <a:endParaRPr lang="zh-CN" altLang="en-US" sz="1400" b="1">
                <a:sym typeface="+mn-ea"/>
              </a:endParaRPr>
            </a:p>
          </p:txBody>
        </p:sp>
        <p:sp>
          <p:nvSpPr>
            <p:cNvPr id="10" name="文本框 9"/>
            <p:cNvSpPr txBox="1"/>
            <p:nvPr/>
          </p:nvSpPr>
          <p:spPr>
            <a:xfrm>
              <a:off x="2199" y="8713"/>
              <a:ext cx="1800" cy="5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审核</a:t>
              </a:r>
              <a:r>
                <a:rPr lang="zh-CN" altLang="en-US" sz="1400" b="1">
                  <a:sym typeface="+mn-ea"/>
                </a:rPr>
                <a:t>报告</a:t>
              </a:r>
              <a:endParaRPr lang="zh-CN" altLang="en-US" sz="1400" b="1">
                <a:sym typeface="+mn-ea"/>
              </a:endParaRPr>
            </a:p>
          </p:txBody>
        </p:sp>
        <p:sp>
          <p:nvSpPr>
            <p:cNvPr id="11" name="文本框 10"/>
            <p:cNvSpPr txBox="1"/>
            <p:nvPr/>
          </p:nvSpPr>
          <p:spPr>
            <a:xfrm>
              <a:off x="2199" y="7996"/>
              <a:ext cx="1800" cy="550"/>
            </a:xfrm>
            <a:prstGeom prst="rect">
              <a:avLst/>
            </a:prstGeom>
            <a:solidFill>
              <a:schemeClr val="bg1">
                <a:lumMod val="5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汇总</a:t>
              </a:r>
              <a:r>
                <a:rPr lang="zh-CN" altLang="en-US" sz="1400" b="1">
                  <a:sym typeface="+mn-ea"/>
                </a:rPr>
                <a:t>报告</a:t>
              </a:r>
              <a:endParaRPr lang="zh-CN" altLang="en-US" sz="1400" b="1">
                <a:sym typeface="+mn-ea"/>
              </a:endParaRPr>
            </a:p>
          </p:txBody>
        </p:sp>
        <p:sp>
          <p:nvSpPr>
            <p:cNvPr id="12" name="文本框 11"/>
            <p:cNvSpPr txBox="1"/>
            <p:nvPr/>
          </p:nvSpPr>
          <p:spPr>
            <a:xfrm>
              <a:off x="2199" y="3891"/>
              <a:ext cx="1800" cy="550"/>
            </a:xfrm>
            <a:prstGeom prst="rect">
              <a:avLst/>
            </a:prstGeom>
            <a:solidFill>
              <a:srgbClr val="C00000"/>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olidFill>
                    <a:schemeClr val="bg1"/>
                  </a:solidFill>
                  <a:sym typeface="+mn-ea"/>
                </a:rPr>
                <a:t>需求审核</a:t>
              </a:r>
              <a:endParaRPr lang="zh-CN" altLang="en-US" sz="1400" b="1">
                <a:solidFill>
                  <a:schemeClr val="bg1"/>
                </a:solidFill>
                <a:sym typeface="+mn-ea"/>
              </a:endParaRPr>
            </a:p>
          </p:txBody>
        </p:sp>
        <p:sp>
          <p:nvSpPr>
            <p:cNvPr id="13" name="文本框 12"/>
            <p:cNvSpPr txBox="1"/>
            <p:nvPr/>
          </p:nvSpPr>
          <p:spPr>
            <a:xfrm>
              <a:off x="2199" y="5058"/>
              <a:ext cx="1800" cy="550"/>
            </a:xfrm>
            <a:prstGeom prst="rect">
              <a:avLst/>
            </a:prstGeom>
            <a:solidFill>
              <a:schemeClr val="bg1">
                <a:lumMod val="5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图纸解析</a:t>
              </a:r>
              <a:endParaRPr lang="zh-CN" altLang="en-US" sz="1400" b="1">
                <a:sym typeface="+mn-ea"/>
              </a:endParaRPr>
            </a:p>
          </p:txBody>
        </p:sp>
        <p:sp>
          <p:nvSpPr>
            <p:cNvPr id="14" name="文本框 13"/>
            <p:cNvSpPr txBox="1"/>
            <p:nvPr/>
          </p:nvSpPr>
          <p:spPr>
            <a:xfrm>
              <a:off x="2199" y="6226"/>
              <a:ext cx="1800" cy="550"/>
            </a:xfrm>
            <a:prstGeom prst="rect">
              <a:avLst/>
            </a:prstGeom>
            <a:solidFill>
              <a:schemeClr val="bg1">
                <a:lumMod val="5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材料</a:t>
              </a:r>
              <a:r>
                <a:rPr lang="zh-CN" altLang="en-US" sz="1400" b="1">
                  <a:sym typeface="+mn-ea"/>
                </a:rPr>
                <a:t>评估</a:t>
              </a:r>
              <a:endParaRPr lang="zh-CN" altLang="en-US" sz="1400" b="1">
                <a:sym typeface="+mn-ea"/>
              </a:endParaRPr>
            </a:p>
          </p:txBody>
        </p:sp>
        <p:sp>
          <p:nvSpPr>
            <p:cNvPr id="15" name="文本框 14"/>
            <p:cNvSpPr txBox="1"/>
            <p:nvPr/>
          </p:nvSpPr>
          <p:spPr>
            <a:xfrm>
              <a:off x="2199" y="7396"/>
              <a:ext cx="1800" cy="341"/>
            </a:xfrm>
            <a:prstGeom prst="rect">
              <a:avLst/>
            </a:prstGeom>
            <a:solidFill>
              <a:schemeClr val="bg1">
                <a:lumMod val="50000"/>
              </a:schemeClr>
            </a:solidFill>
          </p:spPr>
          <p:txBody>
            <a:bodyPr wrap="square" rtlCol="0" anchor="t">
              <a:noAutofit/>
            </a:bodyPr>
            <a:p>
              <a:pPr indent="0" algn="ctr" fontAlgn="auto">
                <a:lnSpc>
                  <a:spcPct val="120000"/>
                </a:lnSpc>
                <a:spcBef>
                  <a:spcPts val="0"/>
                </a:spcBef>
                <a:buFont typeface="Arial" panose="020B0604020202020204" pitchFamily="34" charset="0"/>
                <a:buNone/>
              </a:pPr>
              <a:r>
                <a:rPr lang="en-US" altLang="zh-CN" sz="1400" b="1">
                  <a:sym typeface="+mn-ea"/>
                </a:rPr>
                <a:t>BOM</a:t>
              </a:r>
              <a:r>
                <a:rPr lang="zh-CN" altLang="en-US" sz="1400" b="1">
                  <a:sym typeface="+mn-ea"/>
                </a:rPr>
                <a:t>编制</a:t>
              </a:r>
              <a:endParaRPr lang="zh-CN" altLang="en-US" sz="1400" b="1">
                <a:sym typeface="+mn-ea"/>
              </a:endParaRPr>
            </a:p>
          </p:txBody>
        </p:sp>
        <p:sp>
          <p:nvSpPr>
            <p:cNvPr id="16" name="文本框 15"/>
            <p:cNvSpPr txBox="1"/>
            <p:nvPr/>
          </p:nvSpPr>
          <p:spPr>
            <a:xfrm>
              <a:off x="2199" y="9430"/>
              <a:ext cx="1800" cy="5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发布</a:t>
              </a:r>
              <a:r>
                <a:rPr lang="zh-CN" altLang="en-US" sz="1400" b="1">
                  <a:sym typeface="+mn-ea"/>
                </a:rPr>
                <a:t>报告</a:t>
              </a:r>
              <a:endParaRPr lang="zh-CN" altLang="en-US" sz="1400" b="1">
                <a:sym typeface="+mn-ea"/>
              </a:endParaRPr>
            </a:p>
          </p:txBody>
        </p:sp>
        <p:sp>
          <p:nvSpPr>
            <p:cNvPr id="17" name="文本框 16"/>
            <p:cNvSpPr txBox="1"/>
            <p:nvPr/>
          </p:nvSpPr>
          <p:spPr>
            <a:xfrm>
              <a:off x="2321" y="6796"/>
              <a:ext cx="1678" cy="481"/>
            </a:xfrm>
            <a:prstGeom prst="rect">
              <a:avLst/>
            </a:prstGeom>
            <a:noFill/>
            <a:ln>
              <a:solidFill>
                <a:schemeClr val="bg1">
                  <a:lumMod val="75000"/>
                </a:schemeClr>
              </a:solidFill>
            </a:ln>
          </p:spPr>
          <p:txBody>
            <a:bodyPr wrap="square" rtlCol="0" anchor="t">
              <a:noAutofit/>
            </a:bodyPr>
            <a:p>
              <a:pPr indent="0" algn="ctr" fontAlgn="auto">
                <a:lnSpc>
                  <a:spcPct val="120000"/>
                </a:lnSpc>
                <a:spcBef>
                  <a:spcPts val="0"/>
                </a:spcBef>
                <a:buFont typeface="Arial" panose="020B0604020202020204" pitchFamily="34" charset="0"/>
                <a:buNone/>
              </a:pPr>
              <a:r>
                <a:rPr lang="en-US" altLang="zh-CN" sz="1600" b="1">
                  <a:sym typeface="+mn-ea"/>
                </a:rPr>
                <a:t>......</a:t>
              </a:r>
              <a:endParaRPr lang="en-US" altLang="zh-CN" sz="1600" b="1">
                <a:sym typeface="+mn-ea"/>
              </a:endParaRPr>
            </a:p>
          </p:txBody>
        </p:sp>
      </p:grpSp>
      <p:sp>
        <p:nvSpPr>
          <p:cNvPr id="19" name="文本框 18"/>
          <p:cNvSpPr txBox="1"/>
          <p:nvPr/>
        </p:nvSpPr>
        <p:spPr>
          <a:xfrm>
            <a:off x="1396365" y="1301750"/>
            <a:ext cx="1098550" cy="349250"/>
          </a:xfrm>
          <a:prstGeom prst="rect">
            <a:avLst/>
          </a:prstGeom>
          <a:solidFill>
            <a:schemeClr val="accent1">
              <a:lumMod val="60000"/>
              <a:lumOff val="4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流程状态</a:t>
            </a:r>
            <a:endParaRPr lang="zh-CN" altLang="en-US" sz="1400" b="1">
              <a:sym typeface="+mn-ea"/>
            </a:endParaRPr>
          </a:p>
        </p:txBody>
      </p:sp>
      <p:sp>
        <p:nvSpPr>
          <p:cNvPr id="26" name="文本框 25"/>
          <p:cNvSpPr txBox="1"/>
          <p:nvPr/>
        </p:nvSpPr>
        <p:spPr>
          <a:xfrm>
            <a:off x="3998595" y="1317625"/>
            <a:ext cx="1098550" cy="349250"/>
          </a:xfrm>
          <a:prstGeom prst="rect">
            <a:avLst/>
          </a:prstGeom>
          <a:solidFill>
            <a:schemeClr val="accent1">
              <a:lumMod val="60000"/>
              <a:lumOff val="4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接口</a:t>
            </a:r>
            <a:r>
              <a:rPr lang="zh-CN" altLang="en-US" sz="1400" b="1">
                <a:sym typeface="+mn-ea"/>
              </a:rPr>
              <a:t>人</a:t>
            </a:r>
            <a:endParaRPr lang="zh-CN" altLang="en-US" sz="1400" b="1">
              <a:sym typeface="+mn-ea"/>
            </a:endParaRPr>
          </a:p>
        </p:txBody>
      </p:sp>
      <p:sp>
        <p:nvSpPr>
          <p:cNvPr id="27" name="文本框 26"/>
          <p:cNvSpPr txBox="1"/>
          <p:nvPr/>
        </p:nvSpPr>
        <p:spPr>
          <a:xfrm>
            <a:off x="8160385" y="1317625"/>
            <a:ext cx="1098550" cy="349250"/>
          </a:xfrm>
          <a:prstGeom prst="rect">
            <a:avLst/>
          </a:prstGeom>
          <a:solidFill>
            <a:schemeClr val="accent1">
              <a:lumMod val="60000"/>
              <a:lumOff val="4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评估</a:t>
            </a:r>
            <a:r>
              <a:rPr lang="zh-CN" altLang="en-US" sz="1400" b="1">
                <a:sym typeface="+mn-ea"/>
              </a:rPr>
              <a:t>结论</a:t>
            </a:r>
            <a:endParaRPr lang="zh-CN" altLang="en-US" sz="1400" b="1">
              <a:sym typeface="+mn-ea"/>
            </a:endParaRPr>
          </a:p>
        </p:txBody>
      </p:sp>
      <p:sp>
        <p:nvSpPr>
          <p:cNvPr id="28" name="文本框 27"/>
          <p:cNvSpPr txBox="1"/>
          <p:nvPr/>
        </p:nvSpPr>
        <p:spPr>
          <a:xfrm>
            <a:off x="3998595" y="161290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王五</a:t>
            </a:r>
            <a:endParaRPr lang="zh-CN" altLang="en-US" sz="1400" b="1">
              <a:sym typeface="+mn-ea"/>
            </a:endParaRPr>
          </a:p>
        </p:txBody>
      </p:sp>
      <p:sp>
        <p:nvSpPr>
          <p:cNvPr id="29" name="文本框 28"/>
          <p:cNvSpPr txBox="1"/>
          <p:nvPr/>
        </p:nvSpPr>
        <p:spPr>
          <a:xfrm>
            <a:off x="7718425" y="1672590"/>
            <a:ext cx="2483485"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完成需求收集，提交</a:t>
            </a:r>
            <a:r>
              <a:rPr lang="zh-CN" altLang="en-US" sz="1400" b="1">
                <a:sym typeface="+mn-ea"/>
              </a:rPr>
              <a:t>成功</a:t>
            </a:r>
            <a:endParaRPr lang="zh-CN" altLang="en-US" sz="1400" b="1">
              <a:sym typeface="+mn-ea"/>
            </a:endParaRPr>
          </a:p>
        </p:txBody>
      </p:sp>
      <p:sp>
        <p:nvSpPr>
          <p:cNvPr id="31" name="文本框 30"/>
          <p:cNvSpPr txBox="1"/>
          <p:nvPr/>
        </p:nvSpPr>
        <p:spPr>
          <a:xfrm>
            <a:off x="7882255" y="1962150"/>
            <a:ext cx="2319655"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需求完整准确，</a:t>
            </a:r>
            <a:r>
              <a:rPr lang="zh-CN" altLang="en-US" sz="1400" b="1">
                <a:sym typeface="+mn-ea"/>
              </a:rPr>
              <a:t>已确认</a:t>
            </a:r>
            <a:endParaRPr lang="zh-CN" altLang="en-US" sz="1400" b="1">
              <a:sym typeface="+mn-ea"/>
            </a:endParaRPr>
          </a:p>
        </p:txBody>
      </p:sp>
      <p:sp>
        <p:nvSpPr>
          <p:cNvPr id="33" name="文本框 32"/>
          <p:cNvSpPr txBox="1"/>
          <p:nvPr/>
        </p:nvSpPr>
        <p:spPr>
          <a:xfrm>
            <a:off x="3998595" y="2105025"/>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刘正华</a:t>
            </a:r>
            <a:endParaRPr lang="zh-CN" altLang="en-US" sz="1400" b="1">
              <a:sym typeface="+mn-ea"/>
            </a:endParaRPr>
          </a:p>
        </p:txBody>
      </p:sp>
      <p:sp>
        <p:nvSpPr>
          <p:cNvPr id="36" name="文本框 35"/>
          <p:cNvSpPr txBox="1"/>
          <p:nvPr/>
        </p:nvSpPr>
        <p:spPr>
          <a:xfrm>
            <a:off x="3998595" y="263525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毛小</a:t>
            </a:r>
            <a:r>
              <a:rPr lang="zh-CN" altLang="en-US" sz="1400" b="1">
                <a:sym typeface="+mn-ea"/>
              </a:rPr>
              <a:t>勇</a:t>
            </a:r>
            <a:endParaRPr lang="zh-CN" altLang="en-US" sz="1400" b="1">
              <a:sym typeface="+mn-ea"/>
            </a:endParaRPr>
          </a:p>
        </p:txBody>
      </p:sp>
      <p:sp>
        <p:nvSpPr>
          <p:cNvPr id="37" name="文本框 36"/>
          <p:cNvSpPr txBox="1"/>
          <p:nvPr/>
        </p:nvSpPr>
        <p:spPr>
          <a:xfrm>
            <a:off x="3998595" y="3460115"/>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郑智国</a:t>
            </a:r>
            <a:endParaRPr lang="zh-CN" altLang="en-US" sz="1400" b="1">
              <a:sym typeface="+mn-ea"/>
            </a:endParaRPr>
          </a:p>
        </p:txBody>
      </p:sp>
      <p:sp>
        <p:nvSpPr>
          <p:cNvPr id="40" name="文本框 39"/>
          <p:cNvSpPr txBox="1"/>
          <p:nvPr/>
        </p:nvSpPr>
        <p:spPr>
          <a:xfrm>
            <a:off x="4002405" y="422783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包</a:t>
            </a:r>
            <a:r>
              <a:rPr lang="zh-CN" altLang="en-US" sz="1400" b="1">
                <a:sym typeface="+mn-ea"/>
              </a:rPr>
              <a:t>正中</a:t>
            </a:r>
            <a:endParaRPr lang="zh-CN" altLang="en-US" sz="1400" b="1">
              <a:sym typeface="+mn-ea"/>
            </a:endParaRPr>
          </a:p>
        </p:txBody>
      </p:sp>
      <p:sp>
        <p:nvSpPr>
          <p:cNvPr id="41" name="文本框 40"/>
          <p:cNvSpPr txBox="1"/>
          <p:nvPr/>
        </p:nvSpPr>
        <p:spPr>
          <a:xfrm>
            <a:off x="4002405" y="493141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赵军</a:t>
            </a:r>
            <a:endParaRPr lang="zh-CN" altLang="en-US" sz="1400" b="1">
              <a:sym typeface="+mn-ea"/>
            </a:endParaRPr>
          </a:p>
        </p:txBody>
      </p:sp>
      <p:sp>
        <p:nvSpPr>
          <p:cNvPr id="42" name="文本框 41"/>
          <p:cNvSpPr txBox="1"/>
          <p:nvPr/>
        </p:nvSpPr>
        <p:spPr>
          <a:xfrm>
            <a:off x="4002405" y="530733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柴华</a:t>
            </a:r>
            <a:endParaRPr lang="zh-CN" altLang="en-US" sz="1400" b="1">
              <a:sym typeface="+mn-ea"/>
            </a:endParaRPr>
          </a:p>
        </p:txBody>
      </p:sp>
      <p:sp>
        <p:nvSpPr>
          <p:cNvPr id="44" name="文本框 43"/>
          <p:cNvSpPr txBox="1"/>
          <p:nvPr/>
        </p:nvSpPr>
        <p:spPr>
          <a:xfrm>
            <a:off x="4002405" y="569341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龚兵</a:t>
            </a:r>
            <a:endParaRPr lang="zh-CN" altLang="en-US" sz="1400" b="1">
              <a:sym typeface="+mn-ea"/>
            </a:endParaRPr>
          </a:p>
        </p:txBody>
      </p:sp>
      <p:sp>
        <p:nvSpPr>
          <p:cNvPr id="45" name="文本框 44"/>
          <p:cNvSpPr txBox="1"/>
          <p:nvPr/>
        </p:nvSpPr>
        <p:spPr>
          <a:xfrm>
            <a:off x="4002405" y="6160135"/>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龚兵</a:t>
            </a:r>
            <a:endParaRPr lang="zh-CN" altLang="en-US" sz="1400" b="1">
              <a:sym typeface="+mn-ea"/>
            </a:endParaRPr>
          </a:p>
        </p:txBody>
      </p:sp>
      <p:sp>
        <p:nvSpPr>
          <p:cNvPr id="47" name="文本框 46"/>
          <p:cNvSpPr txBox="1"/>
          <p:nvPr/>
        </p:nvSpPr>
        <p:spPr>
          <a:xfrm>
            <a:off x="6028055" y="1317625"/>
            <a:ext cx="1098550" cy="349250"/>
          </a:xfrm>
          <a:prstGeom prst="rect">
            <a:avLst/>
          </a:prstGeom>
          <a:solidFill>
            <a:schemeClr val="accent1">
              <a:lumMod val="60000"/>
              <a:lumOff val="40000"/>
            </a:schemeClr>
          </a:solid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b="1">
                <a:sym typeface="+mn-ea"/>
              </a:rPr>
              <a:t>完成</a:t>
            </a:r>
            <a:r>
              <a:rPr lang="zh-CN" altLang="en-US" sz="1400" b="1">
                <a:sym typeface="+mn-ea"/>
              </a:rPr>
              <a:t>日期</a:t>
            </a:r>
            <a:endParaRPr lang="zh-CN" altLang="en-US" sz="1400" b="1">
              <a:sym typeface="+mn-ea"/>
            </a:endParaRPr>
          </a:p>
        </p:txBody>
      </p:sp>
      <p:sp>
        <p:nvSpPr>
          <p:cNvPr id="50" name="文本框 49"/>
          <p:cNvSpPr txBox="1"/>
          <p:nvPr/>
        </p:nvSpPr>
        <p:spPr>
          <a:xfrm>
            <a:off x="6041390" y="164846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en-US" altLang="zh-CN" sz="1400" b="1">
                <a:sym typeface="+mn-ea"/>
              </a:rPr>
              <a:t>2026-06-20</a:t>
            </a:r>
            <a:endParaRPr lang="en-US" altLang="zh-CN" sz="1400" b="1">
              <a:sym typeface="+mn-ea"/>
            </a:endParaRPr>
          </a:p>
        </p:txBody>
      </p:sp>
      <p:sp>
        <p:nvSpPr>
          <p:cNvPr id="51" name="文本框 50"/>
          <p:cNvSpPr txBox="1"/>
          <p:nvPr/>
        </p:nvSpPr>
        <p:spPr>
          <a:xfrm>
            <a:off x="6028055" y="1997710"/>
            <a:ext cx="109855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en-US" altLang="zh-CN" sz="1400" b="1">
                <a:sym typeface="+mn-ea"/>
              </a:rPr>
              <a:t>2026-06-22</a:t>
            </a:r>
            <a:endParaRPr lang="en-US" altLang="zh-CN" sz="1400" b="1">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87680" y="304483"/>
            <a:ext cx="10041890" cy="524510"/>
          </a:xfrm>
        </p:spPr>
        <p:txBody>
          <a:bodyPr wrap="square"/>
          <a:lstStyle/>
          <a:p>
            <a:r>
              <a:rPr lang="zh-CN" altLang="en-US" sz="2800" dirty="0">
                <a:cs typeface="微软雅黑" panose="020B0503020204020204" pitchFamily="34" charset="-122"/>
                <a:sym typeface="+mn-lt"/>
              </a:rPr>
              <a:t>查询页面：</a:t>
            </a:r>
            <a:r>
              <a:rPr lang="en-US" altLang="zh-CN" sz="2800">
                <a:cs typeface="微软雅黑" panose="020B0503020204020204" pitchFamily="34" charset="-122"/>
                <a:sym typeface="+mn-lt"/>
              </a:rPr>
              <a:t>ZK-</a:t>
            </a:r>
            <a:r>
              <a:rPr lang="zh-CN" altLang="en-US" sz="2800">
                <a:cs typeface="微软雅黑" panose="020B0503020204020204" pitchFamily="34" charset="-122"/>
                <a:sym typeface="+mn-lt"/>
              </a:rPr>
              <a:t>合同</a:t>
            </a:r>
            <a:r>
              <a:rPr lang="en-US" altLang="zh-CN" sz="2800">
                <a:cs typeface="微软雅黑" panose="020B0503020204020204" pitchFamily="34" charset="-122"/>
                <a:sym typeface="+mn-lt"/>
              </a:rPr>
              <a:t>/</a:t>
            </a:r>
            <a:r>
              <a:rPr lang="zh-CN" altLang="en-US" sz="2800">
                <a:cs typeface="微软雅黑" panose="020B0503020204020204" pitchFamily="34" charset="-122"/>
                <a:sym typeface="+mn-lt"/>
              </a:rPr>
              <a:t>订单</a:t>
            </a:r>
            <a:r>
              <a:rPr lang="en-US" altLang="zh-CN" sz="2800">
                <a:cs typeface="微软雅黑" panose="020B0503020204020204" pitchFamily="34" charset="-122"/>
                <a:sym typeface="+mn-lt"/>
              </a:rPr>
              <a:t>360</a:t>
            </a:r>
            <a:r>
              <a:rPr lang="zh-CN" altLang="en-US" sz="2800" dirty="0">
                <a:cs typeface="微软雅黑" panose="020B0503020204020204" pitchFamily="34" charset="-122"/>
                <a:sym typeface="+mn-lt"/>
              </a:rPr>
              <a:t>项目</a:t>
            </a:r>
            <a:r>
              <a:rPr lang="zh-CN" altLang="en-US" sz="2800">
                <a:cs typeface="微软雅黑" panose="020B0503020204020204" pitchFamily="34" charset="-122"/>
                <a:sym typeface="+mn-lt"/>
              </a:rPr>
              <a:t>具体</a:t>
            </a:r>
            <a:r>
              <a:rPr lang="zh-CN" altLang="en-US" sz="2800" dirty="0">
                <a:cs typeface="微软雅黑" panose="020B0503020204020204" pitchFamily="34" charset="-122"/>
                <a:sym typeface="+mn-lt"/>
              </a:rPr>
              <a:t>实施过程</a:t>
            </a:r>
            <a:r>
              <a:rPr lang="en-US" altLang="zh-CN" sz="2800" dirty="0">
                <a:cs typeface="微软雅黑" panose="020B0503020204020204" pitchFamily="34" charset="-122"/>
                <a:sym typeface="+mn-lt"/>
              </a:rPr>
              <a:t>-</a:t>
            </a:r>
            <a:r>
              <a:rPr lang="zh-CN" altLang="en-US" sz="2800" dirty="0">
                <a:cs typeface="微软雅黑" panose="020B0503020204020204" pitchFamily="34" charset="-122"/>
                <a:sym typeface="+mn-lt"/>
              </a:rPr>
              <a:t>参考</a:t>
            </a:r>
            <a:endParaRPr lang="zh-CN" altLang="en-US" sz="2800" dirty="0">
              <a:cs typeface="微软雅黑" panose="020B0503020204020204" pitchFamily="34" charset="-122"/>
              <a:sym typeface="+mn-lt"/>
            </a:endParaRPr>
          </a:p>
        </p:txBody>
      </p:sp>
      <p:pic>
        <p:nvPicPr>
          <p:cNvPr id="4" name="图片 3"/>
          <p:cNvPicPr>
            <a:picLocks noChangeAspect="1"/>
          </p:cNvPicPr>
          <p:nvPr/>
        </p:nvPicPr>
        <p:blipFill>
          <a:blip r:embed="rId2"/>
          <a:stretch>
            <a:fillRect/>
          </a:stretch>
        </p:blipFill>
        <p:spPr>
          <a:xfrm>
            <a:off x="5763895" y="1245235"/>
            <a:ext cx="5140325" cy="2548890"/>
          </a:xfrm>
          <a:prstGeom prst="rect">
            <a:avLst/>
          </a:prstGeom>
          <a:ln>
            <a:solidFill>
              <a:schemeClr val="bg1">
                <a:lumMod val="95000"/>
              </a:schemeClr>
            </a:solidFill>
          </a:ln>
        </p:spPr>
      </p:pic>
      <p:sp>
        <p:nvSpPr>
          <p:cNvPr id="6" name="矩形 5"/>
          <p:cNvSpPr/>
          <p:nvPr>
            <p:custDataLst>
              <p:tags r:id="rId3"/>
            </p:custDataLst>
          </p:nvPr>
        </p:nvSpPr>
        <p:spPr>
          <a:xfrm>
            <a:off x="8650605" y="970280"/>
            <a:ext cx="2235835" cy="274955"/>
          </a:xfrm>
          <a:prstGeom prst="rect">
            <a:avLst/>
          </a:prstGeom>
          <a:solidFill>
            <a:srgbClr val="F87D2F"/>
          </a:solid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预警</a:t>
            </a: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告警及任务令</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矩形 20"/>
          <p:cNvSpPr/>
          <p:nvPr>
            <p:custDataLst>
              <p:tags r:id="rId4"/>
            </p:custDataLst>
          </p:nvPr>
        </p:nvSpPr>
        <p:spPr>
          <a:xfrm>
            <a:off x="488950" y="970280"/>
            <a:ext cx="1610360" cy="274955"/>
          </a:xfrm>
          <a:prstGeom prst="rect">
            <a:avLst/>
          </a:prstGeom>
          <a:solidFill>
            <a:srgbClr val="F87D2F"/>
          </a:solid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sym typeface="+mn-ea"/>
              </a:rPr>
              <a:t>合同履行监控</a:t>
            </a: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p:txBody>
      </p:sp>
      <p:pic>
        <p:nvPicPr>
          <p:cNvPr id="12" name="图片 11"/>
          <p:cNvPicPr>
            <a:picLocks noChangeAspect="1"/>
          </p:cNvPicPr>
          <p:nvPr/>
        </p:nvPicPr>
        <p:blipFill>
          <a:blip r:embed="rId5"/>
          <a:stretch>
            <a:fillRect/>
          </a:stretch>
        </p:blipFill>
        <p:spPr>
          <a:xfrm>
            <a:off x="5763895" y="3919855"/>
            <a:ext cx="5140325" cy="2181860"/>
          </a:xfrm>
          <a:prstGeom prst="rect">
            <a:avLst/>
          </a:prstGeom>
          <a:ln>
            <a:solidFill>
              <a:schemeClr val="bg1">
                <a:lumMod val="95000"/>
              </a:schemeClr>
            </a:solidFill>
          </a:ln>
        </p:spPr>
      </p:pic>
      <p:pic>
        <p:nvPicPr>
          <p:cNvPr id="56" name="图片 55"/>
          <p:cNvPicPr>
            <a:picLocks noChangeAspect="1"/>
          </p:cNvPicPr>
          <p:nvPr>
            <p:custDataLst>
              <p:tags r:id="rId6"/>
            </p:custDataLst>
          </p:nvPr>
        </p:nvPicPr>
        <p:blipFill>
          <a:blip r:embed="rId7"/>
          <a:stretch>
            <a:fillRect/>
          </a:stretch>
        </p:blipFill>
        <p:spPr>
          <a:xfrm>
            <a:off x="474980" y="1272540"/>
            <a:ext cx="5159651" cy="4998595"/>
          </a:xfrm>
          <a:prstGeom prst="rect">
            <a:avLst/>
          </a:prstGeom>
          <a:ln>
            <a:solidFill>
              <a:schemeClr val="bg1">
                <a:lumMod val="95000"/>
              </a:schemeClr>
            </a:solidFill>
            <a:prstDash val="dash"/>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dirty="0">
                <a:cs typeface="微软雅黑" panose="020B0503020204020204" pitchFamily="34" charset="-122"/>
              </a:rPr>
              <a:t>主页面</a:t>
            </a:r>
            <a:r>
              <a:rPr lang="en-US" altLang="zh-CN" sz="2800" dirty="0">
                <a:cs typeface="微软雅黑" panose="020B0503020204020204" pitchFamily="34" charset="-122"/>
              </a:rPr>
              <a:t>-1-</a:t>
            </a:r>
            <a:r>
              <a:rPr lang="zh-CN" altLang="en-US" sz="2800" dirty="0">
                <a:cs typeface="微软雅黑" panose="020B0503020204020204" pitchFamily="34" charset="-122"/>
              </a:rPr>
              <a:t>参考</a:t>
            </a:r>
            <a:endParaRPr lang="zh-CN" altLang="en-US" sz="2800" dirty="0">
              <a:cs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429260" y="866140"/>
            <a:ext cx="5036185" cy="2938780"/>
          </a:xfrm>
          <a:prstGeom prst="rect">
            <a:avLst/>
          </a:prstGeom>
        </p:spPr>
      </p:pic>
      <p:sp>
        <p:nvSpPr>
          <p:cNvPr id="7" name="文本框 6"/>
          <p:cNvSpPr txBox="1"/>
          <p:nvPr/>
        </p:nvSpPr>
        <p:spPr>
          <a:xfrm>
            <a:off x="2535555" y="4305300"/>
            <a:ext cx="7120255" cy="119761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900" b="1">
                <a:latin typeface="微软雅黑" panose="020B0503020204020204" pitchFamily="34" charset="-122"/>
                <a:ea typeface="微软雅黑" panose="020B0503020204020204" pitchFamily="34" charset="-122"/>
                <a:cs typeface="微软雅黑" panose="020B0503020204020204" pitchFamily="34" charset="-122"/>
                <a:sym typeface="+mn-ea"/>
              </a:rPr>
              <a:t>新工艺解析：请将文件拖拽到此上传，或点击</a:t>
            </a:r>
            <a:r>
              <a:rPr lang="zh-CN" altLang="en-US" sz="900" b="1">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上传</a:t>
            </a:r>
            <a:endParaRPr lang="zh-CN" altLang="en-US" sz="900" b="1">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ctr" fontAlgn="auto">
              <a:lnSpc>
                <a:spcPct val="120000"/>
              </a:lnSpc>
              <a:spcBef>
                <a:spcPts val="0"/>
              </a:spcBef>
              <a:buFont typeface="Arial" panose="020B0604020202020204" pitchFamily="34" charset="0"/>
              <a:buNone/>
            </a:pPr>
            <a:r>
              <a:rPr lang="en-US" altLang="zh-CN" sz="900" b="1">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你也可以一次性将多个文件拖拽上传</a:t>
            </a:r>
            <a:endPar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ctr" fontAlgn="auto">
              <a:lnSpc>
                <a:spcPct val="120000"/>
              </a:lnSpc>
              <a:spcBef>
                <a:spcPts val="0"/>
              </a:spcBef>
              <a:buFont typeface="Arial" panose="020B0604020202020204" pitchFamily="34" charset="0"/>
              <a:buNone/>
            </a:pPr>
            <a:r>
              <a:rPr lang="en-US" altLang="zh-CN"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单次工艺解析不支持压缩文件格式</a:t>
            </a:r>
            <a:endPar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ctr" fontAlgn="auto">
              <a:lnSpc>
                <a:spcPct val="120000"/>
              </a:lnSpc>
              <a:spcBef>
                <a:spcPts val="0"/>
              </a:spcBef>
              <a:buFont typeface="Arial" panose="020B0604020202020204" pitchFamily="34" charset="0"/>
              <a:buNone/>
            </a:pP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支持的</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3D</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文件格式为：</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STEP,STP</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SLDPRT</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STL</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SAT</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3DXML,PRT,ITP,CATPART</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X_T</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PTC</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X_B</a:t>
            </a:r>
            <a:endPar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ctr" fontAlgn="auto">
              <a:lnSpc>
                <a:spcPct val="120000"/>
              </a:lnSpc>
              <a:spcBef>
                <a:spcPts val="0"/>
              </a:spcBef>
              <a:buFont typeface="Arial" panose="020B0604020202020204" pitchFamily="34" charset="0"/>
              <a:buNone/>
            </a:pP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支持的</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2D</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文件格式为：</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DWS</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DWF</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DWG</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DXF</a:t>
            </a: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PDF files</a:t>
            </a:r>
            <a:endPar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000250" lvl="4" indent="-171450" algn="ctr" fontAlgn="auto">
              <a:lnSpc>
                <a:spcPct val="120000"/>
              </a:lnSpc>
              <a:spcBef>
                <a:spcPts val="0"/>
              </a:spcBef>
              <a:buFont typeface="Wingdings" panose="05000000000000000000" charset="0"/>
              <a:buChar char="p"/>
            </a:pPr>
            <a:r>
              <a:rPr lang="zh-CN" altLang="en-US"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所有上传内容都是安全和合规的</a:t>
            </a:r>
            <a:endPar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ctr" fontAlgn="auto">
              <a:lnSpc>
                <a:spcPct val="120000"/>
              </a:lnSpc>
              <a:spcBef>
                <a:spcPts val="0"/>
              </a:spcBef>
              <a:buFont typeface="Arial" panose="020B0604020202020204" pitchFamily="34" charset="0"/>
              <a:buNone/>
            </a:pPr>
            <a:r>
              <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3"/>
          <a:stretch>
            <a:fillRect/>
          </a:stretch>
        </p:blipFill>
        <p:spPr>
          <a:xfrm>
            <a:off x="5546090" y="866775"/>
            <a:ext cx="5632450" cy="30200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2-</a:t>
            </a:r>
            <a:r>
              <a:rPr lang="zh-CN" altLang="en-US" sz="2800">
                <a:cs typeface="微软雅黑" panose="020B0503020204020204" pitchFamily="34" charset="-122"/>
                <a:sym typeface="+mn-ea"/>
              </a:rPr>
              <a:t>创建需求（</a:t>
            </a:r>
            <a:r>
              <a:rPr lang="zh-CN" altLang="en-US" sz="2800">
                <a:cs typeface="微软雅黑" panose="020B0503020204020204" pitchFamily="34" charset="-122"/>
                <a:sym typeface="+mn-ea"/>
              </a:rPr>
              <a:t>对应流程步骤</a:t>
            </a:r>
            <a:r>
              <a:rPr lang="en-US" altLang="zh-CN" sz="2800">
                <a:cs typeface="微软雅黑" panose="020B0503020204020204" pitchFamily="34" charset="-122"/>
                <a:sym typeface="+mn-ea"/>
              </a:rPr>
              <a:t>1</a:t>
            </a:r>
            <a:r>
              <a:rPr lang="zh-CN" altLang="en-US" sz="2800">
                <a:cs typeface="微软雅黑" panose="020B0503020204020204" pitchFamily="34" charset="-122"/>
                <a:sym typeface="+mn-ea"/>
              </a:rPr>
              <a:t>）</a:t>
            </a:r>
            <a:endParaRPr lang="zh-CN" altLang="en-US" sz="280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429260" y="871855"/>
            <a:ext cx="11020425" cy="5601970"/>
          </a:xfrm>
          <a:prstGeom prst="rect">
            <a:avLst/>
          </a:prstGeom>
        </p:spPr>
      </p:pic>
      <p:sp>
        <p:nvSpPr>
          <p:cNvPr id="4" name="文本框 3"/>
          <p:cNvSpPr txBox="1"/>
          <p:nvPr/>
        </p:nvSpPr>
        <p:spPr>
          <a:xfrm>
            <a:off x="4023995" y="1638300"/>
            <a:ext cx="1125855" cy="349250"/>
          </a:xfrm>
          <a:prstGeom prst="rect">
            <a:avLst/>
          </a:prstGeom>
          <a:noFill/>
        </p:spPr>
        <p:txBody>
          <a:bodyPr wrap="square" rtlCol="0" anchor="t">
            <a:spAutoFit/>
          </a:bodyPr>
          <a:p>
            <a:pPr indent="0" fontAlgn="auto">
              <a:lnSpc>
                <a:spcPct val="120000"/>
              </a:lnSpc>
              <a:spcBef>
                <a:spcPts val="0"/>
              </a:spcBef>
              <a:buFont typeface="Arial" panose="020B0604020202020204" pitchFamily="34" charset="0"/>
              <a:buNone/>
            </a:pPr>
            <a:r>
              <a:rPr lang="en-US" altLang="zh-CN" sz="1400">
                <a:sym typeface="+mn-ea"/>
              </a:rPr>
              <a:t>1.1 </a:t>
            </a:r>
            <a:r>
              <a:rPr lang="zh-CN" altLang="en-US" sz="1400">
                <a:sym typeface="+mn-ea"/>
              </a:rPr>
              <a:t>创建</a:t>
            </a:r>
            <a:endParaRPr lang="zh-CN" altLang="en-US" sz="1400">
              <a:sym typeface="+mn-ea"/>
            </a:endParaRPr>
          </a:p>
        </p:txBody>
      </p:sp>
      <p:sp>
        <p:nvSpPr>
          <p:cNvPr id="5" name="文本框 4"/>
          <p:cNvSpPr txBox="1"/>
          <p:nvPr/>
        </p:nvSpPr>
        <p:spPr>
          <a:xfrm>
            <a:off x="5533390" y="1638300"/>
            <a:ext cx="1125855" cy="349250"/>
          </a:xfrm>
          <a:prstGeom prst="rect">
            <a:avLst/>
          </a:prstGeom>
          <a:noFill/>
        </p:spPr>
        <p:txBody>
          <a:bodyPr wrap="square" rtlCol="0" anchor="t">
            <a:spAutoFit/>
          </a:bodyPr>
          <a:p>
            <a:pPr indent="0" fontAlgn="auto">
              <a:lnSpc>
                <a:spcPct val="120000"/>
              </a:lnSpc>
              <a:spcBef>
                <a:spcPts val="0"/>
              </a:spcBef>
              <a:buFont typeface="Arial" panose="020B0604020202020204" pitchFamily="34" charset="0"/>
              <a:buNone/>
            </a:pPr>
            <a:r>
              <a:rPr lang="en-US" altLang="zh-CN" sz="1400">
                <a:sym typeface="+mn-ea"/>
              </a:rPr>
              <a:t>1.2 </a:t>
            </a:r>
            <a:r>
              <a:rPr lang="zh-CN" altLang="en-US" sz="1400">
                <a:sym typeface="+mn-ea"/>
              </a:rPr>
              <a:t>确认</a:t>
            </a:r>
            <a:endParaRPr lang="zh-CN" altLang="en-US" sz="1400">
              <a:sym typeface="+mn-ea"/>
            </a:endParaRPr>
          </a:p>
        </p:txBody>
      </p:sp>
      <p:sp>
        <p:nvSpPr>
          <p:cNvPr id="6" name="文本框 5"/>
          <p:cNvSpPr txBox="1"/>
          <p:nvPr/>
        </p:nvSpPr>
        <p:spPr>
          <a:xfrm>
            <a:off x="7106285" y="1638300"/>
            <a:ext cx="1125855" cy="349250"/>
          </a:xfrm>
          <a:prstGeom prst="rect">
            <a:avLst/>
          </a:prstGeom>
          <a:noFill/>
        </p:spPr>
        <p:txBody>
          <a:bodyPr wrap="square" rtlCol="0" anchor="t">
            <a:spAutoFit/>
          </a:bodyPr>
          <a:p>
            <a:pPr indent="0" fontAlgn="auto">
              <a:lnSpc>
                <a:spcPct val="120000"/>
              </a:lnSpc>
              <a:spcBef>
                <a:spcPts val="0"/>
              </a:spcBef>
              <a:buFont typeface="Arial" panose="020B0604020202020204" pitchFamily="34" charset="0"/>
              <a:buNone/>
            </a:pPr>
            <a:r>
              <a:rPr lang="en-US" altLang="zh-CN" sz="1400">
                <a:sym typeface="+mn-ea"/>
              </a:rPr>
              <a:t>1.3 </a:t>
            </a:r>
            <a:r>
              <a:rPr lang="zh-CN" altLang="en-US" sz="1400">
                <a:sym typeface="+mn-ea"/>
              </a:rPr>
              <a:t>审核</a:t>
            </a:r>
            <a:endParaRPr lang="zh-CN" altLang="en-US" sz="14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2-</a:t>
            </a:r>
            <a:r>
              <a:rPr lang="zh-CN" altLang="en-US" sz="2800">
                <a:cs typeface="微软雅黑" panose="020B0503020204020204" pitchFamily="34" charset="-122"/>
                <a:sym typeface="+mn-ea"/>
              </a:rPr>
              <a:t>创建需求（对应流程步骤</a:t>
            </a:r>
            <a:r>
              <a:rPr lang="en-US" altLang="zh-CN" sz="2800">
                <a:cs typeface="微软雅黑" panose="020B0503020204020204" pitchFamily="34" charset="-122"/>
                <a:sym typeface="+mn-ea"/>
              </a:rPr>
              <a:t>1</a:t>
            </a:r>
            <a:r>
              <a:rPr lang="zh-CN" altLang="en-US" sz="2800">
                <a:cs typeface="微软雅黑" panose="020B0503020204020204" pitchFamily="34" charset="-122"/>
                <a:sym typeface="+mn-ea"/>
              </a:rPr>
              <a:t>）</a:t>
            </a:r>
            <a:r>
              <a:rPr lang="en-US" altLang="zh-CN" sz="2800">
                <a:cs typeface="微软雅黑" panose="020B0503020204020204" pitchFamily="34" charset="-122"/>
                <a:sym typeface="+mn-ea"/>
              </a:rPr>
              <a:t>-</a:t>
            </a:r>
            <a:r>
              <a:rPr lang="zh-CN" altLang="en-US" sz="2800">
                <a:cs typeface="微软雅黑" panose="020B0503020204020204" pitchFamily="34" charset="-122"/>
                <a:sym typeface="+mn-ea"/>
              </a:rPr>
              <a:t>续</a:t>
            </a:r>
            <a:endParaRPr lang="zh-CN" altLang="en-US" sz="2800">
              <a:cs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535305" y="928370"/>
            <a:ext cx="10958830" cy="54876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3-</a:t>
            </a:r>
            <a:r>
              <a:rPr lang="zh-CN" altLang="en-US" sz="2800">
                <a:cs typeface="微软雅黑" panose="020B0503020204020204" pitchFamily="34" charset="-122"/>
                <a:sym typeface="+mn-ea"/>
              </a:rPr>
              <a:t>确认需求</a:t>
            </a:r>
            <a:r>
              <a:rPr lang="zh-CN" altLang="en-US" sz="2800">
                <a:cs typeface="微软雅黑" panose="020B0503020204020204" pitchFamily="34" charset="-122"/>
                <a:sym typeface="+mn-ea"/>
              </a:rPr>
              <a:t>（对应流程步骤</a:t>
            </a:r>
            <a:r>
              <a:rPr lang="en-US" altLang="zh-CN" sz="2800">
                <a:cs typeface="微软雅黑" panose="020B0503020204020204" pitchFamily="34" charset="-122"/>
                <a:sym typeface="+mn-ea"/>
              </a:rPr>
              <a:t>2</a:t>
            </a:r>
            <a:r>
              <a:rPr lang="zh-CN" altLang="en-US" sz="2800">
                <a:cs typeface="微软雅黑" panose="020B0503020204020204" pitchFamily="34" charset="-122"/>
                <a:sym typeface="+mn-ea"/>
              </a:rPr>
              <a:t>）</a:t>
            </a:r>
            <a:endParaRPr lang="zh-CN" altLang="en-US" sz="280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2366645" y="991870"/>
            <a:ext cx="6273800" cy="666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4-</a:t>
            </a:r>
            <a:r>
              <a:rPr lang="zh-CN" altLang="en-US" sz="2800">
                <a:cs typeface="微软雅黑" panose="020B0503020204020204" pitchFamily="34" charset="-122"/>
                <a:sym typeface="+mn-ea"/>
              </a:rPr>
              <a:t>审核需求</a:t>
            </a:r>
            <a:r>
              <a:rPr lang="zh-CN" altLang="en-US" sz="2800">
                <a:cs typeface="微软雅黑" panose="020B0503020204020204" pitchFamily="34" charset="-122"/>
                <a:sym typeface="+mn-ea"/>
              </a:rPr>
              <a:t>（对应流程步骤</a:t>
            </a:r>
            <a:r>
              <a:rPr lang="en-US" altLang="zh-CN" sz="2800">
                <a:cs typeface="微软雅黑" panose="020B0503020204020204" pitchFamily="34" charset="-122"/>
                <a:sym typeface="+mn-ea"/>
              </a:rPr>
              <a:t>3</a:t>
            </a:r>
            <a:r>
              <a:rPr lang="zh-CN" altLang="en-US" sz="2800">
                <a:cs typeface="微软雅黑" panose="020B0503020204020204" pitchFamily="34" charset="-122"/>
                <a:sym typeface="+mn-ea"/>
              </a:rPr>
              <a:t>）</a:t>
            </a:r>
            <a:endParaRPr lang="zh-CN" altLang="en-US" sz="280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2540635" y="968375"/>
            <a:ext cx="6273800" cy="66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91465"/>
            <a:ext cx="10612120" cy="462915"/>
          </a:xfrm>
        </p:spPr>
        <p:txBody>
          <a:bodyPr wrap="square"/>
          <a:lstStyle/>
          <a:p>
            <a:r>
              <a:rPr lang="zh-CN" altLang="en-US" sz="2400" dirty="0">
                <a:cs typeface="微软雅黑" panose="020B0503020204020204" pitchFamily="34" charset="-122"/>
              </a:rPr>
              <a:t>页面</a:t>
            </a:r>
            <a:r>
              <a:rPr lang="en-US" altLang="zh-CN" sz="2400" dirty="0">
                <a:cs typeface="微软雅黑" panose="020B0503020204020204" pitchFamily="34" charset="-122"/>
              </a:rPr>
              <a:t>5</a:t>
            </a:r>
            <a:r>
              <a:rPr lang="en-US" altLang="zh-CN" sz="2400" dirty="0">
                <a:cs typeface="微软雅黑" panose="020B0503020204020204" pitchFamily="34" charset="-122"/>
              </a:rPr>
              <a:t>-</a:t>
            </a:r>
            <a:r>
              <a:rPr lang="zh-CN" altLang="en-US" sz="2400" dirty="0">
                <a:cs typeface="微软雅黑" panose="020B0503020204020204" pitchFamily="34" charset="-122"/>
              </a:rPr>
              <a:t>图纸解析与设计工艺转化</a:t>
            </a:r>
            <a:r>
              <a:rPr lang="zh-CN" altLang="en-US" sz="2400">
                <a:cs typeface="微软雅黑" panose="020B0503020204020204" pitchFamily="34" charset="-122"/>
                <a:sym typeface="+mn-ea"/>
              </a:rPr>
              <a:t>（对应流程步骤</a:t>
            </a:r>
            <a:r>
              <a:rPr lang="en-US" altLang="zh-CN" sz="2400">
                <a:cs typeface="微软雅黑" panose="020B0503020204020204" pitchFamily="34" charset="-122"/>
                <a:sym typeface="+mn-ea"/>
              </a:rPr>
              <a:t>4</a:t>
            </a:r>
            <a:r>
              <a:rPr lang="zh-CN" altLang="en-US" sz="2400">
                <a:cs typeface="微软雅黑" panose="020B0503020204020204" pitchFamily="34" charset="-122"/>
                <a:sym typeface="+mn-ea"/>
              </a:rPr>
              <a:t>）</a:t>
            </a:r>
            <a:endParaRPr lang="zh-CN" altLang="en-US" sz="2400" dirty="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428625" y="848995"/>
            <a:ext cx="11374120" cy="5708650"/>
          </a:xfrm>
          <a:prstGeom prst="rect">
            <a:avLst/>
          </a:prstGeom>
        </p:spPr>
      </p:pic>
      <p:sp>
        <p:nvSpPr>
          <p:cNvPr id="5" name="文本框 4"/>
          <p:cNvSpPr txBox="1"/>
          <p:nvPr/>
        </p:nvSpPr>
        <p:spPr>
          <a:xfrm>
            <a:off x="6925945" y="4933950"/>
            <a:ext cx="1540510" cy="23876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800">
                <a:solidFill>
                  <a:srgbClr val="FF0000"/>
                </a:solidFill>
                <a:sym typeface="+mn-ea"/>
              </a:rPr>
              <a:t>颜色</a:t>
            </a:r>
            <a:r>
              <a:rPr lang="zh-CN" altLang="en-US" sz="800">
                <a:solidFill>
                  <a:srgbClr val="FF0000"/>
                </a:solidFill>
                <a:sym typeface="+mn-ea"/>
              </a:rPr>
              <a:t>变灰</a:t>
            </a:r>
            <a:endParaRPr lang="zh-CN" altLang="en-US" sz="800">
              <a:solidFill>
                <a:srgbClr val="FF0000"/>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91465"/>
            <a:ext cx="10612120" cy="462915"/>
          </a:xfrm>
        </p:spPr>
        <p:txBody>
          <a:bodyPr wrap="square"/>
          <a:lstStyle/>
          <a:p>
            <a:r>
              <a:rPr lang="zh-CN" altLang="en-US" sz="2400" dirty="0">
                <a:cs typeface="微软雅黑" panose="020B0503020204020204" pitchFamily="34" charset="-122"/>
              </a:rPr>
              <a:t>页面</a:t>
            </a:r>
            <a:r>
              <a:rPr lang="en-US" altLang="zh-CN" sz="2400" dirty="0">
                <a:cs typeface="微软雅黑" panose="020B0503020204020204" pitchFamily="34" charset="-122"/>
              </a:rPr>
              <a:t>5</a:t>
            </a:r>
            <a:r>
              <a:rPr lang="en-US" altLang="zh-CN" sz="2400" dirty="0">
                <a:cs typeface="微软雅黑" panose="020B0503020204020204" pitchFamily="34" charset="-122"/>
              </a:rPr>
              <a:t>-</a:t>
            </a:r>
            <a:r>
              <a:rPr lang="zh-CN" altLang="en-US" sz="2400" dirty="0">
                <a:cs typeface="微软雅黑" panose="020B0503020204020204" pitchFamily="34" charset="-122"/>
              </a:rPr>
              <a:t>图纸解析与设计工艺转化</a:t>
            </a:r>
            <a:r>
              <a:rPr lang="zh-CN" altLang="en-US" sz="2400">
                <a:cs typeface="微软雅黑" panose="020B0503020204020204" pitchFamily="34" charset="-122"/>
                <a:sym typeface="+mn-ea"/>
              </a:rPr>
              <a:t>（对应流程步骤</a:t>
            </a:r>
            <a:r>
              <a:rPr lang="en-US" altLang="zh-CN" sz="2400">
                <a:cs typeface="微软雅黑" panose="020B0503020204020204" pitchFamily="34" charset="-122"/>
                <a:sym typeface="+mn-ea"/>
              </a:rPr>
              <a:t>4</a:t>
            </a:r>
            <a:r>
              <a:rPr lang="zh-CN" altLang="en-US" sz="2400">
                <a:cs typeface="微软雅黑" panose="020B0503020204020204" pitchFamily="34" charset="-122"/>
                <a:sym typeface="+mn-ea"/>
              </a:rPr>
              <a:t>）</a:t>
            </a:r>
            <a:endParaRPr lang="zh-CN" altLang="en-US" sz="2400" dirty="0">
              <a:cs typeface="微软雅黑" panose="020B0503020204020204" pitchFamily="34" charset="-122"/>
              <a:sym typeface="+mn-ea"/>
            </a:endParaRPr>
          </a:p>
        </p:txBody>
      </p:sp>
      <p:graphicFrame>
        <p:nvGraphicFramePr>
          <p:cNvPr id="4" name="对象 3">
            <a:hlinkClick r:id="" action="ppaction://ole?verb="/>
          </p:cNvPr>
          <p:cNvGraphicFramePr>
            <a:graphicFrameLocks noChangeAspect="1"/>
          </p:cNvGraphicFramePr>
          <p:nvPr/>
        </p:nvGraphicFramePr>
        <p:xfrm>
          <a:off x="4095750" y="1442085"/>
          <a:ext cx="2486025" cy="2463165"/>
        </p:xfrm>
        <a:graphic>
          <a:graphicData uri="http://schemas.openxmlformats.org/presentationml/2006/ole">
            <mc:AlternateContent xmlns:mc="http://schemas.openxmlformats.org/markup-compatibility/2006">
              <mc:Choice xmlns:v="urn:schemas-microsoft-com:vml" Requires="v">
                <p:oleObj spid="_x0000_s1025" name="" showAsIcon="1" r:id="rId2" imgW="971550" imgH="952500" progId="Excel.Sheet.12">
                  <p:embed/>
                </p:oleObj>
              </mc:Choice>
              <mc:Fallback>
                <p:oleObj name="" showAsIcon="1" r:id="rId2" imgW="971550" imgH="952500" progId="Excel.Sheet.12">
                  <p:embed/>
                  <p:pic>
                    <p:nvPicPr>
                      <p:cNvPr id="0" name="图片 1024"/>
                      <p:cNvPicPr/>
                      <p:nvPr/>
                    </p:nvPicPr>
                    <p:blipFill>
                      <a:blip r:embed="rId3"/>
                      <a:stretch>
                        <a:fillRect/>
                      </a:stretch>
                    </p:blipFill>
                    <p:spPr>
                      <a:xfrm>
                        <a:off x="4095750" y="1442085"/>
                        <a:ext cx="2486025" cy="246316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6-</a:t>
            </a:r>
            <a:r>
              <a:rPr lang="zh-CN" altLang="en-US" sz="2800">
                <a:cs typeface="微软雅黑" panose="020B0503020204020204" pitchFamily="34" charset="-122"/>
                <a:sym typeface="+mn-ea"/>
              </a:rPr>
              <a:t>汇总</a:t>
            </a:r>
            <a:r>
              <a:rPr lang="zh-CN" altLang="en-US" sz="2800">
                <a:cs typeface="微软雅黑" panose="020B0503020204020204" pitchFamily="34" charset="-122"/>
                <a:sym typeface="+mn-ea"/>
              </a:rPr>
              <a:t>报告（对应流程步骤</a:t>
            </a:r>
            <a:r>
              <a:rPr lang="en-US" altLang="zh-CN" sz="2800">
                <a:cs typeface="微软雅黑" panose="020B0503020204020204" pitchFamily="34" charset="-122"/>
                <a:sym typeface="+mn-ea"/>
              </a:rPr>
              <a:t>10</a:t>
            </a:r>
            <a:r>
              <a:rPr lang="zh-CN" altLang="en-US" sz="2800">
                <a:cs typeface="微软雅黑" panose="020B0503020204020204" pitchFamily="34" charset="-122"/>
                <a:sym typeface="+mn-ea"/>
              </a:rPr>
              <a:t>）</a:t>
            </a:r>
            <a:endParaRPr lang="zh-CN" altLang="en-US" sz="280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2378710" y="968375"/>
            <a:ext cx="6493510" cy="666750"/>
          </a:xfrm>
          <a:prstGeom prst="rect">
            <a:avLst/>
          </a:prstGeom>
        </p:spPr>
      </p:pic>
      <p:sp>
        <p:nvSpPr>
          <p:cNvPr id="4" name="文本框 3"/>
          <p:cNvSpPr txBox="1"/>
          <p:nvPr/>
        </p:nvSpPr>
        <p:spPr>
          <a:xfrm>
            <a:off x="1858645" y="2265045"/>
            <a:ext cx="8089900" cy="534035"/>
          </a:xfrm>
          <a:prstGeom prst="rect">
            <a:avLst/>
          </a:prstGeom>
          <a:noFill/>
        </p:spPr>
        <p:txBody>
          <a:bodyPr wrap="square" rtlCol="0" anchor="t">
            <a:spAutoFit/>
          </a:bodyPr>
          <a:p>
            <a:pPr indent="0" fontAlgn="auto">
              <a:lnSpc>
                <a:spcPct val="120000"/>
              </a:lnSpc>
              <a:spcBef>
                <a:spcPts val="0"/>
              </a:spcBef>
              <a:buFont typeface="Arial" panose="020B0604020202020204" pitchFamily="34" charset="0"/>
              <a:buNone/>
            </a:pPr>
            <a:r>
              <a:rPr lang="zh-CN" altLang="en-US" sz="2400">
                <a:sym typeface="+mn-ea"/>
              </a:rPr>
              <a:t>具体内容见业务架构中的表单</a:t>
            </a:r>
            <a:endParaRPr lang="zh-CN" altLang="en-US" sz="240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a:cs typeface="微软雅黑" panose="020B0503020204020204" pitchFamily="34" charset="-122"/>
                <a:sym typeface="+mn-ea"/>
              </a:rPr>
              <a:t>页面</a:t>
            </a:r>
            <a:r>
              <a:rPr lang="en-US" sz="2800">
                <a:cs typeface="微软雅黑" panose="020B0503020204020204" pitchFamily="34" charset="-122"/>
                <a:sym typeface="+mn-ea"/>
              </a:rPr>
              <a:t>7</a:t>
            </a:r>
            <a:r>
              <a:rPr lang="en-US" sz="2800">
                <a:cs typeface="微软雅黑" panose="020B0503020204020204" pitchFamily="34" charset="-122"/>
                <a:sym typeface="+mn-ea"/>
              </a:rPr>
              <a:t>-</a:t>
            </a:r>
            <a:r>
              <a:rPr lang="zh-CN" altLang="en-US" sz="2800">
                <a:cs typeface="微软雅黑" panose="020B0503020204020204" pitchFamily="34" charset="-122"/>
                <a:sym typeface="+mn-ea"/>
              </a:rPr>
              <a:t>汇总</a:t>
            </a:r>
            <a:r>
              <a:rPr lang="zh-CN" altLang="en-US" sz="2800">
                <a:cs typeface="微软雅黑" panose="020B0503020204020204" pitchFamily="34" charset="-122"/>
                <a:sym typeface="+mn-ea"/>
              </a:rPr>
              <a:t>报告（对应流程步骤</a:t>
            </a:r>
            <a:r>
              <a:rPr lang="en-US" altLang="zh-CN" sz="2800">
                <a:cs typeface="微软雅黑" panose="020B0503020204020204" pitchFamily="34" charset="-122"/>
                <a:sym typeface="+mn-ea"/>
              </a:rPr>
              <a:t>11&amp;12</a:t>
            </a:r>
            <a:r>
              <a:rPr lang="zh-CN" altLang="en-US" sz="2800">
                <a:cs typeface="微软雅黑" panose="020B0503020204020204" pitchFamily="34" charset="-122"/>
                <a:sym typeface="+mn-ea"/>
              </a:rPr>
              <a:t>）</a:t>
            </a:r>
            <a:endParaRPr lang="zh-CN" altLang="en-US" sz="2800">
              <a:cs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2540635" y="968375"/>
            <a:ext cx="6273800" cy="666750"/>
          </a:xfrm>
          <a:prstGeom prst="rect">
            <a:avLst/>
          </a:prstGeom>
        </p:spPr>
      </p:pic>
      <p:sp>
        <p:nvSpPr>
          <p:cNvPr id="4" name="文本框 3"/>
          <p:cNvSpPr txBox="1"/>
          <p:nvPr/>
        </p:nvSpPr>
        <p:spPr>
          <a:xfrm>
            <a:off x="1858645" y="2265045"/>
            <a:ext cx="8089900" cy="534035"/>
          </a:xfrm>
          <a:prstGeom prst="rect">
            <a:avLst/>
          </a:prstGeom>
          <a:noFill/>
        </p:spPr>
        <p:txBody>
          <a:bodyPr wrap="square" rtlCol="0" anchor="t">
            <a:spAutoFit/>
          </a:bodyPr>
          <a:p>
            <a:pPr indent="0" fontAlgn="auto">
              <a:lnSpc>
                <a:spcPct val="120000"/>
              </a:lnSpc>
              <a:spcBef>
                <a:spcPts val="0"/>
              </a:spcBef>
              <a:buFont typeface="Arial" panose="020B0604020202020204" pitchFamily="34" charset="0"/>
              <a:buNone/>
            </a:pPr>
            <a:r>
              <a:rPr lang="zh-CN" altLang="en-US" sz="2400">
                <a:sym typeface="+mn-ea"/>
              </a:rPr>
              <a:t>具体内容见业务架构中的表单</a:t>
            </a:r>
            <a:endParaRPr lang="zh-CN" altLang="en-US" sz="240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4190" y="328931"/>
            <a:ext cx="9265285" cy="586105"/>
          </a:xfrm>
        </p:spPr>
        <p:txBody>
          <a:bodyPr wrap="square"/>
          <a:lstStyle/>
          <a:p>
            <a:r>
              <a:rPr lang="zh-CN" altLang="en-US"/>
              <a:t>目录</a:t>
            </a:r>
            <a:endParaRPr lang="zh-CN" altLang="en-US"/>
          </a:p>
        </p:txBody>
      </p:sp>
      <p:sp>
        <p:nvSpPr>
          <p:cNvPr id="5" name="圆角矩形 5"/>
          <p:cNvSpPr/>
          <p:nvPr/>
        </p:nvSpPr>
        <p:spPr>
          <a:xfrm>
            <a:off x="2318772" y="2114991"/>
            <a:ext cx="701421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详细方案</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9" name="圆角矩形 9"/>
          <p:cNvSpPr/>
          <p:nvPr/>
        </p:nvSpPr>
        <p:spPr>
          <a:xfrm>
            <a:off x="1542167" y="211499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a:solidFill>
                  <a:schemeClr val="tx1"/>
                </a:solidFill>
                <a:latin typeface="微软雅黑" panose="020B0503020204020204" pitchFamily="34" charset="-122"/>
                <a:ea typeface="微软雅黑" panose="020B0503020204020204" pitchFamily="34" charset="-122"/>
                <a:sym typeface="+mn-ea"/>
              </a:rPr>
              <a:t>2</a:t>
            </a:r>
            <a:endParaRPr lang="en-US" altLang="zh-CN" sz="2400">
              <a:solidFill>
                <a:schemeClr val="tx1"/>
              </a:solidFill>
              <a:latin typeface="微软雅黑" panose="020B0503020204020204" pitchFamily="34" charset="-122"/>
              <a:ea typeface="微软雅黑" panose="020B0503020204020204" pitchFamily="34" charset="-122"/>
              <a:sym typeface="+mn-ea"/>
            </a:endParaRPr>
          </a:p>
        </p:txBody>
      </p:sp>
      <p:sp>
        <p:nvSpPr>
          <p:cNvPr id="10" name="圆角矩形 2"/>
          <p:cNvSpPr/>
          <p:nvPr/>
        </p:nvSpPr>
        <p:spPr>
          <a:xfrm>
            <a:off x="2323852" y="4096191"/>
            <a:ext cx="7014210" cy="510540"/>
          </a:xfrm>
          <a:prstGeom prst="roundRect">
            <a:avLst>
              <a:gd name="adj" fmla="val 899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indent="357505" algn="l">
              <a:buClrTx/>
              <a:buSzTx/>
              <a:buFontTx/>
            </a:pP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rPr>
              <a:t>原型图</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1" name="圆角矩形 4"/>
          <p:cNvSpPr/>
          <p:nvPr/>
        </p:nvSpPr>
        <p:spPr>
          <a:xfrm>
            <a:off x="1547247" y="409619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chemeClr val="bg1">
                    <a:lumMod val="50000"/>
                  </a:schemeClr>
                </a:solidFill>
                <a:latin typeface="微软雅黑" panose="020B0503020204020204" pitchFamily="34" charset="-122"/>
                <a:ea typeface="微软雅黑" panose="020B0503020204020204" pitchFamily="34" charset="-122"/>
              </a:rPr>
              <a:t>3</a:t>
            </a:r>
            <a:endParaRPr lang="en-US" altLang="zh-CN" sz="2400" b="1">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圆角矩形 7"/>
          <p:cNvSpPr/>
          <p:nvPr/>
        </p:nvSpPr>
        <p:spPr>
          <a:xfrm>
            <a:off x="2716282" y="2716336"/>
            <a:ext cx="661670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业务设计详细方案</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14" name="圆角矩形 8"/>
          <p:cNvSpPr/>
          <p:nvPr/>
        </p:nvSpPr>
        <p:spPr>
          <a:xfrm>
            <a:off x="1939677" y="2716336"/>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solidFill>
                  <a:schemeClr val="tx1"/>
                </a:solidFill>
                <a:latin typeface="微软雅黑" panose="020B0503020204020204" pitchFamily="34" charset="-122"/>
                <a:ea typeface="微软雅黑" panose="020B0503020204020204" pitchFamily="34" charset="-122"/>
                <a:sym typeface="+mn-ea"/>
              </a:rPr>
              <a:t>2.1</a:t>
            </a:r>
            <a:endParaRPr lang="en-US" altLang="zh-CN" sz="2000">
              <a:solidFill>
                <a:schemeClr val="tx1"/>
              </a:solidFill>
              <a:latin typeface="微软雅黑" panose="020B0503020204020204" pitchFamily="34" charset="-122"/>
              <a:ea typeface="微软雅黑" panose="020B0503020204020204" pitchFamily="34" charset="-122"/>
              <a:sym typeface="+mn-ea"/>
            </a:endParaRPr>
          </a:p>
        </p:txBody>
      </p:sp>
      <p:sp>
        <p:nvSpPr>
          <p:cNvPr id="15" name="圆角矩形 14"/>
          <p:cNvSpPr/>
          <p:nvPr/>
        </p:nvSpPr>
        <p:spPr>
          <a:xfrm>
            <a:off x="2716282" y="3349431"/>
            <a:ext cx="6616700" cy="510540"/>
          </a:xfrm>
          <a:prstGeom prst="roundRect">
            <a:avLst>
              <a:gd name="adj" fmla="val 899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rPr>
              <a:t>产品设计详细方案</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6" name="圆角矩形 15"/>
          <p:cNvSpPr/>
          <p:nvPr/>
        </p:nvSpPr>
        <p:spPr>
          <a:xfrm>
            <a:off x="1939677" y="334943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solidFill>
                  <a:schemeClr val="bg1">
                    <a:lumMod val="50000"/>
                  </a:schemeClr>
                </a:solidFill>
                <a:latin typeface="微软雅黑" panose="020B0503020204020204" pitchFamily="34" charset="-122"/>
                <a:ea typeface="微软雅黑" panose="020B0503020204020204" pitchFamily="34" charset="-122"/>
                <a:sym typeface="+mn-ea"/>
              </a:rPr>
              <a:t>2.2</a:t>
            </a:r>
            <a:endParaRPr lang="en-US" altLang="zh-CN" sz="20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17" name="圆角矩形 5"/>
          <p:cNvSpPr/>
          <p:nvPr/>
        </p:nvSpPr>
        <p:spPr>
          <a:xfrm>
            <a:off x="2318772" y="1347323"/>
            <a:ext cx="7014210"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b="1" dirty="0">
                <a:solidFill>
                  <a:schemeClr val="bg1"/>
                </a:solidFill>
                <a:latin typeface="微软雅黑" panose="020B0503020204020204" pitchFamily="34" charset="-122"/>
                <a:ea typeface="微软雅黑" panose="020B0503020204020204" pitchFamily="34" charset="-122"/>
                <a:sym typeface="+mn-ea"/>
              </a:rPr>
              <a:t>架构设计</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18" name="圆角矩形 9"/>
          <p:cNvSpPr/>
          <p:nvPr/>
        </p:nvSpPr>
        <p:spPr>
          <a:xfrm>
            <a:off x="1542167" y="1347323"/>
            <a:ext cx="607695"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dirty="0">
                <a:latin typeface="微软雅黑" panose="020B0503020204020204" pitchFamily="34" charset="-122"/>
                <a:ea typeface="微软雅黑" panose="020B0503020204020204" pitchFamily="34" charset="-122"/>
                <a:sym typeface="+mn-ea"/>
              </a:rPr>
              <a:t>1</a:t>
            </a:r>
            <a:endParaRPr lang="en-US" altLang="zh-CN" sz="240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760794" y="1421130"/>
            <a:ext cx="10340340" cy="1851025"/>
          </a:xfrm>
          <a:prstGeom prst="roundRect">
            <a:avLst>
              <a:gd name="adj" fmla="val 521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 name="椭圆 4"/>
          <p:cNvSpPr/>
          <p:nvPr/>
        </p:nvSpPr>
        <p:spPr>
          <a:xfrm>
            <a:off x="2734268" y="1551805"/>
            <a:ext cx="6273209" cy="4146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客户</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2459436" y="2253402"/>
            <a:ext cx="6943056" cy="414020"/>
          </a:xfrm>
          <a:prstGeom prst="rect">
            <a:avLst/>
          </a:prstGeom>
        </p:spPr>
        <p:txBody>
          <a:bodyPr wrap="square">
            <a:spAutoFit/>
          </a:bodyPr>
          <a:lstStyle/>
          <a:p>
            <a:pPr marL="0" marR="0" lvl="0" indent="0" algn="l" defTabSz="1218565"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总结标杆成功的销售经验，引入领先的解决方案销售方法，提升面向客户的销售能力</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8" name="上箭头 7"/>
          <p:cNvSpPr/>
          <p:nvPr/>
        </p:nvSpPr>
        <p:spPr>
          <a:xfrm>
            <a:off x="3200397" y="2019530"/>
            <a:ext cx="340242" cy="275555"/>
          </a:xfrm>
          <a:prstGeom prst="up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 name="上箭头 8"/>
          <p:cNvSpPr/>
          <p:nvPr/>
        </p:nvSpPr>
        <p:spPr>
          <a:xfrm>
            <a:off x="8254407" y="1987634"/>
            <a:ext cx="340242" cy="275555"/>
          </a:xfrm>
          <a:prstGeom prst="up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上箭头 9"/>
          <p:cNvSpPr/>
          <p:nvPr/>
        </p:nvSpPr>
        <p:spPr>
          <a:xfrm>
            <a:off x="4885067" y="2036032"/>
            <a:ext cx="340242" cy="275555"/>
          </a:xfrm>
          <a:prstGeom prst="up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上箭头 10"/>
          <p:cNvSpPr/>
          <p:nvPr/>
        </p:nvSpPr>
        <p:spPr>
          <a:xfrm>
            <a:off x="6569737" y="2013925"/>
            <a:ext cx="340242" cy="275555"/>
          </a:xfrm>
          <a:prstGeom prst="up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五边形 11"/>
          <p:cNvSpPr/>
          <p:nvPr/>
        </p:nvSpPr>
        <p:spPr>
          <a:xfrm>
            <a:off x="1535597" y="2655570"/>
            <a:ext cx="2149855" cy="1913890"/>
          </a:xfrm>
          <a:prstGeom prst="homePlate">
            <a:avLst>
              <a:gd name="adj" fmla="val 1217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燕尾形 12"/>
          <p:cNvSpPr/>
          <p:nvPr/>
        </p:nvSpPr>
        <p:spPr>
          <a:xfrm>
            <a:off x="3544080" y="2668270"/>
            <a:ext cx="3405781" cy="1913890"/>
          </a:xfrm>
          <a:prstGeom prst="chevron">
            <a:avLst>
              <a:gd name="adj" fmla="val 1257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燕尾形 13"/>
          <p:cNvSpPr/>
          <p:nvPr/>
        </p:nvSpPr>
        <p:spPr>
          <a:xfrm>
            <a:off x="6808489" y="2655570"/>
            <a:ext cx="4119782" cy="1913890"/>
          </a:xfrm>
          <a:prstGeom prst="chevron">
            <a:avLst>
              <a:gd name="adj" fmla="val 12205"/>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5" name="燕尾形 14"/>
          <p:cNvSpPr/>
          <p:nvPr/>
        </p:nvSpPr>
        <p:spPr>
          <a:xfrm>
            <a:off x="1535597" y="4689475"/>
            <a:ext cx="9393388" cy="297180"/>
          </a:xfrm>
          <a:prstGeom prst="chevron">
            <a:avLst>
              <a:gd name="adj" fmla="val 1257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bg1">
                    <a:lumMod val="75000"/>
                  </a:schemeClr>
                </a:solidFill>
                <a:effectLst/>
                <a:uLnTx/>
                <a:uFillTx/>
                <a:latin typeface="微软雅黑" panose="020B0503020204020204" pitchFamily="34" charset="-122"/>
                <a:ea typeface="微软雅黑" panose="020B0503020204020204" pitchFamily="34" charset="-122"/>
                <a:cs typeface="+mn-ea"/>
                <a:sym typeface="+mn-lt"/>
              </a:rPr>
              <a:t>管理客户解决方案（</a:t>
            </a:r>
            <a:r>
              <a:rPr kumimoji="1" lang="en-US" altLang="zh-CN" sz="1200" b="0" i="0" u="none" strike="noStrike" kern="1200" cap="none" spc="0" normalizeH="0" baseline="0" noProof="0" dirty="0">
                <a:ln>
                  <a:noFill/>
                </a:ln>
                <a:solidFill>
                  <a:schemeClr val="bg1">
                    <a:lumMod val="75000"/>
                  </a:schemeClr>
                </a:solidFill>
                <a:effectLst/>
                <a:uLnTx/>
                <a:uFillTx/>
                <a:latin typeface="微软雅黑" panose="020B0503020204020204" pitchFamily="34" charset="-122"/>
                <a:ea typeface="微软雅黑" panose="020B0503020204020204" pitchFamily="34" charset="-122"/>
                <a:cs typeface="+mn-ea"/>
                <a:sym typeface="+mn-lt"/>
              </a:rPr>
              <a:t>MCS)</a:t>
            </a:r>
            <a:r>
              <a:rPr kumimoji="1" lang="zh-CN" altLang="en-US" sz="1200" b="0" i="0" u="none" strike="noStrike" kern="1200" cap="none" spc="0" normalizeH="0" baseline="0" noProof="0" dirty="0">
                <a:ln>
                  <a:noFill/>
                </a:ln>
                <a:solidFill>
                  <a:schemeClr val="bg1">
                    <a:lumMod val="75000"/>
                  </a:schemeClr>
                </a:solidFill>
                <a:effectLst/>
                <a:uLnTx/>
                <a:uFillTx/>
                <a:latin typeface="微软雅黑" panose="020B0503020204020204" pitchFamily="34" charset="-122"/>
                <a:ea typeface="微软雅黑" panose="020B0503020204020204" pitchFamily="34" charset="-122"/>
                <a:cs typeface="+mn-ea"/>
                <a:sym typeface="+mn-lt"/>
              </a:rPr>
              <a:t>－后续建设</a:t>
            </a:r>
            <a:endParaRPr kumimoji="1" lang="zh-CN" altLang="en-US" sz="1200" b="0" i="0" u="none" strike="noStrike" kern="1200" cap="none" spc="0" normalizeH="0" baseline="0" noProof="0" dirty="0">
              <a:ln>
                <a:noFill/>
              </a:ln>
              <a:solidFill>
                <a:schemeClr val="bg1">
                  <a:lumMod val="7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6" name="燕尾形 15"/>
          <p:cNvSpPr/>
          <p:nvPr/>
        </p:nvSpPr>
        <p:spPr>
          <a:xfrm>
            <a:off x="1535597" y="5048866"/>
            <a:ext cx="9393388" cy="297180"/>
          </a:xfrm>
          <a:prstGeom prst="chevron">
            <a:avLst>
              <a:gd name="adj" fmla="val 12574"/>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管理销售项目</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燕尾形 16"/>
          <p:cNvSpPr/>
          <p:nvPr/>
        </p:nvSpPr>
        <p:spPr>
          <a:xfrm>
            <a:off x="1535597" y="5414716"/>
            <a:ext cx="9393388" cy="297180"/>
          </a:xfrm>
          <a:prstGeom prst="chevron">
            <a:avLst>
              <a:gd name="adj" fmla="val 12574"/>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a:t>
            </a:r>
            <a:r>
              <a:rPr kumimoji="1" lang="zh-CN" altLang="en-US" sz="1200" b="1" dirty="0">
                <a:solidFill>
                  <a:srgbClr val="000000"/>
                </a:solidFill>
                <a:latin typeface="微软雅黑" panose="020B0503020204020204" pitchFamily="34" charset="-122"/>
                <a:ea typeface="微软雅黑" panose="020B0503020204020204" pitchFamily="34" charset="-122"/>
                <a:cs typeface="+mn-ea"/>
                <a:sym typeface="+mn-lt"/>
              </a:rPr>
              <a:t>客户关系</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8" name="圆角矩形 17"/>
          <p:cNvSpPr/>
          <p:nvPr/>
        </p:nvSpPr>
        <p:spPr>
          <a:xfrm>
            <a:off x="1535597" y="5784684"/>
            <a:ext cx="9393388" cy="39814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1097915" y="2653665"/>
            <a:ext cx="505512" cy="1249045"/>
          </a:xfrm>
          <a:prstGeom prst="rect">
            <a:avLst/>
          </a:prstGeom>
        </p:spPr>
        <p:txBody>
          <a:bodyPr vert="vert270" wrap="square">
            <a:spAutoFit/>
          </a:bodyPr>
          <a:lstStyle/>
          <a:p>
            <a:pPr marL="0" marR="0" lvl="0" indent="0" algn="l" defTabSz="1218565"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LTC</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主业务流</a:t>
            </a:r>
            <a:endParaRPr kumimoji="0"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6" name="燕尾形 25"/>
          <p:cNvSpPr/>
          <p:nvPr/>
        </p:nvSpPr>
        <p:spPr>
          <a:xfrm>
            <a:off x="1724807" y="3119755"/>
            <a:ext cx="648312" cy="1401445"/>
          </a:xfrm>
          <a:prstGeom prst="chevron">
            <a:avLst>
              <a:gd name="adj" fmla="val 3304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收集和生成线索</a:t>
            </a:r>
            <a:endParaRPr kumimoji="1"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7" name="燕尾形 26"/>
          <p:cNvSpPr/>
          <p:nvPr/>
        </p:nvSpPr>
        <p:spPr>
          <a:xfrm>
            <a:off x="2233889" y="3119755"/>
            <a:ext cx="648312" cy="1401445"/>
          </a:xfrm>
          <a:prstGeom prst="chevron">
            <a:avLst>
              <a:gd name="adj" fmla="val 3304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验证和分发线索</a:t>
            </a:r>
            <a:endParaRPr kumimoji="1"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 name="燕尾形 27"/>
          <p:cNvSpPr/>
          <p:nvPr/>
        </p:nvSpPr>
        <p:spPr>
          <a:xfrm>
            <a:off x="2742258" y="3119755"/>
            <a:ext cx="648312" cy="1401445"/>
          </a:xfrm>
          <a:prstGeom prst="chevron">
            <a:avLst>
              <a:gd name="adj" fmla="val 3304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跟踪和培育线索</a:t>
            </a:r>
            <a:endPar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9" name="矩形 28"/>
          <p:cNvSpPr/>
          <p:nvPr/>
        </p:nvSpPr>
        <p:spPr>
          <a:xfrm>
            <a:off x="1807631" y="2762885"/>
            <a:ext cx="1309477" cy="3067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管理线索</a:t>
            </a: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(ML)</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1" name="矩形 30"/>
          <p:cNvSpPr/>
          <p:nvPr/>
        </p:nvSpPr>
        <p:spPr>
          <a:xfrm>
            <a:off x="2187479" y="5908509"/>
            <a:ext cx="748272" cy="213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立项决策</a:t>
            </a:r>
            <a:endPar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3" name="矩形 32"/>
          <p:cNvSpPr/>
          <p:nvPr/>
        </p:nvSpPr>
        <p:spPr>
          <a:xfrm>
            <a:off x="4170972" y="5900254"/>
            <a:ext cx="748272" cy="213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投标决策</a:t>
            </a:r>
            <a:endPar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98" name="组 97"/>
          <p:cNvGrpSpPr/>
          <p:nvPr/>
        </p:nvGrpSpPr>
        <p:grpSpPr>
          <a:xfrm>
            <a:off x="3684738" y="5885649"/>
            <a:ext cx="509796" cy="260985"/>
            <a:chOff x="3376224" y="6109454"/>
            <a:chExt cx="453234" cy="260726"/>
          </a:xfrm>
        </p:grpSpPr>
        <p:sp>
          <p:nvSpPr>
            <p:cNvPr id="37" name="菱形 36"/>
            <p:cNvSpPr/>
            <p:nvPr/>
          </p:nvSpPr>
          <p:spPr>
            <a:xfrm>
              <a:off x="3376224" y="6109454"/>
              <a:ext cx="453234" cy="260726"/>
            </a:xfrm>
            <a:prstGeom prst="diamond">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6" name="矩形 35"/>
            <p:cNvSpPr/>
            <p:nvPr/>
          </p:nvSpPr>
          <p:spPr>
            <a:xfrm>
              <a:off x="3421634" y="6128702"/>
              <a:ext cx="385042" cy="21399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ATB</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99" name="组 98"/>
          <p:cNvGrpSpPr/>
          <p:nvPr/>
        </p:nvGrpSpPr>
        <p:grpSpPr>
          <a:xfrm>
            <a:off x="1726949" y="5885649"/>
            <a:ext cx="509796" cy="260985"/>
            <a:chOff x="2087976" y="6109454"/>
            <a:chExt cx="453234" cy="260726"/>
          </a:xfrm>
        </p:grpSpPr>
        <p:sp>
          <p:nvSpPr>
            <p:cNvPr id="40" name="菱形 39"/>
            <p:cNvSpPr/>
            <p:nvPr/>
          </p:nvSpPr>
          <p:spPr>
            <a:xfrm>
              <a:off x="2087976" y="6109454"/>
              <a:ext cx="453234" cy="260726"/>
            </a:xfrm>
            <a:prstGeom prst="diamond">
              <a:avLst/>
            </a:prstGeom>
            <a:solidFill>
              <a:srgbClr val="F87D2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矩形 40"/>
            <p:cNvSpPr/>
            <p:nvPr/>
          </p:nvSpPr>
          <p:spPr>
            <a:xfrm>
              <a:off x="2145518" y="6132095"/>
              <a:ext cx="344966" cy="21399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ATI</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42" name="矩形 41"/>
          <p:cNvSpPr/>
          <p:nvPr/>
        </p:nvSpPr>
        <p:spPr>
          <a:xfrm>
            <a:off x="6043081" y="5876759"/>
            <a:ext cx="660450"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合同签约决策</a:t>
            </a:r>
            <a:endPar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97" name="组 96"/>
          <p:cNvGrpSpPr/>
          <p:nvPr/>
        </p:nvGrpSpPr>
        <p:grpSpPr>
          <a:xfrm>
            <a:off x="5641813" y="5885649"/>
            <a:ext cx="509796" cy="260985"/>
            <a:chOff x="4923635" y="6109454"/>
            <a:chExt cx="453234" cy="260726"/>
          </a:xfrm>
        </p:grpSpPr>
        <p:sp>
          <p:nvSpPr>
            <p:cNvPr id="44" name="菱形 43"/>
            <p:cNvSpPr/>
            <p:nvPr/>
          </p:nvSpPr>
          <p:spPr>
            <a:xfrm>
              <a:off x="4923635" y="6109454"/>
              <a:ext cx="453234" cy="260726"/>
            </a:xfrm>
            <a:prstGeom prst="diamond">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矩形 44"/>
            <p:cNvSpPr/>
            <p:nvPr/>
          </p:nvSpPr>
          <p:spPr>
            <a:xfrm>
              <a:off x="4975575" y="6130793"/>
              <a:ext cx="394660" cy="21399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ATC</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96" name="组 95"/>
          <p:cNvGrpSpPr/>
          <p:nvPr/>
        </p:nvGrpSpPr>
        <p:grpSpPr>
          <a:xfrm>
            <a:off x="7599602" y="5878029"/>
            <a:ext cx="521220" cy="260985"/>
            <a:chOff x="6456745" y="6101951"/>
            <a:chExt cx="463588" cy="260726"/>
          </a:xfrm>
        </p:grpSpPr>
        <p:sp>
          <p:nvSpPr>
            <p:cNvPr id="47" name="菱形 46"/>
            <p:cNvSpPr/>
            <p:nvPr/>
          </p:nvSpPr>
          <p:spPr>
            <a:xfrm>
              <a:off x="6456745" y="6101951"/>
              <a:ext cx="453234" cy="260726"/>
            </a:xfrm>
            <a:prstGeom prst="diamond">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47"/>
            <p:cNvSpPr/>
            <p:nvPr/>
          </p:nvSpPr>
          <p:spPr>
            <a:xfrm>
              <a:off x="6456745" y="6134509"/>
              <a:ext cx="463588" cy="21399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ATCC</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95" name="组 94"/>
          <p:cNvGrpSpPr/>
          <p:nvPr/>
        </p:nvGrpSpPr>
        <p:grpSpPr>
          <a:xfrm>
            <a:off x="9568100" y="5870409"/>
            <a:ext cx="530502" cy="260985"/>
            <a:chOff x="9061701" y="6094448"/>
            <a:chExt cx="471604" cy="260726"/>
          </a:xfrm>
        </p:grpSpPr>
        <p:sp>
          <p:nvSpPr>
            <p:cNvPr id="50" name="菱形 49"/>
            <p:cNvSpPr/>
            <p:nvPr/>
          </p:nvSpPr>
          <p:spPr>
            <a:xfrm>
              <a:off x="9061701" y="6094448"/>
              <a:ext cx="453234" cy="260726"/>
            </a:xfrm>
            <a:prstGeom prst="diamond">
              <a:avLst/>
            </a:prstGeom>
            <a:solidFill>
              <a:schemeClr val="bg1">
                <a:lumMod val="7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50"/>
            <p:cNvSpPr/>
            <p:nvPr/>
          </p:nvSpPr>
          <p:spPr>
            <a:xfrm>
              <a:off x="9061701" y="6119901"/>
              <a:ext cx="471604" cy="21399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ATAC</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53" name="矩形 52"/>
          <p:cNvSpPr/>
          <p:nvPr/>
        </p:nvSpPr>
        <p:spPr>
          <a:xfrm>
            <a:off x="4408020" y="2762885"/>
            <a:ext cx="1652197" cy="3067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管理机会点</a:t>
            </a: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(MO)</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5" name="燕尾形 54"/>
          <p:cNvSpPr/>
          <p:nvPr/>
        </p:nvSpPr>
        <p:spPr>
          <a:xfrm>
            <a:off x="3828252" y="3118485"/>
            <a:ext cx="816102" cy="1386205"/>
          </a:xfrm>
          <a:prstGeom prst="chevron">
            <a:avLst>
              <a:gd name="adj" fmla="val 16318"/>
            </a:avLst>
          </a:prstGeom>
          <a:solidFill>
            <a:schemeClr val="accent4">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验证机会点</a:t>
            </a:r>
            <a:endPar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lvl="0" algn="ctr">
              <a:spcBef>
                <a:spcPts val="0"/>
              </a:spcBef>
              <a:spcAft>
                <a:spcPts val="0"/>
              </a:spcAft>
              <a:buClrTx/>
              <a:buSzTx/>
              <a:buFontTx/>
              <a:defRPr/>
            </a:pPr>
            <a:r>
              <a:rPr kumimoji="1" lang="zh-CN" altLang="en-US" sz="9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（技术</a:t>
            </a:r>
            <a:r>
              <a:rPr kumimoji="1" lang="zh-CN" altLang="en-US" sz="9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需求与</a:t>
            </a:r>
            <a:r>
              <a:rPr kumimoji="1" lang="zh-CN" altLang="en-US" sz="9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验证）</a:t>
            </a:r>
            <a:endParaRPr kumimoji="1" lang="zh-CN" altLang="en-US" sz="9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9" name="燕尾形 58"/>
          <p:cNvSpPr/>
          <p:nvPr/>
        </p:nvSpPr>
        <p:spPr>
          <a:xfrm>
            <a:off x="4511550" y="3118485"/>
            <a:ext cx="816102" cy="1386205"/>
          </a:xfrm>
          <a:prstGeom prst="chevron">
            <a:avLst>
              <a:gd name="adj" fmla="val 163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标前引导</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0" name="燕尾形 59"/>
          <p:cNvSpPr/>
          <p:nvPr/>
        </p:nvSpPr>
        <p:spPr>
          <a:xfrm>
            <a:off x="5195563" y="3118485"/>
            <a:ext cx="816102" cy="1386205"/>
          </a:xfrm>
          <a:prstGeom prst="chevron">
            <a:avLst>
              <a:gd name="adj" fmla="val 163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制定并提交标书</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1" name="燕尾形 60"/>
          <p:cNvSpPr/>
          <p:nvPr/>
        </p:nvSpPr>
        <p:spPr>
          <a:xfrm>
            <a:off x="5879575" y="3118485"/>
            <a:ext cx="816102" cy="1386205"/>
          </a:xfrm>
          <a:prstGeom prst="chevron">
            <a:avLst>
              <a:gd name="adj" fmla="val 163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谈判和生成合同</a:t>
            </a:r>
            <a:r>
              <a:rPr kumimoji="1" lang="en-US" altLang="zh-CN"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/PO</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2" name="矩形 61"/>
          <p:cNvSpPr/>
          <p:nvPr/>
        </p:nvSpPr>
        <p:spPr>
          <a:xfrm>
            <a:off x="8112968" y="2762885"/>
            <a:ext cx="1819273" cy="3067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管理合同执行</a:t>
            </a: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(MCE)</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3" name="燕尾形 62"/>
          <p:cNvSpPr/>
          <p:nvPr/>
        </p:nvSpPr>
        <p:spPr>
          <a:xfrm>
            <a:off x="7031971" y="3119755"/>
            <a:ext cx="736134" cy="1401445"/>
          </a:xfrm>
          <a:prstGeom prst="chevron">
            <a:avLst>
              <a:gd name="adj" fmla="val 163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管理合同</a:t>
            </a:r>
            <a:r>
              <a:rPr kumimoji="1" lang="en-US" altLang="zh-CN"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/PO</a:t>
            </a: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接收和确认</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4" name="燕尾形 63"/>
          <p:cNvSpPr/>
          <p:nvPr/>
        </p:nvSpPr>
        <p:spPr>
          <a:xfrm>
            <a:off x="8233634" y="3121660"/>
            <a:ext cx="1567231" cy="228600"/>
          </a:xfrm>
          <a:prstGeom prst="chevron">
            <a:avLst>
              <a:gd name="adj" fmla="val 1257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监控合同履行状态</a:t>
            </a:r>
            <a:endPar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5" name="燕尾形 64"/>
          <p:cNvSpPr/>
          <p:nvPr/>
        </p:nvSpPr>
        <p:spPr>
          <a:xfrm>
            <a:off x="10227123" y="3119755"/>
            <a:ext cx="519078" cy="1401445"/>
          </a:xfrm>
          <a:prstGeom prst="chevron">
            <a:avLst>
              <a:gd name="adj" fmla="val 163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关闭和评价合同</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6" name="燕尾形 65"/>
          <p:cNvSpPr/>
          <p:nvPr/>
        </p:nvSpPr>
        <p:spPr>
          <a:xfrm>
            <a:off x="8238632" y="3505835"/>
            <a:ext cx="1567231" cy="228600"/>
          </a:xfrm>
          <a:prstGeom prst="chevron">
            <a:avLst>
              <a:gd name="adj" fmla="val 1257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管理开票和回款</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7" name="燕尾形 66"/>
          <p:cNvSpPr/>
          <p:nvPr/>
        </p:nvSpPr>
        <p:spPr>
          <a:xfrm>
            <a:off x="8238632" y="3890010"/>
            <a:ext cx="1567231" cy="228600"/>
          </a:xfrm>
          <a:prstGeom prst="chevron">
            <a:avLst>
              <a:gd name="adj" fmla="val 1257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管理合同</a:t>
            </a:r>
            <a:r>
              <a:rPr kumimoji="1" lang="en-US" altLang="zh-CN"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/PO</a:t>
            </a: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变更</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8" name="燕尾形 67"/>
          <p:cNvSpPr/>
          <p:nvPr/>
        </p:nvSpPr>
        <p:spPr>
          <a:xfrm>
            <a:off x="8233634" y="4274185"/>
            <a:ext cx="1567231" cy="228600"/>
          </a:xfrm>
          <a:prstGeom prst="chevron">
            <a:avLst>
              <a:gd name="adj" fmla="val 1257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管理风险和争议</a:t>
            </a:r>
            <a:endParaRPr kumimoji="1"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70" name="肘形连接符 69"/>
          <p:cNvCxnSpPr>
            <a:stCxn id="63" idx="3"/>
          </p:cNvCxnSpPr>
          <p:nvPr/>
        </p:nvCxnSpPr>
        <p:spPr>
          <a:xfrm>
            <a:off x="7768106" y="3820795"/>
            <a:ext cx="345576" cy="15875"/>
          </a:xfrm>
          <a:prstGeom prst="bentConnector3">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肘形连接符 71"/>
          <p:cNvCxnSpPr>
            <a:stCxn id="63" idx="3"/>
            <a:endCxn id="66" idx="1"/>
          </p:cNvCxnSpPr>
          <p:nvPr/>
        </p:nvCxnSpPr>
        <p:spPr>
          <a:xfrm flipV="1">
            <a:off x="7768106" y="3620135"/>
            <a:ext cx="503370" cy="200660"/>
          </a:xfrm>
          <a:prstGeom prst="bentConnector3">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肘形连接符 72"/>
          <p:cNvCxnSpPr>
            <a:stCxn id="63" idx="3"/>
            <a:endCxn id="67" idx="1"/>
          </p:cNvCxnSpPr>
          <p:nvPr/>
        </p:nvCxnSpPr>
        <p:spPr>
          <a:xfrm>
            <a:off x="7768106" y="3820795"/>
            <a:ext cx="502656" cy="183515"/>
          </a:xfrm>
          <a:prstGeom prst="bentConnector3">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肘形连接符 75"/>
          <p:cNvCxnSpPr>
            <a:stCxn id="63" idx="3"/>
            <a:endCxn id="64" idx="1"/>
          </p:cNvCxnSpPr>
          <p:nvPr/>
        </p:nvCxnSpPr>
        <p:spPr>
          <a:xfrm flipV="1">
            <a:off x="7768106" y="3235960"/>
            <a:ext cx="498372" cy="584835"/>
          </a:xfrm>
          <a:prstGeom prst="bentConnector3">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9" name="肘形连接符 78"/>
          <p:cNvCxnSpPr>
            <a:stCxn id="63" idx="3"/>
            <a:endCxn id="68" idx="1"/>
          </p:cNvCxnSpPr>
          <p:nvPr/>
        </p:nvCxnSpPr>
        <p:spPr>
          <a:xfrm>
            <a:off x="7768106" y="3820795"/>
            <a:ext cx="498372" cy="567690"/>
          </a:xfrm>
          <a:prstGeom prst="bentConnector3">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2" name="肘形连接符 81"/>
          <p:cNvCxnSpPr>
            <a:stCxn id="64" idx="3"/>
            <a:endCxn id="65" idx="1"/>
          </p:cNvCxnSpPr>
          <p:nvPr/>
        </p:nvCxnSpPr>
        <p:spPr>
          <a:xfrm>
            <a:off x="9800865" y="3235960"/>
            <a:ext cx="511224" cy="584835"/>
          </a:xfrm>
          <a:prstGeom prst="bentConnector3">
            <a:avLst>
              <a:gd name="adj1" fmla="val 50000"/>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5" name="肘形连接符 84"/>
          <p:cNvCxnSpPr>
            <a:stCxn id="66" idx="3"/>
            <a:endCxn id="65" idx="1"/>
          </p:cNvCxnSpPr>
          <p:nvPr/>
        </p:nvCxnSpPr>
        <p:spPr>
          <a:xfrm>
            <a:off x="9805863" y="3620135"/>
            <a:ext cx="506226" cy="200660"/>
          </a:xfrm>
          <a:prstGeom prst="bentConnector3">
            <a:avLst>
              <a:gd name="adj1" fmla="val 50000"/>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肘形连接符 87"/>
          <p:cNvCxnSpPr>
            <a:stCxn id="67" idx="3"/>
            <a:endCxn id="65" idx="1"/>
          </p:cNvCxnSpPr>
          <p:nvPr/>
        </p:nvCxnSpPr>
        <p:spPr>
          <a:xfrm flipV="1">
            <a:off x="9805149" y="3820795"/>
            <a:ext cx="506940" cy="183515"/>
          </a:xfrm>
          <a:prstGeom prst="bentConnector3">
            <a:avLst>
              <a:gd name="adj1" fmla="val 50000"/>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肘形连接符 90"/>
          <p:cNvCxnSpPr>
            <a:stCxn id="68" idx="3"/>
            <a:endCxn id="65" idx="1"/>
          </p:cNvCxnSpPr>
          <p:nvPr/>
        </p:nvCxnSpPr>
        <p:spPr>
          <a:xfrm flipV="1">
            <a:off x="9800865" y="3820795"/>
            <a:ext cx="511224" cy="567690"/>
          </a:xfrm>
          <a:prstGeom prst="bentConnector3">
            <a:avLst>
              <a:gd name="adj1" fmla="val 50000"/>
            </a:avLst>
          </a:prstGeom>
          <a:ln w="158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10045053" y="5845644"/>
            <a:ext cx="660450"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合同变更决策</a:t>
            </a:r>
            <a:endPar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0" name="矩形 99"/>
          <p:cNvSpPr/>
          <p:nvPr/>
        </p:nvSpPr>
        <p:spPr>
          <a:xfrm>
            <a:off x="8055134" y="5867234"/>
            <a:ext cx="660450"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合同关闭决策</a:t>
            </a:r>
            <a:endParaRPr kumimoji="1"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104" name="组 103"/>
          <p:cNvGrpSpPr/>
          <p:nvPr/>
        </p:nvGrpSpPr>
        <p:grpSpPr>
          <a:xfrm>
            <a:off x="2464512" y="3118485"/>
            <a:ext cx="509796" cy="260985"/>
            <a:chOff x="2087976" y="6109454"/>
            <a:chExt cx="453234" cy="260726"/>
          </a:xfrm>
        </p:grpSpPr>
        <p:sp>
          <p:nvSpPr>
            <p:cNvPr id="105" name="菱形 104"/>
            <p:cNvSpPr/>
            <p:nvPr/>
          </p:nvSpPr>
          <p:spPr>
            <a:xfrm>
              <a:off x="2087976" y="6109454"/>
              <a:ext cx="453234" cy="260726"/>
            </a:xfrm>
            <a:prstGeom prst="diamond">
              <a:avLst/>
            </a:prstGeom>
            <a:solidFill>
              <a:srgbClr val="A08B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6" name="矩形 105"/>
            <p:cNvSpPr/>
            <p:nvPr/>
          </p:nvSpPr>
          <p:spPr>
            <a:xfrm>
              <a:off x="2145518" y="6132095"/>
              <a:ext cx="344966" cy="213993"/>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ATI</a:t>
              </a:r>
              <a:endParaRPr kumimoji="1" lang="en-US" altLang="zh-CN"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07" name="组 106"/>
          <p:cNvGrpSpPr/>
          <p:nvPr/>
        </p:nvGrpSpPr>
        <p:grpSpPr>
          <a:xfrm>
            <a:off x="4175256" y="3118241"/>
            <a:ext cx="509796" cy="260985"/>
            <a:chOff x="2087976" y="6109454"/>
            <a:chExt cx="453234" cy="260726"/>
          </a:xfrm>
        </p:grpSpPr>
        <p:sp>
          <p:nvSpPr>
            <p:cNvPr id="108" name="菱形 107"/>
            <p:cNvSpPr/>
            <p:nvPr/>
          </p:nvSpPr>
          <p:spPr>
            <a:xfrm>
              <a:off x="2087976" y="6109454"/>
              <a:ext cx="453234" cy="260726"/>
            </a:xfrm>
            <a:prstGeom prst="diamond">
              <a:avLst/>
            </a:prstGeom>
            <a:solidFill>
              <a:srgbClr val="A08B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9" name="矩形 108"/>
            <p:cNvSpPr/>
            <p:nvPr/>
          </p:nvSpPr>
          <p:spPr>
            <a:xfrm>
              <a:off x="2145518" y="6132095"/>
              <a:ext cx="344966" cy="213993"/>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ATI</a:t>
              </a:r>
              <a:endPar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13" name="组 112"/>
          <p:cNvGrpSpPr/>
          <p:nvPr/>
        </p:nvGrpSpPr>
        <p:grpSpPr>
          <a:xfrm>
            <a:off x="5563273" y="3118241"/>
            <a:ext cx="509796" cy="260985"/>
            <a:chOff x="3376224" y="6109454"/>
            <a:chExt cx="453234" cy="260726"/>
          </a:xfrm>
        </p:grpSpPr>
        <p:sp>
          <p:nvSpPr>
            <p:cNvPr id="114" name="菱形 113"/>
            <p:cNvSpPr/>
            <p:nvPr/>
          </p:nvSpPr>
          <p:spPr>
            <a:xfrm>
              <a:off x="3376224" y="6109454"/>
              <a:ext cx="453234" cy="260726"/>
            </a:xfrm>
            <a:prstGeom prst="diamond">
              <a:avLst/>
            </a:prstGeom>
            <a:solidFill>
              <a:srgbClr val="A08B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5" name="矩形 114"/>
            <p:cNvSpPr/>
            <p:nvPr/>
          </p:nvSpPr>
          <p:spPr>
            <a:xfrm>
              <a:off x="3421634" y="6128702"/>
              <a:ext cx="385042" cy="213993"/>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ATB</a:t>
              </a:r>
              <a:endPar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16" name="组 115"/>
          <p:cNvGrpSpPr/>
          <p:nvPr/>
        </p:nvGrpSpPr>
        <p:grpSpPr>
          <a:xfrm>
            <a:off x="6065215" y="3119511"/>
            <a:ext cx="509796" cy="260985"/>
            <a:chOff x="4923635" y="6109454"/>
            <a:chExt cx="453234" cy="260726"/>
          </a:xfrm>
        </p:grpSpPr>
        <p:sp>
          <p:nvSpPr>
            <p:cNvPr id="117" name="菱形 116"/>
            <p:cNvSpPr/>
            <p:nvPr/>
          </p:nvSpPr>
          <p:spPr>
            <a:xfrm>
              <a:off x="4923635" y="6109454"/>
              <a:ext cx="453234" cy="260726"/>
            </a:xfrm>
            <a:prstGeom prst="diamond">
              <a:avLst/>
            </a:prstGeom>
            <a:solidFill>
              <a:srgbClr val="A08B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8" name="矩形 117"/>
            <p:cNvSpPr/>
            <p:nvPr/>
          </p:nvSpPr>
          <p:spPr>
            <a:xfrm>
              <a:off x="4975575" y="6130793"/>
              <a:ext cx="394660" cy="213993"/>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ATC</a:t>
              </a:r>
              <a:endPar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19" name="组 118"/>
          <p:cNvGrpSpPr/>
          <p:nvPr/>
        </p:nvGrpSpPr>
        <p:grpSpPr>
          <a:xfrm>
            <a:off x="10195707" y="2997835"/>
            <a:ext cx="521220" cy="260985"/>
            <a:chOff x="6456745" y="6101951"/>
            <a:chExt cx="463588" cy="260726"/>
          </a:xfrm>
        </p:grpSpPr>
        <p:sp>
          <p:nvSpPr>
            <p:cNvPr id="120" name="菱形 119"/>
            <p:cNvSpPr/>
            <p:nvPr/>
          </p:nvSpPr>
          <p:spPr>
            <a:xfrm>
              <a:off x="6456745" y="6101951"/>
              <a:ext cx="453234" cy="260726"/>
            </a:xfrm>
            <a:prstGeom prst="diamond">
              <a:avLst/>
            </a:prstGeom>
            <a:solidFill>
              <a:srgbClr val="A08B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1" name="矩形 120"/>
            <p:cNvSpPr/>
            <p:nvPr/>
          </p:nvSpPr>
          <p:spPr>
            <a:xfrm>
              <a:off x="6456745" y="6134509"/>
              <a:ext cx="463588" cy="213993"/>
            </a:xfrm>
            <a:prstGeom prst="rect">
              <a:avLst/>
            </a:prstGeom>
            <a:ln>
              <a:solidFill>
                <a:schemeClr val="bg1">
                  <a:lumMod val="6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ATCC</a:t>
              </a:r>
              <a:endPar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22" name="组 121"/>
          <p:cNvGrpSpPr/>
          <p:nvPr/>
        </p:nvGrpSpPr>
        <p:grpSpPr>
          <a:xfrm>
            <a:off x="9297494" y="4073525"/>
            <a:ext cx="530502" cy="260985"/>
            <a:chOff x="9061701" y="6094448"/>
            <a:chExt cx="471604" cy="260726"/>
          </a:xfrm>
        </p:grpSpPr>
        <p:sp>
          <p:nvSpPr>
            <p:cNvPr id="123" name="菱形 122"/>
            <p:cNvSpPr/>
            <p:nvPr/>
          </p:nvSpPr>
          <p:spPr>
            <a:xfrm>
              <a:off x="9061701" y="6094448"/>
              <a:ext cx="453234" cy="260726"/>
            </a:xfrm>
            <a:prstGeom prst="diamond">
              <a:avLst/>
            </a:prstGeom>
            <a:solidFill>
              <a:srgbClr val="A08B75"/>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4" name="矩形 123"/>
            <p:cNvSpPr/>
            <p:nvPr/>
          </p:nvSpPr>
          <p:spPr>
            <a:xfrm>
              <a:off x="9061701" y="6119901"/>
              <a:ext cx="471604" cy="213993"/>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ATAC</a:t>
              </a:r>
              <a:endParaRPr kumimoji="1" lang="en-US" altLang="zh-CN" sz="80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2" name="标题 1"/>
          <p:cNvSpPr>
            <a:spLocks noGrp="1"/>
          </p:cNvSpPr>
          <p:nvPr>
            <p:ph type="title"/>
            <p:custDataLst>
              <p:tags r:id="rId1"/>
            </p:custDataLst>
          </p:nvPr>
        </p:nvSpPr>
        <p:spPr>
          <a:xfrm>
            <a:off x="429260" y="260350"/>
            <a:ext cx="9415780" cy="524510"/>
          </a:xfrm>
        </p:spPr>
        <p:txBody>
          <a:bodyPr wrap="square"/>
          <a:lstStyle/>
          <a:p>
            <a:r>
              <a:rPr lang="zh-CN" altLang="en-US" sz="2800" dirty="0">
                <a:cs typeface="微软雅黑" panose="020B0503020204020204" pitchFamily="34" charset="-122"/>
              </a:rPr>
              <a:t>技术工艺评估在业务流程中的</a:t>
            </a:r>
            <a:r>
              <a:rPr lang="zh-CN" altLang="en-US" sz="2800" dirty="0">
                <a:cs typeface="微软雅黑" panose="020B0503020204020204" pitchFamily="34" charset="-122"/>
              </a:rPr>
              <a:t>位置</a:t>
            </a:r>
            <a:endParaRPr lang="zh-CN" altLang="en-US" sz="2800" dirty="0">
              <a:cs typeface="微软雅黑" panose="020B0503020204020204" pitchFamily="34" charset="-122"/>
            </a:endParaRPr>
          </a:p>
        </p:txBody>
      </p:sp>
      <p:sp>
        <p:nvSpPr>
          <p:cNvPr id="7" name="文本占位符 6"/>
          <p:cNvSpPr>
            <a:spLocks noGrp="1"/>
          </p:cNvSpPr>
          <p:nvPr>
            <p:ph type="body" sz="half" idx="2"/>
            <p:custDataLst>
              <p:tags r:id="rId2"/>
            </p:custDataLst>
          </p:nvPr>
        </p:nvSpPr>
        <p:spPr>
          <a:xfrm>
            <a:off x="1569868" y="907097"/>
            <a:ext cx="8275735" cy="370205"/>
          </a:xfrm>
        </p:spPr>
        <p:txBody>
          <a:bodyPr>
            <a:normAutofit lnSpcReduction="10000"/>
          </a:bodyPr>
          <a:lstStyle/>
          <a:p>
            <a:pPr marL="0" indent="0">
              <a:buNone/>
            </a:pPr>
            <a:r>
              <a:rPr lang="en-US" altLang="zh-CN" sz="1600" b="1" dirty="0">
                <a:cs typeface="微软雅黑" panose="020B0503020204020204" pitchFamily="34" charset="-122"/>
              </a:rPr>
              <a:t>LTC</a:t>
            </a:r>
            <a:r>
              <a:rPr lang="zh-CN" altLang="en-US" sz="1600" b="1" dirty="0">
                <a:cs typeface="微软雅黑" panose="020B0503020204020204" pitchFamily="34" charset="-122"/>
              </a:rPr>
              <a:t>主业务流是拉通从线索到回款的端到端销售流程，提升面向客户的销售能力</a:t>
            </a:r>
            <a:endParaRPr lang="zh-CN" altLang="en-US" sz="1600" b="1" dirty="0">
              <a:cs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燕尾形 58"/>
          <p:cNvSpPr/>
          <p:nvPr/>
        </p:nvSpPr>
        <p:spPr>
          <a:xfrm>
            <a:off x="545465" y="6332220"/>
            <a:ext cx="621665" cy="186690"/>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bg1"/>
                </a:solidFill>
                <a:cs typeface="+mn-ea"/>
                <a:sym typeface="+mn-lt"/>
              </a:rPr>
              <a:t>客户流程</a:t>
            </a:r>
            <a:endParaRPr kumimoji="1" lang="zh-CN" altLang="en-US" sz="700" b="1" dirty="0">
              <a:solidFill>
                <a:schemeClr val="bg1"/>
              </a:solidFill>
              <a:cs typeface="+mn-ea"/>
              <a:sym typeface="+mn-lt"/>
            </a:endParaRPr>
          </a:p>
        </p:txBody>
      </p:sp>
      <p:sp>
        <p:nvSpPr>
          <p:cNvPr id="101" name="燕尾形 58"/>
          <p:cNvSpPr/>
          <p:nvPr/>
        </p:nvSpPr>
        <p:spPr>
          <a:xfrm>
            <a:off x="2300605" y="6332220"/>
            <a:ext cx="621665" cy="18669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tx1"/>
                </a:solidFill>
                <a:cs typeface="+mn-ea"/>
                <a:sym typeface="+mn-lt"/>
              </a:rPr>
              <a:t>LTC</a:t>
            </a:r>
            <a:r>
              <a:rPr kumimoji="1" lang="zh-CN" altLang="en-US" sz="700" b="1" dirty="0">
                <a:solidFill>
                  <a:schemeClr val="tx1"/>
                </a:solidFill>
                <a:cs typeface="+mn-ea"/>
                <a:sym typeface="+mn-lt"/>
              </a:rPr>
              <a:t>流程</a:t>
            </a:r>
            <a:endParaRPr kumimoji="1" lang="zh-CN" altLang="en-US" sz="700" b="1" dirty="0">
              <a:solidFill>
                <a:schemeClr val="tx1"/>
              </a:solidFill>
              <a:cs typeface="+mn-ea"/>
              <a:sym typeface="+mn-lt"/>
            </a:endParaRPr>
          </a:p>
        </p:txBody>
      </p:sp>
      <p:sp>
        <p:nvSpPr>
          <p:cNvPr id="102" name="燕尾形 58"/>
          <p:cNvSpPr/>
          <p:nvPr/>
        </p:nvSpPr>
        <p:spPr>
          <a:xfrm>
            <a:off x="1190625" y="6332220"/>
            <a:ext cx="1049655" cy="186690"/>
          </a:xfrm>
          <a:prstGeom prst="chevron">
            <a:avLst>
              <a:gd name="adj" fmla="val 16318"/>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tx1"/>
                </a:solidFill>
                <a:cs typeface="+mn-ea"/>
                <a:sym typeface="+mn-lt"/>
              </a:rPr>
              <a:t>MTL</a:t>
            </a:r>
            <a:r>
              <a:rPr kumimoji="1" lang="zh-CN" altLang="en-US" sz="700" b="1" dirty="0">
                <a:solidFill>
                  <a:schemeClr val="tx1"/>
                </a:solidFill>
                <a:cs typeface="+mn-ea"/>
                <a:sym typeface="+mn-lt"/>
              </a:rPr>
              <a:t>流程</a:t>
            </a:r>
            <a:endParaRPr kumimoji="1" lang="zh-CN" altLang="en-US" sz="700" b="1" dirty="0">
              <a:solidFill>
                <a:schemeClr val="tx1"/>
              </a:solidFill>
              <a:cs typeface="+mn-ea"/>
              <a:sym typeface="+mn-lt"/>
            </a:endParaRPr>
          </a:p>
        </p:txBody>
      </p:sp>
      <p:sp>
        <p:nvSpPr>
          <p:cNvPr id="104" name="燕尾形 58"/>
          <p:cNvSpPr/>
          <p:nvPr/>
        </p:nvSpPr>
        <p:spPr>
          <a:xfrm>
            <a:off x="3649345" y="6343015"/>
            <a:ext cx="657225" cy="186690"/>
          </a:xfrm>
          <a:prstGeom prst="chevron">
            <a:avLst>
              <a:gd name="adj" fmla="val 16318"/>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tx1"/>
                </a:solidFill>
                <a:cs typeface="+mn-ea"/>
                <a:sym typeface="+mn-lt"/>
              </a:rPr>
              <a:t>ISC</a:t>
            </a:r>
            <a:r>
              <a:rPr kumimoji="1" lang="zh-CN" altLang="en-US" sz="700" b="1" dirty="0">
                <a:solidFill>
                  <a:schemeClr val="tx1"/>
                </a:solidFill>
                <a:cs typeface="+mn-ea"/>
                <a:sym typeface="+mn-lt"/>
              </a:rPr>
              <a:t>流程</a:t>
            </a:r>
            <a:endParaRPr kumimoji="1" lang="zh-CN" altLang="en-US" sz="700" b="1" dirty="0">
              <a:solidFill>
                <a:schemeClr val="tx1"/>
              </a:solidFill>
              <a:cs typeface="+mn-ea"/>
              <a:sym typeface="+mn-lt"/>
            </a:endParaRPr>
          </a:p>
        </p:txBody>
      </p:sp>
      <p:sp>
        <p:nvSpPr>
          <p:cNvPr id="105" name="燕尾形 58"/>
          <p:cNvSpPr/>
          <p:nvPr/>
        </p:nvSpPr>
        <p:spPr>
          <a:xfrm>
            <a:off x="2956560" y="6332220"/>
            <a:ext cx="657225" cy="186690"/>
          </a:xfrm>
          <a:prstGeom prst="chevron">
            <a:avLst>
              <a:gd name="adj" fmla="val 16318"/>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bg1"/>
                </a:solidFill>
                <a:cs typeface="+mn-ea"/>
                <a:sym typeface="+mn-lt"/>
              </a:rPr>
              <a:t>IPD</a:t>
            </a:r>
            <a:r>
              <a:rPr kumimoji="1" lang="zh-CN" altLang="en-US" sz="700" b="1" dirty="0">
                <a:solidFill>
                  <a:schemeClr val="bg1"/>
                </a:solidFill>
                <a:cs typeface="+mn-ea"/>
                <a:sym typeface="+mn-lt"/>
              </a:rPr>
              <a:t>流程</a:t>
            </a:r>
            <a:endParaRPr kumimoji="1" lang="zh-CN" altLang="en-US" sz="700" b="1" dirty="0">
              <a:solidFill>
                <a:schemeClr val="bg1"/>
              </a:solidFill>
              <a:cs typeface="+mn-ea"/>
              <a:sym typeface="+mn-lt"/>
            </a:endParaRPr>
          </a:p>
        </p:txBody>
      </p:sp>
      <p:cxnSp>
        <p:nvCxnSpPr>
          <p:cNvPr id="108" name="直接箭头连接符 107"/>
          <p:cNvCxnSpPr/>
          <p:nvPr/>
        </p:nvCxnSpPr>
        <p:spPr>
          <a:xfrm>
            <a:off x="5883910" y="6415405"/>
            <a:ext cx="424815" cy="0"/>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a:xfrm>
            <a:off x="6206490" y="6307455"/>
            <a:ext cx="779145" cy="213995"/>
          </a:xfrm>
          <a:prstGeom prst="rect">
            <a:avLst/>
          </a:prstGeom>
          <a:noFill/>
        </p:spPr>
        <p:txBody>
          <a:bodyPr wrap="square">
            <a:spAutoFit/>
          </a:bodyPr>
          <a:lstStyle/>
          <a:p>
            <a:pPr algn="ctr"/>
            <a:r>
              <a:rPr kumimoji="1" lang="zh-CN" altLang="en-US" sz="800" b="1" dirty="0">
                <a:solidFill>
                  <a:schemeClr val="tx1"/>
                </a:solidFill>
                <a:cs typeface="+mn-ea"/>
                <a:sym typeface="+mn-lt"/>
              </a:rPr>
              <a:t>客户集成</a:t>
            </a:r>
            <a:endParaRPr kumimoji="1" lang="zh-CN" altLang="en-US" sz="800" b="1" dirty="0">
              <a:solidFill>
                <a:schemeClr val="tx1"/>
              </a:solidFill>
              <a:cs typeface="+mn-ea"/>
              <a:sym typeface="+mn-lt"/>
            </a:endParaRPr>
          </a:p>
        </p:txBody>
      </p:sp>
      <p:cxnSp>
        <p:nvCxnSpPr>
          <p:cNvPr id="111" name="直接箭头连接符 110"/>
          <p:cNvCxnSpPr/>
          <p:nvPr/>
        </p:nvCxnSpPr>
        <p:spPr>
          <a:xfrm>
            <a:off x="6900545" y="6423025"/>
            <a:ext cx="424815" cy="0"/>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a:xfrm>
            <a:off x="7223760" y="6315710"/>
            <a:ext cx="779145" cy="213995"/>
          </a:xfrm>
          <a:prstGeom prst="rect">
            <a:avLst/>
          </a:prstGeom>
          <a:noFill/>
        </p:spPr>
        <p:txBody>
          <a:bodyPr wrap="square">
            <a:spAutoFit/>
          </a:bodyPr>
          <a:lstStyle/>
          <a:p>
            <a:pPr algn="ctr"/>
            <a:r>
              <a:rPr kumimoji="1" lang="zh-CN" altLang="en-US" sz="800" b="1" dirty="0">
                <a:solidFill>
                  <a:schemeClr val="tx1"/>
                </a:solidFill>
                <a:cs typeface="+mn-ea"/>
                <a:sym typeface="+mn-lt"/>
              </a:rPr>
              <a:t>跨领域集成</a:t>
            </a:r>
            <a:endParaRPr kumimoji="1" lang="zh-CN" altLang="en-US" sz="800" b="1" dirty="0">
              <a:solidFill>
                <a:schemeClr val="tx1"/>
              </a:solidFill>
              <a:cs typeface="+mn-ea"/>
              <a:sym typeface="+mn-lt"/>
            </a:endParaRPr>
          </a:p>
        </p:txBody>
      </p:sp>
      <p:sp>
        <p:nvSpPr>
          <p:cNvPr id="2" name="标题 1"/>
          <p:cNvSpPr>
            <a:spLocks noGrp="1"/>
          </p:cNvSpPr>
          <p:nvPr>
            <p:ph type="title"/>
            <p:custDataLst>
              <p:tags r:id="rId1"/>
            </p:custDataLst>
          </p:nvPr>
        </p:nvSpPr>
        <p:spPr>
          <a:xfrm>
            <a:off x="487680" y="211138"/>
            <a:ext cx="9387840" cy="524510"/>
          </a:xfrm>
        </p:spPr>
        <p:txBody>
          <a:bodyPr wrap="square"/>
          <a:lstStyle/>
          <a:p>
            <a:r>
              <a:rPr lang="zh-CN" altLang="en-US" sz="2800">
                <a:cs typeface="微软雅黑" panose="020B0503020204020204" pitchFamily="34" charset="-122"/>
                <a:sym typeface="+mn-ea"/>
              </a:rPr>
              <a:t>技术工艺评估的</a:t>
            </a:r>
            <a:r>
              <a:rPr lang="zh-CN" altLang="en-US" sz="2800">
                <a:cs typeface="微软雅黑" panose="020B0503020204020204" pitchFamily="34" charset="-122"/>
                <a:sym typeface="+mn-ea"/>
              </a:rPr>
              <a:t>被调用流程（业务集成</a:t>
            </a:r>
            <a:r>
              <a:rPr lang="zh-CN" altLang="en-US" sz="2800">
                <a:cs typeface="微软雅黑" panose="020B0503020204020204" pitchFamily="34" charset="-122"/>
                <a:sym typeface="+mn-ea"/>
              </a:rPr>
              <a:t>视图）</a:t>
            </a:r>
            <a:endParaRPr lang="zh-CN" altLang="en-US" sz="2800">
              <a:cs typeface="微软雅黑" panose="020B0503020204020204" pitchFamily="34" charset="-122"/>
              <a:sym typeface="+mn-ea"/>
            </a:endParaRPr>
          </a:p>
        </p:txBody>
      </p:sp>
      <p:grpSp>
        <p:nvGrpSpPr>
          <p:cNvPr id="96" name="组合 95"/>
          <p:cNvGrpSpPr/>
          <p:nvPr/>
        </p:nvGrpSpPr>
        <p:grpSpPr>
          <a:xfrm rot="0">
            <a:off x="1218565" y="4245610"/>
            <a:ext cx="10438765" cy="1150620"/>
            <a:chOff x="1838" y="6524"/>
            <a:chExt cx="16439" cy="1143"/>
          </a:xfrm>
        </p:grpSpPr>
        <p:grpSp>
          <p:nvGrpSpPr>
            <p:cNvPr id="93" name="组合 92"/>
            <p:cNvGrpSpPr/>
            <p:nvPr/>
          </p:nvGrpSpPr>
          <p:grpSpPr>
            <a:xfrm>
              <a:off x="1838" y="6524"/>
              <a:ext cx="16439" cy="1143"/>
              <a:chOff x="1919" y="9400"/>
              <a:chExt cx="16439" cy="1143"/>
            </a:xfrm>
          </p:grpSpPr>
          <p:sp>
            <p:nvSpPr>
              <p:cNvPr id="92" name="矩形 91"/>
              <p:cNvSpPr/>
              <p:nvPr/>
            </p:nvSpPr>
            <p:spPr>
              <a:xfrm>
                <a:off x="1919" y="9400"/>
                <a:ext cx="16439" cy="1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bg1"/>
                  </a:solidFill>
                  <a:latin typeface="微软雅黑" panose="020B0503020204020204" pitchFamily="34" charset="-122"/>
                  <a:ea typeface="微软雅黑" panose="020B0503020204020204" pitchFamily="34" charset="-122"/>
                  <a:cs typeface="+mn-ea"/>
                  <a:sym typeface="+mn-lt"/>
                </a:endParaRPr>
              </a:p>
            </p:txBody>
          </p:sp>
          <p:grpSp>
            <p:nvGrpSpPr>
              <p:cNvPr id="126" name="组合 125"/>
              <p:cNvGrpSpPr/>
              <p:nvPr/>
            </p:nvGrpSpPr>
            <p:grpSpPr>
              <a:xfrm rot="0">
                <a:off x="2084" y="9425"/>
                <a:ext cx="15736" cy="981"/>
                <a:chOff x="2109" y="5052"/>
                <a:chExt cx="10972" cy="1051"/>
              </a:xfrm>
            </p:grpSpPr>
            <p:sp>
              <p:nvSpPr>
                <p:cNvPr id="80" name="燕尾形 58"/>
                <p:cNvSpPr/>
                <p:nvPr/>
              </p:nvSpPr>
              <p:spPr>
                <a:xfrm>
                  <a:off x="2109" y="5052"/>
                  <a:ext cx="1294" cy="1051"/>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售前技术</a:t>
                  </a:r>
                  <a:r>
                    <a:rPr kumimoji="1" lang="zh-CN" altLang="en-US" sz="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支持</a:t>
                  </a:r>
                  <a:endParaRPr kumimoji="1" lang="zh-CN" altLang="en-US" sz="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endParaRPr kumimoji="1" lang="zh-CN" altLang="en-US" sz="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endParaRPr kumimoji="1" lang="zh-CN" altLang="en-US" sz="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81" name="燕尾形 58"/>
                <p:cNvSpPr/>
                <p:nvPr/>
              </p:nvSpPr>
              <p:spPr>
                <a:xfrm>
                  <a:off x="3347" y="5052"/>
                  <a:ext cx="1404" cy="1051"/>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工艺平台</a:t>
                  </a: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规划</a:t>
                  </a: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2" name="燕尾形 58"/>
                <p:cNvSpPr/>
                <p:nvPr/>
              </p:nvSpPr>
              <p:spPr>
                <a:xfrm>
                  <a:off x="4635" y="5052"/>
                  <a:ext cx="3037" cy="1048"/>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开发</a:t>
                  </a: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2" name="燕尾形 58"/>
                <p:cNvSpPr/>
                <p:nvPr/>
              </p:nvSpPr>
              <p:spPr>
                <a:xfrm>
                  <a:off x="7612" y="5052"/>
                  <a:ext cx="2379" cy="1049"/>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验证</a:t>
                  </a: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4" name="燕尾形 58"/>
                <p:cNvSpPr/>
                <p:nvPr/>
              </p:nvSpPr>
              <p:spPr>
                <a:xfrm>
                  <a:off x="9932" y="5052"/>
                  <a:ext cx="1885" cy="1051"/>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发布</a:t>
                  </a: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5" name="燕尾形 58"/>
                <p:cNvSpPr/>
                <p:nvPr/>
              </p:nvSpPr>
              <p:spPr>
                <a:xfrm>
                  <a:off x="11631" y="5052"/>
                  <a:ext cx="1450" cy="10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rPr>
                    <a:t>生命周期管理</a:t>
                  </a:r>
                  <a:endParaRPr kumimoji="1" lang="zh-CN" altLang="en-US" sz="10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grpSp>
          <p:nvGrpSpPr>
            <p:cNvPr id="148" name="组合 147"/>
            <p:cNvGrpSpPr/>
            <p:nvPr/>
          </p:nvGrpSpPr>
          <p:grpSpPr>
            <a:xfrm rot="0">
              <a:off x="6234" y="7107"/>
              <a:ext cx="6852" cy="424"/>
              <a:chOff x="6473" y="7077"/>
              <a:chExt cx="6991" cy="454"/>
            </a:xfrm>
          </p:grpSpPr>
          <p:sp>
            <p:nvSpPr>
              <p:cNvPr id="139" name="燕尾形 58"/>
              <p:cNvSpPr/>
              <p:nvPr/>
            </p:nvSpPr>
            <p:spPr>
              <a:xfrm>
                <a:off x="6473" y="7078"/>
                <a:ext cx="1194"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前端设计</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0" name="燕尾形 58"/>
              <p:cNvSpPr/>
              <p:nvPr/>
            </p:nvSpPr>
            <p:spPr>
              <a:xfrm>
                <a:off x="7718" y="7078"/>
                <a:ext cx="1108"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后端设计</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1" name="燕尾形 58"/>
              <p:cNvSpPr/>
              <p:nvPr/>
            </p:nvSpPr>
            <p:spPr>
              <a:xfrm>
                <a:off x="8849" y="7077"/>
                <a:ext cx="1046"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设计交付</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4" name="燕尾形 58"/>
              <p:cNvSpPr/>
              <p:nvPr/>
            </p:nvSpPr>
            <p:spPr>
              <a:xfrm>
                <a:off x="10399" y="7081"/>
                <a:ext cx="1167"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晶圆测试</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5" name="燕尾形 58"/>
              <p:cNvSpPr/>
              <p:nvPr/>
            </p:nvSpPr>
            <p:spPr>
              <a:xfrm>
                <a:off x="11577" y="7077"/>
                <a:ext cx="850"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封装</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6" name="燕尾形 58"/>
              <p:cNvSpPr/>
              <p:nvPr/>
            </p:nvSpPr>
            <p:spPr>
              <a:xfrm>
                <a:off x="12429" y="7079"/>
                <a:ext cx="1035" cy="450"/>
              </a:xfrm>
              <a:prstGeom prst="chevron">
                <a:avLst>
                  <a:gd name="adj" fmla="val 16318"/>
                </a:avLst>
              </a:prstGeom>
              <a:solidFill>
                <a:srgbClr val="6096E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最终</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测试</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sp>
        <p:nvSpPr>
          <p:cNvPr id="73" name="矩形 72"/>
          <p:cNvSpPr/>
          <p:nvPr/>
        </p:nvSpPr>
        <p:spPr>
          <a:xfrm>
            <a:off x="1219200" y="5271135"/>
            <a:ext cx="10438765" cy="95059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4" name="燕尾形 58"/>
          <p:cNvSpPr/>
          <p:nvPr/>
        </p:nvSpPr>
        <p:spPr>
          <a:xfrm>
            <a:off x="2311400" y="5412105"/>
            <a:ext cx="8640445" cy="412115"/>
          </a:xfrm>
          <a:prstGeom prst="chevron">
            <a:avLst>
              <a:gd name="adj" fmla="val 16318"/>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项目供应流程</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2" name="矩形 71"/>
          <p:cNvSpPr/>
          <p:nvPr/>
        </p:nvSpPr>
        <p:spPr>
          <a:xfrm>
            <a:off x="541020" y="5271135"/>
            <a:ext cx="678180" cy="95059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cs typeface="+mn-ea"/>
                <a:sym typeface="+mn-lt"/>
              </a:rPr>
              <a:t>集成</a:t>
            </a:r>
            <a:endParaRPr lang="zh-CN" altLang="en-US" sz="1100" b="1" dirty="0">
              <a:solidFill>
                <a:schemeClr val="tx1"/>
              </a:solidFill>
              <a:latin typeface="微软雅黑" panose="020B0503020204020204" pitchFamily="34" charset="-122"/>
              <a:ea typeface="微软雅黑" panose="020B0503020204020204" pitchFamily="34" charset="-122"/>
              <a:cs typeface="+mn-ea"/>
              <a:sym typeface="+mn-lt"/>
            </a:endParaRPr>
          </a:p>
          <a:p>
            <a:pPr algn="ctr"/>
            <a:r>
              <a:rPr lang="zh-CN" altLang="en-US" sz="1100" b="1" dirty="0">
                <a:solidFill>
                  <a:schemeClr val="tx1"/>
                </a:solidFill>
                <a:latin typeface="微软雅黑" panose="020B0503020204020204" pitchFamily="34" charset="-122"/>
                <a:ea typeface="微软雅黑" panose="020B0503020204020204" pitchFamily="34" charset="-122"/>
                <a:cs typeface="+mn-ea"/>
                <a:sym typeface="+mn-lt"/>
              </a:rPr>
              <a:t>供应链</a:t>
            </a:r>
            <a:r>
              <a:rPr lang="zh-CN" altLang="en-US" sz="900" b="1"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900" b="1" dirty="0">
                <a:solidFill>
                  <a:schemeClr val="tx1"/>
                </a:solidFill>
                <a:latin typeface="微软雅黑" panose="020B0503020204020204" pitchFamily="34" charset="-122"/>
                <a:ea typeface="微软雅黑" panose="020B0503020204020204" pitchFamily="34" charset="-122"/>
                <a:cs typeface="+mn-ea"/>
                <a:sym typeface="+mn-lt"/>
              </a:rPr>
              <a:t>ISC</a:t>
            </a:r>
            <a:r>
              <a:rPr lang="zh-CN" altLang="en-US" sz="900" b="1" dirty="0">
                <a:solidFill>
                  <a:schemeClr val="tx1"/>
                </a:solidFill>
                <a:latin typeface="微软雅黑" panose="020B0503020204020204" pitchFamily="34" charset="-122"/>
                <a:ea typeface="微软雅黑" panose="020B0503020204020204" pitchFamily="34" charset="-122"/>
                <a:cs typeface="+mn-ea"/>
                <a:sym typeface="+mn-lt"/>
              </a:rPr>
              <a:t>）</a:t>
            </a:r>
            <a:endParaRPr lang="zh-CN" altLang="en-US" sz="9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6" name="燕尾形 58"/>
          <p:cNvSpPr/>
          <p:nvPr/>
        </p:nvSpPr>
        <p:spPr>
          <a:xfrm>
            <a:off x="5998845" y="5634355"/>
            <a:ext cx="4869815" cy="140970"/>
          </a:xfrm>
          <a:prstGeom prst="chevron">
            <a:avLst>
              <a:gd name="adj" fmla="val 16318"/>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600" dirty="0">
                <a:solidFill>
                  <a:schemeClr val="tx1"/>
                </a:solidFill>
                <a:latin typeface="微软雅黑" panose="020B0503020204020204" pitchFamily="34" charset="-122"/>
                <a:ea typeface="微软雅黑" panose="020B0503020204020204" pitchFamily="34" charset="-122"/>
                <a:cs typeface="+mn-ea"/>
                <a:sym typeface="+mn-lt"/>
              </a:rPr>
              <a:t>管理项目供应履行（含</a:t>
            </a:r>
            <a:r>
              <a:rPr kumimoji="1" lang="en-US" altLang="zh-CN" sz="600" dirty="0">
                <a:solidFill>
                  <a:schemeClr val="tx1"/>
                </a:solidFill>
                <a:latin typeface="微软雅黑" panose="020B0503020204020204" pitchFamily="34" charset="-122"/>
                <a:ea typeface="微软雅黑" panose="020B0503020204020204" pitchFamily="34" charset="-122"/>
                <a:cs typeface="+mn-ea"/>
                <a:sym typeface="+mn-lt"/>
              </a:rPr>
              <a:t>S&amp;OP</a:t>
            </a:r>
            <a:r>
              <a:rPr kumimoji="1" lang="zh-CN" altLang="en-US" sz="600" dirty="0">
                <a:solidFill>
                  <a:schemeClr val="tx1"/>
                </a:solidFill>
                <a:latin typeface="微软雅黑" panose="020B0503020204020204" pitchFamily="34" charset="-122"/>
                <a:ea typeface="微软雅黑" panose="020B0503020204020204" pitchFamily="34" charset="-122"/>
                <a:cs typeface="+mn-ea"/>
                <a:sym typeface="+mn-lt"/>
              </a:rPr>
              <a:t>）</a:t>
            </a:r>
            <a:endParaRPr kumimoji="1" lang="zh-CN" altLang="en-US" sz="6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7" name="燕尾形 58"/>
          <p:cNvSpPr/>
          <p:nvPr/>
        </p:nvSpPr>
        <p:spPr>
          <a:xfrm>
            <a:off x="6523355" y="5907405"/>
            <a:ext cx="3254375" cy="215900"/>
          </a:xfrm>
          <a:prstGeom prst="chevron">
            <a:avLst>
              <a:gd name="adj" fmla="val 16318"/>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dirty="0">
                <a:solidFill>
                  <a:schemeClr val="tx1"/>
                </a:solidFill>
                <a:latin typeface="微软雅黑" panose="020B0503020204020204" pitchFamily="34" charset="-122"/>
                <a:ea typeface="微软雅黑" panose="020B0503020204020204" pitchFamily="34" charset="-122"/>
                <a:cs typeface="+mn-ea"/>
                <a:sym typeface="+mn-lt"/>
              </a:rPr>
              <a:t>客户订单履行</a:t>
            </a:r>
            <a:endParaRPr kumimoji="1" lang="zh-CN" altLang="en-US" sz="7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5" name="燕尾形 58"/>
          <p:cNvSpPr/>
          <p:nvPr/>
        </p:nvSpPr>
        <p:spPr>
          <a:xfrm>
            <a:off x="2500630" y="5634355"/>
            <a:ext cx="2787650" cy="140970"/>
          </a:xfrm>
          <a:prstGeom prst="chevron">
            <a:avLst>
              <a:gd name="adj" fmla="val 16318"/>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600" dirty="0">
                <a:solidFill>
                  <a:schemeClr val="tx1"/>
                </a:solidFill>
                <a:latin typeface="微软雅黑" panose="020B0503020204020204" pitchFamily="34" charset="-122"/>
                <a:ea typeface="微软雅黑" panose="020B0503020204020204" pitchFamily="34" charset="-122"/>
                <a:cs typeface="+mn-ea"/>
                <a:sym typeface="+mn-lt"/>
              </a:rPr>
              <a:t>制定项目供应方案（含销售预测）、</a:t>
            </a:r>
            <a:r>
              <a:rPr kumimoji="1" lang="en-US" altLang="zh-CN" sz="600" dirty="0">
                <a:solidFill>
                  <a:schemeClr val="tx1"/>
                </a:solidFill>
                <a:latin typeface="微软雅黑" panose="020B0503020204020204" pitchFamily="34" charset="-122"/>
                <a:ea typeface="微软雅黑" panose="020B0503020204020204" pitchFamily="34" charset="-122"/>
                <a:cs typeface="+mn-ea"/>
                <a:sym typeface="+mn-lt"/>
              </a:rPr>
              <a:t>T/O</a:t>
            </a:r>
            <a:r>
              <a:rPr kumimoji="1" lang="zh-CN" altLang="en-US" sz="600" dirty="0">
                <a:solidFill>
                  <a:schemeClr val="tx1"/>
                </a:solidFill>
                <a:latin typeface="微软雅黑" panose="020B0503020204020204" pitchFamily="34" charset="-122"/>
                <a:ea typeface="微软雅黑" panose="020B0503020204020204" pitchFamily="34" charset="-122"/>
                <a:cs typeface="+mn-ea"/>
                <a:sym typeface="+mn-lt"/>
              </a:rPr>
              <a:t>、</a:t>
            </a:r>
            <a:r>
              <a:rPr kumimoji="1" lang="en-US" altLang="zh-CN" sz="600" dirty="0">
                <a:solidFill>
                  <a:schemeClr val="tx1"/>
                </a:solidFill>
                <a:latin typeface="微软雅黑" panose="020B0503020204020204" pitchFamily="34" charset="-122"/>
                <a:ea typeface="微软雅黑" panose="020B0503020204020204" pitchFamily="34" charset="-122"/>
                <a:cs typeface="+mn-ea"/>
                <a:sym typeface="+mn-lt"/>
              </a:rPr>
              <a:t>DOE</a:t>
            </a:r>
            <a:endParaRPr kumimoji="1" lang="en-US" altLang="zh-CN" sz="600" dirty="0">
              <a:solidFill>
                <a:schemeClr val="tx1"/>
              </a:solidFill>
              <a:latin typeface="微软雅黑" panose="020B0503020204020204" pitchFamily="34" charset="-122"/>
              <a:ea typeface="微软雅黑" panose="020B0503020204020204" pitchFamily="34" charset="-122"/>
              <a:cs typeface="+mn-ea"/>
              <a:sym typeface="+mn-lt"/>
            </a:endParaRPr>
          </a:p>
        </p:txBody>
      </p:sp>
      <p:cxnSp>
        <p:nvCxnSpPr>
          <p:cNvPr id="183" name="直接箭头连接符 182"/>
          <p:cNvCxnSpPr/>
          <p:nvPr/>
        </p:nvCxnSpPr>
        <p:spPr>
          <a:xfrm>
            <a:off x="3291840" y="3408680"/>
            <a:ext cx="8255" cy="2415540"/>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16" name="连接符: 肘形 215"/>
          <p:cNvCxnSpPr>
            <a:stCxn id="75" idx="3"/>
          </p:cNvCxnSpPr>
          <p:nvPr/>
        </p:nvCxnSpPr>
        <p:spPr>
          <a:xfrm flipH="1" flipV="1">
            <a:off x="4321175" y="4177030"/>
            <a:ext cx="967105" cy="1528445"/>
          </a:xfrm>
          <a:prstGeom prst="bentConnector3">
            <a:avLst>
              <a:gd name="adj1" fmla="val -24622"/>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30" name="连接符: 肘形 229"/>
          <p:cNvCxnSpPr>
            <a:stCxn id="75" idx="3"/>
          </p:cNvCxnSpPr>
          <p:nvPr/>
        </p:nvCxnSpPr>
        <p:spPr>
          <a:xfrm flipV="1">
            <a:off x="5288280" y="3387090"/>
            <a:ext cx="208915" cy="2317115"/>
          </a:xfrm>
          <a:prstGeom prst="bentConnector2">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55" name="连接符: 肘形 354"/>
          <p:cNvCxnSpPr>
            <a:endCxn id="77" idx="1"/>
          </p:cNvCxnSpPr>
          <p:nvPr/>
        </p:nvCxnSpPr>
        <p:spPr>
          <a:xfrm rot="5400000" flipV="1">
            <a:off x="5229860" y="4697730"/>
            <a:ext cx="1929130" cy="705485"/>
          </a:xfrm>
          <a:prstGeom prst="bentConnector2">
            <a:avLst/>
          </a:prstGeom>
          <a:ln>
            <a:solidFill>
              <a:srgbClr val="00206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0" name="直接箭头连接符 379"/>
          <p:cNvCxnSpPr/>
          <p:nvPr/>
        </p:nvCxnSpPr>
        <p:spPr>
          <a:xfrm flipH="1" flipV="1">
            <a:off x="8785860" y="2931795"/>
            <a:ext cx="16510" cy="3096895"/>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23" name="连接符: 肘形 422"/>
          <p:cNvCxnSpPr/>
          <p:nvPr/>
        </p:nvCxnSpPr>
        <p:spPr>
          <a:xfrm rot="5400000" flipV="1">
            <a:off x="9598660" y="4819650"/>
            <a:ext cx="1317625" cy="8890"/>
          </a:xfrm>
          <a:prstGeom prst="bentConnector3">
            <a:avLst>
              <a:gd name="adj1" fmla="val 50076"/>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55" name="连接符: 肘形 454"/>
          <p:cNvCxnSpPr/>
          <p:nvPr/>
        </p:nvCxnSpPr>
        <p:spPr>
          <a:xfrm rot="16200000" flipV="1">
            <a:off x="2258695" y="4474210"/>
            <a:ext cx="1586230" cy="311150"/>
          </a:xfrm>
          <a:prstGeom prst="bentConnector3">
            <a:avLst>
              <a:gd name="adj1" fmla="val 90532"/>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84" name="连接符: 肘形 483"/>
          <p:cNvCxnSpPr/>
          <p:nvPr/>
        </p:nvCxnSpPr>
        <p:spPr>
          <a:xfrm rot="16200000" flipH="1">
            <a:off x="3295650" y="5382895"/>
            <a:ext cx="323215" cy="151130"/>
          </a:xfrm>
          <a:prstGeom prst="bentConnector3">
            <a:avLst>
              <a:gd name="adj1" fmla="val 50000"/>
            </a:avLst>
          </a:prstGeom>
          <a:solidFill>
            <a:schemeClr val="tx2">
              <a:lumMod val="25000"/>
              <a:lumOff val="75000"/>
            </a:schemeClr>
          </a:solidFill>
          <a:ln>
            <a:solidFill>
              <a:srgbClr val="00206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7" name="连接符: 肘形 506"/>
          <p:cNvCxnSpPr>
            <a:endCxn id="76" idx="1"/>
          </p:cNvCxnSpPr>
          <p:nvPr/>
        </p:nvCxnSpPr>
        <p:spPr>
          <a:xfrm rot="5400000">
            <a:off x="5262880" y="4904105"/>
            <a:ext cx="1550670" cy="50165"/>
          </a:xfrm>
          <a:prstGeom prst="bentConnector4">
            <a:avLst>
              <a:gd name="adj1" fmla="val 47760"/>
              <a:gd name="adj2" fmla="val 604430"/>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14" name="连接符: 肘形 513"/>
          <p:cNvCxnSpPr/>
          <p:nvPr/>
        </p:nvCxnSpPr>
        <p:spPr>
          <a:xfrm rot="5400000" flipV="1">
            <a:off x="5391150" y="4857750"/>
            <a:ext cx="1797050" cy="478790"/>
          </a:xfrm>
          <a:prstGeom prst="bentConnector3">
            <a:avLst>
              <a:gd name="adj1" fmla="val 101571"/>
            </a:avLst>
          </a:prstGeom>
          <a:ln>
            <a:solidFill>
              <a:srgbClr val="00206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7" name="连接符: 肘形 526"/>
          <p:cNvCxnSpPr/>
          <p:nvPr/>
        </p:nvCxnSpPr>
        <p:spPr>
          <a:xfrm rot="16200000" flipV="1">
            <a:off x="6111875" y="4502150"/>
            <a:ext cx="1463675" cy="813435"/>
          </a:xfrm>
          <a:prstGeom prst="bentConnector3">
            <a:avLst>
              <a:gd name="adj1" fmla="val 49966"/>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50" name="连接符: 肘形 549"/>
          <p:cNvCxnSpPr/>
          <p:nvPr/>
        </p:nvCxnSpPr>
        <p:spPr>
          <a:xfrm rot="5400000" flipV="1">
            <a:off x="6127115" y="4890770"/>
            <a:ext cx="2345055" cy="111760"/>
          </a:xfrm>
          <a:prstGeom prst="bentConnector3">
            <a:avLst>
              <a:gd name="adj1" fmla="val 16910"/>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54" name="直接箭头连接符 553"/>
          <p:cNvCxnSpPr/>
          <p:nvPr/>
        </p:nvCxnSpPr>
        <p:spPr>
          <a:xfrm flipV="1">
            <a:off x="8214995" y="4143375"/>
            <a:ext cx="15240" cy="1364615"/>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41020" y="2520315"/>
            <a:ext cx="678180" cy="16408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cs typeface="+mn-ea"/>
                <a:sym typeface="+mn-lt"/>
              </a:rPr>
              <a:t>线索到回款</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1000" b="1" dirty="0">
                <a:solidFill>
                  <a:schemeClr val="tx1"/>
                </a:solidFill>
                <a:latin typeface="微软雅黑" panose="020B0503020204020204" pitchFamily="34" charset="-122"/>
                <a:ea typeface="微软雅黑" panose="020B0503020204020204" pitchFamily="34" charset="-122"/>
                <a:cs typeface="+mn-ea"/>
                <a:sym typeface="+mn-lt"/>
              </a:rPr>
              <a:t>LTC</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endParaRPr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 name="矩形 8"/>
          <p:cNvSpPr/>
          <p:nvPr/>
        </p:nvSpPr>
        <p:spPr>
          <a:xfrm>
            <a:off x="1219200" y="2520315"/>
            <a:ext cx="10438765" cy="16408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燕尾形 58"/>
          <p:cNvSpPr/>
          <p:nvPr/>
        </p:nvSpPr>
        <p:spPr>
          <a:xfrm>
            <a:off x="1402080" y="2610485"/>
            <a:ext cx="786765" cy="81915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线索</a:t>
            </a:r>
            <a:r>
              <a:rPr kumimoji="1" lang="en-US" altLang="zh-CN" sz="1000" b="1" dirty="0">
                <a:solidFill>
                  <a:schemeClr val="tx1"/>
                </a:solidFill>
                <a:latin typeface="微软雅黑" panose="020B0503020204020204" pitchFamily="34" charset="-122"/>
                <a:ea typeface="微软雅黑" panose="020B0503020204020204" pitchFamily="34" charset="-122"/>
                <a:cs typeface="+mn-ea"/>
                <a:sym typeface="+mn-lt"/>
              </a:rPr>
              <a:t>NDA/PDK</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燕尾形 58"/>
          <p:cNvSpPr/>
          <p:nvPr/>
        </p:nvSpPr>
        <p:spPr>
          <a:xfrm>
            <a:off x="1379220" y="3502660"/>
            <a:ext cx="9871075" cy="25019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tx1"/>
                </a:solidFill>
                <a:latin typeface="微软雅黑" panose="020B0503020204020204" pitchFamily="34" charset="-122"/>
                <a:ea typeface="微软雅黑" panose="020B0503020204020204" pitchFamily="34" charset="-122"/>
                <a:cs typeface="+mn-ea"/>
                <a:sym typeface="+mn-lt"/>
              </a:rPr>
              <a:t>                                </a:t>
            </a:r>
            <a:r>
              <a:rPr kumimoji="1" lang="en-US" altLang="zh-CN" sz="1000" b="1" dirty="0">
                <a:solidFill>
                  <a:schemeClr val="tx1"/>
                </a:solidFill>
                <a:latin typeface="微软雅黑" panose="020B0503020204020204" pitchFamily="34" charset="-122"/>
                <a:ea typeface="微软雅黑" panose="020B0503020204020204" pitchFamily="34" charset="-122"/>
                <a:cs typeface="+mn-ea"/>
                <a:sym typeface="+mn-lt"/>
              </a:rPr>
              <a:t>      </a:t>
            </a: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管理客户解决方案</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 name="燕尾形 58"/>
          <p:cNvSpPr/>
          <p:nvPr/>
        </p:nvSpPr>
        <p:spPr>
          <a:xfrm>
            <a:off x="2223135" y="3819525"/>
            <a:ext cx="9027160" cy="24638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管理销售项目</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 name="燕尾形 58"/>
          <p:cNvSpPr/>
          <p:nvPr/>
        </p:nvSpPr>
        <p:spPr>
          <a:xfrm>
            <a:off x="2188845" y="2520315"/>
            <a:ext cx="3810000" cy="91948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管理机会点</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 name="燕尾形 58"/>
          <p:cNvSpPr/>
          <p:nvPr/>
        </p:nvSpPr>
        <p:spPr>
          <a:xfrm>
            <a:off x="2311400" y="2768600"/>
            <a:ext cx="3603625" cy="17843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管理决策链</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燕尾形 58"/>
          <p:cNvSpPr/>
          <p:nvPr/>
        </p:nvSpPr>
        <p:spPr>
          <a:xfrm>
            <a:off x="3035300" y="3004185"/>
            <a:ext cx="639445" cy="36004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700" b="1" dirty="0">
                <a:solidFill>
                  <a:schemeClr val="tx1"/>
                </a:solidFill>
                <a:latin typeface="微软雅黑" panose="020B0503020204020204" pitchFamily="34" charset="-122"/>
                <a:ea typeface="微软雅黑" panose="020B0503020204020204" pitchFamily="34" charset="-122"/>
                <a:cs typeface="+mn-ea"/>
                <a:sym typeface="+mn-lt"/>
              </a:rPr>
              <a:t>GDSII</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 name="燕尾形 58"/>
          <p:cNvSpPr/>
          <p:nvPr/>
        </p:nvSpPr>
        <p:spPr>
          <a:xfrm>
            <a:off x="5922645" y="2523490"/>
            <a:ext cx="5518785" cy="91948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管理合同执行</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2" name="燕尾形 58"/>
          <p:cNvSpPr/>
          <p:nvPr/>
        </p:nvSpPr>
        <p:spPr>
          <a:xfrm>
            <a:off x="6062980" y="2769870"/>
            <a:ext cx="968375" cy="63309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管理合同</a:t>
            </a:r>
            <a:r>
              <a:rPr kumimoji="1" lang="en-US" altLang="zh-CN"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/PO</a:t>
            </a:r>
            <a:r>
              <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接收和确认</a:t>
            </a:r>
            <a:endPar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3" name="燕尾形 58"/>
          <p:cNvSpPr/>
          <p:nvPr/>
        </p:nvSpPr>
        <p:spPr>
          <a:xfrm>
            <a:off x="7196455" y="2759710"/>
            <a:ext cx="3263900" cy="18542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管理合同</a:t>
            </a:r>
            <a:r>
              <a:rPr kumimoji="1" lang="en-US" altLang="zh-CN"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/PO</a:t>
            </a:r>
            <a:r>
              <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变更</a:t>
            </a:r>
            <a:endPar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燕尾形 58"/>
          <p:cNvSpPr/>
          <p:nvPr/>
        </p:nvSpPr>
        <p:spPr>
          <a:xfrm>
            <a:off x="7196455" y="2981960"/>
            <a:ext cx="3263900" cy="18542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监控合同履行状态</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燕尾形 58"/>
          <p:cNvSpPr/>
          <p:nvPr/>
        </p:nvSpPr>
        <p:spPr>
          <a:xfrm>
            <a:off x="10596880" y="2756535"/>
            <a:ext cx="706755" cy="63309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关闭和评价合同</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7" name="燕尾形 58"/>
          <p:cNvSpPr/>
          <p:nvPr/>
        </p:nvSpPr>
        <p:spPr>
          <a:xfrm>
            <a:off x="8289925" y="3204845"/>
            <a:ext cx="1112520" cy="19050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管理开票和回款</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8" name="燕尾形 58"/>
          <p:cNvSpPr/>
          <p:nvPr/>
        </p:nvSpPr>
        <p:spPr>
          <a:xfrm>
            <a:off x="9410065" y="3204845"/>
            <a:ext cx="1052830" cy="19177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管理风险和争议</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 name="燕尾形 58"/>
          <p:cNvSpPr/>
          <p:nvPr/>
        </p:nvSpPr>
        <p:spPr>
          <a:xfrm>
            <a:off x="2311400" y="3004185"/>
            <a:ext cx="723900" cy="36766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方案引导</a:t>
            </a:r>
            <a:endParaRPr kumimoji="1" lang="en-US" altLang="zh-CN"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 name="燕尾形 58"/>
          <p:cNvSpPr/>
          <p:nvPr/>
        </p:nvSpPr>
        <p:spPr>
          <a:xfrm>
            <a:off x="3693160" y="3004185"/>
            <a:ext cx="948055" cy="355600"/>
          </a:xfrm>
          <a:prstGeom prst="chevron">
            <a:avLst>
              <a:gd name="adj" fmla="val 16318"/>
            </a:avLst>
          </a:prstGeom>
          <a:solidFill>
            <a:schemeClr val="accent4">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验证</a:t>
            </a: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机会点</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 name="燕尾形 58"/>
          <p:cNvSpPr/>
          <p:nvPr/>
        </p:nvSpPr>
        <p:spPr>
          <a:xfrm>
            <a:off x="4648200" y="3004185"/>
            <a:ext cx="1266190" cy="368300"/>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谈判生成合同</a:t>
            </a:r>
            <a:r>
              <a:rPr kumimoji="1" lang="en-US" altLang="zh-CN"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/PO</a:t>
            </a:r>
            <a:endParaRPr kumimoji="1" lang="zh-CN" altLang="en-US" sz="7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cxnSp>
        <p:nvCxnSpPr>
          <p:cNvPr id="375" name="直接箭头连接符 374"/>
          <p:cNvCxnSpPr/>
          <p:nvPr/>
        </p:nvCxnSpPr>
        <p:spPr>
          <a:xfrm flipV="1">
            <a:off x="7607935" y="3133725"/>
            <a:ext cx="0" cy="1025525"/>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5" name="燕尾形 58"/>
          <p:cNvSpPr/>
          <p:nvPr/>
        </p:nvSpPr>
        <p:spPr>
          <a:xfrm>
            <a:off x="7203440" y="3204845"/>
            <a:ext cx="1078865" cy="188595"/>
          </a:xfrm>
          <a:prstGeom prst="chevron">
            <a:avLst>
              <a:gd name="adj" fmla="val 16318"/>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rPr>
              <a:t>管理交付（验收）</a:t>
            </a:r>
            <a:endParaRPr kumimoji="1" lang="zh-CN" altLang="en-US" sz="700" b="1" dirty="0">
              <a:solidFill>
                <a:schemeClr val="tx1"/>
              </a:solidFill>
              <a:latin typeface="微软雅黑" panose="020B0503020204020204" pitchFamily="34" charset="-122"/>
              <a:ea typeface="微软雅黑" panose="020B0503020204020204" pitchFamily="34" charset="-122"/>
              <a:cs typeface="+mn-ea"/>
              <a:sym typeface="+mn-lt"/>
            </a:endParaRPr>
          </a:p>
        </p:txBody>
      </p:sp>
      <p:grpSp>
        <p:nvGrpSpPr>
          <p:cNvPr id="580" name="组 103"/>
          <p:cNvGrpSpPr/>
          <p:nvPr/>
        </p:nvGrpSpPr>
        <p:grpSpPr>
          <a:xfrm rot="0">
            <a:off x="2758440" y="2858770"/>
            <a:ext cx="285750" cy="250825"/>
            <a:chOff x="2057079" y="6109454"/>
            <a:chExt cx="521842" cy="260726"/>
          </a:xfrm>
        </p:grpSpPr>
        <p:sp>
          <p:nvSpPr>
            <p:cNvPr id="581" name="菱形 580"/>
            <p:cNvSpPr/>
            <p:nvPr/>
          </p:nvSpPr>
          <p:spPr>
            <a:xfrm>
              <a:off x="2087976" y="6109454"/>
              <a:ext cx="453234" cy="260726"/>
            </a:xfrm>
            <a:prstGeom prst="diamond">
              <a:avLst/>
            </a:prstGeom>
            <a:solidFill>
              <a:srgbClr val="A08B7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82" name="矩形 581"/>
            <p:cNvSpPr/>
            <p:nvPr/>
          </p:nvSpPr>
          <p:spPr>
            <a:xfrm>
              <a:off x="2057079" y="6132094"/>
              <a:ext cx="521842" cy="174788"/>
            </a:xfrm>
            <a:prstGeom prst="rect">
              <a:avLst/>
            </a:prstGeom>
          </p:spPr>
          <p:txBody>
            <a:bodyPr wrap="square">
              <a:spAutoFit/>
            </a:bodyPr>
            <a:lstStyle/>
            <a:p>
              <a:pPr algn="ctr"/>
              <a:r>
                <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rPr>
                <a:t>ATI</a:t>
              </a:r>
              <a:endPar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86" name="组 103"/>
          <p:cNvGrpSpPr/>
          <p:nvPr/>
        </p:nvGrpSpPr>
        <p:grpSpPr>
          <a:xfrm rot="0">
            <a:off x="4307205" y="2842895"/>
            <a:ext cx="309880" cy="250825"/>
            <a:chOff x="2035117" y="6109454"/>
            <a:chExt cx="565766" cy="260726"/>
          </a:xfrm>
        </p:grpSpPr>
        <p:sp>
          <p:nvSpPr>
            <p:cNvPr id="587" name="菱形 586"/>
            <p:cNvSpPr/>
            <p:nvPr/>
          </p:nvSpPr>
          <p:spPr>
            <a:xfrm>
              <a:off x="2087976" y="6109454"/>
              <a:ext cx="453234" cy="260726"/>
            </a:xfrm>
            <a:prstGeom prst="diamond">
              <a:avLst/>
            </a:prstGeom>
            <a:solidFill>
              <a:srgbClr val="A08B7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88" name="矩形 587"/>
            <p:cNvSpPr/>
            <p:nvPr/>
          </p:nvSpPr>
          <p:spPr>
            <a:xfrm>
              <a:off x="2035117" y="6132094"/>
              <a:ext cx="565766" cy="174788"/>
            </a:xfrm>
            <a:prstGeom prst="rect">
              <a:avLst/>
            </a:prstGeom>
          </p:spPr>
          <p:txBody>
            <a:bodyPr wrap="square">
              <a:spAutoFit/>
            </a:bodyPr>
            <a:lstStyle/>
            <a:p>
              <a:pPr algn="ctr"/>
              <a:r>
                <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rPr>
                <a:t>ATB</a:t>
              </a:r>
              <a:endPar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89" name="组 103"/>
          <p:cNvGrpSpPr/>
          <p:nvPr/>
        </p:nvGrpSpPr>
        <p:grpSpPr>
          <a:xfrm rot="0">
            <a:off x="5454650" y="2822575"/>
            <a:ext cx="313055" cy="250825"/>
            <a:chOff x="2032188" y="6109454"/>
            <a:chExt cx="571622" cy="260726"/>
          </a:xfrm>
        </p:grpSpPr>
        <p:sp>
          <p:nvSpPr>
            <p:cNvPr id="590" name="菱形 589"/>
            <p:cNvSpPr/>
            <p:nvPr/>
          </p:nvSpPr>
          <p:spPr>
            <a:xfrm>
              <a:off x="2087976" y="6109454"/>
              <a:ext cx="453234" cy="260726"/>
            </a:xfrm>
            <a:prstGeom prst="diamond">
              <a:avLst/>
            </a:prstGeom>
            <a:solidFill>
              <a:srgbClr val="A08B7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91" name="矩形 590"/>
            <p:cNvSpPr/>
            <p:nvPr/>
          </p:nvSpPr>
          <p:spPr>
            <a:xfrm>
              <a:off x="2032188" y="6132094"/>
              <a:ext cx="571622" cy="174788"/>
            </a:xfrm>
            <a:prstGeom prst="rect">
              <a:avLst/>
            </a:prstGeom>
          </p:spPr>
          <p:txBody>
            <a:bodyPr wrap="square">
              <a:spAutoFit/>
            </a:bodyPr>
            <a:lstStyle/>
            <a:p>
              <a:pPr algn="ctr"/>
              <a:r>
                <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rPr>
                <a:t>ATC</a:t>
              </a:r>
              <a:endPar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92" name="组 103"/>
          <p:cNvGrpSpPr/>
          <p:nvPr/>
        </p:nvGrpSpPr>
        <p:grpSpPr>
          <a:xfrm rot="0">
            <a:off x="10918190" y="2623185"/>
            <a:ext cx="359410" cy="250825"/>
            <a:chOff x="1989726" y="6109454"/>
            <a:chExt cx="656547" cy="260726"/>
          </a:xfrm>
        </p:grpSpPr>
        <p:sp>
          <p:nvSpPr>
            <p:cNvPr id="593" name="菱形 592"/>
            <p:cNvSpPr/>
            <p:nvPr/>
          </p:nvSpPr>
          <p:spPr>
            <a:xfrm>
              <a:off x="2087976" y="6109454"/>
              <a:ext cx="453234" cy="260726"/>
            </a:xfrm>
            <a:prstGeom prst="diamond">
              <a:avLst/>
            </a:prstGeom>
            <a:solidFill>
              <a:srgbClr val="A08B7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94" name="矩形 593"/>
            <p:cNvSpPr/>
            <p:nvPr/>
          </p:nvSpPr>
          <p:spPr>
            <a:xfrm>
              <a:off x="1989726" y="6132094"/>
              <a:ext cx="656547" cy="174788"/>
            </a:xfrm>
            <a:prstGeom prst="rect">
              <a:avLst/>
            </a:prstGeom>
          </p:spPr>
          <p:txBody>
            <a:bodyPr wrap="square">
              <a:spAutoFit/>
            </a:bodyPr>
            <a:lstStyle/>
            <a:p>
              <a:pPr algn="ctr"/>
              <a:r>
                <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rPr>
                <a:t>ATCC</a:t>
              </a:r>
              <a:endPar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95" name="组 103"/>
          <p:cNvGrpSpPr/>
          <p:nvPr/>
        </p:nvGrpSpPr>
        <p:grpSpPr>
          <a:xfrm rot="0">
            <a:off x="9918065" y="2628265"/>
            <a:ext cx="354330" cy="250825"/>
            <a:chOff x="1994120" y="6109454"/>
            <a:chExt cx="647762" cy="260726"/>
          </a:xfrm>
        </p:grpSpPr>
        <p:sp>
          <p:nvSpPr>
            <p:cNvPr id="596" name="菱形 595"/>
            <p:cNvSpPr/>
            <p:nvPr/>
          </p:nvSpPr>
          <p:spPr>
            <a:xfrm>
              <a:off x="2087976" y="6109454"/>
              <a:ext cx="453234" cy="260726"/>
            </a:xfrm>
            <a:prstGeom prst="diamond">
              <a:avLst/>
            </a:prstGeom>
            <a:solidFill>
              <a:srgbClr val="A08B75"/>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97" name="矩形 596"/>
            <p:cNvSpPr/>
            <p:nvPr/>
          </p:nvSpPr>
          <p:spPr>
            <a:xfrm>
              <a:off x="1994120" y="6132094"/>
              <a:ext cx="647762" cy="174788"/>
            </a:xfrm>
            <a:prstGeom prst="rect">
              <a:avLst/>
            </a:prstGeom>
          </p:spPr>
          <p:txBody>
            <a:bodyPr wrap="square">
              <a:spAutoFit/>
            </a:bodyPr>
            <a:lstStyle/>
            <a:p>
              <a:pPr algn="ctr"/>
              <a:r>
                <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rPr>
                <a:t>ATAC</a:t>
              </a:r>
              <a:endParaRPr kumimoji="1" lang="en-US" altLang="zh-CN" sz="500" dirty="0">
                <a:solidFill>
                  <a:schemeClr val="bg1"/>
                </a:solidFill>
                <a:latin typeface="微软雅黑" panose="020B0503020204020204" pitchFamily="34" charset="-122"/>
                <a:ea typeface="微软雅黑" panose="020B0503020204020204" pitchFamily="34" charset="-122"/>
                <a:cs typeface="+mn-ea"/>
                <a:sym typeface="+mn-lt"/>
              </a:endParaRPr>
            </a:p>
          </p:txBody>
        </p:sp>
      </p:grpSp>
      <p:cxnSp>
        <p:nvCxnSpPr>
          <p:cNvPr id="152" name="直接箭头连接符 151"/>
          <p:cNvCxnSpPr/>
          <p:nvPr/>
        </p:nvCxnSpPr>
        <p:spPr>
          <a:xfrm flipV="1">
            <a:off x="2651760" y="2503170"/>
            <a:ext cx="10795" cy="317500"/>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540385" y="4241800"/>
            <a:ext cx="678180" cy="102933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100" b="1" dirty="0">
                <a:solidFill>
                  <a:schemeClr val="tx1"/>
                </a:solidFill>
                <a:latin typeface="微软雅黑" panose="020B0503020204020204" pitchFamily="34" charset="-122"/>
                <a:ea typeface="微软雅黑" panose="020B0503020204020204" pitchFamily="34" charset="-122"/>
                <a:cs typeface="+mn-ea"/>
                <a:sym typeface="+mn-lt"/>
              </a:rPr>
              <a:t>集成产品研发</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1000" b="1" dirty="0">
                <a:solidFill>
                  <a:schemeClr val="tx1"/>
                </a:solidFill>
                <a:latin typeface="微软雅黑" panose="020B0503020204020204" pitchFamily="34" charset="-122"/>
                <a:ea typeface="微软雅黑" panose="020B0503020204020204" pitchFamily="34" charset="-122"/>
                <a:cs typeface="+mn-ea"/>
                <a:sym typeface="+mn-lt"/>
              </a:rPr>
              <a:t>IPD</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endParaRPr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cxnSp>
        <p:nvCxnSpPr>
          <p:cNvPr id="97" name="肘形连接符 96"/>
          <p:cNvCxnSpPr>
            <a:stCxn id="82" idx="3"/>
            <a:endCxn id="74" idx="1"/>
          </p:cNvCxnSpPr>
          <p:nvPr/>
        </p:nvCxnSpPr>
        <p:spPr>
          <a:xfrm flipH="1">
            <a:off x="2378710" y="4763770"/>
            <a:ext cx="4011295" cy="854710"/>
          </a:xfrm>
          <a:prstGeom prst="bentConnector5">
            <a:avLst>
              <a:gd name="adj1" fmla="val -5936"/>
              <a:gd name="adj2" fmla="val 66716"/>
              <a:gd name="adj3" fmla="val 106775"/>
            </a:avLst>
          </a:prstGeom>
          <a:ln>
            <a:solidFill>
              <a:schemeClr val="tx1">
                <a:lumMod val="65000"/>
                <a:lumOff val="35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H="1" flipV="1">
            <a:off x="6917055" y="5269230"/>
            <a:ext cx="2540" cy="142875"/>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4" name="连接符: 肘形 513"/>
          <p:cNvCxnSpPr>
            <a:stCxn id="122" idx="3"/>
            <a:endCxn id="77" idx="1"/>
          </p:cNvCxnSpPr>
          <p:nvPr/>
        </p:nvCxnSpPr>
        <p:spPr>
          <a:xfrm flipH="1">
            <a:off x="6547485" y="4763770"/>
            <a:ext cx="1954530" cy="1251585"/>
          </a:xfrm>
          <a:prstGeom prst="bentConnector5">
            <a:avLst>
              <a:gd name="adj1" fmla="val -12183"/>
              <a:gd name="adj2" fmla="val 65385"/>
              <a:gd name="adj3" fmla="val 113418"/>
            </a:avLst>
          </a:prstGeom>
          <a:ln>
            <a:solidFill>
              <a:srgbClr val="00206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燕尾形 58"/>
          <p:cNvSpPr/>
          <p:nvPr/>
        </p:nvSpPr>
        <p:spPr>
          <a:xfrm>
            <a:off x="1427480" y="4824095"/>
            <a:ext cx="487680" cy="422910"/>
          </a:xfrm>
          <a:prstGeom prst="chevron">
            <a:avLst>
              <a:gd name="adj" fmla="val 16318"/>
            </a:avLst>
          </a:prstGeom>
          <a:solidFill>
            <a:schemeClr val="accent4">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600" b="1" dirty="0">
                <a:solidFill>
                  <a:schemeClr val="bg1"/>
                </a:solidFill>
                <a:latin typeface="微软雅黑" panose="020B0503020204020204" pitchFamily="34" charset="-122"/>
                <a:ea typeface="微软雅黑" panose="020B0503020204020204" pitchFamily="34" charset="-122"/>
                <a:cs typeface="+mn-ea"/>
                <a:sym typeface="+mn-lt"/>
              </a:rPr>
              <a:t>需求</a:t>
            </a:r>
            <a:endParaRPr kumimoji="1" lang="zh-CN" altLang="en-US" sz="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kumimoji="1" lang="zh-CN" altLang="en-US" sz="600" b="1" dirty="0">
                <a:solidFill>
                  <a:schemeClr val="bg1"/>
                </a:solidFill>
                <a:latin typeface="微软雅黑" panose="020B0503020204020204" pitchFamily="34" charset="-122"/>
                <a:ea typeface="微软雅黑" panose="020B0503020204020204" pitchFamily="34" charset="-122"/>
                <a:cs typeface="+mn-ea"/>
                <a:sym typeface="+mn-lt"/>
              </a:rPr>
              <a:t>评估</a:t>
            </a:r>
            <a:endParaRPr kumimoji="1" lang="zh-CN" altLang="en-US" sz="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6" name="燕尾形 58"/>
          <p:cNvSpPr/>
          <p:nvPr/>
        </p:nvSpPr>
        <p:spPr>
          <a:xfrm>
            <a:off x="1923415" y="4820285"/>
            <a:ext cx="527685" cy="422910"/>
          </a:xfrm>
          <a:prstGeom prst="chevron">
            <a:avLst>
              <a:gd name="adj" fmla="val 16318"/>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需求</a:t>
            </a:r>
            <a:r>
              <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rPr>
              <a:t>导入</a:t>
            </a:r>
            <a:endParaRPr kumimoji="1" lang="zh-CN" altLang="en-US" sz="7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67" name="直接箭头连接符 66"/>
          <p:cNvCxnSpPr/>
          <p:nvPr/>
        </p:nvCxnSpPr>
        <p:spPr>
          <a:xfrm>
            <a:off x="5651500" y="2446655"/>
            <a:ext cx="2540" cy="313690"/>
          </a:xfrm>
          <a:prstGeom prst="straightConnector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9" name="连接符: 肘形 409"/>
          <p:cNvCxnSpPr/>
          <p:nvPr/>
        </p:nvCxnSpPr>
        <p:spPr>
          <a:xfrm rot="5400000" flipV="1">
            <a:off x="9563735" y="2787015"/>
            <a:ext cx="709930" cy="3175"/>
          </a:xfrm>
          <a:prstGeom prst="bentConnector2">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409"/>
          <p:cNvCxnSpPr/>
          <p:nvPr/>
        </p:nvCxnSpPr>
        <p:spPr>
          <a:xfrm rot="16200000">
            <a:off x="9893300" y="2817495"/>
            <a:ext cx="715010" cy="3175"/>
          </a:xfrm>
          <a:prstGeom prst="bentConnector2">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nvCxnSpPr>
        <p:spPr>
          <a:xfrm>
            <a:off x="9765030" y="1481455"/>
            <a:ext cx="0" cy="28003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p:nvPr/>
        </p:nvCxnSpPr>
        <p:spPr>
          <a:xfrm>
            <a:off x="11017250" y="1492250"/>
            <a:ext cx="0" cy="28003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212" name="组合 211"/>
          <p:cNvGrpSpPr/>
          <p:nvPr/>
        </p:nvGrpSpPr>
        <p:grpSpPr>
          <a:xfrm rot="0">
            <a:off x="545465" y="1494790"/>
            <a:ext cx="11111230" cy="982980"/>
            <a:chOff x="1047" y="3717"/>
            <a:chExt cx="17687" cy="1372"/>
          </a:xfrm>
        </p:grpSpPr>
        <p:sp>
          <p:nvSpPr>
            <p:cNvPr id="205" name="矩形 204"/>
            <p:cNvSpPr/>
            <p:nvPr/>
          </p:nvSpPr>
          <p:spPr>
            <a:xfrm>
              <a:off x="1047" y="3717"/>
              <a:ext cx="1068" cy="1372"/>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100" b="1" dirty="0">
                  <a:solidFill>
                    <a:schemeClr val="tx1"/>
                  </a:solidFill>
                  <a:latin typeface="微软雅黑" panose="020B0503020204020204" pitchFamily="34" charset="-122"/>
                  <a:ea typeface="微软雅黑" panose="020B0503020204020204" pitchFamily="34" charset="-122"/>
                  <a:cs typeface="+mn-ea"/>
                  <a:sym typeface="+mn-lt"/>
                </a:rPr>
                <a:t>市场到线索</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1000" b="1" dirty="0">
                  <a:solidFill>
                    <a:schemeClr val="tx1"/>
                  </a:solidFill>
                  <a:latin typeface="微软雅黑" panose="020B0503020204020204" pitchFamily="34" charset="-122"/>
                  <a:ea typeface="微软雅黑" panose="020B0503020204020204" pitchFamily="34" charset="-122"/>
                  <a:cs typeface="+mn-ea"/>
                  <a:sym typeface="+mn-lt"/>
                </a:rPr>
                <a:t>MTL</a:t>
              </a:r>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a:t>
              </a:r>
              <a:endParaRPr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6" name="矩形 205"/>
            <p:cNvSpPr/>
            <p:nvPr/>
          </p:nvSpPr>
          <p:spPr>
            <a:xfrm>
              <a:off x="2110" y="3721"/>
              <a:ext cx="16624" cy="136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100" dirty="0">
                <a:solidFill>
                  <a:schemeClr val="tx1"/>
                </a:solidFill>
                <a:latin typeface="微软雅黑" panose="020B0503020204020204" pitchFamily="34" charset="-122"/>
                <a:ea typeface="微软雅黑" panose="020B0503020204020204" pitchFamily="34" charset="-122"/>
                <a:cs typeface="+mn-ea"/>
                <a:sym typeface="+mn-lt"/>
              </a:endParaRPr>
            </a:p>
          </p:txBody>
        </p:sp>
        <p:grpSp>
          <p:nvGrpSpPr>
            <p:cNvPr id="207" name="组合 206"/>
            <p:cNvGrpSpPr/>
            <p:nvPr/>
          </p:nvGrpSpPr>
          <p:grpSpPr>
            <a:xfrm>
              <a:off x="2309" y="3987"/>
              <a:ext cx="15917" cy="893"/>
              <a:chOff x="2109" y="3787"/>
              <a:chExt cx="14295" cy="893"/>
            </a:xfrm>
          </p:grpSpPr>
          <p:sp>
            <p:nvSpPr>
              <p:cNvPr id="209" name="燕尾形 58"/>
              <p:cNvSpPr/>
              <p:nvPr/>
            </p:nvSpPr>
            <p:spPr>
              <a:xfrm>
                <a:off x="2109" y="3787"/>
                <a:ext cx="4728" cy="893"/>
              </a:xfrm>
              <a:prstGeom prst="chevron">
                <a:avLst>
                  <a:gd name="adj" fmla="val 16318"/>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市场洞察</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0" name="燕尾形 58"/>
              <p:cNvSpPr/>
              <p:nvPr/>
            </p:nvSpPr>
            <p:spPr>
              <a:xfrm>
                <a:off x="6887" y="3787"/>
                <a:ext cx="4728" cy="893"/>
              </a:xfrm>
              <a:prstGeom prst="chevron">
                <a:avLst>
                  <a:gd name="adj" fmla="val 16318"/>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市场</a:t>
                </a: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管理</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1" name="燕尾形 210"/>
              <p:cNvSpPr/>
              <p:nvPr/>
            </p:nvSpPr>
            <p:spPr>
              <a:xfrm>
                <a:off x="11676" y="3787"/>
                <a:ext cx="4728" cy="893"/>
              </a:xfrm>
              <a:prstGeom prst="chevron">
                <a:avLst>
                  <a:gd name="adj" fmla="val 16318"/>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市场</a:t>
                </a:r>
                <a:r>
                  <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rPr>
                  <a:t>推广</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a:p>
                <a:pPr algn="ct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grpSp>
      </p:grpSp>
      <p:cxnSp>
        <p:nvCxnSpPr>
          <p:cNvPr id="107" name="直接箭头连接符 106"/>
          <p:cNvCxnSpPr/>
          <p:nvPr/>
        </p:nvCxnSpPr>
        <p:spPr>
          <a:xfrm flipH="1" flipV="1">
            <a:off x="1701165" y="1219200"/>
            <a:ext cx="4445" cy="1290320"/>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H="1">
            <a:off x="1917700" y="1290320"/>
            <a:ext cx="5715" cy="94551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flipH="1">
            <a:off x="5840095" y="1408430"/>
            <a:ext cx="1905" cy="124142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p:nvPr/>
        </p:nvCxnSpPr>
        <p:spPr>
          <a:xfrm flipV="1">
            <a:off x="7315835" y="1212215"/>
            <a:ext cx="1270" cy="131762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nvCxnSpPr>
        <p:spPr>
          <a:xfrm flipH="1">
            <a:off x="7883525" y="1283970"/>
            <a:ext cx="635" cy="124523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nvCxnSpPr>
        <p:spPr>
          <a:xfrm flipV="1">
            <a:off x="9629140" y="1224280"/>
            <a:ext cx="4445" cy="1305560"/>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flipH="1" flipV="1">
            <a:off x="4307840" y="1202055"/>
            <a:ext cx="635" cy="131127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H="1">
            <a:off x="9758680" y="1290320"/>
            <a:ext cx="5080" cy="127317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flipV="1">
            <a:off x="10796905" y="1224280"/>
            <a:ext cx="4445" cy="1305560"/>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H="1">
            <a:off x="11017250" y="1290320"/>
            <a:ext cx="5080" cy="1273175"/>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535305" y="899160"/>
            <a:ext cx="11127740" cy="815340"/>
            <a:chOff x="843" y="1416"/>
            <a:chExt cx="17524" cy="1284"/>
          </a:xfrm>
        </p:grpSpPr>
        <p:sp>
          <p:nvSpPr>
            <p:cNvPr id="7" name="矩形 6"/>
            <p:cNvSpPr/>
            <p:nvPr/>
          </p:nvSpPr>
          <p:spPr>
            <a:xfrm>
              <a:off x="1928" y="1416"/>
              <a:ext cx="16439" cy="939"/>
            </a:xfrm>
            <a:prstGeom prst="rect">
              <a:avLst/>
            </a:prstGeom>
            <a:solidFill>
              <a:schemeClr val="bg2"/>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843" y="1416"/>
              <a:ext cx="1068" cy="939"/>
            </a:xfrm>
            <a:prstGeom prst="rect">
              <a:avLst/>
            </a:prstGeom>
            <a:solidFill>
              <a:srgbClr val="F87D2F"/>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mn-ea"/>
                  <a:sym typeface="+mn-lt"/>
                </a:rPr>
                <a:t>客户</a:t>
              </a:r>
              <a:endParaRPr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zh-CN" altLang="en-US" sz="1200" b="1" dirty="0">
                  <a:solidFill>
                    <a:schemeClr val="bg1"/>
                  </a:solidFill>
                  <a:latin typeface="微软雅黑" panose="020B0503020204020204" pitchFamily="34" charset="-122"/>
                  <a:ea typeface="微软雅黑" panose="020B0503020204020204" pitchFamily="34" charset="-122"/>
                  <a:cs typeface="+mn-ea"/>
                  <a:sym typeface="+mn-lt"/>
                </a:rPr>
                <a:t>旅程</a:t>
              </a:r>
              <a:endParaRPr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4" name="燕尾形 58"/>
            <p:cNvSpPr/>
            <p:nvPr/>
          </p:nvSpPr>
          <p:spPr>
            <a:xfrm>
              <a:off x="2228" y="1544"/>
              <a:ext cx="1231" cy="606"/>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规划</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5" name="燕尾形 58"/>
            <p:cNvSpPr/>
            <p:nvPr/>
          </p:nvSpPr>
          <p:spPr>
            <a:xfrm>
              <a:off x="3501" y="1544"/>
              <a:ext cx="2659" cy="627"/>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定义与</a:t>
              </a: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架构</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9" name="燕尾形 58"/>
            <p:cNvSpPr/>
            <p:nvPr/>
          </p:nvSpPr>
          <p:spPr>
            <a:xfrm>
              <a:off x="8027" y="1544"/>
              <a:ext cx="2754" cy="627"/>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设计</a:t>
              </a: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验证</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 name="燕尾形 58"/>
            <p:cNvSpPr/>
            <p:nvPr/>
          </p:nvSpPr>
          <p:spPr>
            <a:xfrm>
              <a:off x="12864" y="1544"/>
              <a:ext cx="2300" cy="631"/>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验收</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1" name="燕尾形 58"/>
            <p:cNvSpPr/>
            <p:nvPr/>
          </p:nvSpPr>
          <p:spPr>
            <a:xfrm>
              <a:off x="15222" y="1527"/>
              <a:ext cx="2796" cy="655"/>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付款</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119" name="直接箭头连接符 118"/>
            <p:cNvCxnSpPr/>
            <p:nvPr/>
          </p:nvCxnSpPr>
          <p:spPr>
            <a:xfrm flipV="1">
              <a:off x="17000" y="2199"/>
              <a:ext cx="0" cy="501"/>
            </a:xfrm>
            <a:prstGeom prst="straightConnector1">
              <a:avLst/>
            </a:prstGeom>
            <a:ln>
              <a:solidFill>
                <a:schemeClr val="accent2">
                  <a:lumMod val="60000"/>
                  <a:lumOff val="4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2" name="燕尾形 58"/>
            <p:cNvSpPr/>
            <p:nvPr/>
          </p:nvSpPr>
          <p:spPr>
            <a:xfrm>
              <a:off x="6181" y="1544"/>
              <a:ext cx="1845" cy="627"/>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芯片</a:t>
              </a: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设计</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3" name="燕尾形 58"/>
            <p:cNvSpPr/>
            <p:nvPr/>
          </p:nvSpPr>
          <p:spPr>
            <a:xfrm>
              <a:off x="10784" y="1544"/>
              <a:ext cx="2075" cy="631"/>
            </a:xfrm>
            <a:prstGeom prst="chevron">
              <a:avLst>
                <a:gd name="adj" fmla="val 16318"/>
              </a:avLst>
            </a:prstGeom>
            <a:solidFill>
              <a:srgbClr val="F87D2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rPr>
                <a:t>采购</a:t>
              </a:r>
              <a:endParaRPr kumimoji="1" lang="zh-CN" altLang="en-US" sz="12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36" name="燕尾形 35"/>
          <p:cNvSpPr/>
          <p:nvPr>
            <p:custDataLst>
              <p:tags r:id="rId2"/>
            </p:custDataLst>
          </p:nvPr>
        </p:nvSpPr>
        <p:spPr>
          <a:xfrm>
            <a:off x="1456055" y="1919605"/>
            <a:ext cx="74041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产业洞察</a:t>
            </a:r>
            <a:endParaRPr lang="zh-CN" altLang="en-US" sz="9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燕尾形 36"/>
          <p:cNvSpPr/>
          <p:nvPr>
            <p:custDataLst>
              <p:tags r:id="rId3"/>
            </p:custDataLst>
          </p:nvPr>
        </p:nvSpPr>
        <p:spPr>
          <a:xfrm>
            <a:off x="2984500" y="1919605"/>
            <a:ext cx="74549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竞争洞察</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燕尾形 37"/>
          <p:cNvSpPr/>
          <p:nvPr>
            <p:custDataLst>
              <p:tags r:id="rId4"/>
            </p:custDataLst>
          </p:nvPr>
        </p:nvSpPr>
        <p:spPr>
          <a:xfrm>
            <a:off x="2190750" y="1919605"/>
            <a:ext cx="78486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行</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业洞察</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9" name="燕尾形 38"/>
          <p:cNvSpPr/>
          <p:nvPr>
            <p:custDataLst>
              <p:tags r:id="rId5"/>
            </p:custDataLst>
          </p:nvPr>
        </p:nvSpPr>
        <p:spPr>
          <a:xfrm>
            <a:off x="3729990" y="1919605"/>
            <a:ext cx="823595"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客户洞察</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燕尾形 39"/>
          <p:cNvSpPr/>
          <p:nvPr>
            <p:custDataLst>
              <p:tags r:id="rId6"/>
            </p:custDataLst>
          </p:nvPr>
        </p:nvSpPr>
        <p:spPr>
          <a:xfrm>
            <a:off x="4774565" y="1919605"/>
            <a:ext cx="74041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细分市场选择</a:t>
            </a:r>
            <a:r>
              <a:rPr lang="zh-CN" altLang="en-US" sz="9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排序</a:t>
            </a:r>
            <a:endParaRPr lang="zh-CN" altLang="en-US" sz="9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1" name="燕尾形 40"/>
          <p:cNvSpPr/>
          <p:nvPr>
            <p:custDataLst>
              <p:tags r:id="rId7"/>
            </p:custDataLst>
          </p:nvPr>
        </p:nvSpPr>
        <p:spPr>
          <a:xfrm>
            <a:off x="6303010" y="1919605"/>
            <a:ext cx="74549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营销</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计划</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2" name="燕尾形 41"/>
          <p:cNvSpPr/>
          <p:nvPr>
            <p:custDataLst>
              <p:tags r:id="rId8"/>
            </p:custDataLst>
          </p:nvPr>
        </p:nvSpPr>
        <p:spPr>
          <a:xfrm>
            <a:off x="5509260" y="1919605"/>
            <a:ext cx="78486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市场</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3" name="燕尾形 42"/>
          <p:cNvSpPr/>
          <p:nvPr>
            <p:custDataLst>
              <p:tags r:id="rId9"/>
            </p:custDataLst>
          </p:nvPr>
        </p:nvSpPr>
        <p:spPr>
          <a:xfrm>
            <a:off x="7048500" y="1919605"/>
            <a:ext cx="823595"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竞争力牵引与工艺支持</a:t>
            </a:r>
            <a:endPar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燕尾形 46"/>
          <p:cNvSpPr/>
          <p:nvPr>
            <p:custDataLst>
              <p:tags r:id="rId10"/>
            </p:custDataLst>
          </p:nvPr>
        </p:nvSpPr>
        <p:spPr>
          <a:xfrm>
            <a:off x="8146415" y="1919605"/>
            <a:ext cx="73533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7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规划营销策略和框架</a:t>
            </a:r>
            <a:endParaRPr lang="zh-CN" altLang="en-US" sz="7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8" name="燕尾形 47"/>
          <p:cNvSpPr/>
          <p:nvPr>
            <p:custDataLst>
              <p:tags r:id="rId11"/>
            </p:custDataLst>
          </p:nvPr>
        </p:nvSpPr>
        <p:spPr>
          <a:xfrm>
            <a:off x="9674860" y="1919605"/>
            <a:ext cx="74549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品牌</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推广</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9" name="燕尾形 48"/>
          <p:cNvSpPr/>
          <p:nvPr>
            <p:custDataLst>
              <p:tags r:id="rId12"/>
            </p:custDataLst>
          </p:nvPr>
        </p:nvSpPr>
        <p:spPr>
          <a:xfrm>
            <a:off x="8881110" y="1919605"/>
            <a:ext cx="784860"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管理营销</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效果</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0" name="燕尾形 49"/>
          <p:cNvSpPr/>
          <p:nvPr>
            <p:custDataLst>
              <p:tags r:id="rId13"/>
            </p:custDataLst>
          </p:nvPr>
        </p:nvSpPr>
        <p:spPr>
          <a:xfrm>
            <a:off x="10420350" y="1919605"/>
            <a:ext cx="823595" cy="324485"/>
          </a:xfrm>
          <a:prstGeom prst="chevron">
            <a:avLst>
              <a:gd name="adj" fmla="val 12768"/>
            </a:avLst>
          </a:prstGeom>
          <a:solidFill>
            <a:schemeClr val="accent4">
              <a:lumMod val="60000"/>
              <a:lumOff val="40000"/>
            </a:schemeClr>
          </a:solidFill>
          <a:ln>
            <a:solidFill>
              <a:schemeClr val="tx1">
                <a:lumMod val="65000"/>
                <a:lumOff val="35000"/>
              </a:schemeClr>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营销</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赋能</a:t>
            </a:r>
            <a:endPar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13" name="肘形连接符 212"/>
          <p:cNvCxnSpPr>
            <a:stCxn id="211" idx="3"/>
            <a:endCxn id="10" idx="1"/>
          </p:cNvCxnSpPr>
          <p:nvPr/>
        </p:nvCxnSpPr>
        <p:spPr>
          <a:xfrm flipH="1">
            <a:off x="1530350" y="1953260"/>
            <a:ext cx="9806940" cy="1066800"/>
          </a:xfrm>
          <a:prstGeom prst="bentConnector5">
            <a:avLst>
              <a:gd name="adj1" fmla="val -2201"/>
              <a:gd name="adj2" fmla="val 43214"/>
              <a:gd name="adj3" fmla="val 102486"/>
            </a:avLst>
          </a:prstGeom>
          <a:ln>
            <a:solidFill>
              <a:schemeClr val="bg1">
                <a:lumMod val="65000"/>
              </a:schemeClr>
            </a:solidFill>
            <a:headEnd type="none" w="med" len="med"/>
            <a:tailEnd type="arrow" w="med" len="med"/>
          </a:ln>
        </p:spPr>
        <p:style>
          <a:lnRef idx="2">
            <a:prstClr val="black"/>
          </a:lnRef>
          <a:fillRef idx="0">
            <a:prstClr val="black"/>
          </a:fillRef>
          <a:effectRef idx="1">
            <a:prstClr val="black"/>
          </a:effectRef>
          <a:fontRef idx="minor">
            <a:schemeClr val="tx1"/>
          </a:fontRef>
        </p:style>
      </p:cxnSp>
      <p:cxnSp>
        <p:nvCxnSpPr>
          <p:cNvPr id="444" name="连接符: 肘形 443"/>
          <p:cNvCxnSpPr>
            <a:endCxn id="74" idx="1"/>
          </p:cNvCxnSpPr>
          <p:nvPr/>
        </p:nvCxnSpPr>
        <p:spPr>
          <a:xfrm rot="5400000">
            <a:off x="1759585" y="4710430"/>
            <a:ext cx="1526540" cy="288925"/>
          </a:xfrm>
          <a:prstGeom prst="bentConnector4">
            <a:avLst>
              <a:gd name="adj1" fmla="val 43240"/>
              <a:gd name="adj2" fmla="val 258791"/>
            </a:avLst>
          </a:prstGeom>
          <a:ln>
            <a:solidFill>
              <a:srgbClr val="00206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 name="肘形连接符 2"/>
          <p:cNvCxnSpPr>
            <a:stCxn id="19" idx="2"/>
            <a:endCxn id="45" idx="0"/>
          </p:cNvCxnSpPr>
          <p:nvPr/>
        </p:nvCxnSpPr>
        <p:spPr>
          <a:xfrm rot="5400000">
            <a:off x="2155190" y="2840990"/>
            <a:ext cx="1464310" cy="2501265"/>
          </a:xfrm>
          <a:prstGeom prst="bentConnector3">
            <a:avLst>
              <a:gd name="adj1" fmla="val 18235"/>
            </a:avLst>
          </a:prstGeom>
          <a:ln>
            <a:tailEnd type="arrow" w="med" len="med"/>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46149" y="1041528"/>
            <a:ext cx="10953750" cy="473064"/>
          </a:xfrm>
          <a:prstGeom prst="rect">
            <a:avLst/>
          </a:prstGeom>
          <a:solidFill>
            <a:schemeClr val="tx2">
              <a:lumMod val="10000"/>
              <a:lumOff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lt"/>
              </a:rPr>
              <a:t>BP_3.0</a:t>
            </a: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lt"/>
              </a:rPr>
              <a:t> </a:t>
            </a:r>
            <a:r>
              <a:rPr kumimoji="0" lang="en-US" altLang="zh-CN"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lt"/>
              </a:rPr>
              <a:t>LTC</a:t>
            </a:r>
            <a:endParaRPr kumimoji="0" lang="en-US" altLang="zh-CN"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405333" y="1041528"/>
            <a:ext cx="530860" cy="418191"/>
          </a:xfrm>
          <a:prstGeom prst="rect">
            <a:avLst/>
          </a:prstGeom>
        </p:spPr>
        <p:txBody>
          <a:bodyPr wrap="square">
            <a:spAutoFit/>
          </a:bodyPr>
          <a:lstStyle/>
          <a:p>
            <a:pPr marL="0" marR="0" lvl="0" indent="0" algn="ctr" defTabSz="1218565" rtl="0" eaLnBrk="1" fontAlgn="auto" latinLnBrk="0" hangingPunct="1">
              <a:lnSpc>
                <a:spcPct val="15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L1</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 name="矩形 8"/>
          <p:cNvSpPr/>
          <p:nvPr/>
        </p:nvSpPr>
        <p:spPr>
          <a:xfrm>
            <a:off x="392009" y="1636720"/>
            <a:ext cx="557508" cy="416011"/>
          </a:xfrm>
          <a:prstGeom prst="rect">
            <a:avLst/>
          </a:prstGeom>
        </p:spPr>
        <p:txBody>
          <a:bodyPr wrap="square">
            <a:spAutoFit/>
          </a:bodyPr>
          <a:lstStyle/>
          <a:p>
            <a:pPr marL="0" marR="0" lvl="0" indent="0" algn="ctr" defTabSz="1218565" rtl="0" eaLnBrk="1" fontAlgn="auto" latinLnBrk="0" hangingPunct="1">
              <a:lnSpc>
                <a:spcPct val="15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L2</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946149" y="1582471"/>
            <a:ext cx="2821795" cy="514058"/>
          </a:xfrm>
          <a:prstGeom prst="rect">
            <a:avLst/>
          </a:prstGeom>
          <a:solidFill>
            <a:schemeClr val="tx2">
              <a:lumMod val="10000"/>
              <a:lumOff val="9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管理线索</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a:xfrm>
            <a:off x="3827724" y="1582471"/>
            <a:ext cx="4040314" cy="514058"/>
          </a:xfrm>
          <a:prstGeom prst="rect">
            <a:avLst/>
          </a:prstGeom>
          <a:solidFill>
            <a:schemeClr val="tx2">
              <a:lumMod val="10000"/>
              <a:lumOff val="9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管理机会点</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p:nvSpPr>
        <p:spPr>
          <a:xfrm>
            <a:off x="7938500" y="1582471"/>
            <a:ext cx="3961399" cy="514058"/>
          </a:xfrm>
          <a:prstGeom prst="rect">
            <a:avLst/>
          </a:prstGeom>
          <a:solidFill>
            <a:schemeClr val="tx2">
              <a:lumMod val="10000"/>
              <a:lumOff val="9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0000"/>
                </a:solidFill>
                <a:latin typeface="微软雅黑" panose="020B0503020204020204" pitchFamily="34" charset="-122"/>
                <a:ea typeface="微软雅黑" panose="020B0503020204020204" pitchFamily="34" charset="-122"/>
                <a:cs typeface="+mn-ea"/>
                <a:sym typeface="+mn-lt"/>
              </a:rPr>
              <a:t>管理合同执行</a:t>
            </a:r>
            <a:endParaRPr lang="zh-CN" altLang="en-US" sz="1400" b="1" dirty="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392009" y="2184550"/>
            <a:ext cx="557508" cy="416011"/>
          </a:xfrm>
          <a:prstGeom prst="rect">
            <a:avLst/>
          </a:prstGeom>
        </p:spPr>
        <p:txBody>
          <a:bodyPr wrap="square">
            <a:spAutoFit/>
          </a:bodyPr>
          <a:lstStyle/>
          <a:p>
            <a:pPr marL="0" marR="0" lvl="0" indent="0" algn="ctr" defTabSz="1218565" rtl="0" eaLnBrk="1" fontAlgn="auto" latinLnBrk="0" hangingPunct="1">
              <a:lnSpc>
                <a:spcPct val="15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L3</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2" name="矩形 21"/>
          <p:cNvSpPr/>
          <p:nvPr/>
        </p:nvSpPr>
        <p:spPr>
          <a:xfrm>
            <a:off x="946149" y="2131462"/>
            <a:ext cx="890063"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收集和生成</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线索</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 name="矩形 22"/>
          <p:cNvSpPr/>
          <p:nvPr/>
        </p:nvSpPr>
        <p:spPr>
          <a:xfrm>
            <a:off x="1906674" y="2131462"/>
            <a:ext cx="890063"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验证和分发</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线索</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4" name="矩形 23"/>
          <p:cNvSpPr/>
          <p:nvPr/>
        </p:nvSpPr>
        <p:spPr>
          <a:xfrm>
            <a:off x="2867199" y="2131462"/>
            <a:ext cx="890063"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跟踪和培育</a:t>
            </a:r>
            <a:endPar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lvl="0" algn="ctr">
              <a:spcBef>
                <a:spcPts val="0"/>
              </a:spcBef>
              <a:spcAft>
                <a:spcPts val="0"/>
              </a:spcAft>
              <a:buClrTx/>
              <a:buSzTx/>
              <a:buFontTx/>
              <a:defRPr/>
            </a:pPr>
            <a:r>
              <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线索</a:t>
            </a:r>
            <a:endParaRPr lang="zh-CN" altLang="en-US" sz="110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a:xfrm>
            <a:off x="3827724" y="2131462"/>
            <a:ext cx="688371" cy="497894"/>
          </a:xfrm>
          <a:prstGeom prst="rect">
            <a:avLst/>
          </a:prstGeom>
          <a:solidFill>
            <a:schemeClr val="accent4">
              <a:lumMod val="7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验证</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机会点</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6" name="矩形 25"/>
          <p:cNvSpPr/>
          <p:nvPr/>
        </p:nvSpPr>
        <p:spPr>
          <a:xfrm>
            <a:off x="4586557" y="2131462"/>
            <a:ext cx="565204"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引导方案</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7" name="矩形 26"/>
          <p:cNvSpPr/>
          <p:nvPr/>
        </p:nvSpPr>
        <p:spPr>
          <a:xfrm>
            <a:off x="5222223" y="2131462"/>
            <a:ext cx="900599"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mn-ea"/>
                <a:sym typeface="+mn-lt"/>
              </a:rPr>
              <a:t>制</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定并提交</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标书</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 name="矩形 27"/>
          <p:cNvSpPr/>
          <p:nvPr/>
        </p:nvSpPr>
        <p:spPr>
          <a:xfrm>
            <a:off x="6193284" y="2131462"/>
            <a:ext cx="900599"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谈判和生成合同</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/PO</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0" name="矩形 29"/>
          <p:cNvSpPr/>
          <p:nvPr/>
        </p:nvSpPr>
        <p:spPr>
          <a:xfrm>
            <a:off x="8936540" y="2131462"/>
            <a:ext cx="752246"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接收与确认合同</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/PO</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1" name="矩形 30"/>
          <p:cNvSpPr/>
          <p:nvPr/>
        </p:nvSpPr>
        <p:spPr>
          <a:xfrm>
            <a:off x="10581956" y="2131462"/>
            <a:ext cx="664611"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开票</a:t>
            </a:r>
            <a:r>
              <a:rPr lang="zh-CN" altLang="en-US" sz="1100" dirty="0">
                <a:solidFill>
                  <a:srgbClr val="000000"/>
                </a:solidFill>
                <a:latin typeface="微软雅黑" panose="020B0503020204020204" pitchFamily="34" charset="-122"/>
                <a:ea typeface="微软雅黑" panose="020B0503020204020204" pitchFamily="34" charset="-122"/>
                <a:cs typeface="+mn-ea"/>
                <a:sym typeface="+mn-lt"/>
              </a:rPr>
              <a:t>与</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回款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矩形 31"/>
          <p:cNvSpPr/>
          <p:nvPr/>
        </p:nvSpPr>
        <p:spPr>
          <a:xfrm>
            <a:off x="9759248" y="2131462"/>
            <a:ext cx="752246"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变更</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合同</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4" name="矩形 33"/>
          <p:cNvSpPr/>
          <p:nvPr/>
        </p:nvSpPr>
        <p:spPr>
          <a:xfrm>
            <a:off x="7938500" y="2131462"/>
            <a:ext cx="927578"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监控合同</a:t>
            </a:r>
            <a:endParaRPr lang="zh-CN" alt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algn="ctr">
              <a:spcBef>
                <a:spcPts val="0"/>
              </a:spcBef>
              <a:spcAft>
                <a:spcPts val="0"/>
              </a:spcAft>
              <a:buClrTx/>
              <a:buSzTx/>
              <a:buFontTx/>
              <a:defRPr/>
            </a:pPr>
            <a:r>
              <a:rPr lang="zh-CN" alt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履行状态</a:t>
            </a:r>
            <a:endParaRPr lang="zh-CN" altLang="en-US" sz="1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5" name="矩形 34"/>
          <p:cNvSpPr/>
          <p:nvPr/>
        </p:nvSpPr>
        <p:spPr>
          <a:xfrm>
            <a:off x="11317027" y="2131462"/>
            <a:ext cx="582872"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关闭合同</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标题 1"/>
          <p:cNvSpPr>
            <a:spLocks noGrp="1"/>
          </p:cNvSpPr>
          <p:nvPr>
            <p:ph type="title"/>
            <p:custDataLst>
              <p:tags r:id="rId1"/>
            </p:custDataLst>
          </p:nvPr>
        </p:nvSpPr>
        <p:spPr>
          <a:xfrm>
            <a:off x="406728" y="237065"/>
            <a:ext cx="10168890" cy="524510"/>
          </a:xfrm>
        </p:spPr>
        <p:txBody>
          <a:bodyPr vert="horz" wrap="square" lIns="90170" tIns="46990" rIns="90170" bIns="46990" rtlCol="0" anchor="ctr" anchorCtr="0">
            <a:spAutoFit/>
          </a:bodyPr>
          <a:lstStyle/>
          <a:p>
            <a:r>
              <a:rPr lang="zh-CN" altLang="en-US" sz="2800">
                <a:cs typeface="微软雅黑" panose="020B0503020204020204" pitchFamily="34" charset="-122"/>
                <a:sym typeface="+mn-ea"/>
              </a:rPr>
              <a:t>技术工艺评估</a:t>
            </a:r>
            <a:r>
              <a:rPr lang="zh-CN" altLang="en-US" sz="2800" dirty="0"/>
              <a:t>涉及的流程架构（</a:t>
            </a:r>
            <a:r>
              <a:rPr lang="en-US" altLang="zh-CN" sz="2800" dirty="0"/>
              <a:t>L1-L6</a:t>
            </a:r>
            <a:r>
              <a:rPr lang="zh-CN" altLang="en-US" sz="2800" dirty="0"/>
              <a:t>）</a:t>
            </a:r>
            <a:endParaRPr lang="zh-CN" altLang="en-US" sz="2800" dirty="0"/>
          </a:p>
        </p:txBody>
      </p:sp>
      <p:sp>
        <p:nvSpPr>
          <p:cNvPr id="3" name="矩形 2"/>
          <p:cNvSpPr/>
          <p:nvPr/>
        </p:nvSpPr>
        <p:spPr>
          <a:xfrm>
            <a:off x="7164345" y="2131462"/>
            <a:ext cx="703693" cy="49789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关闭机会点</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184478" y="1158159"/>
            <a:ext cx="393700" cy="1362681"/>
          </a:xfrm>
          <a:prstGeom prst="rect">
            <a:avLst/>
          </a:prstGeom>
          <a:noFill/>
        </p:spPr>
        <p:txBody>
          <a:bodyPr wrap="square" rtlCol="0" anchor="t">
            <a:spAutoFit/>
          </a:bodyPr>
          <a:lstStyle/>
          <a:p>
            <a:pPr fontAlgn="auto">
              <a:lnSpc>
                <a:spcPct val="120000"/>
              </a:lnSpc>
              <a:spcBef>
                <a:spcPts val="0"/>
              </a:spcBef>
            </a:pPr>
            <a:r>
              <a:rPr lang="zh-CN" altLang="en-US" sz="1400" dirty="0">
                <a:sym typeface="+mn-ea"/>
              </a:rPr>
              <a:t>价值流流程</a:t>
            </a:r>
            <a:endParaRPr lang="zh-CN" altLang="en-US" sz="1400" dirty="0">
              <a:sym typeface="+mn-ea"/>
            </a:endParaRPr>
          </a:p>
        </p:txBody>
      </p:sp>
      <p:sp>
        <p:nvSpPr>
          <p:cNvPr id="67" name="矩形 66"/>
          <p:cNvSpPr/>
          <p:nvPr/>
        </p:nvSpPr>
        <p:spPr>
          <a:xfrm>
            <a:off x="929821" y="1560002"/>
            <a:ext cx="3656736" cy="1090526"/>
          </a:xfrm>
          <a:prstGeom prst="rect">
            <a:avLst/>
          </a:prstGeom>
          <a:noFill/>
          <a:ln w="19050">
            <a:solidFill>
              <a:srgbClr val="FF0000"/>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98" name="矩形 97"/>
          <p:cNvSpPr/>
          <p:nvPr/>
        </p:nvSpPr>
        <p:spPr>
          <a:xfrm>
            <a:off x="5133686" y="6234248"/>
            <a:ext cx="704233" cy="243585"/>
          </a:xfrm>
          <a:prstGeom prst="rect">
            <a:avLst/>
          </a:prstGeom>
          <a:solidFill>
            <a:schemeClr val="accent4">
              <a:lumMod val="75000"/>
            </a:schemeClr>
          </a:solidFill>
          <a:ln w="3175">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ln>
                <a:solidFill>
                  <a:sysClr val="windowText" lastClr="000000"/>
                </a:solidFill>
                <a:prstDash val="solid"/>
              </a:ln>
              <a:solidFill>
                <a:schemeClr val="tx1"/>
              </a:solidFill>
            </a:endParaRPr>
          </a:p>
        </p:txBody>
      </p:sp>
      <p:sp>
        <p:nvSpPr>
          <p:cNvPr id="14" name="矩形 13"/>
          <p:cNvSpPr/>
          <p:nvPr/>
        </p:nvSpPr>
        <p:spPr>
          <a:xfrm>
            <a:off x="4879975" y="3289935"/>
            <a:ext cx="1023620" cy="504190"/>
          </a:xfrm>
          <a:prstGeom prst="rect">
            <a:avLst/>
          </a:prstGeom>
          <a:noFill/>
          <a:ln>
            <a:solidFill>
              <a:srgbClr val="F87D2F"/>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algn="ctr"/>
            <a:r>
              <a:rPr lang="zh-CN" altLang="en-US" sz="1200" dirty="0">
                <a:solidFill>
                  <a:schemeClr val="tx1"/>
                </a:solidFill>
                <a:latin typeface="微软雅黑" panose="020B0503020204020204" pitchFamily="34" charset="-122"/>
                <a:ea typeface="微软雅黑" panose="020B0503020204020204" pitchFamily="34" charset="-122"/>
                <a:sym typeface="+mn-ea"/>
              </a:rPr>
              <a:t>ATI决策</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943610" y="3289935"/>
            <a:ext cx="940435" cy="504190"/>
          </a:xfrm>
          <a:prstGeom prst="rect">
            <a:avLst/>
          </a:prstGeom>
          <a:no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创建机会点</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28" name="矩形 127"/>
          <p:cNvSpPr/>
          <p:nvPr/>
        </p:nvSpPr>
        <p:spPr>
          <a:xfrm>
            <a:off x="272415" y="2750185"/>
            <a:ext cx="828040" cy="475615"/>
          </a:xfrm>
          <a:prstGeom prst="rect">
            <a:avLst/>
          </a:prstGeom>
        </p:spPr>
        <p:txBody>
          <a:bodyPr wrap="square" rtlCol="0" anchor="t">
            <a:noAutofit/>
          </a:bodyPr>
          <a:lstStyle/>
          <a:p>
            <a:pPr lvl="0" algn="ctr" defTabSz="1218565">
              <a:lnSpc>
                <a:spcPct val="150000"/>
              </a:lnSpc>
              <a:spcBef>
                <a:spcPts val="0"/>
              </a:spcBef>
              <a:spcAft>
                <a:spcPts val="0"/>
              </a:spcAft>
              <a:buClrTx/>
              <a:buSzTx/>
              <a:buFontTx/>
              <a:defRPr/>
            </a:pPr>
            <a:r>
              <a:rPr lang="en-US" altLang="zh-CN" sz="1600" b="1"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L4</a:t>
            </a:r>
            <a:endParaRPr lang="en-US" altLang="zh-CN" sz="1600" b="1"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0" name="矩形 129"/>
          <p:cNvSpPr/>
          <p:nvPr/>
        </p:nvSpPr>
        <p:spPr>
          <a:xfrm>
            <a:off x="272415" y="3279140"/>
            <a:ext cx="828040" cy="480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32363F"/>
                </a:solidFill>
                <a:effectLst/>
                <a:uLnTx/>
                <a:uFillTx/>
                <a:latin typeface="微软雅黑" panose="020B0503020204020204" pitchFamily="34" charset="-122"/>
                <a:ea typeface="微软雅黑" panose="020B0503020204020204" pitchFamily="34" charset="-122"/>
                <a:cs typeface="+mn-ea"/>
                <a:sym typeface="+mn-lt"/>
              </a:rPr>
              <a:t>L5</a:t>
            </a:r>
            <a:endParaRPr kumimoji="0" lang="en-US" altLang="zh-CN" sz="1600" b="1" i="0" u="none" strike="noStrike" kern="1200" cap="none" spc="0" normalizeH="0" baseline="0" noProof="0" dirty="0">
              <a:ln>
                <a:noFill/>
              </a:ln>
              <a:solidFill>
                <a:srgbClr val="32363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3" name="矩形 132"/>
          <p:cNvSpPr/>
          <p:nvPr/>
        </p:nvSpPr>
        <p:spPr>
          <a:xfrm>
            <a:off x="475615" y="4801235"/>
            <a:ext cx="447675" cy="628015"/>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工具</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模板</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cxnSp>
        <p:nvCxnSpPr>
          <p:cNvPr id="18" name="连接符: 肘形 27"/>
          <p:cNvCxnSpPr>
            <a:stCxn id="14" idx="3"/>
            <a:endCxn id="19" idx="0"/>
          </p:cNvCxnSpPr>
          <p:nvPr/>
        </p:nvCxnSpPr>
        <p:spPr>
          <a:xfrm>
            <a:off x="5903595" y="3542030"/>
            <a:ext cx="809625" cy="522605"/>
          </a:xfrm>
          <a:prstGeom prst="bentConnector2">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6214745" y="4064635"/>
            <a:ext cx="996950" cy="585470"/>
          </a:xfrm>
          <a:prstGeom prst="rect">
            <a:avLst/>
          </a:prstGeom>
          <a:noFill/>
          <a:ln>
            <a:solidFill>
              <a:schemeClr val="tx2"/>
            </a:solidFill>
          </a:ln>
        </p:spPr>
        <p:txBody>
          <a:bodyPr wrap="square" rtlCol="0" anchor="t">
            <a:spAutoFit/>
          </a:bodyPr>
          <a:lstStyle/>
          <a:p>
            <a:pPr algn="ctr" fontAlgn="auto">
              <a:lnSpc>
                <a:spcPct val="120000"/>
              </a:lnSpc>
              <a:spcBef>
                <a:spcPts val="0"/>
              </a:spcBef>
            </a:pPr>
            <a:r>
              <a:rPr lang="zh-CN" altLang="en-US" sz="1400" dirty="0">
                <a:sym typeface="+mn-ea"/>
              </a:rPr>
              <a:t>管理销售项目运作</a:t>
            </a:r>
            <a:endParaRPr lang="zh-CN" altLang="en-US" sz="1400" dirty="0">
              <a:sym typeface="+mn-ea"/>
            </a:endParaRPr>
          </a:p>
        </p:txBody>
      </p:sp>
      <p:sp>
        <p:nvSpPr>
          <p:cNvPr id="21" name="矩形 20"/>
          <p:cNvSpPr/>
          <p:nvPr/>
        </p:nvSpPr>
        <p:spPr>
          <a:xfrm>
            <a:off x="2912110" y="3289935"/>
            <a:ext cx="940435" cy="504190"/>
          </a:xfrm>
          <a:prstGeom prst="rect">
            <a:avLst/>
          </a:prstGeom>
          <a:no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决策链分析</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38" name="矩形 37"/>
          <p:cNvSpPr/>
          <p:nvPr/>
        </p:nvSpPr>
        <p:spPr>
          <a:xfrm>
            <a:off x="3895725" y="3289935"/>
            <a:ext cx="940435" cy="504190"/>
          </a:xfrm>
          <a:prstGeom prst="rect">
            <a:avLst/>
          </a:prstGeom>
          <a:no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BANT</a:t>
            </a:r>
            <a:r>
              <a:rPr lang="zh-CN" altLang="en-US" sz="1200" dirty="0">
                <a:solidFill>
                  <a:schemeClr val="tx1"/>
                </a:solidFill>
                <a:latin typeface="微软雅黑" panose="020B0503020204020204" pitchFamily="34" charset="-122"/>
                <a:ea typeface="微软雅黑" panose="020B0503020204020204" pitchFamily="34" charset="-122"/>
                <a:sym typeface="+mn-ea"/>
              </a:rPr>
              <a:t>评估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43" name="文本框 42"/>
          <p:cNvSpPr txBox="1"/>
          <p:nvPr/>
        </p:nvSpPr>
        <p:spPr>
          <a:xfrm>
            <a:off x="6383020" y="3120390"/>
            <a:ext cx="660400" cy="328930"/>
          </a:xfrm>
          <a:prstGeom prst="rect">
            <a:avLst/>
          </a:prstGeom>
          <a:noFill/>
        </p:spPr>
        <p:txBody>
          <a:bodyPr wrap="square" rtlCol="0" anchor="t">
            <a:spAutoFit/>
          </a:bodyPr>
          <a:lstStyle/>
          <a:p>
            <a:pPr algn="ctr" fontAlgn="auto">
              <a:lnSpc>
                <a:spcPct val="120000"/>
              </a:lnSpc>
              <a:spcBef>
                <a:spcPts val="0"/>
              </a:spcBef>
            </a:pPr>
            <a:r>
              <a:rPr lang="zh-CN" altLang="en-US" sz="1400" dirty="0">
                <a:solidFill>
                  <a:srgbClr val="FF0000"/>
                </a:solidFill>
                <a:latin typeface="+mj-ea"/>
                <a:ea typeface="+mj-ea"/>
                <a:sym typeface="+mn-ea"/>
              </a:rPr>
              <a:t>调用</a:t>
            </a:r>
            <a:r>
              <a:rPr lang="en-US" altLang="zh-CN" sz="1400" dirty="0">
                <a:solidFill>
                  <a:srgbClr val="FF0000"/>
                </a:solidFill>
                <a:latin typeface="+mj-ea"/>
                <a:ea typeface="+mj-ea"/>
                <a:sym typeface="+mn-ea"/>
              </a:rPr>
              <a:t> </a:t>
            </a:r>
            <a:endParaRPr lang="zh-CN" altLang="en-US" sz="1400" dirty="0">
              <a:solidFill>
                <a:srgbClr val="FF0000"/>
              </a:solidFill>
              <a:latin typeface="+mj-ea"/>
              <a:ea typeface="+mj-ea"/>
              <a:sym typeface="+mn-ea"/>
            </a:endParaRPr>
          </a:p>
        </p:txBody>
      </p:sp>
      <p:sp>
        <p:nvSpPr>
          <p:cNvPr id="33" name="矩形 32"/>
          <p:cNvSpPr/>
          <p:nvPr/>
        </p:nvSpPr>
        <p:spPr>
          <a:xfrm>
            <a:off x="935990" y="2755900"/>
            <a:ext cx="5187315" cy="469900"/>
          </a:xfrm>
          <a:prstGeom prst="rect">
            <a:avLst/>
          </a:prstGeom>
          <a:solidFill>
            <a:schemeClr val="accent4">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00"/>
                </a:solidFill>
                <a:latin typeface="微软雅黑" panose="020B0503020204020204" pitchFamily="34" charset="-122"/>
                <a:ea typeface="微软雅黑" panose="020B0503020204020204" pitchFamily="34" charset="-122"/>
                <a:cs typeface="+mn-ea"/>
                <a:sym typeface="+mn-ea"/>
              </a:rPr>
              <a:t>验证机会点</a:t>
            </a:r>
            <a:endParaRPr lang="zh-CN" altLang="en-US" b="1" dirty="0">
              <a:solidFill>
                <a:srgbClr val="000000"/>
              </a:solidFill>
              <a:latin typeface="微软雅黑" panose="020B0503020204020204" pitchFamily="34" charset="-122"/>
              <a:ea typeface="微软雅黑" panose="020B0503020204020204" pitchFamily="34" charset="-122"/>
              <a:cs typeface="+mn-ea"/>
              <a:sym typeface="+mn-ea"/>
            </a:endParaRPr>
          </a:p>
        </p:txBody>
      </p:sp>
      <p:sp>
        <p:nvSpPr>
          <p:cNvPr id="36" name="文本框 35"/>
          <p:cNvSpPr txBox="1"/>
          <p:nvPr/>
        </p:nvSpPr>
        <p:spPr>
          <a:xfrm>
            <a:off x="2911475" y="4001135"/>
            <a:ext cx="2971800" cy="669925"/>
          </a:xfrm>
          <a:prstGeom prst="rect">
            <a:avLst/>
          </a:prstGeom>
          <a:noFill/>
          <a:ln>
            <a:solidFill>
              <a:srgbClr val="F87D2F"/>
            </a:solidFill>
          </a:ln>
        </p:spPr>
        <p:txBody>
          <a:bodyPr wrap="square" rtlCol="0" anchor="t">
            <a:noAutofit/>
          </a:bodyPr>
          <a:lstStyle/>
          <a:p>
            <a:pPr algn="ctr" fontAlgn="auto">
              <a:lnSpc>
                <a:spcPct val="120000"/>
              </a:lnSpc>
              <a:spcBef>
                <a:spcPts val="0"/>
              </a:spcBef>
            </a:pPr>
            <a:r>
              <a:rPr lang="zh-CN" altLang="en-US" sz="1400" b="1" dirty="0">
                <a:sym typeface="+mn-ea"/>
              </a:rPr>
              <a:t>略，详见</a:t>
            </a:r>
            <a:r>
              <a:rPr lang="en-US" altLang="zh-CN" sz="1400" b="1" dirty="0">
                <a:sym typeface="+mn-ea"/>
              </a:rPr>
              <a:t>EXCEL</a:t>
            </a:r>
            <a:r>
              <a:rPr lang="zh-CN" altLang="en-US" sz="1400" b="1" dirty="0">
                <a:sym typeface="+mn-ea"/>
              </a:rPr>
              <a:t>文档</a:t>
            </a:r>
            <a:endParaRPr lang="zh-CN" altLang="en-US" sz="1400" b="1" dirty="0">
              <a:sym typeface="+mn-ea"/>
            </a:endParaRPr>
          </a:p>
        </p:txBody>
      </p:sp>
      <p:sp>
        <p:nvSpPr>
          <p:cNvPr id="37" name="矩形 36"/>
          <p:cNvSpPr/>
          <p:nvPr/>
        </p:nvSpPr>
        <p:spPr>
          <a:xfrm>
            <a:off x="272415" y="3929380"/>
            <a:ext cx="828040" cy="480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32363F"/>
                </a:solidFill>
                <a:effectLst/>
                <a:uLnTx/>
                <a:uFillTx/>
                <a:latin typeface="微软雅黑" panose="020B0503020204020204" pitchFamily="34" charset="-122"/>
                <a:ea typeface="微软雅黑" panose="020B0503020204020204" pitchFamily="34" charset="-122"/>
                <a:cs typeface="+mn-ea"/>
                <a:sym typeface="+mn-lt"/>
              </a:rPr>
              <a:t>L6</a:t>
            </a:r>
            <a:endParaRPr kumimoji="0" lang="en-US" altLang="zh-CN" sz="1600" b="1" i="0" u="none" strike="noStrike" kern="1200" cap="none" spc="0" normalizeH="0" baseline="0" noProof="0" dirty="0">
              <a:ln>
                <a:noFill/>
              </a:ln>
              <a:solidFill>
                <a:srgbClr val="32363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9" name="矩形 38"/>
          <p:cNvSpPr/>
          <p:nvPr/>
        </p:nvSpPr>
        <p:spPr>
          <a:xfrm>
            <a:off x="1927860" y="3289935"/>
            <a:ext cx="940435" cy="504190"/>
          </a:xfrm>
          <a:prstGeom prst="rect">
            <a:avLst/>
          </a:prstGeom>
          <a:solidFill>
            <a:schemeClr val="accent4">
              <a:lumMod val="75000"/>
            </a:schemeClr>
          </a:solidFill>
          <a:ln>
            <a:solidFill>
              <a:srgbClr val="F87D2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lang="zh-CN" altLang="en-US" sz="1200" b="1" dirty="0">
                <a:solidFill>
                  <a:schemeClr val="tx1"/>
                </a:solidFill>
                <a:latin typeface="微软雅黑" panose="020B0503020204020204" pitchFamily="34" charset="-122"/>
                <a:ea typeface="微软雅黑" panose="020B0503020204020204" pitchFamily="34" charset="-122"/>
                <a:sym typeface="+mn-ea"/>
              </a:rPr>
              <a:t>需求验证</a:t>
            </a:r>
            <a:endParaRPr lang="zh-CN" altLang="en-US" sz="1200" b="1" dirty="0">
              <a:solidFill>
                <a:schemeClr val="tx1"/>
              </a:solidFill>
              <a:latin typeface="微软雅黑" panose="020B0503020204020204" pitchFamily="34" charset="-122"/>
              <a:ea typeface="微软雅黑" panose="020B0503020204020204" pitchFamily="34" charset="-122"/>
              <a:sym typeface="+mn-ea"/>
            </a:endParaRPr>
          </a:p>
        </p:txBody>
      </p:sp>
      <p:sp>
        <p:nvSpPr>
          <p:cNvPr id="41" name="文本框 40"/>
          <p:cNvSpPr txBox="1"/>
          <p:nvPr/>
        </p:nvSpPr>
        <p:spPr>
          <a:xfrm>
            <a:off x="927100" y="4001135"/>
            <a:ext cx="1941195" cy="349250"/>
          </a:xfrm>
          <a:prstGeom prst="rect">
            <a:avLst/>
          </a:prstGeom>
          <a:solidFill>
            <a:schemeClr val="accent4">
              <a:lumMod val="75000"/>
            </a:schemeClr>
          </a:solidFill>
          <a:ln>
            <a:solidFill>
              <a:srgbClr val="F87D2F"/>
            </a:solidFill>
          </a:ln>
        </p:spPr>
        <p:txBody>
          <a:bodyPr wrap="square" rtlCol="0" anchor="t">
            <a:noAutofit/>
          </a:bodyPr>
          <a:lstStyle/>
          <a:p>
            <a:pPr algn="ctr" fontAlgn="auto">
              <a:lnSpc>
                <a:spcPct val="120000"/>
              </a:lnSpc>
              <a:spcBef>
                <a:spcPts val="0"/>
              </a:spcBef>
            </a:pPr>
            <a:r>
              <a:rPr lang="zh-CN" altLang="en-US" sz="1200" b="1" dirty="0">
                <a:sym typeface="+mn-ea"/>
              </a:rPr>
              <a:t>需求分析、</a:t>
            </a:r>
            <a:r>
              <a:rPr lang="zh-CN" altLang="en-US" sz="1200" b="1" dirty="0">
                <a:sym typeface="+mn-ea"/>
              </a:rPr>
              <a:t>技术交流</a:t>
            </a:r>
            <a:endParaRPr lang="zh-CN" altLang="en-US" sz="1200" b="1" dirty="0">
              <a:sym typeface="+mn-ea"/>
            </a:endParaRPr>
          </a:p>
        </p:txBody>
      </p:sp>
      <p:sp>
        <p:nvSpPr>
          <p:cNvPr id="51" name="文本框 50"/>
          <p:cNvSpPr txBox="1"/>
          <p:nvPr/>
        </p:nvSpPr>
        <p:spPr>
          <a:xfrm>
            <a:off x="954405" y="5605145"/>
            <a:ext cx="6889115" cy="948055"/>
          </a:xfrm>
          <a:prstGeom prst="rect">
            <a:avLst/>
          </a:prstGeom>
          <a:solidFill>
            <a:schemeClr val="bg1">
              <a:lumMod val="95000"/>
            </a:schemeClr>
          </a:solidFill>
        </p:spPr>
        <p:txBody>
          <a:bodyPr wrap="square" rtlCol="0" anchor="t">
            <a:noAutofit/>
          </a:bodyPr>
          <a:lstStyle/>
          <a:p>
            <a:pPr marL="13970" algn="l" rtl="0" eaLnBrk="0">
              <a:lnSpc>
                <a:spcPct val="95000"/>
              </a:lnSpc>
              <a:spcBef>
                <a:spcPts val="305"/>
              </a:spcBef>
            </a:pPr>
            <a:r>
              <a:rPr sz="14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验证机会点流程包含两</a:t>
            </a:r>
            <a:r>
              <a:rPr sz="1400"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方面：</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92000"/>
              </a:lnSpc>
              <a:spcBef>
                <a:spcPts val="825"/>
              </a:spcBef>
            </a:pPr>
            <a:r>
              <a:rPr sz="1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1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、对外</a:t>
            </a:r>
            <a:r>
              <a:rPr sz="1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要和客</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户沟通，使机会点的具体情况逐步清晰；</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15265" indent="-202565" algn="l" rtl="0" eaLnBrk="0">
              <a:lnSpc>
                <a:spcPct val="129000"/>
              </a:lnSpc>
              <a:spcBef>
                <a:spcPts val="740"/>
              </a:spcBef>
            </a:pPr>
            <a:r>
              <a:rPr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、对内</a:t>
            </a:r>
            <a:r>
              <a:rPr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zh-CN"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部门间</a:t>
            </a:r>
            <a:r>
              <a:rPr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进行验证</a:t>
            </a:r>
            <a:r>
              <a:rPr lang="zh-CN" altLang="en-US"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(调用</a:t>
            </a:r>
            <a:r>
              <a:rPr sz="1400" kern="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ATI</a:t>
            </a:r>
            <a:r>
              <a:rPr sz="14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决策流程),确认机会点</a:t>
            </a:r>
            <a:r>
              <a:rPr sz="1400" kern="0" spc="1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的目标、定级和任命</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923290" y="4387215"/>
            <a:ext cx="1941195" cy="283845"/>
          </a:xfrm>
          <a:prstGeom prst="rect">
            <a:avLst/>
          </a:prstGeom>
          <a:solidFill>
            <a:schemeClr val="accent4">
              <a:lumMod val="75000"/>
            </a:schemeClr>
          </a:solidFill>
          <a:ln>
            <a:solidFill>
              <a:srgbClr val="F87D2F"/>
            </a:solidFill>
          </a:ln>
        </p:spPr>
        <p:txBody>
          <a:bodyPr wrap="square" rtlCol="0" anchor="t">
            <a:noAutofit/>
          </a:bodyPr>
          <a:lstStyle/>
          <a:p>
            <a:pPr algn="ctr" fontAlgn="auto">
              <a:lnSpc>
                <a:spcPct val="120000"/>
              </a:lnSpc>
              <a:spcBef>
                <a:spcPts val="0"/>
              </a:spcBef>
            </a:pPr>
            <a:r>
              <a:rPr lang="zh-CN" altLang="en-US" sz="1200" b="1" dirty="0">
                <a:sym typeface="+mn-ea"/>
              </a:rPr>
              <a:t>技术工艺评估</a:t>
            </a:r>
            <a:endParaRPr lang="zh-CN" altLang="en-US" sz="1200" b="1" dirty="0">
              <a:sym typeface="+mn-ea"/>
            </a:endParaRPr>
          </a:p>
        </p:txBody>
      </p:sp>
      <p:cxnSp>
        <p:nvCxnSpPr>
          <p:cNvPr id="10" name="连接符: 肘形 27"/>
          <p:cNvCxnSpPr>
            <a:stCxn id="5" idx="2"/>
          </p:cNvCxnSpPr>
          <p:nvPr/>
        </p:nvCxnSpPr>
        <p:spPr>
          <a:xfrm rot="5400000" flipV="1">
            <a:off x="2160905" y="4403725"/>
            <a:ext cx="488315" cy="1021715"/>
          </a:xfrm>
          <a:prstGeom prst="bentConnector2">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884045" y="4829810"/>
            <a:ext cx="660400" cy="328930"/>
          </a:xfrm>
          <a:prstGeom prst="rect">
            <a:avLst/>
          </a:prstGeom>
          <a:noFill/>
        </p:spPr>
        <p:txBody>
          <a:bodyPr wrap="square" rtlCol="0" anchor="t">
            <a:spAutoFit/>
          </a:bodyPr>
          <a:lstStyle/>
          <a:p>
            <a:pPr algn="ctr" fontAlgn="auto">
              <a:lnSpc>
                <a:spcPct val="120000"/>
              </a:lnSpc>
              <a:spcBef>
                <a:spcPts val="0"/>
              </a:spcBef>
            </a:pPr>
            <a:r>
              <a:rPr lang="zh-CN" altLang="en-US" sz="1400" dirty="0">
                <a:solidFill>
                  <a:srgbClr val="FF0000"/>
                </a:solidFill>
                <a:latin typeface="+mj-ea"/>
                <a:ea typeface="+mj-ea"/>
                <a:sym typeface="+mn-ea"/>
              </a:rPr>
              <a:t>调用</a:t>
            </a:r>
            <a:r>
              <a:rPr lang="en-US" altLang="zh-CN" sz="1400" dirty="0">
                <a:solidFill>
                  <a:srgbClr val="FF0000"/>
                </a:solidFill>
                <a:latin typeface="+mj-ea"/>
                <a:ea typeface="+mj-ea"/>
                <a:sym typeface="+mn-ea"/>
              </a:rPr>
              <a:t> </a:t>
            </a:r>
            <a:endParaRPr lang="zh-CN" altLang="en-US" sz="1400" dirty="0">
              <a:solidFill>
                <a:srgbClr val="FF0000"/>
              </a:solidFill>
              <a:latin typeface="+mj-ea"/>
              <a:ea typeface="+mj-ea"/>
              <a:sym typeface="+mn-ea"/>
            </a:endParaRPr>
          </a:p>
        </p:txBody>
      </p:sp>
      <p:pic>
        <p:nvPicPr>
          <p:cNvPr id="17" name="图片 16"/>
          <p:cNvPicPr>
            <a:picLocks noChangeAspect="1"/>
          </p:cNvPicPr>
          <p:nvPr/>
        </p:nvPicPr>
        <p:blipFill>
          <a:blip r:embed="rId2"/>
          <a:stretch>
            <a:fillRect/>
          </a:stretch>
        </p:blipFill>
        <p:spPr>
          <a:xfrm>
            <a:off x="2959735" y="4829810"/>
            <a:ext cx="6729095" cy="723900"/>
          </a:xfrm>
          <a:prstGeom prst="rect">
            <a:avLst/>
          </a:prstGeom>
          <a:ln>
            <a:solidFill>
              <a:schemeClr val="bg1">
                <a:lumMod val="50000"/>
              </a:schemeClr>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0855" y="240347"/>
            <a:ext cx="9387840" cy="524510"/>
          </a:xfrm>
        </p:spPr>
        <p:txBody>
          <a:bodyPr/>
          <a:lstStyle/>
          <a:p>
            <a:r>
              <a:rPr lang="zh-CN" altLang="en-US" sz="2800" dirty="0"/>
              <a:t>验证机会点流程规则（</a:t>
            </a:r>
            <a:r>
              <a:rPr lang="zh-CN" altLang="en-US" sz="2800" dirty="0"/>
              <a:t>建议）</a:t>
            </a:r>
            <a:endParaRPr lang="zh-CN" altLang="en-US" sz="2800" dirty="0"/>
          </a:p>
        </p:txBody>
      </p:sp>
      <p:graphicFrame>
        <p:nvGraphicFramePr>
          <p:cNvPr id="5" name="表格 4"/>
          <p:cNvGraphicFramePr>
            <a:graphicFrameLocks noGrp="1"/>
          </p:cNvGraphicFramePr>
          <p:nvPr/>
        </p:nvGraphicFramePr>
        <p:xfrm>
          <a:off x="612826" y="1032929"/>
          <a:ext cx="11130537" cy="5227736"/>
        </p:xfrm>
        <a:graphic>
          <a:graphicData uri="http://schemas.openxmlformats.org/drawingml/2006/table">
            <a:tbl>
              <a:tblPr/>
              <a:tblGrid>
                <a:gridCol w="697129"/>
                <a:gridCol w="2250040"/>
                <a:gridCol w="904126"/>
                <a:gridCol w="7279242"/>
              </a:tblGrid>
              <a:tr h="356252">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规则</a:t>
                      </a:r>
                      <a:r>
                        <a:rPr lang="en-US" sz="1100" b="1" i="0" u="none" strike="noStrike">
                          <a:solidFill>
                            <a:srgbClr val="FFFFFF"/>
                          </a:solidFill>
                          <a:effectLst/>
                          <a:latin typeface="微软雅黑" panose="020B0503020204020204" pitchFamily="34" charset="-122"/>
                          <a:ea typeface="微软雅黑" panose="020B0503020204020204" pitchFamily="34" charset="-122"/>
                        </a:rPr>
                        <a:t>ID</a:t>
                      </a:r>
                      <a:endParaRPr 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规则名称</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规则类型</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规则描述</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357695">
                <a:tc>
                  <a:txBody>
                    <a:bodyPr/>
                    <a:lstStyle/>
                    <a:p>
                      <a:pPr algn="ctr" fontAlgn="ctr">
                        <a:buNone/>
                      </a:pPr>
                      <a:r>
                        <a:rPr lang="en-US" sz="1100" b="0" i="0" u="none" strike="noStrike">
                          <a:solidFill>
                            <a:srgbClr val="121212"/>
                          </a:solidFill>
                          <a:effectLst/>
                          <a:latin typeface="微软雅黑" panose="020B0503020204020204" pitchFamily="34" charset="-122"/>
                          <a:ea typeface="微软雅黑" panose="020B0503020204020204" pitchFamily="34" charset="-122"/>
                        </a:rPr>
                        <a:t>BR-002</a:t>
                      </a:r>
                      <a:endParaRPr 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需求验证规则</a:t>
                      </a:r>
                      <a:endParaRPr lang="zh-CN" alt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a:solidFill>
                            <a:srgbClr val="121212"/>
                          </a:solidFill>
                          <a:effectLst/>
                          <a:latin typeface="微软雅黑" panose="020B0503020204020204" pitchFamily="34" charset="-122"/>
                          <a:ea typeface="微软雅黑" panose="020B0503020204020204" pitchFamily="34" charset="-122"/>
                        </a:rPr>
                        <a:t>评估规则</a:t>
                      </a:r>
                      <a:endParaRPr lang="zh-CN" alt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客户需求必须经过真实性核实，确认需求真实有效且客户具备落地意愿后方可进入下一环节。且需求必须与公司产品</a:t>
                      </a:r>
                      <a:r>
                        <a:rPr lang="en-US" altLang="zh-CN" sz="1100" b="0" i="0" u="none" strike="noStrike" dirty="0">
                          <a:solidFill>
                            <a:srgbClr val="FF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方案具备一定匹配度，且客户预算必须与需求规模相匹配，匹配度过低或预算明显不合理的需求应重新评估或终止跟进，结论在线上进行更新</a:t>
                      </a:r>
                      <a:endParaRPr lang="zh-CN" alt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BR-003</a:t>
                      </a:r>
                      <a:endPar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需求验证规则</a:t>
                      </a: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结论输出</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rPr>
                        <a:t>流程规则</a:t>
                      </a:r>
                      <a:endPar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需求验证必须输出正式结论报告，明确商机有效性判断</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noStrike">
                          <a:solidFill>
                            <a:srgbClr val="121212"/>
                          </a:solidFill>
                          <a:effectLst/>
                          <a:latin typeface="微软雅黑" panose="020B0503020204020204" pitchFamily="34" charset="-122"/>
                          <a:ea typeface="微软雅黑" panose="020B0503020204020204" pitchFamily="34" charset="-122"/>
                        </a:rPr>
                        <a:t>BR-004</a:t>
                      </a:r>
                      <a:endParaRPr 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121212"/>
                          </a:solidFill>
                          <a:effectLst/>
                          <a:latin typeface="微软雅黑" panose="020B0503020204020204" pitchFamily="34" charset="-122"/>
                          <a:ea typeface="微软雅黑" panose="020B0503020204020204" pitchFamily="34" charset="-122"/>
                        </a:rPr>
                        <a:t>BANT</a:t>
                      </a: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评估规则</a:t>
                      </a:r>
                      <a:r>
                        <a:rPr lang="en-US" altLang="zh-CN" sz="1100" b="0" i="0" u="none" strike="noStrike" dirty="0">
                          <a:solidFill>
                            <a:srgbClr val="121212"/>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预算核查</a:t>
                      </a:r>
                      <a:endParaRPr lang="zh-CN" altLang="en-US" sz="1100" b="0" i="0" u="none" strike="noStrike" dirty="0">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a:solidFill>
                            <a:srgbClr val="121212"/>
                          </a:solidFill>
                          <a:effectLst/>
                          <a:latin typeface="微软雅黑" panose="020B0503020204020204" pitchFamily="34" charset="-122"/>
                          <a:ea typeface="微软雅黑" panose="020B0503020204020204" pitchFamily="34" charset="-122"/>
                        </a:rPr>
                        <a:t>准入规则</a:t>
                      </a:r>
                      <a:endParaRPr lang="zh-CN" alt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必须核实客户项目预算额度、来源及可行性，预算不可行的项目不得继续推进</a:t>
                      </a:r>
                      <a:endParaRPr lang="zh-CN" altLang="en-US" sz="1100" b="0" i="0" u="none" strike="noStrike" dirty="0">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noStrike">
                          <a:solidFill>
                            <a:srgbClr val="121212"/>
                          </a:solidFill>
                          <a:effectLst/>
                          <a:latin typeface="微软雅黑" panose="020B0503020204020204" pitchFamily="34" charset="-122"/>
                          <a:ea typeface="微软雅黑" panose="020B0503020204020204" pitchFamily="34" charset="-122"/>
                        </a:rPr>
                        <a:t>BR-005</a:t>
                      </a:r>
                      <a:endParaRPr 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121212"/>
                          </a:solidFill>
                          <a:effectLst/>
                          <a:latin typeface="微软雅黑" panose="020B0503020204020204" pitchFamily="34" charset="-122"/>
                          <a:ea typeface="微软雅黑" panose="020B0503020204020204" pitchFamily="34" charset="-122"/>
                        </a:rPr>
                        <a:t>BANT</a:t>
                      </a: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评估规则</a:t>
                      </a:r>
                      <a:r>
                        <a:rPr lang="en-US" altLang="zh-CN" sz="1100" b="0" i="0" u="none" strike="noStrike" dirty="0">
                          <a:solidFill>
                            <a:srgbClr val="121212"/>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权限核查</a:t>
                      </a:r>
                      <a:endParaRPr lang="zh-CN" altLang="en-US" sz="1100" b="0" i="0" u="none" strike="noStrike" dirty="0">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a:solidFill>
                            <a:srgbClr val="121212"/>
                          </a:solidFill>
                          <a:effectLst/>
                          <a:latin typeface="微软雅黑" panose="020B0503020204020204" pitchFamily="34" charset="-122"/>
                          <a:ea typeface="微软雅黑" panose="020B0503020204020204" pitchFamily="34" charset="-122"/>
                        </a:rPr>
                        <a:t>准入规则</a:t>
                      </a:r>
                      <a:endParaRPr lang="zh-CN" alt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noStrike">
                          <a:solidFill>
                            <a:srgbClr val="121212"/>
                          </a:solidFill>
                          <a:effectLst/>
                          <a:latin typeface="微软雅黑" panose="020B0503020204020204" pitchFamily="34" charset="-122"/>
                          <a:ea typeface="微软雅黑" panose="020B0503020204020204" pitchFamily="34" charset="-122"/>
                        </a:rPr>
                        <a:t>必须核实项目决策人审批权限及权限合规性，权限不合规不得继续推进</a:t>
                      </a:r>
                      <a:endParaRPr lang="zh-CN" alt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BR-006</a:t>
                      </a:r>
                      <a:endPar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BANT+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评估规则</a:t>
                      </a: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价值毛利评估</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rPr>
                        <a:t>评估规则</a:t>
                      </a:r>
                      <a:endPar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必须评估项目战略价值与毛利空间，形成量化的价值评估结论</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BR-007</a:t>
                      </a:r>
                      <a:endPar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BANT+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评估规则</a:t>
                      </a: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风险研判</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rPr>
                        <a:t>评估规则</a:t>
                      </a:r>
                      <a:endParaRPr lang="zh-CN" altLang="en-US" sz="1100" b="0" i="0" u="none" strike="sng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必须研判市场竞争格局与履约风险，评估项目整体风险等级</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引用线索规则</a:t>
                      </a:r>
                      <a:endParaRPr 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zh-CN" altLang="en-US" sz="1050" b="1" i="0" u="none" strike="noStrike" dirty="0">
                          <a:solidFill>
                            <a:srgbClr val="FF0000"/>
                          </a:solidFill>
                          <a:effectLst/>
                          <a:latin typeface="微软雅黑" panose="020B0503020204020204" pitchFamily="34" charset="-122"/>
                          <a:ea typeface="微软雅黑" panose="020B0503020204020204" pitchFamily="34" charset="-122"/>
                        </a:rPr>
                        <a:t>价值评估维度规则</a:t>
                      </a:r>
                      <a:endParaRPr lang="zh-CN" altLang="en-US" sz="1050" b="1"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评估规则</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线索价值评估采用</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BANT</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评估模型，综合考量预算</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(Budget)</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、权限</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(Authority)</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、需求</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(Need)</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、时间</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(Time)</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四个维度。</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p>
                      <a:pPr algn="l"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预算</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(Budget)</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    预算未确认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0</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预算已确认未审批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3</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预算已审批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5</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p>
                      <a:pPr algn="l"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权限</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(Authority)</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：部门基层</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2</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部门主管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3</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CEO</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或董事及其他</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CXO 5</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p>
                      <a:pPr algn="l"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需求</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(Need)</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      需求不清晰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0</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需求已初步确认且基本匹配公司能力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3</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需求已确认且较匹配公司能力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5</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p>
                      <a:pPr algn="l" fontAlgn="b">
                        <a:buNone/>
                      </a:pP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时间</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(Time)</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       不清楚建设周期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0</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3</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年内建设</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3</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                一年内建设 </a:t>
                      </a:r>
                      <a:r>
                        <a:rPr lang="en-US" altLang="zh-CN" sz="1050" b="0" i="0" u="none" strike="noStrike" dirty="0">
                          <a:solidFill>
                            <a:srgbClr val="FF0000"/>
                          </a:solidFill>
                          <a:effectLst/>
                          <a:latin typeface="微软雅黑" panose="020B0503020204020204" pitchFamily="34" charset="-122"/>
                          <a:ea typeface="微软雅黑" panose="020B0503020204020204" pitchFamily="34" charset="-122"/>
                        </a:rPr>
                        <a:t>5</a:t>
                      </a:r>
                      <a:r>
                        <a:rPr lang="zh-CN" altLang="en-US" sz="1050" b="0" i="0" u="none" strike="noStrike" dirty="0">
                          <a:solidFill>
                            <a:srgbClr val="FF0000"/>
                          </a:solidFill>
                          <a:effectLst/>
                          <a:latin typeface="微软雅黑" panose="020B0503020204020204" pitchFamily="34" charset="-122"/>
                          <a:ea typeface="微软雅黑" panose="020B0503020204020204" pitchFamily="34" charset="-122"/>
                        </a:rPr>
                        <a:t>分</a:t>
                      </a:r>
                      <a:endParaRPr lang="zh-CN" altLang="en-US"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BR-009</a:t>
                      </a:r>
                      <a:endPar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BANT+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评估规则</a:t>
                      </a: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战略项目评估</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评估规则</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战略级项目必须进行专项价值与风险评估，形成独立评估结论</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0603">
                <a:tc>
                  <a:txBody>
                    <a:bodyPr/>
                    <a:lstStyle/>
                    <a:p>
                      <a:pPr algn="ctr" fontAlgn="ctr">
                        <a:buNone/>
                      </a:pPr>
                      <a:r>
                        <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BR-010</a:t>
                      </a:r>
                      <a:endParaRPr 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咨询需求处理规则</a:t>
                      </a:r>
                      <a:r>
                        <a:rPr lang="en-US" altLang="zh-CN"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商机判定</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决策规则</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rPr>
                        <a:t>纯咨询类需求应判定为非有效商机，记录咨询信息并归档后关闭流程</a:t>
                      </a:r>
                      <a:endParaRPr lang="zh-CN" altLang="en-US" sz="1100" b="0" i="0" u="none" strike="sng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69049">
                <a:tc>
                  <a:txBody>
                    <a:bodyPr/>
                    <a:lstStyle/>
                    <a:p>
                      <a:pPr algn="ctr" fontAlgn="ctr">
                        <a:buNone/>
                      </a:pPr>
                      <a:r>
                        <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BR-011</a:t>
                      </a:r>
                      <a:endPar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决策链客户拜访管理</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流程规则</a:t>
                      </a:r>
                      <a:endPar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1</a:t>
                      </a: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、销售拜访客户</a:t>
                      </a: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3</a:t>
                      </a: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个工作日前，需提交客户拜访报备申请；</a:t>
                      </a:r>
                      <a:endPar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p>
                      <a:pPr algn="l" fontAlgn="ctr">
                        <a:buNone/>
                      </a:pP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2</a:t>
                      </a: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、事后复盘在见客户后当天内完成，参与人包括销售人员及解决方案专家，复盘包含客户关注点、满意不满意点、引导策略有效性、下步动作，复盘内容以会议纪要形式当天输出；</a:t>
                      </a:r>
                      <a:endPar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p>
                      <a:pPr algn="l" fontAlgn="ctr">
                        <a:buNone/>
                      </a:pP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3</a:t>
                      </a: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、纪要核心内容包含客户项目节奏、预算、决策链、痛点根因分析，确保复盘质量与销售能力提升</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542178">
                <a:tc>
                  <a:txBody>
                    <a:bodyPr/>
                    <a:lstStyle/>
                    <a:p>
                      <a:pPr algn="ctr" fontAlgn="ctr">
                        <a:buNone/>
                      </a:pPr>
                      <a:r>
                        <a:rPr lang="en-US" sz="1100" b="0" i="0" u="none" strike="noStrike">
                          <a:solidFill>
                            <a:srgbClr val="121212"/>
                          </a:solidFill>
                          <a:effectLst/>
                          <a:latin typeface="微软雅黑" panose="020B0503020204020204" pitchFamily="34" charset="-122"/>
                          <a:ea typeface="微软雅黑" panose="020B0503020204020204" pitchFamily="34" charset="-122"/>
                        </a:rPr>
                        <a:t>BR-012</a:t>
                      </a:r>
                      <a:endParaRPr 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机会点信息完整性规则</a:t>
                      </a:r>
                      <a:endParaRPr lang="zh-CN" altLang="en-US" sz="1100" b="0" i="0" u="none" strike="noStrike" dirty="0">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0" i="0" u="none" strike="noStrike">
                          <a:solidFill>
                            <a:srgbClr val="121212"/>
                          </a:solidFill>
                          <a:effectLst/>
                          <a:latin typeface="微软雅黑" panose="020B0503020204020204" pitchFamily="34" charset="-122"/>
                          <a:ea typeface="微软雅黑" panose="020B0503020204020204" pitchFamily="34" charset="-122"/>
                        </a:rPr>
                        <a:t>验证规则</a:t>
                      </a:r>
                      <a:endParaRPr lang="zh-CN" altLang="en-US" sz="1100" b="0" i="0" u="none" strike="noStrike">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0" i="0" u="none" strike="noStrike" dirty="0">
                          <a:solidFill>
                            <a:srgbClr val="121212"/>
                          </a:solidFill>
                          <a:effectLst/>
                          <a:latin typeface="微软雅黑" panose="020B0503020204020204" pitchFamily="34" charset="-122"/>
                          <a:ea typeface="微软雅黑" panose="020B0503020204020204" pitchFamily="34" charset="-122"/>
                        </a:rPr>
                        <a:t>机会点档案必填字段：客户企业名称、联系人、产品解决方案类别、来源渠道、需求描述，其中前四个字段需为结构化字段。如通过数字化系统进行机会点管理，则客户企业名称和联系人需在客户关系管理系统中已存在并支持关联到机会点管理模块。</a:t>
                      </a:r>
                      <a:endParaRPr lang="zh-CN" altLang="en-US" sz="1100" b="0" i="0" u="none" strike="noStrike" dirty="0">
                        <a:solidFill>
                          <a:srgbClr val="121212"/>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680" y="229552"/>
            <a:ext cx="9387840" cy="524510"/>
          </a:xfrm>
        </p:spPr>
        <p:txBody>
          <a:bodyPr/>
          <a:lstStyle/>
          <a:p>
            <a:r>
              <a:rPr lang="zh-CN" altLang="en-US" sz="2800" dirty="0"/>
              <a:t>验证机会点流程指标（</a:t>
            </a:r>
            <a:r>
              <a:rPr lang="zh-CN" altLang="en-US" sz="2800" dirty="0"/>
              <a:t>建议）</a:t>
            </a:r>
            <a:endParaRPr lang="zh-CN" altLang="en-US" sz="2800" dirty="0"/>
          </a:p>
        </p:txBody>
      </p:sp>
      <p:graphicFrame>
        <p:nvGraphicFramePr>
          <p:cNvPr id="3" name="表格 2"/>
          <p:cNvGraphicFramePr>
            <a:graphicFrameLocks noGrp="1"/>
          </p:cNvGraphicFramePr>
          <p:nvPr/>
        </p:nvGraphicFramePr>
        <p:xfrm>
          <a:off x="541020" y="1017270"/>
          <a:ext cx="11309985" cy="4219575"/>
        </p:xfrm>
        <a:graphic>
          <a:graphicData uri="http://schemas.openxmlformats.org/drawingml/2006/table">
            <a:tbl>
              <a:tblPr/>
              <a:tblGrid>
                <a:gridCol w="604520"/>
                <a:gridCol w="1186180"/>
                <a:gridCol w="750570"/>
                <a:gridCol w="615950"/>
                <a:gridCol w="2789555"/>
                <a:gridCol w="2013585"/>
                <a:gridCol w="719455"/>
                <a:gridCol w="708660"/>
                <a:gridCol w="1032510"/>
                <a:gridCol w="889000"/>
              </a:tblGrid>
              <a:tr h="504190">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指标</a:t>
                      </a:r>
                      <a:r>
                        <a:rPr lang="en-US" sz="1100" b="1" i="0" u="none" strike="noStrike">
                          <a:solidFill>
                            <a:srgbClr val="FFFFFF"/>
                          </a:solidFill>
                          <a:effectLst/>
                          <a:latin typeface="微软雅黑" panose="020B0503020204020204" pitchFamily="34" charset="-122"/>
                          <a:ea typeface="微软雅黑" panose="020B0503020204020204" pitchFamily="34" charset="-122"/>
                        </a:rPr>
                        <a:t>ID</a:t>
                      </a:r>
                      <a:endParaRPr 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指标名称</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指标类型</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指标维度</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指标描述</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计算公式</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取值范围</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目标值</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数据来源</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计算频率</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1050925">
                <a:tc>
                  <a:txBody>
                    <a:bodyPr/>
                    <a:lstStyle/>
                    <a:p>
                      <a:pPr algn="ctr" fontAlgn="ctr">
                        <a:buNone/>
                      </a:pPr>
                      <a:r>
                        <a:rPr lang="en-US" sz="1100" b="0" i="0" u="none" strike="noStrike">
                          <a:solidFill>
                            <a:srgbClr val="000000"/>
                          </a:solidFill>
                          <a:effectLst/>
                          <a:latin typeface="微软雅黑" panose="020B0503020204020204" pitchFamily="34" charset="-122"/>
                          <a:ea typeface="微软雅黑" panose="020B0503020204020204" pitchFamily="34" charset="-122"/>
                        </a:rPr>
                        <a:t>PI-001</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需求验证通过率</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质量指标</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占比</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需求验证通过的数量占验证总数量的比例</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验证通过数</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验证总数</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×100%</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0-100%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80%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需求验证报告</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月度</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755650">
                <a:tc>
                  <a:txBody>
                    <a:bodyPr/>
                    <a:lstStyle/>
                    <a:p>
                      <a:pPr algn="ctr" fontAlgn="ctr">
                        <a:buNone/>
                      </a:pPr>
                      <a:r>
                        <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PI-002</a:t>
                      </a:r>
                      <a:endParaRPr 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机会点立项通过率</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效果指标</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占比</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通过立项决策的机会点所占比例</a:t>
                      </a:r>
                      <a:endPar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立项通过数</a:t>
                      </a: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a:t>
                      </a: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机会点总数</a:t>
                      </a: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×100%</a:t>
                      </a:r>
                      <a:endPar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0-100%</a:t>
                      </a:r>
                      <a:endPar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a:t>
                      </a:r>
                      <a:r>
                        <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rPr>
                        <a:t>60%</a:t>
                      </a:r>
                      <a:endParaRPr lang="en-US" altLang="zh-CN" sz="1100" b="0" i="0" u="none" strike="noStrike" dirty="0">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立项批复</a:t>
                      </a:r>
                      <a:endPar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rPr>
                        <a:t>季度</a:t>
                      </a:r>
                      <a:endParaRPr lang="zh-CN" altLang="en-US" sz="1100" b="0" i="0" u="none" strike="noStrike">
                        <a:solidFill>
                          <a:schemeClr val="bg1">
                            <a:lumMod val="85000"/>
                          </a:schemeClr>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856615">
                <a:tc>
                  <a:txBody>
                    <a:bodyPr/>
                    <a:lstStyle/>
                    <a:p>
                      <a:pPr algn="ctr" fontAlgn="ctr">
                        <a:buNone/>
                      </a:pPr>
                      <a:r>
                        <a:rPr lang="en-US" sz="1100" b="0" i="0" u="none" strike="noStrike">
                          <a:solidFill>
                            <a:srgbClr val="000000"/>
                          </a:solidFill>
                          <a:effectLst/>
                          <a:latin typeface="微软雅黑" panose="020B0503020204020204" pitchFamily="34" charset="-122"/>
                          <a:ea typeface="微软雅黑" panose="020B0503020204020204" pitchFamily="34" charset="-122"/>
                        </a:rPr>
                        <a:t>PI-003</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需求验证周期</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效率指标</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占比</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从客户提出需求到完成需求验证的周期</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验证完成时间</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需求提出时间</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1-30</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天</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FF0000"/>
                          </a:solidFill>
                          <a:effectLst/>
                          <a:latin typeface="微软雅黑" panose="020B0503020204020204" pitchFamily="34" charset="-122"/>
                          <a:ea typeface="微软雅黑" panose="020B0503020204020204" pitchFamily="34" charset="-122"/>
                        </a:rPr>
                        <a:t>30</a:t>
                      </a: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天</a:t>
                      </a:r>
                      <a:endParaRPr lang="zh-CN" alt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需求验证报告</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月度</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052195">
                <a:tc>
                  <a:txBody>
                    <a:bodyPr/>
                    <a:p>
                      <a:pPr algn="ctr" fontAlgn="ctr">
                        <a:buNone/>
                      </a:pPr>
                      <a:r>
                        <a:rPr lang="en-US" sz="1100" b="0" i="0" u="none" strike="noStrike">
                          <a:solidFill>
                            <a:srgbClr val="000000"/>
                          </a:solidFill>
                          <a:effectLst/>
                          <a:latin typeface="微软雅黑" panose="020B0503020204020204" pitchFamily="34" charset="-122"/>
                          <a:ea typeface="微软雅黑" panose="020B0503020204020204" pitchFamily="34" charset="-122"/>
                        </a:rPr>
                        <a:t>PI-004</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完备性</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齐套指标</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占比</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客户提出需求数量到完成需求验证数量</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百分比</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验证完成数量</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需求提出数量</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*100%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en-US" sz="1100" b="0" i="0" u="none" strike="noStrike">
                          <a:solidFill>
                            <a:srgbClr val="000000"/>
                          </a:solidFill>
                          <a:effectLst/>
                          <a:latin typeface="微软雅黑" panose="020B0503020204020204" pitchFamily="34" charset="-122"/>
                          <a:ea typeface="微软雅黑" panose="020B0503020204020204" pitchFamily="34" charset="-122"/>
                        </a:rPr>
                        <a:t>0-100%</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en-US" altLang="zh-CN" sz="1100">
                          <a:solidFill>
                            <a:srgbClr val="000000"/>
                          </a:solidFill>
                          <a:effectLst/>
                          <a:latin typeface="微软雅黑" panose="020B0503020204020204" pitchFamily="34" charset="-122"/>
                          <a:ea typeface="微软雅黑" panose="020B0503020204020204" pitchFamily="34" charset="-122"/>
                          <a:sym typeface="+mn-ea"/>
                        </a:rPr>
                        <a:t>=100%</a:t>
                      </a:r>
                      <a:endParaRPr lang="zh-CN" alt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需求验证报告</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季度</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181" marR="4181" marT="41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680" y="218757"/>
            <a:ext cx="9387840" cy="524510"/>
          </a:xfrm>
        </p:spPr>
        <p:txBody>
          <a:bodyPr/>
          <a:lstStyle/>
          <a:p>
            <a:r>
              <a:rPr lang="zh-CN" altLang="en-US" sz="2800" dirty="0"/>
              <a:t>验证机会点流程</a:t>
            </a:r>
            <a:r>
              <a:rPr lang="en-US" altLang="zh-CN" sz="2800" dirty="0"/>
              <a:t>KCP</a:t>
            </a:r>
            <a:r>
              <a:rPr lang="zh-CN" altLang="en-US" sz="2800" dirty="0"/>
              <a:t>（建议）</a:t>
            </a:r>
            <a:endParaRPr lang="zh-CN" altLang="en-US" sz="2800" dirty="0"/>
          </a:p>
        </p:txBody>
      </p:sp>
      <p:graphicFrame>
        <p:nvGraphicFramePr>
          <p:cNvPr id="5" name="表格 4"/>
          <p:cNvGraphicFramePr>
            <a:graphicFrameLocks noGrp="1"/>
          </p:cNvGraphicFramePr>
          <p:nvPr/>
        </p:nvGraphicFramePr>
        <p:xfrm>
          <a:off x="551815" y="1233170"/>
          <a:ext cx="11273790" cy="2859405"/>
        </p:xfrm>
        <a:graphic>
          <a:graphicData uri="http://schemas.openxmlformats.org/drawingml/2006/table">
            <a:tbl>
              <a:tblPr/>
              <a:tblGrid>
                <a:gridCol w="668020"/>
                <a:gridCol w="768350"/>
                <a:gridCol w="2541270"/>
                <a:gridCol w="1783080"/>
                <a:gridCol w="1559560"/>
                <a:gridCol w="1439545"/>
                <a:gridCol w="2513965"/>
              </a:tblGrid>
              <a:tr h="753745">
                <a:tc>
                  <a:txBody>
                    <a:bodyPr/>
                    <a:lstStyle/>
                    <a:p>
                      <a:pPr algn="ctr" fontAlgn="ctr">
                        <a:buNone/>
                      </a:pPr>
                      <a:r>
                        <a:rPr lang="en-US" sz="1100" b="1" i="0" u="none" strike="noStrike">
                          <a:solidFill>
                            <a:srgbClr val="FFFFFF"/>
                          </a:solidFill>
                          <a:effectLst/>
                          <a:latin typeface="微软雅黑" panose="020B0503020204020204" pitchFamily="34" charset="-122"/>
                          <a:ea typeface="微软雅黑" panose="020B0503020204020204" pitchFamily="34" charset="-122"/>
                        </a:rPr>
                        <a:t>KCP</a:t>
                      </a: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编码</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en-US" sz="1100" b="1" i="0" u="none" strike="noStrike">
                          <a:solidFill>
                            <a:srgbClr val="FFFFFF"/>
                          </a:solidFill>
                          <a:effectLst/>
                          <a:latin typeface="微软雅黑" panose="020B0503020204020204" pitchFamily="34" charset="-122"/>
                          <a:ea typeface="微软雅黑" panose="020B0503020204020204" pitchFamily="34" charset="-122"/>
                        </a:rPr>
                        <a:t>KCP</a:t>
                      </a: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名称</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描述</a:t>
                      </a:r>
                      <a:endParaRPr lang="zh-CN" altLang="en-US" sz="1100" b="1" i="0" u="none" strike="noStrike" dirty="0">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风险</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控制目标</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控制类型</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控制措施</a:t>
                      </a:r>
                      <a:endParaRPr lang="zh-CN"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2105660">
                <a:tc>
                  <a:txBody>
                    <a:bodyPr/>
                    <a:lstStyle/>
                    <a:p>
                      <a:pPr algn="ctr" fontAlgn="ctr">
                        <a:buNone/>
                      </a:pPr>
                      <a:r>
                        <a:rPr lang="en-US" sz="1100" b="0" i="0" u="none" strike="noStrike">
                          <a:solidFill>
                            <a:srgbClr val="000000"/>
                          </a:solidFill>
                          <a:effectLst/>
                          <a:latin typeface="微软雅黑" panose="020B0503020204020204" pitchFamily="34" charset="-122"/>
                          <a:ea typeface="微软雅黑" panose="020B0503020204020204" pitchFamily="34" charset="-122"/>
                        </a:rPr>
                        <a:t>KCP-001</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立项决策</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对通过需求验证、决策链分析、</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BANT</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评估的机会点进行立项决策，确定项目定级、阵型和团队成员，发布正式项目组任命（调用管理销售项目运作流程的立项决策流程）</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a:solidFill>
                            <a:schemeClr val="tx1"/>
                          </a:solidFill>
                          <a:effectLst/>
                          <a:latin typeface="微软雅黑" panose="020B0503020204020204" pitchFamily="34" charset="-122"/>
                          <a:ea typeface="微软雅黑" panose="020B0503020204020204" pitchFamily="34" charset="-122"/>
                        </a:rPr>
                        <a:t>立项决策不规范、信息不完整，导致项目定级失误、资源配置不合理</a:t>
                      </a:r>
                      <a:endParaRPr lang="zh-CN"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确保符合立项条件的机会点方可正式立项，保证机会点立项的质量</a:t>
                      </a:r>
                      <a:endParaRPr lang="zh-CN" altLang="en-US" sz="1100" b="0" i="0" u="none" strike="noStrike" dirty="0">
                        <a:solidFill>
                          <a:srgbClr val="FF0000"/>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人工审批</a:t>
                      </a: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规则校验</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销售人员提交完整评估材料（</a:t>
                      </a:r>
                      <a:r>
                        <a:rPr lang="zh-CN" altLang="en-US" sz="1100" b="0" i="0" u="none" strike="noStrike" dirty="0">
                          <a:solidFill>
                            <a:srgbClr val="FF0000"/>
                          </a:solidFill>
                          <a:effectLst/>
                          <a:latin typeface="微软雅黑" panose="020B0503020204020204" pitchFamily="34" charset="-122"/>
                          <a:ea typeface="微软雅黑" panose="020B0503020204020204" pitchFamily="34" charset="-122"/>
                        </a:rPr>
                        <a:t>调用销售项目立项流程内容</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公司组织立项评审；</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3.</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销售主管决策项目定级、阵型和团队成员；</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r>
                        <a:rPr lang="en-US" altLang="zh-CN" sz="1100" b="0" i="0" u="none" strike="noStrike" dirty="0">
                          <a:solidFill>
                            <a:schemeClr val="tx1"/>
                          </a:solidFill>
                          <a:effectLst/>
                          <a:latin typeface="微软雅黑" panose="020B0503020204020204" pitchFamily="34" charset="-122"/>
                          <a:ea typeface="微软雅黑" panose="020B0503020204020204" pitchFamily="34" charset="-122"/>
                        </a:rPr>
                        <a:t>4.</a:t>
                      </a:r>
                      <a:r>
                        <a:rPr lang="zh-CN" altLang="en-US" sz="1100" b="0" i="0" u="none" strike="noStrike" dirty="0">
                          <a:solidFill>
                            <a:schemeClr val="tx1"/>
                          </a:solidFill>
                          <a:effectLst/>
                          <a:latin typeface="微软雅黑" panose="020B0503020204020204" pitchFamily="34" charset="-122"/>
                          <a:ea typeface="微软雅黑" panose="020B0503020204020204" pitchFamily="34" charset="-122"/>
                        </a:rPr>
                        <a:t>发布正式项目组任命</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29260"/>
            <a:ext cx="9378315"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a:t>
            </a:r>
            <a:r>
              <a:rPr sz="2800">
                <a:solidFill>
                  <a:schemeClr val="tx1"/>
                </a:solidFill>
                <a:latin typeface="+mn-ea"/>
                <a:ea typeface="+mn-ea"/>
                <a:sym typeface="+mn-ea"/>
              </a:rPr>
              <a:t>工艺</a:t>
            </a:r>
            <a:r>
              <a:rPr lang="zh-CN" sz="2800">
                <a:solidFill>
                  <a:schemeClr val="tx1"/>
                </a:solidFill>
                <a:latin typeface="+mn-ea"/>
                <a:ea typeface="+mn-ea"/>
                <a:sym typeface="+mn-ea"/>
              </a:rPr>
              <a:t>评估的</a:t>
            </a:r>
            <a:r>
              <a:rPr lang="en-US" altLang="zh-CN" sz="2800">
                <a:solidFill>
                  <a:schemeClr val="tx1"/>
                </a:solidFill>
                <a:latin typeface="+mn-ea"/>
                <a:ea typeface="+mn-ea"/>
                <a:sym typeface="+mn-ea"/>
              </a:rPr>
              <a:t>BA</a:t>
            </a:r>
            <a:r>
              <a:rPr lang="zh-CN" altLang="en-US" sz="2800">
                <a:solidFill>
                  <a:schemeClr val="tx1"/>
                </a:solidFill>
                <a:latin typeface="+mn-ea"/>
                <a:ea typeface="+mn-ea"/>
                <a:sym typeface="+mn-ea"/>
              </a:rPr>
              <a:t>设计（</a:t>
            </a:r>
            <a:r>
              <a:rPr lang="en-US" altLang="zh-CN" sz="2800">
                <a:solidFill>
                  <a:schemeClr val="tx1"/>
                </a:solidFill>
                <a:latin typeface="+mn-ea"/>
                <a:ea typeface="+mn-ea"/>
                <a:sym typeface="+mn-ea"/>
              </a:rPr>
              <a:t>AI Agent</a:t>
            </a:r>
            <a:r>
              <a:rPr lang="zh-CN" altLang="en-US" sz="2800">
                <a:solidFill>
                  <a:schemeClr val="tx1"/>
                </a:solidFill>
                <a:latin typeface="+mn-ea"/>
                <a:ea typeface="+mn-ea"/>
                <a:sym typeface="+mn-ea"/>
              </a:rPr>
              <a:t>）</a:t>
            </a:r>
            <a:endParaRPr lang="zh-CN" altLang="en-US" sz="2800">
              <a:solidFill>
                <a:schemeClr val="tx1"/>
              </a:solidFill>
              <a:latin typeface="+mn-ea"/>
              <a:ea typeface="+mn-ea"/>
              <a:sym typeface="+mn-ea"/>
            </a:endParaRPr>
          </a:p>
        </p:txBody>
      </p:sp>
      <p:sp>
        <p:nvSpPr>
          <p:cNvPr id="6" name="矩形 5"/>
          <p:cNvSpPr/>
          <p:nvPr/>
        </p:nvSpPr>
        <p:spPr>
          <a:xfrm>
            <a:off x="264160" y="2867660"/>
            <a:ext cx="935990" cy="50609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解析技术工艺</a:t>
            </a: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过程</a:t>
            </a:r>
            <a:endPar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1" name="箭头: V 形 20"/>
          <p:cNvSpPr/>
          <p:nvPr/>
        </p:nvSpPr>
        <p:spPr>
          <a:xfrm>
            <a:off x="1315720" y="2846070"/>
            <a:ext cx="1684655" cy="534035"/>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a:t>
            </a:r>
            <a:r>
              <a:rPr lang="en-US" altLang="zh-CN"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图纸解析与设计工艺转化</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3" name="箭头: V 形 22"/>
          <p:cNvSpPr/>
          <p:nvPr/>
        </p:nvSpPr>
        <p:spPr>
          <a:xfrm>
            <a:off x="4855845" y="2846070"/>
            <a:ext cx="1957705"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3</a:t>
            </a:r>
            <a:r>
              <a:rPr lang="en-US" altLang="zh-CN"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制造工艺路径规划和</a:t>
            </a:r>
            <a:r>
              <a:rPr lang="en-US" altLang="zh-CN"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BOM</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编制</a:t>
            </a:r>
            <a:endPar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4" name="箭头: V 形 23"/>
          <p:cNvSpPr/>
          <p:nvPr/>
        </p:nvSpPr>
        <p:spPr>
          <a:xfrm>
            <a:off x="8538210" y="2846070"/>
            <a:ext cx="2058670"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5</a:t>
            </a:r>
            <a:r>
              <a:rPr lang="en-US" altLang="zh-CN"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组装与检测</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方案制定</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8" name="箭头: V 形 27"/>
          <p:cNvSpPr/>
          <p:nvPr/>
        </p:nvSpPr>
        <p:spPr>
          <a:xfrm>
            <a:off x="2938145" y="2846070"/>
            <a:ext cx="1901190" cy="53340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fromWordArt="0" anchor="ctr" anchorCtr="0" forceAA="0" compatLnSpc="1">
            <a:noAutofit/>
          </a:bodyPr>
          <a:lstStyle/>
          <a:p>
            <a:pPr lvl="0" algn="ctr" hangingPunct="0">
              <a:spcBef>
                <a:spcPts val="0"/>
              </a:spcBef>
              <a:spcAft>
                <a:spcPts val="0"/>
              </a:spcAft>
              <a:buClrTx/>
              <a:buSzTx/>
              <a:buFontTx/>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 </a:t>
            </a:r>
            <a:r>
              <a:rPr lang="en-US" altLang="zh-CN"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材料定性与</a:t>
            </a:r>
            <a:endParaRPr lang="en-US" altLang="zh-CN"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lvl="0" algn="ctr" hangingPunct="0">
              <a:spcBef>
                <a:spcPts val="0"/>
              </a:spcBef>
              <a:spcAft>
                <a:spcPts val="0"/>
              </a:spcAft>
              <a:buClrTx/>
              <a:buSzTx/>
              <a:buFontTx/>
            </a:pPr>
            <a:r>
              <a:rPr lang="en-US" altLang="zh-CN"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供应链拆解</a:t>
            </a:r>
            <a:endParaRPr lang="en-US" altLang="zh-CN"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3" name="箭头: V 形 2"/>
          <p:cNvSpPr/>
          <p:nvPr/>
        </p:nvSpPr>
        <p:spPr>
          <a:xfrm>
            <a:off x="6731000" y="2846070"/>
            <a:ext cx="1807210"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4</a:t>
            </a:r>
            <a:r>
              <a:rPr lang="en-US" altLang="zh-CN"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清洗与洁净度管控方案制定</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0" name="文本框 19"/>
          <p:cNvSpPr txBox="1"/>
          <p:nvPr/>
        </p:nvSpPr>
        <p:spPr>
          <a:xfrm>
            <a:off x="579120" y="2609121"/>
            <a:ext cx="360000" cy="216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rgbClr val="0000FF"/>
                </a:solidFill>
                <a:latin typeface="微软雅黑 Light" panose="020B0502040204020203" charset="-122"/>
                <a:ea typeface="微软雅黑 Light" panose="020B0502040204020203" charset="-122"/>
              </a:defRPr>
            </a:lvl1pPr>
          </a:lstStyle>
          <a:p>
            <a:pPr algn="ctr" hangingPunct="0">
              <a:spcBef>
                <a:spcPts val="0"/>
              </a:spcBef>
              <a:spcAft>
                <a:spcPts val="0"/>
              </a:spcAft>
            </a:pPr>
            <a:r>
              <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6</a:t>
            </a:r>
            <a:endPar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9" name="文本框 98"/>
          <p:cNvSpPr txBox="1"/>
          <p:nvPr/>
        </p:nvSpPr>
        <p:spPr>
          <a:xfrm>
            <a:off x="1557020" y="3519170"/>
            <a:ext cx="1080135" cy="53213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p:txBody>
      </p:sp>
      <p:sp>
        <p:nvSpPr>
          <p:cNvPr id="81" name="箭头: V 形 23"/>
          <p:cNvSpPr/>
          <p:nvPr/>
        </p:nvSpPr>
        <p:spPr>
          <a:xfrm>
            <a:off x="10511790" y="2844800"/>
            <a:ext cx="1543685"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6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产线匹配与产能评估</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96" name="文本框 95"/>
          <p:cNvSpPr txBox="1"/>
          <p:nvPr/>
        </p:nvSpPr>
        <p:spPr>
          <a:xfrm>
            <a:off x="3419475" y="351917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材料工程师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97" name="文本框 96"/>
          <p:cNvSpPr txBox="1"/>
          <p:nvPr/>
        </p:nvSpPr>
        <p:spPr>
          <a:xfrm>
            <a:off x="5205095" y="351917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a:t>
            </a:r>
            <a:r>
              <a:rPr lang="en-US" altLang="zh-CN" sz="1000" kern="0" dirty="0">
                <a:uFillTx/>
                <a:cs typeface="Arial" panose="020B0604020202020204"/>
                <a:sym typeface="Arial" panose="020B0604020202020204"/>
              </a:rPr>
              <a:t>&amp;</a:t>
            </a:r>
            <a:r>
              <a:rPr lang="zh-CN" altLang="en-US" sz="1000" kern="0" dirty="0">
                <a:uFillTx/>
                <a:cs typeface="Arial" panose="020B0604020202020204"/>
                <a:sym typeface="Arial" panose="020B0604020202020204"/>
              </a:rPr>
              <a:t>采购工程师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98" name="文本框 97"/>
          <p:cNvSpPr txBox="1"/>
          <p:nvPr/>
        </p:nvSpPr>
        <p:spPr>
          <a:xfrm>
            <a:off x="7262495" y="351917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a:t>
            </a:r>
            <a:r>
              <a:rPr lang="en-US" altLang="zh-CN" sz="1000" kern="0" dirty="0">
                <a:uFillTx/>
                <a:cs typeface="Arial" panose="020B0604020202020204"/>
                <a:sym typeface="Arial" panose="020B0604020202020204"/>
              </a:rPr>
              <a:t>&amp;</a:t>
            </a:r>
            <a:r>
              <a:rPr lang="zh-CN" altLang="en-US" sz="1000" kern="0" dirty="0">
                <a:uFillTx/>
                <a:cs typeface="Arial" panose="020B0604020202020204"/>
                <a:sym typeface="Arial" panose="020B0604020202020204"/>
              </a:rPr>
              <a:t>质量工程师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104" name="文本框 103"/>
          <p:cNvSpPr txBox="1"/>
          <p:nvPr/>
        </p:nvSpPr>
        <p:spPr>
          <a:xfrm>
            <a:off x="8989695" y="352552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测试</a:t>
            </a:r>
            <a:r>
              <a:rPr lang="en-US" altLang="zh-CN" sz="1000" kern="0" dirty="0">
                <a:uFillTx/>
                <a:cs typeface="Arial" panose="020B0604020202020204"/>
                <a:sym typeface="Arial" panose="020B0604020202020204"/>
              </a:rPr>
              <a:t>&amp;</a:t>
            </a:r>
            <a:r>
              <a:rPr lang="zh-CN" altLang="en-US" sz="1000" kern="0" dirty="0">
                <a:uFillTx/>
                <a:cs typeface="Arial" panose="020B0604020202020204"/>
                <a:sym typeface="Arial" panose="020B0604020202020204"/>
              </a:rPr>
              <a:t>质量工程师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105" name="文本框 104"/>
          <p:cNvSpPr txBox="1"/>
          <p:nvPr/>
        </p:nvSpPr>
        <p:spPr>
          <a:xfrm>
            <a:off x="10608310" y="352552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制造工程师</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95%</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4" name="矩形 3"/>
          <p:cNvSpPr/>
          <p:nvPr/>
        </p:nvSpPr>
        <p:spPr>
          <a:xfrm>
            <a:off x="264160" y="1419860"/>
            <a:ext cx="935990" cy="50609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接受工艺评估</a:t>
            </a: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a:t>
            </a:r>
            <a:endPar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 name="箭头: V 形 20"/>
          <p:cNvSpPr/>
          <p:nvPr/>
        </p:nvSpPr>
        <p:spPr>
          <a:xfrm>
            <a:off x="1442720" y="1398270"/>
            <a:ext cx="1684655" cy="534035"/>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a:t>
            </a:r>
            <a:r>
              <a:rPr lang="en-US" altLang="zh-CN"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创建工艺</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7" name="箭头: V 形 22"/>
          <p:cNvSpPr/>
          <p:nvPr/>
        </p:nvSpPr>
        <p:spPr>
          <a:xfrm>
            <a:off x="4982845" y="1398270"/>
            <a:ext cx="1957705"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3</a:t>
            </a:r>
            <a:r>
              <a:rPr lang="en-US" altLang="zh-CN"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审核工艺</a:t>
            </a:r>
            <a:endPar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9" name="箭头: V 形 27"/>
          <p:cNvSpPr/>
          <p:nvPr/>
        </p:nvSpPr>
        <p:spPr>
          <a:xfrm>
            <a:off x="3065145" y="1398270"/>
            <a:ext cx="1901190" cy="53340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fromWordArt="0" anchor="ctr" anchorCtr="0" forceAA="0" compatLnSpc="1">
            <a:noAutofit/>
          </a:bodyPr>
          <a:lstStyle/>
          <a:p>
            <a:pPr lvl="0" algn="ctr" hangingPunct="0">
              <a:spcBef>
                <a:spcPts val="0"/>
              </a:spcBef>
              <a:spcAft>
                <a:spcPts val="0"/>
              </a:spcAft>
              <a:buClrTx/>
              <a:buSzTx/>
              <a:buFontTx/>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 </a:t>
            </a: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确认</a:t>
            </a: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工艺</a:t>
            </a:r>
            <a:endPar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lvl="0" algn="ctr" hangingPunct="0">
              <a:spcBef>
                <a:spcPts val="0"/>
              </a:spcBef>
              <a:spcAft>
                <a:spcPts val="0"/>
              </a:spcAft>
              <a:buClrTx/>
              <a:buSzTx/>
              <a:buFontTx/>
            </a:pP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1" name="文本框 10"/>
          <p:cNvSpPr txBox="1"/>
          <p:nvPr/>
        </p:nvSpPr>
        <p:spPr>
          <a:xfrm>
            <a:off x="579120" y="1161321"/>
            <a:ext cx="360000" cy="216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rgbClr val="0000FF"/>
                </a:solidFill>
                <a:latin typeface="微软雅黑 Light" panose="020B0502040204020203" charset="-122"/>
                <a:ea typeface="微软雅黑 Light" panose="020B0502040204020203" charset="-122"/>
              </a:defRPr>
            </a:lvl1pPr>
          </a:lstStyle>
          <a:p>
            <a:pPr algn="ctr" hangingPunct="0">
              <a:spcBef>
                <a:spcPts val="0"/>
              </a:spcBef>
              <a:spcAft>
                <a:spcPts val="0"/>
              </a:spcAft>
            </a:pPr>
            <a:r>
              <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endPar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 name="文本框 11"/>
          <p:cNvSpPr txBox="1"/>
          <p:nvPr/>
        </p:nvSpPr>
        <p:spPr>
          <a:xfrm>
            <a:off x="1684020" y="2071370"/>
            <a:ext cx="1080135" cy="537845"/>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销售</a:t>
            </a:r>
            <a:r>
              <a:rPr lang="zh-CN" altLang="en-US" sz="1000" kern="0" dirty="0">
                <a:uFillTx/>
                <a:cs typeface="Arial" panose="020B0604020202020204"/>
                <a:sym typeface="Arial" panose="020B0604020202020204"/>
              </a:rPr>
              <a:t>专员</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5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90%</a:t>
            </a:r>
            <a:endParaRPr lang="en-US" altLang="zh-CN" sz="1000" kern="0" dirty="0">
              <a:uFillTx/>
              <a:cs typeface="Arial" panose="020B0604020202020204"/>
              <a:sym typeface="Arial" panose="020B0604020202020204"/>
            </a:endParaRPr>
          </a:p>
        </p:txBody>
      </p:sp>
      <p:sp>
        <p:nvSpPr>
          <p:cNvPr id="14" name="文本框 13"/>
          <p:cNvSpPr txBox="1"/>
          <p:nvPr/>
        </p:nvSpPr>
        <p:spPr>
          <a:xfrm>
            <a:off x="3546475" y="2071370"/>
            <a:ext cx="1080135" cy="49022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工艺技术</a:t>
            </a:r>
            <a:r>
              <a:rPr lang="zh-CN" altLang="en-US" sz="1000" kern="0" dirty="0">
                <a:uFillTx/>
                <a:cs typeface="Arial" panose="020B0604020202020204"/>
                <a:sym typeface="Arial" panose="020B0604020202020204"/>
              </a:rPr>
              <a:t>经理</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6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80%</a:t>
            </a:r>
            <a:endParaRPr lang="en-US" altLang="zh-CN"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15" name="文本框 14"/>
          <p:cNvSpPr txBox="1"/>
          <p:nvPr/>
        </p:nvSpPr>
        <p:spPr>
          <a:xfrm>
            <a:off x="5332095" y="2071370"/>
            <a:ext cx="1080135" cy="53721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工艺技术</a:t>
            </a:r>
            <a:r>
              <a:rPr lang="zh-CN" altLang="en-US" sz="1000" kern="0" dirty="0">
                <a:uFillTx/>
                <a:cs typeface="Arial" panose="020B0604020202020204"/>
                <a:sym typeface="Arial" panose="020B0604020202020204"/>
              </a:rPr>
              <a:t>总监</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8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50%</a:t>
            </a:r>
            <a:endParaRPr lang="en-US" altLang="zh-CN"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19" name="矩形 18"/>
          <p:cNvSpPr/>
          <p:nvPr/>
        </p:nvSpPr>
        <p:spPr>
          <a:xfrm>
            <a:off x="264160" y="4605020"/>
            <a:ext cx="935990" cy="50609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输出工艺评估</a:t>
            </a:r>
            <a:r>
              <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结果</a:t>
            </a:r>
            <a:endParaRPr kumimoji="0" lang="zh-CN" altLang="en-US" sz="1400" b="1"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2" name="箭头: V 形 20"/>
          <p:cNvSpPr/>
          <p:nvPr/>
        </p:nvSpPr>
        <p:spPr>
          <a:xfrm>
            <a:off x="1285240" y="4583430"/>
            <a:ext cx="1684655" cy="534035"/>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a:t>
            </a:r>
            <a:r>
              <a:rPr lang="en-US" altLang="zh-CN"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汇总工艺</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结果</a:t>
            </a:r>
            <a:endParaRPr lang="zh-CN" altLang="en-US" sz="14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5" name="箭头: V 形 22"/>
          <p:cNvSpPr/>
          <p:nvPr/>
        </p:nvSpPr>
        <p:spPr>
          <a:xfrm>
            <a:off x="4825365" y="4583430"/>
            <a:ext cx="1957705" cy="53467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3</a:t>
            </a:r>
            <a:r>
              <a:rPr lang="en-US" altLang="zh-CN"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发布工艺</a:t>
            </a:r>
            <a:endPar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报告</a:t>
            </a:r>
            <a:endParaRPr lang="zh-CN" altLang="en-US" sz="1400" kern="0" dirty="0">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7" name="箭头: V 形 27"/>
          <p:cNvSpPr/>
          <p:nvPr/>
        </p:nvSpPr>
        <p:spPr>
          <a:xfrm>
            <a:off x="2907665" y="4583430"/>
            <a:ext cx="1901190" cy="533400"/>
          </a:xfrm>
          <a:prstGeom prst="chevron">
            <a:avLst/>
          </a:prstGeom>
          <a:solidFill>
            <a:srgbClr val="FFFFF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fromWordArt="0" anchor="ctr" anchorCtr="0" forceAA="0" compatLnSpc="1">
            <a:noAutofit/>
          </a:bodyPr>
          <a:lstStyle/>
          <a:p>
            <a:pPr lvl="0" algn="ctr" hangingPunct="0">
              <a:spcBef>
                <a:spcPts val="0"/>
              </a:spcBef>
              <a:spcAft>
                <a:spcPts val="0"/>
              </a:spcAft>
              <a:buClrTx/>
              <a:buSzTx/>
              <a:buFontTx/>
            </a:pPr>
            <a:r>
              <a:rPr lang="en-US" altLang="zh-CN" sz="1400" b="1"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 </a:t>
            </a: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审核工艺</a:t>
            </a:r>
            <a:endPar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lvl="0" algn="ctr" hangingPunct="0">
              <a:spcBef>
                <a:spcPts val="0"/>
              </a:spcBef>
              <a:spcAft>
                <a:spcPts val="0"/>
              </a:spcAft>
              <a:buClrTx/>
              <a:buSzTx/>
              <a:buFontTx/>
            </a:pP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评估</a:t>
            </a:r>
            <a:r>
              <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报告</a:t>
            </a:r>
            <a:endParaRPr lang="zh-CN" altLang="en-US" sz="14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30" name="文本框 29"/>
          <p:cNvSpPr txBox="1"/>
          <p:nvPr/>
        </p:nvSpPr>
        <p:spPr>
          <a:xfrm>
            <a:off x="579120" y="4346481"/>
            <a:ext cx="360000" cy="216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rgbClr val="0000FF"/>
                </a:solidFill>
                <a:latin typeface="微软雅黑 Light" panose="020B0502040204020203" charset="-122"/>
                <a:ea typeface="微软雅黑 Light" panose="020B0502040204020203" charset="-122"/>
              </a:defRPr>
            </a:lvl1pPr>
          </a:lstStyle>
          <a:p>
            <a:pPr algn="ctr" hangingPunct="0">
              <a:spcBef>
                <a:spcPts val="0"/>
              </a:spcBef>
              <a:spcAft>
                <a:spcPts val="0"/>
              </a:spcAft>
            </a:pPr>
            <a:r>
              <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endPar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1" name="文本框 30"/>
          <p:cNvSpPr txBox="1"/>
          <p:nvPr/>
        </p:nvSpPr>
        <p:spPr>
          <a:xfrm>
            <a:off x="1526540" y="525653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工艺技术</a:t>
            </a:r>
            <a:r>
              <a:rPr lang="zh-CN" altLang="en-US" sz="1000" kern="0" dirty="0">
                <a:uFillTx/>
                <a:cs typeface="Arial" panose="020B0604020202020204"/>
                <a:sym typeface="Arial" panose="020B0604020202020204"/>
              </a:rPr>
              <a:t>经理</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80%</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33" name="文本框 32"/>
          <p:cNvSpPr txBox="1"/>
          <p:nvPr/>
        </p:nvSpPr>
        <p:spPr>
          <a:xfrm>
            <a:off x="3388995" y="525653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工艺技术</a:t>
            </a:r>
            <a:r>
              <a:rPr lang="zh-CN" altLang="en-US" sz="1000" kern="0" dirty="0">
                <a:uFillTx/>
                <a:cs typeface="Arial" panose="020B0604020202020204"/>
                <a:sym typeface="Arial" panose="020B0604020202020204"/>
              </a:rPr>
              <a:t>总监</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80%</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sp>
        <p:nvSpPr>
          <p:cNvPr id="34" name="文本框 33"/>
          <p:cNvSpPr txBox="1"/>
          <p:nvPr/>
        </p:nvSpPr>
        <p:spPr>
          <a:xfrm>
            <a:off x="5174615" y="5256530"/>
            <a:ext cx="1080135" cy="247650"/>
          </a:xfrm>
          <a:prstGeom prst="rect">
            <a:avLst/>
          </a:prstGeom>
          <a:noFill/>
        </p:spPr>
        <p:txBody>
          <a:bodyPr wrap="square" lIns="36000" tIns="36000" rIns="36000" bIns="3600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1000" kern="0" dirty="0">
                <a:uFillTx/>
                <a:cs typeface="Arial" panose="020B0604020202020204"/>
                <a:sym typeface="Arial" panose="020B0604020202020204"/>
              </a:rPr>
              <a:t>工艺技术</a:t>
            </a:r>
            <a:r>
              <a:rPr lang="zh-CN" altLang="en-US" sz="1000" kern="0" dirty="0">
                <a:uFillTx/>
                <a:cs typeface="Arial" panose="020B0604020202020204"/>
                <a:sym typeface="Arial" panose="020B0604020202020204"/>
              </a:rPr>
              <a:t>总监</a:t>
            </a:r>
            <a:endParaRPr lang="zh-CN" altLang="en-US" sz="1000" kern="0" dirty="0">
              <a:uFillTx/>
              <a:cs typeface="Arial" panose="020B0604020202020204"/>
              <a:sym typeface="Arial" panose="020B0604020202020204"/>
            </a:endParaRPr>
          </a:p>
          <a:p>
            <a:pPr hangingPunct="0">
              <a:spcBef>
                <a:spcPts val="0"/>
              </a:spcBef>
              <a:spcAft>
                <a:spcPts val="0"/>
              </a:spcAft>
            </a:pPr>
            <a:endParaRPr lang="en-US" altLang="zh-CN" sz="1000" kern="0" dirty="0">
              <a:uFillTx/>
              <a:cs typeface="Arial" panose="020B0604020202020204"/>
              <a:sym typeface="Arial" panose="020B0604020202020204"/>
            </a:endParaRPr>
          </a:p>
          <a:p>
            <a:pPr hangingPunct="0">
              <a:spcBef>
                <a:spcPts val="0"/>
              </a:spcBef>
              <a:spcAft>
                <a:spcPts val="0"/>
              </a:spcAft>
            </a:pPr>
            <a:r>
              <a:rPr lang="en-US" altLang="zh-CN" sz="1000" kern="0" dirty="0">
                <a:uFillTx/>
                <a:cs typeface="Arial" panose="020B0604020202020204"/>
                <a:sym typeface="Arial" panose="020B0604020202020204"/>
              </a:rPr>
              <a:t>AI  50%</a:t>
            </a:r>
            <a:endParaRPr lang="zh-CN" altLang="en-US" sz="1000" kern="0" dirty="0">
              <a:uFillTx/>
              <a:cs typeface="Arial" panose="020B0604020202020204"/>
              <a:sym typeface="Arial" panose="020B0604020202020204"/>
            </a:endParaRPr>
          </a:p>
          <a:p>
            <a:pPr hangingPunct="0">
              <a:spcBef>
                <a:spcPts val="0"/>
              </a:spcBef>
              <a:spcAft>
                <a:spcPts val="0"/>
              </a:spcAft>
            </a:pPr>
            <a:endParaRPr lang="zh-CN" altLang="en-US" sz="1000" kern="0" dirty="0">
              <a:uFillTx/>
              <a:cs typeface="Arial" panose="020B0604020202020204"/>
              <a:sym typeface="Arial" panose="020B0604020202020204"/>
            </a:endParaRPr>
          </a:p>
        </p:txBody>
      </p:sp>
      <p:cxnSp>
        <p:nvCxnSpPr>
          <p:cNvPr id="18" name="直接箭头连接符 17"/>
          <p:cNvCxnSpPr/>
          <p:nvPr/>
        </p:nvCxnSpPr>
        <p:spPr>
          <a:xfrm>
            <a:off x="2475230" y="376682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400550" y="376682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6189345" y="376682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8199120" y="377317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9977120" y="377317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11513820" y="3773170"/>
            <a:ext cx="0" cy="2781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2588260" y="2292350"/>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
        <p:nvSpPr>
          <p:cNvPr id="39" name="文本框 38"/>
          <p:cNvSpPr txBox="1"/>
          <p:nvPr/>
        </p:nvSpPr>
        <p:spPr>
          <a:xfrm>
            <a:off x="2104390" y="2407285"/>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效率</a:t>
            </a:r>
            <a:endParaRPr lang="zh-CN" altLang="en-US" sz="900">
              <a:sym typeface="+mn-ea"/>
            </a:endParaRPr>
          </a:p>
        </p:txBody>
      </p:sp>
      <p:sp>
        <p:nvSpPr>
          <p:cNvPr id="40" name="文本框 39"/>
          <p:cNvSpPr txBox="1"/>
          <p:nvPr/>
        </p:nvSpPr>
        <p:spPr>
          <a:xfrm>
            <a:off x="1962785" y="395351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1" name="文本框 40"/>
          <p:cNvSpPr txBox="1"/>
          <p:nvPr/>
        </p:nvSpPr>
        <p:spPr>
          <a:xfrm>
            <a:off x="3804920" y="392303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2" name="文本框 41"/>
          <p:cNvSpPr txBox="1"/>
          <p:nvPr/>
        </p:nvSpPr>
        <p:spPr>
          <a:xfrm>
            <a:off x="5631180" y="394335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3" name="文本框 42"/>
          <p:cNvSpPr txBox="1"/>
          <p:nvPr/>
        </p:nvSpPr>
        <p:spPr>
          <a:xfrm>
            <a:off x="7686040" y="395351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4" name="文本框 43"/>
          <p:cNvSpPr txBox="1"/>
          <p:nvPr/>
        </p:nvSpPr>
        <p:spPr>
          <a:xfrm>
            <a:off x="9423400" y="395351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5" name="文本框 44"/>
          <p:cNvSpPr txBox="1"/>
          <p:nvPr/>
        </p:nvSpPr>
        <p:spPr>
          <a:xfrm>
            <a:off x="11041380" y="3953510"/>
            <a:ext cx="472440" cy="257175"/>
          </a:xfrm>
          <a:prstGeom prst="rect">
            <a:avLst/>
          </a:prstGeom>
          <a:noFill/>
        </p:spPr>
        <p:txBody>
          <a:bodyPr wrap="square" rtlCol="0" anchor="b" anchorCtr="0">
            <a:spAutoFit/>
          </a:bodyPr>
          <a:p>
            <a:pPr indent="0" algn="ctr" fontAlgn="auto">
              <a:lnSpc>
                <a:spcPct val="120000"/>
              </a:lnSpc>
              <a:spcBef>
                <a:spcPts val="0"/>
              </a:spcBef>
              <a:buFont typeface="Arial" panose="020B0604020202020204" pitchFamily="34" charset="0"/>
              <a:buNone/>
            </a:pPr>
            <a:r>
              <a:rPr lang="zh-CN" altLang="en-US" sz="900">
                <a:sym typeface="+mn-ea"/>
              </a:rPr>
              <a:t>成本</a:t>
            </a:r>
            <a:endParaRPr lang="zh-CN" altLang="en-US" sz="900">
              <a:sym typeface="+mn-ea"/>
            </a:endParaRPr>
          </a:p>
        </p:txBody>
      </p:sp>
      <p:sp>
        <p:nvSpPr>
          <p:cNvPr id="46" name="文本框 45"/>
          <p:cNvSpPr txBox="1"/>
          <p:nvPr/>
        </p:nvSpPr>
        <p:spPr>
          <a:xfrm>
            <a:off x="3958590" y="2430780"/>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效率</a:t>
            </a:r>
            <a:endParaRPr lang="zh-CN" altLang="en-US" sz="900">
              <a:sym typeface="+mn-ea"/>
            </a:endParaRPr>
          </a:p>
        </p:txBody>
      </p:sp>
      <p:cxnSp>
        <p:nvCxnSpPr>
          <p:cNvPr id="47" name="直接箭头连接符 46"/>
          <p:cNvCxnSpPr/>
          <p:nvPr/>
        </p:nvCxnSpPr>
        <p:spPr>
          <a:xfrm flipV="1">
            <a:off x="4474210" y="2284095"/>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
        <p:nvSpPr>
          <p:cNvPr id="48" name="文本框 47"/>
          <p:cNvSpPr txBox="1"/>
          <p:nvPr/>
        </p:nvSpPr>
        <p:spPr>
          <a:xfrm>
            <a:off x="5741670" y="2446020"/>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质量</a:t>
            </a:r>
            <a:endParaRPr lang="zh-CN" altLang="en-US" sz="900">
              <a:sym typeface="+mn-ea"/>
            </a:endParaRPr>
          </a:p>
        </p:txBody>
      </p:sp>
      <p:cxnSp>
        <p:nvCxnSpPr>
          <p:cNvPr id="49" name="直接箭头连接符 48"/>
          <p:cNvCxnSpPr/>
          <p:nvPr/>
        </p:nvCxnSpPr>
        <p:spPr>
          <a:xfrm flipV="1">
            <a:off x="6209030" y="2284095"/>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flipV="1">
            <a:off x="2475230" y="5522595"/>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flipV="1">
            <a:off x="4277360" y="5527040"/>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
        <p:nvSpPr>
          <p:cNvPr id="52" name="文本框 51"/>
          <p:cNvSpPr txBox="1"/>
          <p:nvPr/>
        </p:nvSpPr>
        <p:spPr>
          <a:xfrm>
            <a:off x="3814445" y="5755640"/>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效率</a:t>
            </a:r>
            <a:endParaRPr lang="zh-CN" altLang="en-US" sz="900">
              <a:sym typeface="+mn-ea"/>
            </a:endParaRPr>
          </a:p>
        </p:txBody>
      </p:sp>
      <p:sp>
        <p:nvSpPr>
          <p:cNvPr id="53" name="文本框 52"/>
          <p:cNvSpPr txBox="1"/>
          <p:nvPr/>
        </p:nvSpPr>
        <p:spPr>
          <a:xfrm>
            <a:off x="1942465" y="5735320"/>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效率</a:t>
            </a:r>
            <a:endParaRPr lang="zh-CN" altLang="en-US" sz="900">
              <a:sym typeface="+mn-ea"/>
            </a:endParaRPr>
          </a:p>
        </p:txBody>
      </p:sp>
      <p:sp>
        <p:nvSpPr>
          <p:cNvPr id="54" name="文本框 53"/>
          <p:cNvSpPr txBox="1"/>
          <p:nvPr/>
        </p:nvSpPr>
        <p:spPr>
          <a:xfrm>
            <a:off x="5560060" y="5737860"/>
            <a:ext cx="472440" cy="257175"/>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900">
                <a:sym typeface="+mn-ea"/>
              </a:rPr>
              <a:t>合规</a:t>
            </a:r>
            <a:endParaRPr lang="zh-CN" altLang="en-US" sz="900">
              <a:sym typeface="+mn-ea"/>
            </a:endParaRPr>
          </a:p>
        </p:txBody>
      </p:sp>
      <p:cxnSp>
        <p:nvCxnSpPr>
          <p:cNvPr id="55" name="直接箭头连接符 54"/>
          <p:cNvCxnSpPr/>
          <p:nvPr/>
        </p:nvCxnSpPr>
        <p:spPr>
          <a:xfrm flipV="1">
            <a:off x="6057265" y="5527040"/>
            <a:ext cx="0" cy="2736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29260"/>
            <a:ext cx="9378315" cy="480695"/>
          </a:xfrm>
        </p:spPr>
        <p:txBody>
          <a:bodyPr wrap="square"/>
          <a:lstStyle/>
          <a:p>
            <a:pPr algn="l" defTabSz="685800">
              <a:lnSpc>
                <a:spcPct val="90000"/>
              </a:lnSpc>
              <a:buClrTx/>
              <a:buSzTx/>
              <a:buFontTx/>
            </a:pPr>
            <a:r>
              <a:rPr lang="en-US" altLang="zh-CN" sz="2800">
                <a:solidFill>
                  <a:schemeClr val="tx1"/>
                </a:solidFill>
                <a:latin typeface="+mn-ea"/>
                <a:ea typeface="+mn-ea"/>
                <a:sym typeface="+mn-ea"/>
              </a:rPr>
              <a:t>AI</a:t>
            </a:r>
            <a:r>
              <a:rPr lang="zh-CN" altLang="en-US" sz="2800">
                <a:solidFill>
                  <a:schemeClr val="tx1"/>
                </a:solidFill>
                <a:latin typeface="+mn-ea"/>
                <a:ea typeface="+mn-ea"/>
                <a:sym typeface="+mn-ea"/>
              </a:rPr>
              <a:t>工艺</a:t>
            </a:r>
            <a:r>
              <a:rPr lang="zh-CN" sz="2800">
                <a:solidFill>
                  <a:schemeClr val="tx1"/>
                </a:solidFill>
                <a:latin typeface="+mn-ea"/>
                <a:ea typeface="+mn-ea"/>
                <a:sym typeface="+mn-ea"/>
              </a:rPr>
              <a:t>初步收益评估</a:t>
            </a:r>
            <a:r>
              <a:rPr lang="en-US" altLang="zh-CN" sz="1800">
                <a:solidFill>
                  <a:schemeClr val="tx1"/>
                </a:solidFill>
                <a:latin typeface="+mn-ea"/>
                <a:ea typeface="+mn-ea"/>
                <a:sym typeface="+mn-ea"/>
              </a:rPr>
              <a:t>-42</a:t>
            </a:r>
            <a:r>
              <a:rPr lang="zh-CN" altLang="en-US" sz="1800">
                <a:solidFill>
                  <a:schemeClr val="tx1"/>
                </a:solidFill>
                <a:latin typeface="+mn-ea"/>
                <a:ea typeface="+mn-ea"/>
                <a:sym typeface="+mn-ea"/>
              </a:rPr>
              <a:t>项任务，</a:t>
            </a:r>
            <a:r>
              <a:rPr lang="en-US" altLang="zh-CN" sz="1800">
                <a:solidFill>
                  <a:schemeClr val="tx1"/>
                </a:solidFill>
                <a:latin typeface="+mn-ea"/>
                <a:ea typeface="+mn-ea"/>
                <a:sym typeface="+mn-ea"/>
              </a:rPr>
              <a:t>33</a:t>
            </a:r>
            <a:r>
              <a:rPr lang="zh-CN" altLang="en-US" sz="1800">
                <a:solidFill>
                  <a:schemeClr val="tx1"/>
                </a:solidFill>
                <a:latin typeface="+mn-ea"/>
                <a:ea typeface="+mn-ea"/>
                <a:sym typeface="+mn-ea"/>
              </a:rPr>
              <a:t>项可</a:t>
            </a:r>
            <a:r>
              <a:rPr lang="en-US" altLang="zh-CN" sz="1800">
                <a:solidFill>
                  <a:schemeClr val="tx1"/>
                </a:solidFill>
                <a:latin typeface="+mn-ea"/>
                <a:ea typeface="+mn-ea"/>
                <a:sym typeface="+mn-ea"/>
              </a:rPr>
              <a:t>AI</a:t>
            </a:r>
            <a:r>
              <a:rPr lang="zh-CN" altLang="en-US" sz="1800">
                <a:solidFill>
                  <a:schemeClr val="tx1"/>
                </a:solidFill>
                <a:latin typeface="+mn-ea"/>
                <a:ea typeface="+mn-ea"/>
                <a:sym typeface="+mn-ea"/>
              </a:rPr>
              <a:t>完成</a:t>
            </a:r>
            <a:r>
              <a:rPr lang="zh-CN" sz="1800">
                <a:solidFill>
                  <a:schemeClr val="tx1"/>
                </a:solidFill>
                <a:latin typeface="+mn-ea"/>
                <a:ea typeface="+mn-ea"/>
                <a:sym typeface="+mn-ea"/>
              </a:rPr>
              <a:t>，提效</a:t>
            </a:r>
            <a:r>
              <a:rPr lang="en-US" altLang="zh-CN" sz="1800">
                <a:solidFill>
                  <a:schemeClr val="tx1"/>
                </a:solidFill>
                <a:latin typeface="+mn-ea"/>
                <a:ea typeface="+mn-ea"/>
                <a:sym typeface="+mn-ea"/>
              </a:rPr>
              <a:t>78%+</a:t>
            </a:r>
            <a:endParaRPr lang="en-US" altLang="zh-CN" sz="1800">
              <a:solidFill>
                <a:schemeClr val="tx1"/>
              </a:solidFill>
              <a:latin typeface="+mn-ea"/>
              <a:ea typeface="+mn-ea"/>
              <a:sym typeface="+mn-ea"/>
            </a:endParaRPr>
          </a:p>
        </p:txBody>
      </p:sp>
      <p:graphicFrame>
        <p:nvGraphicFramePr>
          <p:cNvPr id="8" name="表格 7"/>
          <p:cNvGraphicFramePr/>
          <p:nvPr/>
        </p:nvGraphicFramePr>
        <p:xfrm>
          <a:off x="659130" y="962025"/>
          <a:ext cx="10558780" cy="5608320"/>
        </p:xfrm>
        <a:graphic>
          <a:graphicData uri="http://schemas.openxmlformats.org/drawingml/2006/table">
            <a:tbl>
              <a:tblPr/>
              <a:tblGrid>
                <a:gridCol w="290195"/>
                <a:gridCol w="1406525"/>
                <a:gridCol w="1522730"/>
                <a:gridCol w="4299585"/>
                <a:gridCol w="1173480"/>
                <a:gridCol w="992505"/>
                <a:gridCol w="873760"/>
              </a:tblGrid>
              <a:tr h="158750">
                <a:tc>
                  <a:txBody>
                    <a:bodyPr/>
                    <a:p>
                      <a:pPr algn="ctr" fontAlgn="ctr"/>
                      <a:r>
                        <a:rPr lang="en-US" altLang="zh-CN" sz="1000" b="1" i="0">
                          <a:solidFill>
                            <a:srgbClr val="FFFFFF"/>
                          </a:solidFill>
                          <a:latin typeface="宋体" panose="02010600030101010101" pitchFamily="2" charset="-122"/>
                          <a:ea typeface="宋体" panose="02010600030101010101" pitchFamily="2" charset="-122"/>
                        </a:rPr>
                        <a:t>#</a:t>
                      </a:r>
                      <a:endParaRPr lang="en-US" altLang="zh-CN"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r>
                        <a:rPr lang="zh-CN" altLang="en-US" sz="1000" b="1" i="0">
                          <a:solidFill>
                            <a:srgbClr val="FFFFFF"/>
                          </a:solidFill>
                          <a:latin typeface="宋体" panose="02010600030101010101" pitchFamily="2" charset="-122"/>
                          <a:ea typeface="宋体" panose="02010600030101010101" pitchFamily="2" charset="-122"/>
                        </a:rPr>
                        <a:t>活动</a:t>
                      </a:r>
                      <a:endParaRPr lang="zh-CN" altLang="en-US"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r>
                        <a:rPr lang="zh-CN" altLang="en-US" sz="1000" b="1" i="0">
                          <a:solidFill>
                            <a:srgbClr val="FFFFFF"/>
                          </a:solidFill>
                          <a:latin typeface="宋体" panose="02010600030101010101" pitchFamily="2" charset="-122"/>
                          <a:ea typeface="宋体" panose="02010600030101010101" pitchFamily="2" charset="-122"/>
                        </a:rPr>
                        <a:t>任务</a:t>
                      </a:r>
                      <a:endParaRPr lang="zh-CN" altLang="en-US"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r>
                        <a:rPr lang="zh-CN" altLang="en-US" sz="1000" b="1" i="0">
                          <a:solidFill>
                            <a:srgbClr val="FFFFFF"/>
                          </a:solidFill>
                          <a:latin typeface="宋体" panose="02010600030101010101" pitchFamily="2" charset="-122"/>
                          <a:ea typeface="宋体" panose="02010600030101010101" pitchFamily="2" charset="-122"/>
                        </a:rPr>
                        <a:t>人工</a:t>
                      </a:r>
                      <a:endParaRPr lang="zh-CN" altLang="en-US"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r>
                        <a:rPr lang="en-US" altLang="zh-CN" sz="1000" b="1" i="0">
                          <a:solidFill>
                            <a:srgbClr val="FFFFFF"/>
                          </a:solidFill>
                          <a:latin typeface="宋体" panose="02010600030101010101" pitchFamily="2" charset="-122"/>
                          <a:ea typeface="宋体" panose="02010600030101010101" pitchFamily="2" charset="-122"/>
                        </a:rPr>
                        <a:t>AI Agent</a:t>
                      </a:r>
                      <a:endParaRPr lang="en-US" altLang="zh-CN"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r>
                        <a:rPr lang="zh-CN" altLang="en-US" sz="1000" b="1" i="0">
                          <a:solidFill>
                            <a:srgbClr val="FFFFFF"/>
                          </a:solidFill>
                          <a:latin typeface="宋体" panose="02010600030101010101" pitchFamily="2" charset="-122"/>
                          <a:ea typeface="宋体" panose="02010600030101010101" pitchFamily="2" charset="-122"/>
                        </a:rPr>
                        <a:t>收益</a:t>
                      </a:r>
                      <a:endParaRPr lang="zh-CN" altLang="en-US"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c>
                  <a:txBody>
                    <a:bodyPr/>
                    <a:p>
                      <a:pPr algn="ctr" fontAlgn="ctr">
                        <a:buNone/>
                      </a:pPr>
                      <a:r>
                        <a:rPr lang="zh-CN" altLang="en-US" sz="1000" b="1" i="0">
                          <a:solidFill>
                            <a:srgbClr val="FFFFFF"/>
                          </a:solidFill>
                          <a:latin typeface="宋体" panose="02010600030101010101" pitchFamily="2" charset="-122"/>
                          <a:ea typeface="宋体" panose="02010600030101010101" pitchFamily="2" charset="-122"/>
                        </a:rPr>
                        <a:t>备注</a:t>
                      </a:r>
                      <a:endParaRPr lang="zh-CN" altLang="en-US" sz="1000" b="1" i="0">
                        <a:solidFill>
                          <a:srgbClr val="FFFFFF"/>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4472C4"/>
                    </a:solid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1</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创建工艺评估需求</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收集需求基本信息</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确认客户、产品、应用场景等信息</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与客户对接</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关联客户图纸与资料</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整理并上传客户技术资料（图纸、</a:t>
                      </a:r>
                      <a:r>
                        <a:rPr lang="en-US" altLang="zh-CN" sz="800" b="0" i="0">
                          <a:solidFill>
                            <a:srgbClr val="000000"/>
                          </a:solidFill>
                          <a:latin typeface="宋体" panose="02010600030101010101" pitchFamily="2" charset="-122"/>
                          <a:ea typeface="宋体" panose="02010600030101010101" pitchFamily="2" charset="-122"/>
                        </a:rPr>
                        <a:t>BOM</a:t>
                      </a:r>
                      <a:r>
                        <a:rPr lang="zh-CN" altLang="en-US" sz="800" b="0" i="0">
                          <a:solidFill>
                            <a:srgbClr val="000000"/>
                          </a:solidFill>
                          <a:latin typeface="宋体" panose="02010600030101010101" pitchFamily="2" charset="-122"/>
                          <a:ea typeface="宋体" panose="02010600030101010101" pitchFamily="2" charset="-122"/>
                        </a:rPr>
                        <a:t>、特殊要求清单）</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填写需求单并提交</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填写需求单关键字段并提交确认</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2</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确认工艺评估需求</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审查需求完整性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核对客户图纸、</a:t>
                      </a:r>
                      <a:r>
                        <a:rPr lang="en-US" altLang="zh-CN" sz="800" b="0" i="0">
                          <a:solidFill>
                            <a:srgbClr val="000000"/>
                          </a:solidFill>
                          <a:latin typeface="宋体" panose="02010600030101010101" pitchFamily="2" charset="-122"/>
                          <a:ea typeface="宋体" panose="02010600030101010101" pitchFamily="2" charset="-122"/>
                        </a:rPr>
                        <a:t>BOM</a:t>
                      </a:r>
                      <a:r>
                        <a:rPr lang="zh-CN" altLang="en-US" sz="800" b="0" i="0">
                          <a:solidFill>
                            <a:srgbClr val="000000"/>
                          </a:solidFill>
                          <a:latin typeface="宋体" panose="02010600030101010101" pitchFamily="2" charset="-122"/>
                          <a:ea typeface="宋体" panose="02010600030101010101" pitchFamily="2" charset="-122"/>
                        </a:rPr>
                        <a:t>、技术规格需求单信息完整性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初步判断技术可行性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初步判断该需求是否符合公司技术能力范围</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确认或退回需求</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确认并推送至审核；若不全，退回补充</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3</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审核工艺评估需求</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评估项目初步价值</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评估客户重要性、潜在规模、技术协同效应的价值</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审批资源投入</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确认人员、设备、时间资源投入的可行性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启动工艺拆解流程</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审批后，</a:t>
                      </a:r>
                      <a:r>
                        <a:rPr lang="en-US" altLang="zh-CN" sz="800" b="0" i="0">
                          <a:solidFill>
                            <a:srgbClr val="000000"/>
                          </a:solidFill>
                          <a:latin typeface="宋体" panose="02010600030101010101" pitchFamily="2" charset="-122"/>
                          <a:ea typeface="宋体" panose="02010600030101010101" pitchFamily="2" charset="-122"/>
                        </a:rPr>
                        <a:t>AI</a:t>
                      </a:r>
                      <a:r>
                        <a:rPr lang="zh-CN" altLang="en-US" sz="800" b="0" i="0">
                          <a:solidFill>
                            <a:srgbClr val="000000"/>
                          </a:solidFill>
                          <a:latin typeface="宋体" panose="02010600030101010101" pitchFamily="2" charset="-122"/>
                          <a:ea typeface="宋体" panose="02010600030101010101" pitchFamily="2" charset="-122"/>
                        </a:rPr>
                        <a:t>生成任务通知对应专业工程师拆解</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4</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图纸解析与设计工艺转化</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接收图纸与检查完整性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接收并检查客户图纸及</a:t>
                      </a:r>
                      <a:r>
                        <a:rPr lang="en-US" altLang="zh-CN" sz="800" b="0" i="0">
                          <a:solidFill>
                            <a:srgbClr val="000000"/>
                          </a:solidFill>
                          <a:latin typeface="宋体" panose="02010600030101010101" pitchFamily="2" charset="-122"/>
                          <a:ea typeface="宋体" panose="02010600030101010101" pitchFamily="2" charset="-122"/>
                        </a:rPr>
                        <a:t>BOM</a:t>
                      </a:r>
                      <a:r>
                        <a:rPr lang="zh-CN" altLang="en-US" sz="800" b="0" i="0">
                          <a:solidFill>
                            <a:srgbClr val="000000"/>
                          </a:solidFill>
                          <a:latin typeface="宋体" panose="02010600030101010101" pitchFamily="2" charset="-122"/>
                          <a:ea typeface="宋体" panose="02010600030101010101" pitchFamily="2" charset="-122"/>
                        </a:rPr>
                        <a:t>资料的完整性与版本有效性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提取与标注关键参数</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提取尺寸、公差、材料标注、表面处理要求等参数</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解析并输出工艺转化初稿</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将客户设计意图转化为可执行的初步工艺方案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5</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材料定性与供应链拆解</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编制材料需求清单</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确认主体材料、辅料及金属化层成分</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确认供应来源与替代方案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评估现有合格供应商能否提供符合需求的材料</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估算材料成本初步</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评估采购周期和供应风险，输出材料</a:t>
                      </a:r>
                      <a:r>
                        <a:rPr lang="en-US" altLang="zh-CN" sz="800" b="0" i="0">
                          <a:solidFill>
                            <a:srgbClr val="000000"/>
                          </a:solidFill>
                          <a:latin typeface="宋体" panose="02010600030101010101" pitchFamily="2" charset="-122"/>
                          <a:ea typeface="宋体" panose="02010600030101010101" pitchFamily="2" charset="-122"/>
                        </a:rPr>
                        <a:t>BOM</a:t>
                      </a:r>
                      <a:r>
                        <a:rPr lang="zh-CN" altLang="en-US" sz="800" b="0" i="0">
                          <a:solidFill>
                            <a:srgbClr val="000000"/>
                          </a:solidFill>
                          <a:latin typeface="宋体" panose="02010600030101010101" pitchFamily="2" charset="-122"/>
                          <a:ea typeface="宋体" panose="02010600030101010101" pitchFamily="2" charset="-122"/>
                        </a:rPr>
                        <a:t>初稿及供应来源</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4">
                  <a:txBody>
                    <a:bodyPr/>
                    <a:p>
                      <a:pPr algn="ctr" fontAlgn="ctr"/>
                      <a:r>
                        <a:rPr lang="en-US" altLang="zh-CN" sz="1200" b="1" i="0">
                          <a:solidFill>
                            <a:srgbClr val="000000"/>
                          </a:solidFill>
                          <a:latin typeface="宋体" panose="02010600030101010101" pitchFamily="2" charset="-122"/>
                          <a:ea typeface="宋体" panose="02010600030101010101" pitchFamily="2" charset="-122"/>
                        </a:rPr>
                        <a:t>6</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4">
                  <a:txBody>
                    <a:bodyPr/>
                    <a:p>
                      <a:pPr algn="ctr" fontAlgn="ctr"/>
                      <a:r>
                        <a:rPr lang="zh-CN" altLang="en-US" sz="800" b="1" i="0">
                          <a:solidFill>
                            <a:srgbClr val="000000"/>
                          </a:solidFill>
                          <a:latin typeface="宋体" panose="02010600030101010101" pitchFamily="2" charset="-122"/>
                          <a:ea typeface="宋体" panose="02010600030101010101" pitchFamily="2" charset="-122"/>
                        </a:rPr>
                        <a:t>制造工艺路径规划和</a:t>
                      </a:r>
                      <a:r>
                        <a:rPr lang="en-US" altLang="zh-CN" sz="800" b="1" i="0">
                          <a:solidFill>
                            <a:srgbClr val="000000"/>
                          </a:solidFill>
                          <a:latin typeface="宋体" panose="02010600030101010101" pitchFamily="2" charset="-122"/>
                          <a:ea typeface="宋体" panose="02010600030101010101" pitchFamily="2" charset="-122"/>
                        </a:rPr>
                        <a:t>BOM</a:t>
                      </a:r>
                      <a:r>
                        <a:rPr lang="zh-CN" altLang="en-US" sz="800" b="1" i="0">
                          <a:solidFill>
                            <a:srgbClr val="000000"/>
                          </a:solidFill>
                          <a:latin typeface="宋体" panose="02010600030101010101" pitchFamily="2" charset="-122"/>
                          <a:ea typeface="宋体" panose="02010600030101010101" pitchFamily="2" charset="-122"/>
                        </a:rPr>
                        <a:t>编制</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工艺路线初步设计</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确定核心工艺设计路径</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关键工序参数确定</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规划关键核心工序的工艺参数</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p>
                      <a:pPr algn="l" fontAlgn="ctr"/>
                      <a:r>
                        <a:rPr lang="zh-CN" altLang="en-US" sz="800" b="0" i="0">
                          <a:solidFill>
                            <a:srgbClr val="000000"/>
                          </a:solidFill>
                          <a:latin typeface="宋体" panose="02010600030101010101" pitchFamily="2" charset="-122"/>
                          <a:ea typeface="宋体" panose="02010600030101010101" pitchFamily="2" charset="-122"/>
                        </a:rPr>
                        <a:t>工艺可行性评审</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识别工艺瓶颈和风险点，组织跨部门工艺评审</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输出初步工艺路线图和关键工序控制计划</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5">
                  <a:txBody>
                    <a:bodyPr/>
                    <a:p>
                      <a:pPr algn="ctr" fontAlgn="ctr"/>
                      <a:r>
                        <a:rPr lang="en-US" altLang="zh-CN" sz="1200" b="1" i="0">
                          <a:solidFill>
                            <a:srgbClr val="000000"/>
                          </a:solidFill>
                          <a:latin typeface="宋体" panose="02010600030101010101" pitchFamily="2" charset="-122"/>
                          <a:ea typeface="宋体" panose="02010600030101010101" pitchFamily="2" charset="-122"/>
                        </a:rPr>
                        <a:t>7</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algn="ctr" fontAlgn="ctr"/>
                      <a:r>
                        <a:rPr lang="zh-CN" altLang="en-US" sz="800" b="1" i="0">
                          <a:solidFill>
                            <a:srgbClr val="000000"/>
                          </a:solidFill>
                          <a:latin typeface="宋体" panose="02010600030101010101" pitchFamily="2" charset="-122"/>
                          <a:ea typeface="宋体" panose="02010600030101010101" pitchFamily="2" charset="-122"/>
                        </a:rPr>
                        <a:t>清洗与洁净度管控方案制定</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洁净度等级确认</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根据图纸要求和行业标准，确认洁净度等级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p>
                      <a:pPr algn="l" fontAlgn="ctr"/>
                      <a:r>
                        <a:rPr lang="zh-CN" altLang="en-US" sz="800" b="0" i="0">
                          <a:solidFill>
                            <a:srgbClr val="000000"/>
                          </a:solidFill>
                          <a:latin typeface="宋体" panose="02010600030101010101" pitchFamily="2" charset="-122"/>
                          <a:ea typeface="宋体" panose="02010600030101010101" pitchFamily="2" charset="-122"/>
                        </a:rPr>
                        <a:t>清洗工艺方案设计</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设计化学清洗方案和高纯水终漂洗流程</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开发特定的超声波清洗或高压喷淋工艺</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p>
                      <a:pPr algn="l" fontAlgn="ctr"/>
                      <a:r>
                        <a:rPr lang="zh-CN" altLang="en-US" sz="800" b="0" i="0">
                          <a:solidFill>
                            <a:srgbClr val="000000"/>
                          </a:solidFill>
                          <a:latin typeface="宋体" panose="02010600030101010101" pitchFamily="2" charset="-122"/>
                          <a:ea typeface="宋体" panose="02010600030101010101" pitchFamily="2" charset="-122"/>
                        </a:rPr>
                        <a:t>检测标准与方法确定</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确定清洗后的检测标准</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输出清洗工艺规范及洁净度检测方案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8</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组装与检测方案制定</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组装工艺流程设计</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规划将陶瓷板与铝基座进行粘接或焊接的工艺流程，规划电极引出与电气连接的工艺方案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检测项目与标准确定</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制定电性能、吸附力均匀性、氦气漏率测试等检测方案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检测设备与工装确认</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输出组装作业指导书及成品检测规范</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5">
                  <a:txBody>
                    <a:bodyPr/>
                    <a:p>
                      <a:pPr algn="ctr" fontAlgn="ctr"/>
                      <a:r>
                        <a:rPr lang="en-US" altLang="zh-CN" sz="1200" b="1" i="0">
                          <a:solidFill>
                            <a:srgbClr val="000000"/>
                          </a:solidFill>
                          <a:latin typeface="宋体" panose="02010600030101010101" pitchFamily="2" charset="-122"/>
                          <a:ea typeface="宋体" panose="02010600030101010101" pitchFamily="2" charset="-122"/>
                        </a:rPr>
                        <a:t>9</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algn="ctr" fontAlgn="ctr"/>
                      <a:r>
                        <a:rPr lang="zh-CN" altLang="en-US" sz="800" b="1" i="0">
                          <a:solidFill>
                            <a:srgbClr val="000000"/>
                          </a:solidFill>
                          <a:latin typeface="宋体" panose="02010600030101010101" pitchFamily="2" charset="-122"/>
                          <a:ea typeface="宋体" panose="02010600030101010101" pitchFamily="2" charset="-122"/>
                        </a:rPr>
                        <a:t>产线匹配与产能评估</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设备能力匹配分析</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确认特定设备是否满足该图纸的加工尺寸和精度要求</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p>
                      <a:pPr algn="l" fontAlgn="ctr"/>
                      <a:r>
                        <a:rPr lang="zh-CN" altLang="en-US" sz="800" b="0" i="0">
                          <a:solidFill>
                            <a:srgbClr val="000000"/>
                          </a:solidFill>
                          <a:latin typeface="宋体" panose="02010600030101010101" pitchFamily="2" charset="-122"/>
                          <a:ea typeface="宋体" panose="02010600030101010101" pitchFamily="2" charset="-122"/>
                        </a:rPr>
                        <a:t>生产节拍与产能测算</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计算换产时间、模具成本与单件生产周期</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评估是否存在产能瓶颈，如需外协加工则明确外协方案</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p>
                      <a:pPr algn="l" fontAlgn="ctr"/>
                      <a:r>
                        <a:rPr lang="zh-CN" altLang="en-US" sz="800" b="0" i="0">
                          <a:solidFill>
                            <a:srgbClr val="000000"/>
                          </a:solidFill>
                          <a:latin typeface="宋体" panose="02010600030101010101" pitchFamily="2" charset="-122"/>
                          <a:ea typeface="宋体" panose="02010600030101010101" pitchFamily="2" charset="-122"/>
                        </a:rPr>
                        <a:t>经济可行性评估</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综合材料、制造、设备分摊成本，评估订单经济可行性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输出产线匹配报告及产能评估结论，作为是否接单依据</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10</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汇总工艺评估结果</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F1115"/>
                          </a:solidFill>
                          <a:latin typeface="宋体" panose="02010600030101010101" pitchFamily="2" charset="-122"/>
                          <a:ea typeface="宋体" panose="02010600030101010101" pitchFamily="2" charset="-122"/>
                        </a:rPr>
                        <a:t>收集各专业输出物</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汇总节点</a:t>
                      </a:r>
                      <a:r>
                        <a:rPr lang="en-US" altLang="zh-CN" sz="800" b="0" i="0">
                          <a:solidFill>
                            <a:srgbClr val="000000"/>
                          </a:solidFill>
                          <a:latin typeface="宋体" panose="02010600030101010101" pitchFamily="2" charset="-122"/>
                          <a:ea typeface="宋体" panose="02010600030101010101" pitchFamily="2" charset="-122"/>
                        </a:rPr>
                        <a:t>④</a:t>
                      </a:r>
                      <a:r>
                        <a:rPr lang="zh-CN" altLang="en-US" sz="800" b="0" i="0">
                          <a:solidFill>
                            <a:srgbClr val="000000"/>
                          </a:solidFill>
                          <a:latin typeface="宋体" panose="02010600030101010101" pitchFamily="2" charset="-122"/>
                          <a:ea typeface="宋体" panose="02010600030101010101" pitchFamily="2" charset="-122"/>
                        </a:rPr>
                        <a:t>至</a:t>
                      </a:r>
                      <a:r>
                        <a:rPr lang="en-US" altLang="zh-CN" sz="800" b="0" i="0">
                          <a:solidFill>
                            <a:srgbClr val="000000"/>
                          </a:solidFill>
                          <a:latin typeface="宋体" panose="02010600030101010101" pitchFamily="2" charset="-122"/>
                          <a:ea typeface="宋体" panose="02010600030101010101" pitchFamily="2" charset="-122"/>
                        </a:rPr>
                        <a:t>⑨</a:t>
                      </a:r>
                      <a:r>
                        <a:rPr lang="zh-CN" altLang="en-US" sz="800" b="0" i="0">
                          <a:solidFill>
                            <a:srgbClr val="000000"/>
                          </a:solidFill>
                          <a:latin typeface="宋体" panose="02010600030101010101" pitchFamily="2" charset="-122"/>
                          <a:ea typeface="宋体" panose="02010600030101010101" pitchFamily="2" charset="-122"/>
                        </a:rPr>
                        <a:t>的全部输出文件</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F1115"/>
                          </a:solidFill>
                          <a:latin typeface="宋体" panose="02010600030101010101" pitchFamily="2" charset="-122"/>
                          <a:ea typeface="宋体" panose="02010600030101010101" pitchFamily="2" charset="-122"/>
                        </a:rPr>
                        <a:t>交叉验证各环节一致性</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交叉验证关键数据的逻辑一致性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0" i="0">
                          <a:solidFill>
                            <a:srgbClr val="000000"/>
                          </a:solidFill>
                          <a:latin typeface="宋体" panose="02010600030101010101" pitchFamily="2" charset="-122"/>
                          <a:ea typeface="宋体" panose="02010600030101010101" pitchFamily="2" charset="-122"/>
                        </a:rPr>
                        <a:t>/</a:t>
                      </a:r>
                      <a:endParaRPr lang="en-US" altLang="zh-CN"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F1115"/>
                          </a:solidFill>
                          <a:latin typeface="宋体" panose="02010600030101010101" pitchFamily="2" charset="-122"/>
                          <a:ea typeface="宋体" panose="02010600030101010101" pitchFamily="2" charset="-122"/>
                        </a:rPr>
                        <a:t>编制工艺评估报告初稿</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将各模块内容整合为完整的工艺评估报告初稿</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41605">
                <a:tc rowSpan="4">
                  <a:txBody>
                    <a:bodyPr/>
                    <a:p>
                      <a:pPr algn="ctr" fontAlgn="ctr"/>
                      <a:r>
                        <a:rPr lang="en-US" altLang="zh-CN" sz="1200" b="1" i="0">
                          <a:solidFill>
                            <a:srgbClr val="000000"/>
                          </a:solidFill>
                          <a:latin typeface="宋体" panose="02010600030101010101" pitchFamily="2" charset="-122"/>
                          <a:ea typeface="宋体" panose="02010600030101010101" pitchFamily="2" charset="-122"/>
                        </a:rPr>
                        <a:t>11</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4">
                  <a:txBody>
                    <a:bodyPr/>
                    <a:p>
                      <a:pPr algn="ctr" fontAlgn="ctr"/>
                      <a:r>
                        <a:rPr lang="zh-CN" altLang="en-US" sz="800" b="1" i="0">
                          <a:solidFill>
                            <a:srgbClr val="000000"/>
                          </a:solidFill>
                          <a:latin typeface="宋体" panose="02010600030101010101" pitchFamily="2" charset="-122"/>
                          <a:ea typeface="宋体" panose="02010600030101010101" pitchFamily="2" charset="-122"/>
                        </a:rPr>
                        <a:t>审核工艺评估报告</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技术方案审核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审核工艺路线的技术合理性和创新性</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97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经济可行性审核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确认成本估算和产能评估数据准确</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409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风险审核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评估项目风险（技术、供应链、交付风险等）</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403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审批或退回</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审核通过则签署确认；如有重大分歧则退回修改</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40970">
                <a:tc rowSpan="3">
                  <a:txBody>
                    <a:bodyPr/>
                    <a:p>
                      <a:pPr algn="ctr" fontAlgn="ctr"/>
                      <a:r>
                        <a:rPr lang="en-US" altLang="zh-CN" sz="1200" b="1" i="0">
                          <a:solidFill>
                            <a:srgbClr val="000000"/>
                          </a:solidFill>
                          <a:latin typeface="宋体" panose="02010600030101010101" pitchFamily="2" charset="-122"/>
                          <a:ea typeface="宋体" panose="02010600030101010101" pitchFamily="2" charset="-122"/>
                        </a:rPr>
                        <a:t>12</a:t>
                      </a:r>
                      <a:endParaRPr lang="en-US" altLang="zh-CN" sz="12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r>
                        <a:rPr lang="zh-CN" altLang="en-US" sz="800" b="1" i="0">
                          <a:solidFill>
                            <a:srgbClr val="000000"/>
                          </a:solidFill>
                          <a:latin typeface="宋体" panose="02010600030101010101" pitchFamily="2" charset="-122"/>
                          <a:ea typeface="宋体" panose="02010600030101010101" pitchFamily="2" charset="-122"/>
                        </a:rPr>
                        <a:t>发布工艺评估报告</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报告定稿</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完成报告最终修订并定稿</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r>
                        <a:rPr lang="zh-CN" altLang="en-US" sz="800" b="1" i="0">
                          <a:solidFill>
                            <a:srgbClr val="000000"/>
                          </a:solidFill>
                          <a:latin typeface="宋体" panose="02010600030101010101" pitchFamily="2" charset="-122"/>
                          <a:ea typeface="宋体" panose="02010600030101010101" pitchFamily="2" charset="-122"/>
                        </a:rPr>
                        <a:t>人工</a:t>
                      </a:r>
                      <a:endParaRPr lang="zh-CN" altLang="en-US"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0.5</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zh-CN" altLang="en-US" sz="800" b="0" i="0">
                          <a:solidFill>
                            <a:srgbClr val="000000"/>
                          </a:solidFill>
                          <a:latin typeface="宋体" panose="02010600030101010101" pitchFamily="2" charset="-122"/>
                          <a:ea typeface="宋体" panose="02010600030101010101" pitchFamily="2" charset="-122"/>
                        </a:rPr>
                        <a:t>人工复核</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分发至相关部门</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推送报告至销售、采购、生产、质量等部门</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1" i="0">
                          <a:solidFill>
                            <a:srgbClr val="000000"/>
                          </a:solidFill>
                          <a:latin typeface="宋体" panose="02010600030101010101" pitchFamily="2" charset="-122"/>
                          <a:ea typeface="宋体" panose="02010600030101010101" pitchFamily="2" charset="-122"/>
                        </a:rPr>
                        <a:t>/</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282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归档至知识库</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00000"/>
                          </a:solidFill>
                          <a:latin typeface="宋体" panose="02010600030101010101" pitchFamily="2" charset="-122"/>
                          <a:ea typeface="宋体" panose="02010600030101010101" pitchFamily="2" charset="-122"/>
                        </a:rPr>
                        <a:t>将工艺评估资料归档至企业知识库</a:t>
                      </a:r>
                      <a:endParaRPr lang="zh-CN" altLang="en-US" sz="8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AI</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1" i="0">
                          <a:solidFill>
                            <a:srgbClr val="000000"/>
                          </a:solidFill>
                          <a:latin typeface="宋体" panose="02010600030101010101" pitchFamily="2" charset="-122"/>
                          <a:ea typeface="宋体" panose="02010600030101010101" pitchFamily="2" charset="-122"/>
                        </a:rPr>
                        <a:t>1</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800" b="1" i="0">
                          <a:solidFill>
                            <a:srgbClr val="000000"/>
                          </a:solidFill>
                          <a:latin typeface="宋体" panose="02010600030101010101" pitchFamily="2" charset="-122"/>
                          <a:ea typeface="宋体" panose="02010600030101010101" pitchFamily="2" charset="-122"/>
                        </a:rPr>
                        <a:t>/</a:t>
                      </a:r>
                      <a:endParaRPr lang="en-US" altLang="zh-CN" sz="8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56565"/>
            <a:ext cx="9839325" cy="426085"/>
          </a:xfrm>
        </p:spPr>
        <p:txBody>
          <a:bodyPr wrap="square"/>
          <a:lstStyle/>
          <a:p>
            <a:pPr algn="l" defTabSz="685800">
              <a:lnSpc>
                <a:spcPct val="90000"/>
              </a:lnSpc>
              <a:buClrTx/>
              <a:buSzTx/>
              <a:buFontTx/>
            </a:pPr>
            <a:r>
              <a:rPr lang="en-US" altLang="zh-CN" sz="2400">
                <a:solidFill>
                  <a:schemeClr val="tx1"/>
                </a:solidFill>
                <a:latin typeface="+mn-ea"/>
                <a:ea typeface="+mn-ea"/>
                <a:sym typeface="+mn-ea"/>
              </a:rPr>
              <a:t>AI</a:t>
            </a:r>
            <a:r>
              <a:rPr lang="zh-CN" altLang="en-US" sz="2400">
                <a:solidFill>
                  <a:schemeClr val="tx1"/>
                </a:solidFill>
                <a:latin typeface="+mn-ea"/>
                <a:ea typeface="+mn-ea"/>
                <a:sym typeface="+mn-ea"/>
              </a:rPr>
              <a:t>工艺总体</a:t>
            </a:r>
            <a:r>
              <a:rPr lang="zh-CN" sz="2400">
                <a:solidFill>
                  <a:schemeClr val="tx1"/>
                </a:solidFill>
                <a:latin typeface="+mn-ea"/>
                <a:ea typeface="+mn-ea"/>
                <a:sym typeface="+mn-ea"/>
              </a:rPr>
              <a:t>收益：</a:t>
            </a:r>
            <a:r>
              <a:rPr lang="zh-CN" sz="1600">
                <a:solidFill>
                  <a:schemeClr val="tx1"/>
                </a:solidFill>
                <a:latin typeface="+mn-ea"/>
                <a:ea typeface="+mn-ea"/>
                <a:sym typeface="+mn-ea"/>
              </a:rPr>
              <a:t>效率提升</a:t>
            </a:r>
            <a:r>
              <a:rPr lang="en-US" altLang="zh-CN" sz="1600">
                <a:solidFill>
                  <a:schemeClr val="tx1"/>
                </a:solidFill>
                <a:latin typeface="+mn-ea"/>
                <a:ea typeface="+mn-ea"/>
                <a:sym typeface="+mn-ea"/>
              </a:rPr>
              <a:t>80%+</a:t>
            </a:r>
            <a:r>
              <a:rPr lang="zh-CN" altLang="en-US" sz="1600">
                <a:solidFill>
                  <a:schemeClr val="tx1"/>
                </a:solidFill>
                <a:latin typeface="+mn-ea"/>
                <a:ea typeface="+mn-ea"/>
                <a:sym typeface="+mn-ea"/>
              </a:rPr>
              <a:t>，质量提升</a:t>
            </a:r>
            <a:r>
              <a:rPr lang="en-US" altLang="zh-CN" sz="1600">
                <a:solidFill>
                  <a:schemeClr val="tx1"/>
                </a:solidFill>
                <a:latin typeface="+mn-ea"/>
                <a:ea typeface="+mn-ea"/>
                <a:sym typeface="+mn-ea"/>
              </a:rPr>
              <a:t>30%+</a:t>
            </a:r>
            <a:r>
              <a:rPr lang="zh-CN" altLang="en-US" sz="1600">
                <a:solidFill>
                  <a:schemeClr val="tx1"/>
                </a:solidFill>
                <a:latin typeface="+mn-ea"/>
                <a:ea typeface="+mn-ea"/>
                <a:sym typeface="+mn-ea"/>
              </a:rPr>
              <a:t>、成本降低</a:t>
            </a:r>
            <a:r>
              <a:rPr lang="en-US" altLang="zh-CN" sz="1600">
                <a:solidFill>
                  <a:schemeClr val="tx1"/>
                </a:solidFill>
                <a:latin typeface="+mn-ea"/>
                <a:ea typeface="+mn-ea"/>
                <a:sym typeface="+mn-ea"/>
              </a:rPr>
              <a:t>40%+</a:t>
            </a:r>
            <a:r>
              <a:rPr lang="zh-CN" altLang="en-US" sz="1600">
                <a:solidFill>
                  <a:schemeClr val="tx1"/>
                </a:solidFill>
                <a:latin typeface="+mn-ea"/>
                <a:ea typeface="+mn-ea"/>
                <a:sym typeface="+mn-ea"/>
              </a:rPr>
              <a:t>，</a:t>
            </a:r>
            <a:r>
              <a:rPr lang="zh-CN" altLang="en-US" sz="1600">
                <a:solidFill>
                  <a:schemeClr val="tx1"/>
                </a:solidFill>
                <a:latin typeface="+mn-ea"/>
                <a:ea typeface="+mn-ea"/>
                <a:sym typeface="+mn-ea"/>
              </a:rPr>
              <a:t>更加合规</a:t>
            </a:r>
            <a:endParaRPr lang="zh-CN" altLang="en-US" sz="1600">
              <a:solidFill>
                <a:schemeClr val="tx1"/>
              </a:solidFill>
              <a:latin typeface="+mn-ea"/>
              <a:ea typeface="+mn-ea"/>
              <a:sym typeface="+mn-ea"/>
            </a:endParaRPr>
          </a:p>
        </p:txBody>
      </p:sp>
      <p:graphicFrame>
        <p:nvGraphicFramePr>
          <p:cNvPr id="3" name="表格 2"/>
          <p:cNvGraphicFramePr/>
          <p:nvPr/>
        </p:nvGraphicFramePr>
        <p:xfrm>
          <a:off x="579120" y="1017270"/>
          <a:ext cx="11034395" cy="5359400"/>
        </p:xfrm>
        <a:graphic>
          <a:graphicData uri="http://schemas.openxmlformats.org/drawingml/2006/table">
            <a:tbl>
              <a:tblPr/>
              <a:tblGrid>
                <a:gridCol w="854075"/>
                <a:gridCol w="5078730"/>
                <a:gridCol w="3048000"/>
                <a:gridCol w="2053590"/>
              </a:tblGrid>
              <a:tr h="410210">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维度</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关键收益</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量化参考</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备注</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r>
              <a:tr h="578485">
                <a:tc rowSpan="3">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效率</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sym typeface="+mn-ea"/>
                        </a:rPr>
                        <a:t>缩短</a:t>
                      </a:r>
                      <a:r>
                        <a:rPr lang="zh-CN" altLang="en-US" sz="1400" b="1">
                          <a:solidFill>
                            <a:srgbClr val="000000"/>
                          </a:solidFill>
                          <a:latin typeface="微软雅黑" panose="020B0503020204020204" pitchFamily="34" charset="-122"/>
                          <a:ea typeface="微软雅黑" panose="020B0503020204020204" pitchFamily="34" charset="-122"/>
                          <a:sym typeface="+mn-ea"/>
                        </a:rPr>
                        <a:t>工艺规划时间：</a:t>
                      </a:r>
                      <a:r>
                        <a:rPr lang="zh-CN" altLang="en-US" sz="1400">
                          <a:solidFill>
                            <a:srgbClr val="000000"/>
                          </a:solidFill>
                          <a:latin typeface="微软雅黑" panose="020B0503020204020204" pitchFamily="34" charset="-122"/>
                          <a:ea typeface="微软雅黑" panose="020B0503020204020204" pitchFamily="34" charset="-122"/>
                          <a:sym typeface="+mn-ea"/>
                        </a:rPr>
                        <a:t>工艺评估需求智能</a:t>
                      </a:r>
                      <a:r>
                        <a:rPr lang="zh-CN" altLang="en-US" sz="1400">
                          <a:solidFill>
                            <a:srgbClr val="000000"/>
                          </a:solidFill>
                          <a:latin typeface="微软雅黑" panose="020B0503020204020204" pitchFamily="34" charset="-122"/>
                          <a:ea typeface="微软雅黑" panose="020B0503020204020204" pitchFamily="34" charset="-122"/>
                          <a:sym typeface="+mn-ea"/>
                        </a:rPr>
                        <a:t>识别录入、审核；工艺解析串行或部分并行自主执行、报告自动生成</a:t>
                      </a:r>
                      <a:r>
                        <a:rPr lang="zh-CN" altLang="en-US" sz="1400">
                          <a:solidFill>
                            <a:srgbClr val="000000"/>
                          </a:solidFill>
                          <a:latin typeface="微软雅黑" panose="020B0503020204020204" pitchFamily="34" charset="-122"/>
                          <a:ea typeface="微软雅黑" panose="020B0503020204020204" pitchFamily="34" charset="-122"/>
                          <a:sym typeface="+mn-ea"/>
                        </a:rPr>
                        <a:t>等</a:t>
                      </a:r>
                      <a:endParaRPr lang="zh-CN" altLang="en-US" sz="140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小时</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秒级</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完成</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多模态识别能力</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83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rPr>
                        <a:t>2</a:t>
                      </a:r>
                      <a:r>
                        <a:rPr lang="zh-CN" altLang="en-US" sz="1400" b="1" i="0">
                          <a:solidFill>
                            <a:srgbClr val="000000"/>
                          </a:solidFill>
                          <a:latin typeface="微软雅黑" panose="020B0503020204020204" pitchFamily="34" charset="-122"/>
                          <a:ea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缩短</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缺陷归因</a:t>
                      </a:r>
                      <a:r>
                        <a:rPr lang="en-US" altLang="zh-CN"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问题定位时间：</a:t>
                      </a:r>
                      <a:r>
                        <a:rPr lang="zh-CN" altLang="en-US" sz="14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专业知识库能力如生产技术、历史工艺评估案例、材料数据库、设备能力台账</a:t>
                      </a:r>
                      <a:r>
                        <a:rPr lang="zh-CN" altLang="en-US" sz="14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快速推理决策</a:t>
                      </a:r>
                      <a:endParaRPr lang="zh-CN" altLang="en-US" sz="14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从数小时</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数天</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分钟内，提升</a:t>
                      </a:r>
                      <a:r>
                        <a:rPr lang="en-US" altLang="zh-CN"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95%</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以上</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sz="1400" b="0" i="0">
                          <a:solidFill>
                            <a:srgbClr val="000000"/>
                          </a:solidFill>
                          <a:latin typeface="微软雅黑" panose="020B0503020204020204" pitchFamily="34" charset="-122"/>
                          <a:ea typeface="微软雅黑" panose="020B0503020204020204" pitchFamily="34" charset="-122"/>
                        </a:rPr>
                        <a:t>专业知识库能力</a:t>
                      </a:r>
                      <a:endParaRPr lang="zh-CN"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76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缩短</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整体设计</a:t>
                      </a: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评估周期：</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新工艺开发设计、人工受限于工作时间、疲劳度等因素，</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AI Agent</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可实现全天候持续运行</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缩短</a:t>
                      </a:r>
                      <a:r>
                        <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90%</a:t>
                      </a:r>
                      <a:endPar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多</a:t>
                      </a:r>
                      <a:r>
                        <a:rPr lang="en-US" altLang="zh-CN" sz="1400" b="0" i="0">
                          <a:solidFill>
                            <a:srgbClr val="000000"/>
                          </a:solidFill>
                          <a:latin typeface="微软雅黑" panose="020B0503020204020204" pitchFamily="34" charset="-122"/>
                          <a:ea typeface="微软雅黑" panose="020B0503020204020204" pitchFamily="34" charset="-122"/>
                        </a:rPr>
                        <a:t>Agent</a:t>
                      </a:r>
                      <a:r>
                        <a:rPr lang="zh-CN" altLang="en-US" sz="1400" b="0" i="0">
                          <a:solidFill>
                            <a:srgbClr val="000000"/>
                          </a:solidFill>
                          <a:latin typeface="微软雅黑" panose="020B0503020204020204" pitchFamily="34" charset="-122"/>
                          <a:ea typeface="微软雅黑" panose="020B0503020204020204" pitchFamily="34" charset="-122"/>
                        </a:rPr>
                        <a:t>协同架构</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7685">
                <a:tc rowSpan="2">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质量</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降低</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误报率</a:t>
                      </a: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错误率：</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基于统一的知识库和推理模型，消除个人经验与专业判断的不足，逐项扫描技术要素，</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全量覆盖</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比传统方式降低</a:t>
                      </a:r>
                      <a:r>
                        <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20%</a:t>
                      </a:r>
                      <a:endPar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与现有</a:t>
                      </a:r>
                      <a:r>
                        <a:rPr lang="en-US" altLang="zh-CN" sz="1400" b="0" i="0">
                          <a:solidFill>
                            <a:srgbClr val="000000"/>
                          </a:solidFill>
                          <a:latin typeface="微软雅黑" panose="020B0503020204020204" pitchFamily="34" charset="-122"/>
                          <a:ea typeface="微软雅黑" panose="020B0503020204020204" pitchFamily="34" charset="-122"/>
                        </a:rPr>
                        <a:t>ERP</a:t>
                      </a:r>
                      <a:r>
                        <a:rPr lang="zh-CN" altLang="en-US" sz="1400" b="0" i="0">
                          <a:solidFill>
                            <a:srgbClr val="000000"/>
                          </a:solidFill>
                          <a:latin typeface="微软雅黑" panose="020B0503020204020204" pitchFamily="34" charset="-122"/>
                          <a:ea typeface="微软雅黑" panose="020B0503020204020204" pitchFamily="34" charset="-122"/>
                        </a:rPr>
                        <a:t>、</a:t>
                      </a:r>
                      <a:r>
                        <a:rPr lang="en-US" altLang="zh-CN" sz="1400" b="0" i="0">
                          <a:solidFill>
                            <a:srgbClr val="000000"/>
                          </a:solidFill>
                          <a:latin typeface="微软雅黑" panose="020B0503020204020204" pitchFamily="34" charset="-122"/>
                          <a:ea typeface="微软雅黑" panose="020B0503020204020204" pitchFamily="34" charset="-122"/>
                        </a:rPr>
                        <a:t>MES</a:t>
                      </a:r>
                      <a:r>
                        <a:rPr lang="zh-CN" altLang="en-US" sz="1400" b="0" i="0">
                          <a:solidFill>
                            <a:srgbClr val="000000"/>
                          </a:solidFill>
                          <a:latin typeface="微软雅黑" panose="020B0503020204020204" pitchFamily="34" charset="-122"/>
                          <a:ea typeface="微软雅黑" panose="020B0503020204020204" pitchFamily="34" charset="-122"/>
                        </a:rPr>
                        <a:t>、</a:t>
                      </a:r>
                      <a:r>
                        <a:rPr lang="en-US" altLang="zh-CN" sz="1400" b="0" i="0">
                          <a:solidFill>
                            <a:srgbClr val="000000"/>
                          </a:solidFill>
                          <a:latin typeface="微软雅黑" panose="020B0503020204020204" pitchFamily="34" charset="-122"/>
                          <a:ea typeface="微软雅黑" panose="020B0503020204020204" pitchFamily="34" charset="-122"/>
                        </a:rPr>
                        <a:t>APS</a:t>
                      </a:r>
                      <a:r>
                        <a:rPr lang="zh-CN" altLang="en-US" sz="1400" b="0" i="0">
                          <a:solidFill>
                            <a:srgbClr val="000000"/>
                          </a:solidFill>
                          <a:latin typeface="微软雅黑" panose="020B0503020204020204" pitchFamily="34" charset="-122"/>
                          <a:ea typeface="微软雅黑" panose="020B0503020204020204" pitchFamily="34" charset="-122"/>
                        </a:rPr>
                        <a:t>等系统集成</a:t>
                      </a:r>
                      <a:r>
                        <a:rPr lang="zh-CN" altLang="en-US" sz="1400" b="0" i="0">
                          <a:solidFill>
                            <a:srgbClr val="000000"/>
                          </a:solidFill>
                          <a:latin typeface="微软雅黑" panose="020B0503020204020204" pitchFamily="34" charset="-122"/>
                          <a:ea typeface="微软雅黑" panose="020B0503020204020204" pitchFamily="34" charset="-122"/>
                        </a:rPr>
                        <a:t>能力</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108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rPr>
                        <a:t>2</a:t>
                      </a:r>
                      <a:r>
                        <a:rPr lang="zh-CN" altLang="en-US" sz="1400" b="1" i="0">
                          <a:solidFill>
                            <a:srgbClr val="000000"/>
                          </a:solidFill>
                          <a:latin typeface="微软雅黑" panose="020B0503020204020204" pitchFamily="34" charset="-122"/>
                          <a:ea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sym typeface="+mn-ea"/>
                        </a:rPr>
                        <a:t>提升</a:t>
                      </a:r>
                      <a:r>
                        <a:rPr lang="zh-CN" altLang="en-US" sz="1400" b="1" i="0">
                          <a:solidFill>
                            <a:srgbClr val="000000"/>
                          </a:solidFill>
                          <a:latin typeface="微软雅黑" panose="020B0503020204020204" pitchFamily="34" charset="-122"/>
                          <a:ea typeface="微软雅黑" panose="020B0503020204020204" pitchFamily="34" charset="-122"/>
                        </a:rPr>
                        <a:t>方案质量：</a:t>
                      </a:r>
                      <a:r>
                        <a:rPr lang="zh-CN" altLang="en-US" sz="1400" b="0" i="0">
                          <a:solidFill>
                            <a:srgbClr val="000000"/>
                          </a:solidFill>
                          <a:latin typeface="微软雅黑" panose="020B0503020204020204" pitchFamily="34" charset="-122"/>
                          <a:ea typeface="微软雅黑" panose="020B0503020204020204" pitchFamily="34" charset="-122"/>
                        </a:rPr>
                        <a:t>基于历史数据持续优化评估逻辑，沉淀</a:t>
                      </a:r>
                      <a:r>
                        <a:rPr lang="zh-CN" altLang="en-US" sz="1400" b="0" i="0">
                          <a:solidFill>
                            <a:srgbClr val="000000"/>
                          </a:solidFill>
                          <a:latin typeface="微软雅黑" panose="020B0503020204020204" pitchFamily="34" charset="-122"/>
                          <a:ea typeface="微软雅黑" panose="020B0503020204020204" pitchFamily="34" charset="-122"/>
                        </a:rPr>
                        <a:t>知识</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提升</a:t>
                      </a:r>
                      <a:r>
                        <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80%</a:t>
                      </a:r>
                      <a:endPar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sz="1400">
                          <a:solidFill>
                            <a:srgbClr val="000000"/>
                          </a:solidFill>
                          <a:latin typeface="微软雅黑" panose="020B0503020204020204" pitchFamily="34" charset="-122"/>
                          <a:ea typeface="微软雅黑" panose="020B0503020204020204" pitchFamily="34" charset="-122"/>
                          <a:sym typeface="+mn-ea"/>
                        </a:rPr>
                        <a:t>专业知识库能力</a:t>
                      </a:r>
                      <a:endParaRPr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8955">
                <a:tc rowSpan="2">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成本</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降低</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设计</a:t>
                      </a: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评估成本：</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释放高价值人力从事异常处理、复杂决策等更高附加值的工作，减少返工与试错成本，多头协调</a:t>
                      </a: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成本</a:t>
                      </a:r>
                      <a:endPar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降低</a:t>
                      </a:r>
                      <a:r>
                        <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30%</a:t>
                      </a:r>
                      <a:endParaRPr lang="en-US" altLang="zh-CN" sz="1400" b="1" i="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000000"/>
                          </a:solidFill>
                          <a:latin typeface="微软雅黑" panose="020B0503020204020204" pitchFamily="34" charset="-122"/>
                          <a:ea typeface="微软雅黑" panose="020B0503020204020204" pitchFamily="34" charset="-122"/>
                        </a:rPr>
                        <a:t>/</a:t>
                      </a:r>
                      <a:endParaRPr 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7905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rPr>
                        <a:t>2</a:t>
                      </a:r>
                      <a:r>
                        <a:rPr lang="zh-CN" altLang="en-US" sz="1400" b="1" i="0">
                          <a:solidFill>
                            <a:srgbClr val="000000"/>
                          </a:solidFill>
                          <a:latin typeface="微软雅黑" panose="020B0503020204020204" pitchFamily="34" charset="-122"/>
                          <a:ea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sym typeface="+mn-ea"/>
                        </a:rPr>
                        <a:t>降低</a:t>
                      </a:r>
                      <a:r>
                        <a:rPr lang="zh-CN" altLang="en-US" sz="1400" b="1" i="0">
                          <a:solidFill>
                            <a:srgbClr val="000000"/>
                          </a:solidFill>
                          <a:latin typeface="微软雅黑" panose="020B0503020204020204" pitchFamily="34" charset="-122"/>
                          <a:ea typeface="微软雅黑" panose="020B0503020204020204" pitchFamily="34" charset="-122"/>
                        </a:rPr>
                        <a:t>人力释放与培训成本：</a:t>
                      </a:r>
                      <a:r>
                        <a:rPr lang="zh-CN" altLang="en-US" sz="1400" b="0" i="0">
                          <a:solidFill>
                            <a:srgbClr val="000000"/>
                          </a:solidFill>
                          <a:latin typeface="微软雅黑" panose="020B0503020204020204" pitchFamily="34" charset="-122"/>
                          <a:ea typeface="微软雅黑" panose="020B0503020204020204" pitchFamily="34" charset="-122"/>
                        </a:rPr>
                        <a:t>将专家的经验和知识固化为可调用的智能能力，新员工在</a:t>
                      </a:r>
                      <a:r>
                        <a:rPr lang="en-US" altLang="zh-CN" sz="1400" b="0" i="0">
                          <a:solidFill>
                            <a:srgbClr val="000000"/>
                          </a:solidFill>
                          <a:latin typeface="微软雅黑" panose="020B0503020204020204" pitchFamily="34" charset="-122"/>
                          <a:ea typeface="微软雅黑" panose="020B0503020204020204" pitchFamily="34" charset="-122"/>
                        </a:rPr>
                        <a:t>Agent</a:t>
                      </a:r>
                      <a:r>
                        <a:rPr lang="zh-CN" altLang="en-US" sz="1400" b="0" i="0">
                          <a:solidFill>
                            <a:srgbClr val="000000"/>
                          </a:solidFill>
                          <a:latin typeface="微软雅黑" panose="020B0503020204020204" pitchFamily="34" charset="-122"/>
                          <a:ea typeface="微软雅黑" panose="020B0503020204020204" pitchFamily="34" charset="-122"/>
                        </a:rPr>
                        <a:t>辅助下可快速上手，大幅降低培训周期与成本</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将</a:t>
                      </a:r>
                      <a:r>
                        <a:rPr lang="zh-CN" altLang="en-US" sz="1400" b="0" i="0">
                          <a:solidFill>
                            <a:srgbClr val="000000"/>
                          </a:solidFill>
                          <a:latin typeface="微软雅黑" panose="020B0503020204020204" pitchFamily="34" charset="-122"/>
                          <a:ea typeface="微软雅黑" panose="020B0503020204020204" pitchFamily="34" charset="-122"/>
                        </a:rPr>
                        <a:t>专业师傅经验转化为可复用智能能力</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000000"/>
                          </a:solidFill>
                          <a:latin typeface="微软雅黑" panose="020B0503020204020204" pitchFamily="34" charset="-122"/>
                          <a:ea typeface="微软雅黑" panose="020B0503020204020204" pitchFamily="34" charset="-122"/>
                        </a:rPr>
                        <a:t>/</a:t>
                      </a:r>
                      <a:endParaRPr 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8955">
                <a:tc rowSpan="2">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合规性</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、覆盖</a:t>
                      </a:r>
                      <a:r>
                        <a:rPr lang="en-US" altLang="zh-CN"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1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流程节点：</a:t>
                      </a:r>
                      <a:r>
                        <a:rPr lang="zh-CN" altLang="en-US" sz="14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严格按照预设工作流执行，确保每个节点均被完整执行，形成闭环</a:t>
                      </a:r>
                      <a:endParaRPr lang="zh-CN" altLang="en-US" sz="14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无遗漏、不可跳过</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000000"/>
                          </a:solidFill>
                          <a:latin typeface="微软雅黑" panose="020B0503020204020204" pitchFamily="34" charset="-122"/>
                          <a:ea typeface="微软雅黑" panose="020B0503020204020204" pitchFamily="34" charset="-122"/>
                        </a:rPr>
                        <a:t>/</a:t>
                      </a:r>
                      <a:endParaRPr 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276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1" i="0">
                          <a:solidFill>
                            <a:srgbClr val="000000"/>
                          </a:solidFill>
                          <a:latin typeface="微软雅黑" panose="020B0503020204020204" pitchFamily="34" charset="-122"/>
                          <a:ea typeface="微软雅黑" panose="020B0503020204020204" pitchFamily="34" charset="-122"/>
                        </a:rPr>
                        <a:t>2</a:t>
                      </a:r>
                      <a:r>
                        <a:rPr lang="zh-CN" altLang="en-US" sz="1400" b="1" i="0">
                          <a:solidFill>
                            <a:srgbClr val="000000"/>
                          </a:solidFill>
                          <a:latin typeface="微软雅黑" panose="020B0503020204020204" pitchFamily="34" charset="-122"/>
                          <a:ea typeface="微软雅黑" panose="020B0503020204020204" pitchFamily="34" charset="-122"/>
                        </a:rPr>
                        <a:t>、完全追溯能力：</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内置</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SOP（</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标准作业程序）和合规规则，自动标记流程或质量偏差，完整记录评估过程，随时</a:t>
                      </a:r>
                      <a:r>
                        <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调用</a:t>
                      </a:r>
                      <a:endParaRPr lang="zh-CN" altLang="en-US"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pitchFamily="34" charset="-122"/>
                          <a:ea typeface="微软雅黑" panose="020B0503020204020204" pitchFamily="34" charset="-122"/>
                        </a:rPr>
                        <a:t>完整证据链，一键调取</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000000"/>
                          </a:solidFill>
                          <a:latin typeface="微软雅黑" panose="020B0503020204020204" pitchFamily="34" charset="-122"/>
                          <a:ea typeface="微软雅黑" panose="020B0503020204020204" pitchFamily="34" charset="-122"/>
                        </a:rPr>
                        <a:t>/</a:t>
                      </a:r>
                      <a:endParaRPr lang="en-US" sz="14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a:t>
            </a:r>
            <a:r>
              <a:rPr sz="2800">
                <a:solidFill>
                  <a:schemeClr val="tx1"/>
                </a:solidFill>
                <a:latin typeface="+mn-ea"/>
                <a:ea typeface="+mn-ea"/>
                <a:sym typeface="+mn-ea"/>
              </a:rPr>
              <a:t>工艺</a:t>
            </a:r>
            <a:r>
              <a:rPr lang="zh-CN" sz="2800">
                <a:solidFill>
                  <a:schemeClr val="tx1"/>
                </a:solidFill>
                <a:latin typeface="+mn-ea"/>
                <a:ea typeface="+mn-ea"/>
                <a:sym typeface="+mn-ea"/>
              </a:rPr>
              <a:t>评估业务架构</a:t>
            </a:r>
            <a:endParaRPr lang="zh-CN" sz="2800">
              <a:solidFill>
                <a:schemeClr val="tx1"/>
              </a:solidFill>
              <a:latin typeface="+mn-ea"/>
              <a:ea typeface="+mn-ea"/>
              <a:sym typeface="+mn-ea"/>
            </a:endParaRPr>
          </a:p>
        </p:txBody>
      </p:sp>
      <p:sp>
        <p:nvSpPr>
          <p:cNvPr id="40" name="矩形 39"/>
          <p:cNvSpPr/>
          <p:nvPr/>
        </p:nvSpPr>
        <p:spPr>
          <a:xfrm>
            <a:off x="1863724" y="1734226"/>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创建需求</a:t>
            </a:r>
            <a:endParaRPr kumimoji="0" lang="zh-CN" altLang="en-US" sz="110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8" name="矩形 47"/>
          <p:cNvSpPr/>
          <p:nvPr/>
        </p:nvSpPr>
        <p:spPr>
          <a:xfrm>
            <a:off x="3183950" y="2797738"/>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审核需求</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1" name="矩形 50"/>
          <p:cNvSpPr/>
          <p:nvPr/>
        </p:nvSpPr>
        <p:spPr>
          <a:xfrm>
            <a:off x="3719725" y="332241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3" name="文本框 52"/>
          <p:cNvSpPr txBox="1"/>
          <p:nvPr/>
        </p:nvSpPr>
        <p:spPr>
          <a:xfrm>
            <a:off x="910081" y="1734226"/>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a:t>
            </a: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专员</a:t>
            </a:r>
            <a:endPar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4" name="文本框 53"/>
          <p:cNvSpPr txBox="1"/>
          <p:nvPr/>
        </p:nvSpPr>
        <p:spPr>
          <a:xfrm>
            <a:off x="910081" y="2797738"/>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工艺技术总监</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6" name="文本框 55"/>
          <p:cNvSpPr txBox="1"/>
          <p:nvPr/>
        </p:nvSpPr>
        <p:spPr>
          <a:xfrm>
            <a:off x="910081" y="3322413"/>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专业分派责任人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8" name="矩形 57"/>
          <p:cNvSpPr/>
          <p:nvPr/>
        </p:nvSpPr>
        <p:spPr>
          <a:xfrm>
            <a:off x="3719725" y="374808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研发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3" name="箭头: V 形 13"/>
          <p:cNvSpPr/>
          <p:nvPr/>
        </p:nvSpPr>
        <p:spPr>
          <a:xfrm>
            <a:off x="3863136" y="1039097"/>
            <a:ext cx="4248000" cy="576000"/>
          </a:xfrm>
          <a:prstGeom prst="chevron">
            <a:avLst>
              <a:gd name="adj" fmla="val 30321"/>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解析技术工艺</a:t>
            </a:r>
            <a:r>
              <a:rPr lang="zh-CN" altLang="en-US" sz="1600" b="1" kern="0" dirty="0">
                <a:solidFill>
                  <a:schemeClr val="tx1"/>
                </a:solidFill>
                <a:uFillTx/>
                <a:cs typeface="+mn-ea"/>
                <a:sym typeface="Arial" panose="020B0604020202020204"/>
              </a:rPr>
              <a:t>过程</a:t>
            </a:r>
            <a:endParaRPr lang="zh-CN" altLang="en-US" sz="1600" b="1" kern="0" dirty="0">
              <a:solidFill>
                <a:schemeClr val="tx1"/>
              </a:solidFill>
              <a:uFillTx/>
              <a:cs typeface="+mn-ea"/>
              <a:sym typeface="Arial" panose="020B0604020202020204"/>
            </a:endParaRPr>
          </a:p>
        </p:txBody>
      </p:sp>
      <p:sp>
        <p:nvSpPr>
          <p:cNvPr id="64" name="箭头: 五边形 15"/>
          <p:cNvSpPr/>
          <p:nvPr/>
        </p:nvSpPr>
        <p:spPr>
          <a:xfrm>
            <a:off x="1853063" y="1039097"/>
            <a:ext cx="2016000" cy="576000"/>
          </a:xfrm>
          <a:prstGeom prst="homePlate">
            <a:avLst>
              <a:gd name="adj" fmla="val 30689"/>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接受工艺评估</a:t>
            </a:r>
            <a:r>
              <a:rPr lang="zh-CN" altLang="en-US" sz="1600" b="1" kern="0" dirty="0">
                <a:solidFill>
                  <a:schemeClr val="tx1"/>
                </a:solidFill>
                <a:uFillTx/>
                <a:cs typeface="+mn-ea"/>
                <a:sym typeface="Arial" panose="020B0604020202020204"/>
              </a:rPr>
              <a:t>需求</a:t>
            </a:r>
            <a:endParaRPr lang="zh-CN" altLang="en-US" sz="1600" b="1" kern="0" dirty="0">
              <a:solidFill>
                <a:schemeClr val="tx1"/>
              </a:solidFill>
              <a:uFillTx/>
              <a:cs typeface="+mn-ea"/>
              <a:sym typeface="Arial" panose="020B0604020202020204"/>
            </a:endParaRPr>
          </a:p>
        </p:txBody>
      </p:sp>
      <p:sp>
        <p:nvSpPr>
          <p:cNvPr id="65" name="箭头: V 形 16"/>
          <p:cNvSpPr/>
          <p:nvPr/>
        </p:nvSpPr>
        <p:spPr>
          <a:xfrm>
            <a:off x="8098155" y="1038860"/>
            <a:ext cx="3448685" cy="575945"/>
          </a:xfrm>
          <a:prstGeom prst="chevron">
            <a:avLst>
              <a:gd name="adj" fmla="val 30321"/>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输出</a:t>
            </a:r>
            <a:r>
              <a:rPr lang="zh-CN" altLang="en-US" sz="1600" b="1" kern="0" dirty="0">
                <a:solidFill>
                  <a:schemeClr val="tx1"/>
                </a:solidFill>
                <a:uFillTx/>
                <a:cs typeface="+mn-ea"/>
                <a:sym typeface="Arial" panose="020B0604020202020204"/>
              </a:rPr>
              <a:t>工艺评估</a:t>
            </a:r>
            <a:r>
              <a:rPr lang="zh-CN" altLang="en-US" sz="1600" b="1" kern="0" dirty="0">
                <a:solidFill>
                  <a:schemeClr val="tx1"/>
                </a:solidFill>
                <a:uFillTx/>
                <a:cs typeface="+mn-ea"/>
                <a:sym typeface="Arial" panose="020B0604020202020204"/>
              </a:rPr>
              <a:t>结果</a:t>
            </a:r>
            <a:endParaRPr lang="zh-CN" altLang="en-US" sz="1600" b="1" kern="0" dirty="0">
              <a:solidFill>
                <a:schemeClr val="tx1"/>
              </a:solidFill>
              <a:uFillTx/>
              <a:cs typeface="+mn-ea"/>
              <a:sym typeface="Arial" panose="020B0604020202020204"/>
            </a:endParaRPr>
          </a:p>
        </p:txBody>
      </p:sp>
      <p:cxnSp>
        <p:nvCxnSpPr>
          <p:cNvPr id="66" name="连接符: 肘形 20"/>
          <p:cNvCxnSpPr>
            <a:stCxn id="40" idx="3"/>
            <a:endCxn id="80" idx="1"/>
          </p:cNvCxnSpPr>
          <p:nvPr/>
        </p:nvCxnSpPr>
        <p:spPr>
          <a:xfrm>
            <a:off x="2295724" y="1914226"/>
            <a:ext cx="223079" cy="531756"/>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67" name="连接符: 肘形 25"/>
          <p:cNvCxnSpPr>
            <a:stCxn id="48" idx="3"/>
            <a:endCxn id="51" idx="0"/>
          </p:cNvCxnSpPr>
          <p:nvPr/>
        </p:nvCxnSpPr>
        <p:spPr>
          <a:xfrm>
            <a:off x="3615950" y="2977738"/>
            <a:ext cx="427775"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2" name="矩形 71"/>
          <p:cNvSpPr/>
          <p:nvPr/>
        </p:nvSpPr>
        <p:spPr>
          <a:xfrm>
            <a:off x="8945880" y="2781300"/>
            <a:ext cx="652780" cy="36004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审核工艺评估</a:t>
            </a: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结果</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3" name="连接符: 肘形 80"/>
          <p:cNvCxnSpPr>
            <a:stCxn id="125" idx="3"/>
            <a:endCxn id="72" idx="1"/>
          </p:cNvCxnSpPr>
          <p:nvPr/>
        </p:nvCxnSpPr>
        <p:spPr>
          <a:xfrm flipV="1">
            <a:off x="8728710" y="2961640"/>
            <a:ext cx="217170" cy="2238375"/>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4" name="矩形 73"/>
          <p:cNvSpPr/>
          <p:nvPr/>
        </p:nvSpPr>
        <p:spPr>
          <a:xfrm>
            <a:off x="9719310" y="2781300"/>
            <a:ext cx="714375" cy="36004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发布</a:t>
            </a: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工艺评估</a:t>
            </a: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报告</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5" name="直接箭头连接符 74"/>
          <p:cNvCxnSpPr>
            <a:stCxn id="72" idx="3"/>
            <a:endCxn id="74" idx="1"/>
          </p:cNvCxnSpPr>
          <p:nvPr/>
        </p:nvCxnSpPr>
        <p:spPr>
          <a:xfrm>
            <a:off x="9598456" y="2961341"/>
            <a:ext cx="120650" cy="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6" name="文本框 75"/>
          <p:cNvSpPr txBox="1"/>
          <p:nvPr/>
        </p:nvSpPr>
        <p:spPr>
          <a:xfrm>
            <a:off x="910081" y="5596398"/>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销售</a:t>
            </a: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专员</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7" name="箭头: 五边形 100"/>
          <p:cNvSpPr/>
          <p:nvPr/>
        </p:nvSpPr>
        <p:spPr>
          <a:xfrm>
            <a:off x="10610716" y="5596398"/>
            <a:ext cx="936000" cy="360000"/>
          </a:xfrm>
          <a:prstGeom prst="homePlate">
            <a:avLst/>
          </a:prstGeom>
          <a:solidFill>
            <a:srgbClr val="FFFFFF"/>
          </a:solidFill>
          <a:ln w="12700" cap="flat">
            <a:solidFill>
              <a:schemeClr val="accent1"/>
            </a:solidFill>
            <a:prstDash val="sysDot"/>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接收</a:t>
            </a: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a:t>
            </a:r>
            <a:endPar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endPar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9" name="连接符: 肘形 104"/>
          <p:cNvCxnSpPr>
            <a:stCxn id="74" idx="3"/>
            <a:endCxn id="77" idx="1"/>
          </p:cNvCxnSpPr>
          <p:nvPr/>
        </p:nvCxnSpPr>
        <p:spPr>
          <a:xfrm>
            <a:off x="10433685" y="2961640"/>
            <a:ext cx="177165" cy="2814955"/>
          </a:xfrm>
          <a:prstGeom prst="bentConnector3">
            <a:avLst>
              <a:gd name="adj1" fmla="val 50179"/>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80" name="矩形 79"/>
          <p:cNvSpPr/>
          <p:nvPr/>
        </p:nvSpPr>
        <p:spPr>
          <a:xfrm>
            <a:off x="2518803" y="2265982"/>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确认需求</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2" name="文本框 81"/>
          <p:cNvSpPr txBox="1"/>
          <p:nvPr/>
        </p:nvSpPr>
        <p:spPr>
          <a:xfrm>
            <a:off x="910081" y="2265982"/>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工艺技术经理</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90" name="连接符: 肘形 23"/>
          <p:cNvCxnSpPr>
            <a:stCxn id="80" idx="3"/>
            <a:endCxn id="48" idx="1"/>
          </p:cNvCxnSpPr>
          <p:nvPr/>
        </p:nvCxnSpPr>
        <p:spPr>
          <a:xfrm>
            <a:off x="2950803" y="2445982"/>
            <a:ext cx="233147" cy="531756"/>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92" name="矩形 91"/>
          <p:cNvSpPr/>
          <p:nvPr/>
        </p:nvSpPr>
        <p:spPr>
          <a:xfrm>
            <a:off x="4452397" y="332241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材料</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3" name="矩形 92"/>
          <p:cNvSpPr/>
          <p:nvPr/>
        </p:nvSpPr>
        <p:spPr>
          <a:xfrm>
            <a:off x="5183378" y="332241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采购</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5" name="矩形 94"/>
          <p:cNvSpPr/>
          <p:nvPr/>
        </p:nvSpPr>
        <p:spPr>
          <a:xfrm>
            <a:off x="5913764" y="332241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质量</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02" name="直接箭头连接符 101"/>
          <p:cNvCxnSpPr>
            <a:stCxn id="51" idx="2"/>
            <a:endCxn id="58" idx="0"/>
          </p:cNvCxnSpPr>
          <p:nvPr/>
        </p:nvCxnSpPr>
        <p:spPr>
          <a:xfrm>
            <a:off x="4043725" y="361041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03" name="矩形 102"/>
          <p:cNvSpPr/>
          <p:nvPr/>
        </p:nvSpPr>
        <p:spPr>
          <a:xfrm>
            <a:off x="4452397" y="374808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材料可行性分析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6" name="矩形 105"/>
          <p:cNvSpPr/>
          <p:nvPr/>
        </p:nvSpPr>
        <p:spPr>
          <a:xfrm>
            <a:off x="5183378" y="374808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成本可行性分析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7" name="矩形 106"/>
          <p:cNvSpPr/>
          <p:nvPr/>
        </p:nvSpPr>
        <p:spPr>
          <a:xfrm>
            <a:off x="5913764" y="374808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8" name="矩形 107"/>
          <p:cNvSpPr/>
          <p:nvPr/>
        </p:nvSpPr>
        <p:spPr>
          <a:xfrm>
            <a:off x="3719725" y="417579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研发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9" name="矩形 108"/>
          <p:cNvSpPr/>
          <p:nvPr/>
        </p:nvSpPr>
        <p:spPr>
          <a:xfrm>
            <a:off x="4452397" y="417579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材料可行性审核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0" name="矩形 109"/>
          <p:cNvSpPr/>
          <p:nvPr/>
        </p:nvSpPr>
        <p:spPr>
          <a:xfrm>
            <a:off x="5183378" y="417579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成本可行性审核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1" name="矩形 110"/>
          <p:cNvSpPr/>
          <p:nvPr/>
        </p:nvSpPr>
        <p:spPr>
          <a:xfrm>
            <a:off x="5913764" y="417579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3" name="连接符: 肘形 56"/>
          <p:cNvCxnSpPr>
            <a:stCxn id="108" idx="2"/>
            <a:endCxn id="125" idx="1"/>
          </p:cNvCxnSpPr>
          <p:nvPr/>
        </p:nvCxnSpPr>
        <p:spPr>
          <a:xfrm rot="5400000" flipV="1">
            <a:off x="5694363" y="2813368"/>
            <a:ext cx="735965" cy="403733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14" name="文本框 113"/>
          <p:cNvSpPr txBox="1"/>
          <p:nvPr/>
        </p:nvSpPr>
        <p:spPr>
          <a:xfrm>
            <a:off x="910081" y="3748082"/>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5" name="文本框 114"/>
          <p:cNvSpPr txBox="1"/>
          <p:nvPr/>
        </p:nvSpPr>
        <p:spPr>
          <a:xfrm>
            <a:off x="910081" y="4175792"/>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专业审核责任人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6" name="直接箭头连接符 115"/>
          <p:cNvCxnSpPr>
            <a:stCxn id="58" idx="2"/>
            <a:endCxn id="108" idx="0"/>
          </p:cNvCxnSpPr>
          <p:nvPr/>
        </p:nvCxnSpPr>
        <p:spPr>
          <a:xfrm>
            <a:off x="4043725" y="4036082"/>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7" name="连接符: 肘形 18"/>
          <p:cNvCxnSpPr>
            <a:stCxn id="48" idx="3"/>
            <a:endCxn id="92" idx="0"/>
          </p:cNvCxnSpPr>
          <p:nvPr/>
        </p:nvCxnSpPr>
        <p:spPr>
          <a:xfrm>
            <a:off x="3615950" y="2977738"/>
            <a:ext cx="1160447"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8" name="连接符: 肘形 26"/>
          <p:cNvCxnSpPr>
            <a:stCxn id="48" idx="3"/>
            <a:endCxn id="93" idx="0"/>
          </p:cNvCxnSpPr>
          <p:nvPr/>
        </p:nvCxnSpPr>
        <p:spPr>
          <a:xfrm>
            <a:off x="3615950" y="2977738"/>
            <a:ext cx="1891428"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9" name="连接符: 肘形 35"/>
          <p:cNvCxnSpPr>
            <a:stCxn id="48" idx="3"/>
            <a:endCxn id="95" idx="0"/>
          </p:cNvCxnSpPr>
          <p:nvPr/>
        </p:nvCxnSpPr>
        <p:spPr>
          <a:xfrm>
            <a:off x="3615950" y="2977738"/>
            <a:ext cx="2621814"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0" name="连接符: 肘形 49"/>
          <p:cNvCxnSpPr>
            <a:stCxn id="111" idx="2"/>
            <a:endCxn id="125" idx="1"/>
          </p:cNvCxnSpPr>
          <p:nvPr/>
        </p:nvCxnSpPr>
        <p:spPr>
          <a:xfrm rot="5400000" flipV="1">
            <a:off x="6791325" y="3910330"/>
            <a:ext cx="735965" cy="184340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1" name="连接符: 肘形 54"/>
          <p:cNvCxnSpPr>
            <a:stCxn id="110" idx="2"/>
            <a:endCxn id="125" idx="1"/>
          </p:cNvCxnSpPr>
          <p:nvPr/>
        </p:nvCxnSpPr>
        <p:spPr>
          <a:xfrm rot="5400000" flipV="1">
            <a:off x="6426200" y="3545205"/>
            <a:ext cx="735965" cy="257365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2" name="连接符: 肘形 61"/>
          <p:cNvCxnSpPr>
            <a:stCxn id="109" idx="2"/>
            <a:endCxn id="125" idx="1"/>
          </p:cNvCxnSpPr>
          <p:nvPr/>
        </p:nvCxnSpPr>
        <p:spPr>
          <a:xfrm rot="5400000" flipV="1">
            <a:off x="6060758" y="3179763"/>
            <a:ext cx="735965" cy="330454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23" name="文本框 122"/>
          <p:cNvSpPr txBox="1"/>
          <p:nvPr/>
        </p:nvSpPr>
        <p:spPr>
          <a:xfrm>
            <a:off x="910081" y="5046200"/>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综合审核责任人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5" name="矩形 124"/>
          <p:cNvSpPr/>
          <p:nvPr/>
        </p:nvSpPr>
        <p:spPr>
          <a:xfrm>
            <a:off x="8080996" y="505572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汇总工艺可行性</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结果</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26" name="直接箭头连接符 125"/>
          <p:cNvCxnSpPr>
            <a:stCxn id="92" idx="2"/>
            <a:endCxn id="103" idx="0"/>
          </p:cNvCxnSpPr>
          <p:nvPr/>
        </p:nvCxnSpPr>
        <p:spPr>
          <a:xfrm>
            <a:off x="4776397" y="361041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7" name="直接箭头连接符 126"/>
          <p:cNvCxnSpPr>
            <a:stCxn id="103" idx="2"/>
            <a:endCxn id="109" idx="0"/>
          </p:cNvCxnSpPr>
          <p:nvPr/>
        </p:nvCxnSpPr>
        <p:spPr>
          <a:xfrm>
            <a:off x="4776397" y="4036082"/>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8" name="直接箭头连接符 127"/>
          <p:cNvCxnSpPr>
            <a:stCxn id="93" idx="2"/>
            <a:endCxn id="106" idx="0"/>
          </p:cNvCxnSpPr>
          <p:nvPr/>
        </p:nvCxnSpPr>
        <p:spPr>
          <a:xfrm>
            <a:off x="5507378" y="361041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9" name="直接箭头连接符 128"/>
          <p:cNvCxnSpPr>
            <a:stCxn id="106" idx="2"/>
            <a:endCxn id="110" idx="0"/>
          </p:cNvCxnSpPr>
          <p:nvPr/>
        </p:nvCxnSpPr>
        <p:spPr>
          <a:xfrm>
            <a:off x="5507378" y="4036082"/>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30" name="直接箭头连接符 129"/>
          <p:cNvCxnSpPr>
            <a:stCxn id="95" idx="2"/>
            <a:endCxn id="107" idx="0"/>
          </p:cNvCxnSpPr>
          <p:nvPr/>
        </p:nvCxnSpPr>
        <p:spPr>
          <a:xfrm>
            <a:off x="6237764" y="361041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31" name="直接箭头连接符 130"/>
          <p:cNvCxnSpPr>
            <a:stCxn id="107" idx="2"/>
            <a:endCxn id="111" idx="0"/>
          </p:cNvCxnSpPr>
          <p:nvPr/>
        </p:nvCxnSpPr>
        <p:spPr>
          <a:xfrm>
            <a:off x="6237764" y="4036082"/>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3" name="矩形 2"/>
          <p:cNvSpPr/>
          <p:nvPr/>
        </p:nvSpPr>
        <p:spPr>
          <a:xfrm>
            <a:off x="6640839" y="332241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4" name="连接符: 肘形 35"/>
          <p:cNvCxnSpPr>
            <a:endCxn id="3" idx="0"/>
          </p:cNvCxnSpPr>
          <p:nvPr/>
        </p:nvCxnSpPr>
        <p:spPr>
          <a:xfrm>
            <a:off x="3719830" y="2977515"/>
            <a:ext cx="3244850" cy="34480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5" name="矩形 4"/>
          <p:cNvSpPr/>
          <p:nvPr/>
        </p:nvSpPr>
        <p:spPr>
          <a:xfrm>
            <a:off x="6657349" y="374808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检测可行性分析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 name="矩形 5"/>
          <p:cNvSpPr/>
          <p:nvPr/>
        </p:nvSpPr>
        <p:spPr>
          <a:xfrm>
            <a:off x="6657349" y="417607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检测可行性审核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 name="连接符: 肘形 49"/>
          <p:cNvCxnSpPr>
            <a:stCxn id="6" idx="2"/>
            <a:endCxn id="125" idx="1"/>
          </p:cNvCxnSpPr>
          <p:nvPr/>
        </p:nvCxnSpPr>
        <p:spPr>
          <a:xfrm rot="5400000" flipV="1">
            <a:off x="7163118" y="4282123"/>
            <a:ext cx="735965" cy="109982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9" name="直接箭头连接符 8"/>
          <p:cNvCxnSpPr/>
          <p:nvPr/>
        </p:nvCxnSpPr>
        <p:spPr>
          <a:xfrm>
            <a:off x="6979444" y="404729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0" name="直接箭头连接符 9"/>
          <p:cNvCxnSpPr/>
          <p:nvPr/>
        </p:nvCxnSpPr>
        <p:spPr>
          <a:xfrm>
            <a:off x="6964839" y="3604698"/>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8" name="矩形 7"/>
          <p:cNvSpPr/>
          <p:nvPr/>
        </p:nvSpPr>
        <p:spPr>
          <a:xfrm>
            <a:off x="7377439" y="3337653"/>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 name="矩形 10"/>
          <p:cNvSpPr/>
          <p:nvPr/>
        </p:nvSpPr>
        <p:spPr>
          <a:xfrm>
            <a:off x="7393949" y="376332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 name="矩形 11"/>
          <p:cNvSpPr/>
          <p:nvPr/>
        </p:nvSpPr>
        <p:spPr>
          <a:xfrm>
            <a:off x="7393949" y="4191312"/>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3" name="直接箭头连接符 12"/>
          <p:cNvCxnSpPr/>
          <p:nvPr/>
        </p:nvCxnSpPr>
        <p:spPr>
          <a:xfrm>
            <a:off x="7716044" y="4062533"/>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4" name="直接箭头连接符 13"/>
          <p:cNvCxnSpPr/>
          <p:nvPr/>
        </p:nvCxnSpPr>
        <p:spPr>
          <a:xfrm>
            <a:off x="7701439" y="3619938"/>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5" name="连接符: 肘形 35"/>
          <p:cNvCxnSpPr>
            <a:stCxn id="48" idx="3"/>
            <a:endCxn id="8" idx="0"/>
          </p:cNvCxnSpPr>
          <p:nvPr/>
        </p:nvCxnSpPr>
        <p:spPr>
          <a:xfrm>
            <a:off x="3615690" y="2977515"/>
            <a:ext cx="4085590" cy="36004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6" name="连接符: 肘形 49"/>
          <p:cNvCxnSpPr>
            <a:stCxn id="12" idx="2"/>
            <a:endCxn id="125" idx="1"/>
          </p:cNvCxnSpPr>
          <p:nvPr/>
        </p:nvCxnSpPr>
        <p:spPr>
          <a:xfrm rot="5400000" flipV="1">
            <a:off x="7539355" y="4657725"/>
            <a:ext cx="720725" cy="36322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a:t>
            </a:r>
            <a:r>
              <a:rPr sz="2800">
                <a:solidFill>
                  <a:schemeClr val="tx1"/>
                </a:solidFill>
                <a:latin typeface="+mn-ea"/>
                <a:ea typeface="+mn-ea"/>
                <a:sym typeface="+mn-ea"/>
              </a:rPr>
              <a:t>工艺</a:t>
            </a:r>
            <a:r>
              <a:rPr lang="zh-CN" sz="2800">
                <a:solidFill>
                  <a:schemeClr val="tx1"/>
                </a:solidFill>
                <a:latin typeface="+mn-ea"/>
                <a:ea typeface="+mn-ea"/>
                <a:sym typeface="+mn-ea"/>
              </a:rPr>
              <a:t>评估业务</a:t>
            </a:r>
            <a:r>
              <a:rPr lang="zh-CN" sz="2800">
                <a:solidFill>
                  <a:schemeClr val="tx1"/>
                </a:solidFill>
                <a:latin typeface="+mn-ea"/>
                <a:ea typeface="+mn-ea"/>
                <a:sym typeface="+mn-ea"/>
              </a:rPr>
              <a:t>价值流</a:t>
            </a:r>
            <a:endParaRPr lang="zh-CN" sz="2800">
              <a:solidFill>
                <a:schemeClr val="tx1"/>
              </a:solidFill>
              <a:latin typeface="+mn-ea"/>
              <a:ea typeface="+mn-ea"/>
              <a:sym typeface="+mn-ea"/>
            </a:endParaRPr>
          </a:p>
        </p:txBody>
      </p:sp>
      <p:grpSp>
        <p:nvGrpSpPr>
          <p:cNvPr id="6" name="组合 5"/>
          <p:cNvGrpSpPr/>
          <p:nvPr/>
        </p:nvGrpSpPr>
        <p:grpSpPr>
          <a:xfrm>
            <a:off x="209550" y="1472565"/>
            <a:ext cx="4227830" cy="4551680"/>
            <a:chOff x="330" y="2319"/>
            <a:chExt cx="7486" cy="7168"/>
          </a:xfrm>
        </p:grpSpPr>
        <p:sp>
          <p:nvSpPr>
            <p:cNvPr id="17" name="矩形 16"/>
            <p:cNvSpPr/>
            <p:nvPr/>
          </p:nvSpPr>
          <p:spPr>
            <a:xfrm>
              <a:off x="2904" y="3400"/>
              <a:ext cx="2835" cy="6087"/>
            </a:xfrm>
            <a:prstGeom prst="rect">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compatLnSpc="1">
              <a:noAutofit/>
            </a:bodyPr>
            <a:lstStyle/>
            <a:p>
              <a:pPr lvl="0" algn="ctr" hangingPunct="0">
                <a:spcBef>
                  <a:spcPts val="0"/>
                </a:spcBef>
                <a:spcAft>
                  <a:spcPts val="0"/>
                </a:spcAft>
                <a:buClrTx/>
                <a:buSzTx/>
                <a:buFontTx/>
              </a:pPr>
              <a:r>
                <a:rPr lang="zh-CN" altLang="en-US" sz="1400" b="1" kern="0" dirty="0">
                  <a:solidFill>
                    <a:schemeClr val="tx1"/>
                  </a:solidFill>
                  <a:uFillTx/>
                  <a:latin typeface="微软雅黑" panose="020B0503020204020204" pitchFamily="34" charset="-122"/>
                  <a:ea typeface="微软雅黑" panose="020B0503020204020204" pitchFamily="34" charset="-122"/>
                  <a:sym typeface="+mn-ea"/>
                </a:rPr>
                <a:t>技术工艺</a:t>
              </a:r>
              <a:r>
                <a:rPr lang="zh-CN" altLang="en-US" sz="1400" b="1" kern="0" dirty="0">
                  <a:solidFill>
                    <a:schemeClr val="tx1"/>
                  </a:solidFill>
                  <a:uFillTx/>
                  <a:latin typeface="微软雅黑" panose="020B0503020204020204" pitchFamily="34" charset="-122"/>
                  <a:ea typeface="微软雅黑" panose="020B0503020204020204" pitchFamily="34" charset="-122"/>
                  <a:sym typeface="+mn-ea"/>
                </a:rPr>
                <a:t>评估管理</a:t>
              </a:r>
              <a:endParaRPr lang="zh-CN" altLang="en-US" sz="1400" b="1" kern="0" dirty="0">
                <a:solidFill>
                  <a:schemeClr val="tx1"/>
                </a:solidFill>
                <a:uFillTx/>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3244" y="3930"/>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创建需求</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 name="矩形 9"/>
            <p:cNvSpPr/>
            <p:nvPr/>
          </p:nvSpPr>
          <p:spPr>
            <a:xfrm>
              <a:off x="3244" y="4718"/>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确认需求</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 name="矩形 10"/>
            <p:cNvSpPr/>
            <p:nvPr/>
          </p:nvSpPr>
          <p:spPr>
            <a:xfrm>
              <a:off x="3244" y="5506"/>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审核需求</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 name="矩形 11"/>
            <p:cNvSpPr/>
            <p:nvPr/>
          </p:nvSpPr>
          <p:spPr>
            <a:xfrm>
              <a:off x="3244" y="7174"/>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审核评估报告</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3" name="矩形 12"/>
            <p:cNvSpPr/>
            <p:nvPr/>
          </p:nvSpPr>
          <p:spPr>
            <a:xfrm>
              <a:off x="3244" y="8074"/>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发布评估</a:t>
              </a: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报告</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 name="矩形 13"/>
            <p:cNvSpPr/>
            <p:nvPr/>
          </p:nvSpPr>
          <p:spPr>
            <a:xfrm>
              <a:off x="3244" y="8862"/>
              <a:ext cx="2154" cy="454"/>
            </a:xfrm>
            <a:prstGeom prst="rect">
              <a:avLst/>
            </a:prstGeom>
            <a:solidFill>
              <a:srgbClr val="ED7D31"/>
            </a:solidFill>
            <a:ln w="12700" cap="flat" cmpd="sng" algn="ctr">
              <a:solidFill>
                <a:srgbClr val="E7E6E6">
                  <a:lumMod val="50000"/>
                </a:srgbClr>
              </a:solidFill>
              <a:prstDash val="sysDot"/>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接收评估</a:t>
              </a: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报告</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1" name="矩形: 圆角 13"/>
            <p:cNvSpPr/>
            <p:nvPr>
              <p:custDataLst>
                <p:tags r:id="rId2"/>
              </p:custDataLst>
            </p:nvPr>
          </p:nvSpPr>
          <p:spPr>
            <a:xfrm>
              <a:off x="1375" y="2319"/>
              <a:ext cx="1587" cy="45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rPr>
                <a:t>客户主数据</a:t>
              </a:r>
              <a:endPar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endParaRPr>
            </a:p>
          </p:txBody>
        </p:sp>
        <p:sp>
          <p:nvSpPr>
            <p:cNvPr id="25" name="矩形: 圆角 13"/>
            <p:cNvSpPr/>
            <p:nvPr>
              <p:custDataLst>
                <p:tags r:id="rId3"/>
              </p:custDataLst>
            </p:nvPr>
          </p:nvSpPr>
          <p:spPr>
            <a:xfrm>
              <a:off x="3527" y="2319"/>
              <a:ext cx="1587" cy="45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rPr>
                <a:t>组织主数据</a:t>
              </a:r>
              <a:endPar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endParaRPr>
            </a:p>
          </p:txBody>
        </p:sp>
        <p:sp>
          <p:nvSpPr>
            <p:cNvPr id="26" name="矩形: 圆角 13"/>
            <p:cNvSpPr/>
            <p:nvPr>
              <p:custDataLst>
                <p:tags r:id="rId4"/>
              </p:custDataLst>
            </p:nvPr>
          </p:nvSpPr>
          <p:spPr>
            <a:xfrm>
              <a:off x="5723" y="2319"/>
              <a:ext cx="1587" cy="45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rPr>
                <a:t>产品主数据</a:t>
              </a:r>
              <a:endParaRPr lang="zh-CN" altLang="en-US" sz="1100" b="1" kern="0" dirty="0">
                <a:solidFill>
                  <a:schemeClr val="tx1"/>
                </a:solidFill>
                <a:uFillTx/>
                <a:latin typeface="微软雅黑" panose="020B0503020204020204" pitchFamily="34" charset="-122"/>
                <a:ea typeface="微软雅黑" panose="020B0503020204020204" pitchFamily="34" charset="-122"/>
                <a:sym typeface="Arial" panose="020B0604020202020204"/>
              </a:endParaRPr>
            </a:p>
          </p:txBody>
        </p:sp>
        <p:cxnSp>
          <p:nvCxnSpPr>
            <p:cNvPr id="28" name="直接箭头连接符 27"/>
            <p:cNvCxnSpPr>
              <a:stCxn id="21" idx="2"/>
              <a:endCxn id="17" idx="0"/>
            </p:cNvCxnSpPr>
            <p:nvPr>
              <p:custDataLst>
                <p:tags r:id="rId5"/>
              </p:custDataLst>
            </p:nvPr>
          </p:nvCxnSpPr>
          <p:spPr>
            <a:xfrm>
              <a:off x="2169" y="2773"/>
              <a:ext cx="2153" cy="627"/>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6" idx="2"/>
              <a:endCxn id="17" idx="0"/>
            </p:cNvCxnSpPr>
            <p:nvPr>
              <p:custDataLst>
                <p:tags r:id="rId6"/>
              </p:custDataLst>
            </p:nvPr>
          </p:nvCxnSpPr>
          <p:spPr>
            <a:xfrm flipH="1">
              <a:off x="4322" y="2773"/>
              <a:ext cx="2195" cy="627"/>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25" idx="2"/>
              <a:endCxn id="17" idx="0"/>
            </p:cNvCxnSpPr>
            <p:nvPr>
              <p:custDataLst>
                <p:tags r:id="rId7"/>
              </p:custDataLst>
            </p:nvPr>
          </p:nvCxnSpPr>
          <p:spPr>
            <a:xfrm>
              <a:off x="4321" y="2773"/>
              <a:ext cx="1" cy="627"/>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60" name="燕尾形 13"/>
            <p:cNvSpPr/>
            <p:nvPr>
              <p:custDataLst>
                <p:tags r:id="rId8"/>
              </p:custDataLst>
            </p:nvPr>
          </p:nvSpPr>
          <p:spPr>
            <a:xfrm>
              <a:off x="330" y="5603"/>
              <a:ext cx="1474" cy="567"/>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rPr>
                <a:t>机会点</a:t>
              </a:r>
              <a:endPar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endParaRPr>
            </a:p>
            <a:p>
              <a:pPr algn="ctr" hangingPunct="0">
                <a:spcBef>
                  <a:spcPts val="0"/>
                </a:spcBef>
                <a:spcAft>
                  <a:spcPts val="0"/>
                </a:spcAft>
              </a:pPr>
              <a:r>
                <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rPr>
                <a:t>验证</a:t>
              </a:r>
              <a:endPar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endParaRPr>
            </a:p>
          </p:txBody>
        </p:sp>
        <p:cxnSp>
          <p:nvCxnSpPr>
            <p:cNvPr id="61" name="直接箭头连接符 60"/>
            <p:cNvCxnSpPr>
              <a:stCxn id="17" idx="3"/>
              <a:endCxn id="71" idx="1"/>
            </p:cNvCxnSpPr>
            <p:nvPr>
              <p:custDataLst>
                <p:tags r:id="rId9"/>
              </p:custDataLst>
            </p:nvPr>
          </p:nvCxnSpPr>
          <p:spPr>
            <a:xfrm flipV="1">
              <a:off x="5739" y="5175"/>
              <a:ext cx="512" cy="1269"/>
            </a:xfrm>
            <a:prstGeom prst="straightConnector1">
              <a:avLst/>
            </a:prstGeom>
            <a:noFill/>
            <a:ln w="6350" cap="flat" cmpd="sng" algn="ctr">
              <a:solidFill>
                <a:sysClr val="windowText" lastClr="000000">
                  <a:lumMod val="65000"/>
                  <a:lumOff val="35000"/>
                </a:sysClr>
              </a:solidFill>
              <a:prstDash val="solid"/>
              <a:miter lim="800000"/>
              <a:headEnd type="none"/>
              <a:tailEnd type="triangle" w="med" len="med"/>
            </a:ln>
            <a:effectLst/>
          </p:spPr>
        </p:cxnSp>
        <p:sp>
          <p:nvSpPr>
            <p:cNvPr id="71" name="燕尾形 13"/>
            <p:cNvSpPr/>
            <p:nvPr>
              <p:custDataLst>
                <p:tags r:id="rId10"/>
              </p:custDataLst>
            </p:nvPr>
          </p:nvSpPr>
          <p:spPr>
            <a:xfrm>
              <a:off x="6114" y="4891"/>
              <a:ext cx="1702" cy="567"/>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rPr>
                <a:t>谈判和生成合同</a:t>
              </a:r>
              <a:endPar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endParaRPr>
            </a:p>
          </p:txBody>
        </p:sp>
        <p:sp>
          <p:nvSpPr>
            <p:cNvPr id="15" name="燕尾形 13"/>
            <p:cNvSpPr/>
            <p:nvPr>
              <p:custDataLst>
                <p:tags r:id="rId11"/>
              </p:custDataLst>
            </p:nvPr>
          </p:nvSpPr>
          <p:spPr>
            <a:xfrm>
              <a:off x="6341" y="7120"/>
              <a:ext cx="1474" cy="567"/>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rPr>
                <a:t>产品立项</a:t>
              </a:r>
              <a:endParaRPr lang="zh-CN" altLang="en-US" sz="1100" kern="0" dirty="0">
                <a:solidFill>
                  <a:schemeClr val="tx1"/>
                </a:solidFill>
                <a:uFillTx/>
                <a:latin typeface="微软雅黑" panose="020B0503020204020204" pitchFamily="34" charset="-122"/>
                <a:ea typeface="微软雅黑" panose="020B0503020204020204" pitchFamily="34" charset="-122"/>
                <a:cs typeface="+mn-cs"/>
                <a:sym typeface="+mn-ea"/>
              </a:endParaRPr>
            </a:p>
          </p:txBody>
        </p:sp>
        <p:cxnSp>
          <p:nvCxnSpPr>
            <p:cNvPr id="16" name="直接箭头连接符 15"/>
            <p:cNvCxnSpPr>
              <a:stCxn id="17" idx="3"/>
              <a:endCxn id="15" idx="1"/>
            </p:cNvCxnSpPr>
            <p:nvPr>
              <p:custDataLst>
                <p:tags r:id="rId12"/>
              </p:custDataLst>
            </p:nvPr>
          </p:nvCxnSpPr>
          <p:spPr>
            <a:xfrm>
              <a:off x="5739" y="6444"/>
              <a:ext cx="739" cy="960"/>
            </a:xfrm>
            <a:prstGeom prst="straightConnector1">
              <a:avLst/>
            </a:prstGeom>
            <a:noFill/>
            <a:ln w="6350" cap="flat" cmpd="sng" algn="ctr">
              <a:solidFill>
                <a:sysClr val="windowText" lastClr="000000">
                  <a:lumMod val="65000"/>
                  <a:lumOff val="35000"/>
                </a:sysClr>
              </a:solidFill>
              <a:prstDash val="solid"/>
              <a:miter lim="800000"/>
              <a:headEnd type="none"/>
              <a:tailEnd type="triangle" w="med" len="med"/>
            </a:ln>
            <a:effectLst/>
          </p:spPr>
        </p:cxnSp>
        <p:cxnSp>
          <p:nvCxnSpPr>
            <p:cNvPr id="18" name="直接箭头连接符 17"/>
            <p:cNvCxnSpPr>
              <a:stCxn id="60" idx="3"/>
            </p:cNvCxnSpPr>
            <p:nvPr>
              <p:custDataLst>
                <p:tags r:id="rId13"/>
              </p:custDataLst>
            </p:nvPr>
          </p:nvCxnSpPr>
          <p:spPr>
            <a:xfrm>
              <a:off x="1804" y="5887"/>
              <a:ext cx="1029" cy="2"/>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6341" y="5515"/>
              <a:ext cx="1020" cy="2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初始报价</a:t>
              </a:r>
              <a:endParaRPr lang="zh-CN" altLang="en-US" kern="0" dirty="0">
                <a:uFillTx/>
                <a:cs typeface="Arial" panose="020B0604020202020204"/>
                <a:sym typeface="Arial" panose="020B0604020202020204"/>
              </a:endParaRPr>
            </a:p>
          </p:txBody>
        </p:sp>
        <p:sp>
          <p:nvSpPr>
            <p:cNvPr id="91" name="文本框 90"/>
            <p:cNvSpPr txBox="1"/>
            <p:nvPr/>
          </p:nvSpPr>
          <p:spPr>
            <a:xfrm>
              <a:off x="6354" y="6754"/>
              <a:ext cx="1020" cy="2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初始产品</a:t>
              </a:r>
              <a:endParaRPr lang="zh-CN" altLang="en-US" kern="0" dirty="0">
                <a:uFillTx/>
                <a:cs typeface="Arial" panose="020B0604020202020204"/>
                <a:sym typeface="Arial" panose="020B0604020202020204"/>
              </a:endParaRPr>
            </a:p>
          </p:txBody>
        </p:sp>
        <p:sp>
          <p:nvSpPr>
            <p:cNvPr id="19" name="文本框 18"/>
            <p:cNvSpPr txBox="1"/>
            <p:nvPr/>
          </p:nvSpPr>
          <p:spPr>
            <a:xfrm>
              <a:off x="1857" y="5293"/>
              <a:ext cx="1020" cy="53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客户</a:t>
              </a:r>
              <a:r>
                <a:rPr lang="zh-CN" altLang="en-US" kern="0" dirty="0">
                  <a:uFillTx/>
                  <a:cs typeface="Arial" panose="020B0604020202020204"/>
                  <a:sym typeface="Arial" panose="020B0604020202020204"/>
                </a:rPr>
                <a:t>工艺需求信息</a:t>
              </a:r>
              <a:endParaRPr lang="zh-CN" altLang="en-US" kern="0" dirty="0">
                <a:uFillTx/>
                <a:cs typeface="Arial" panose="020B0604020202020204"/>
                <a:sym typeface="Arial" panose="020B0604020202020204"/>
              </a:endParaRPr>
            </a:p>
          </p:txBody>
        </p:sp>
        <p:sp>
          <p:nvSpPr>
            <p:cNvPr id="191" name="矩形 190"/>
            <p:cNvSpPr/>
            <p:nvPr/>
          </p:nvSpPr>
          <p:spPr>
            <a:xfrm>
              <a:off x="3244" y="6306"/>
              <a:ext cx="2154" cy="454"/>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分析评估</a:t>
              </a:r>
              <a:r>
                <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rPr>
                <a:t>需求</a:t>
              </a:r>
              <a:endParaRPr lang="zh-CN" altLang="en-US" sz="1200" kern="1200" dirty="0">
                <a:solidFill>
                  <a:prstClr val="black"/>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grpSp>
        <p:nvGrpSpPr>
          <p:cNvPr id="75" name="组合 74"/>
          <p:cNvGrpSpPr/>
          <p:nvPr/>
        </p:nvGrpSpPr>
        <p:grpSpPr>
          <a:xfrm>
            <a:off x="4436745" y="1019175"/>
            <a:ext cx="7324090" cy="5561965"/>
            <a:chOff x="6987" y="1605"/>
            <a:chExt cx="11534" cy="8759"/>
          </a:xfrm>
        </p:grpSpPr>
        <p:sp>
          <p:nvSpPr>
            <p:cNvPr id="5" name="矩形 4"/>
            <p:cNvSpPr/>
            <p:nvPr/>
          </p:nvSpPr>
          <p:spPr>
            <a:xfrm>
              <a:off x="6989" y="8498"/>
              <a:ext cx="11532" cy="1866"/>
            </a:xfrm>
            <a:prstGeom prst="rect">
              <a:avLst/>
            </a:pr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dirty="0">
                <a:uFillTx/>
                <a:latin typeface="微软雅黑" panose="020B0503020204020204" pitchFamily="34" charset="-122"/>
                <a:ea typeface="微软雅黑" panose="020B0503020204020204" pitchFamily="34" charset="-122"/>
                <a:sym typeface="Arial" panose="020B0604020202020204"/>
              </a:endParaRPr>
            </a:p>
          </p:txBody>
        </p:sp>
        <p:sp>
          <p:nvSpPr>
            <p:cNvPr id="20" name="矩形 19"/>
            <p:cNvSpPr/>
            <p:nvPr/>
          </p:nvSpPr>
          <p:spPr>
            <a:xfrm>
              <a:off x="6987" y="1605"/>
              <a:ext cx="11535" cy="6580"/>
            </a:xfrm>
            <a:prstGeom prst="rect">
              <a:avLst/>
            </a:prstGeom>
            <a:solidFill>
              <a:schemeClr val="bg1">
                <a:lumMod val="9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dirty="0">
                <a:uFillTx/>
                <a:latin typeface="微软雅黑" panose="020B0503020204020204" pitchFamily="34" charset="-122"/>
                <a:ea typeface="微软雅黑" panose="020B0503020204020204" pitchFamily="34" charset="-122"/>
                <a:sym typeface="Arial" panose="020B0604020202020204"/>
              </a:endParaRPr>
            </a:p>
          </p:txBody>
        </p:sp>
        <p:sp>
          <p:nvSpPr>
            <p:cNvPr id="22" name="矩形 21"/>
            <p:cNvSpPr/>
            <p:nvPr/>
          </p:nvSpPr>
          <p:spPr>
            <a:xfrm>
              <a:off x="8785" y="3950"/>
              <a:ext cx="8090" cy="2041"/>
            </a:xfrm>
            <a:prstGeom prst="rect">
              <a:avLst/>
            </a:prstGeom>
            <a:solidFill>
              <a:schemeClr val="accent1">
                <a:lumMod val="40000"/>
                <a:lumOff val="60000"/>
              </a:scheme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sp>
          <p:nvSpPr>
            <p:cNvPr id="23" name="矩形 22"/>
            <p:cNvSpPr/>
            <p:nvPr/>
          </p:nvSpPr>
          <p:spPr>
            <a:xfrm>
              <a:off x="10952" y="1636"/>
              <a:ext cx="2608" cy="34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创建需求</a:t>
              </a:r>
              <a:endPar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4" name="流程图: 决策 23"/>
            <p:cNvSpPr/>
            <p:nvPr/>
          </p:nvSpPr>
          <p:spPr>
            <a:xfrm>
              <a:off x="10952" y="2931"/>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审核需求</a:t>
              </a:r>
              <a:endPar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7" name="流程图: 终止 26"/>
            <p:cNvSpPr/>
            <p:nvPr/>
          </p:nvSpPr>
          <p:spPr>
            <a:xfrm>
              <a:off x="17036" y="3045"/>
              <a:ext cx="907" cy="340"/>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END</a:t>
              </a:r>
              <a:endPar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9" name="直接箭头连接符 28"/>
            <p:cNvCxnSpPr>
              <a:stCxn id="24" idx="3"/>
              <a:endCxn id="27" idx="1"/>
            </p:cNvCxnSpPr>
            <p:nvPr/>
          </p:nvCxnSpPr>
          <p:spPr>
            <a:xfrm>
              <a:off x="13560" y="3215"/>
              <a:ext cx="3476" cy="0"/>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30" name="文本框 29"/>
            <p:cNvSpPr txBox="1"/>
            <p:nvPr/>
          </p:nvSpPr>
          <p:spPr>
            <a:xfrm>
              <a:off x="7486" y="1673"/>
              <a:ext cx="72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销售</a:t>
              </a: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1" name="文本框 30"/>
            <p:cNvSpPr txBox="1"/>
            <p:nvPr/>
          </p:nvSpPr>
          <p:spPr>
            <a:xfrm>
              <a:off x="7486" y="3059"/>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工艺</a:t>
              </a: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技术总监</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32" name="直接箭头连接符 31"/>
            <p:cNvCxnSpPr>
              <a:stCxn id="23" idx="2"/>
              <a:endCxn id="94" idx="0"/>
            </p:cNvCxnSpPr>
            <p:nvPr/>
          </p:nvCxnSpPr>
          <p:spPr>
            <a:xfrm>
              <a:off x="12256" y="1976"/>
              <a:ext cx="0" cy="27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33" name="文本框 32"/>
            <p:cNvSpPr txBox="1"/>
            <p:nvPr/>
          </p:nvSpPr>
          <p:spPr>
            <a:xfrm>
              <a:off x="13763" y="3268"/>
              <a:ext cx="485" cy="2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N</a:t>
              </a:r>
              <a:endPar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4" name="文本框 33"/>
            <p:cNvSpPr txBox="1"/>
            <p:nvPr/>
          </p:nvSpPr>
          <p:spPr>
            <a:xfrm>
              <a:off x="12413" y="3511"/>
              <a:ext cx="242" cy="2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Y</a:t>
              </a:r>
              <a:endPar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5" name="文本框 34"/>
            <p:cNvSpPr txBox="1"/>
            <p:nvPr/>
          </p:nvSpPr>
          <p:spPr>
            <a:xfrm>
              <a:off x="7070" y="4117"/>
              <a:ext cx="1691"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测试、供应经理</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6" name="矩形 35"/>
            <p:cNvSpPr/>
            <p:nvPr/>
          </p:nvSpPr>
          <p:spPr>
            <a:xfrm>
              <a:off x="10952" y="6553"/>
              <a:ext cx="2608" cy="567"/>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汇总并上载</a:t>
              </a:r>
              <a:r>
                <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技术工艺</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r>
                <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8" name="文本框 37"/>
            <p:cNvSpPr txBox="1"/>
            <p:nvPr/>
          </p:nvSpPr>
          <p:spPr>
            <a:xfrm>
              <a:off x="7486" y="6748"/>
              <a:ext cx="909"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产品工程师</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9" name="文本框 38"/>
            <p:cNvSpPr txBox="1"/>
            <p:nvPr/>
          </p:nvSpPr>
          <p:spPr>
            <a:xfrm>
              <a:off x="7486" y="7796"/>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工艺技术</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总监</a:t>
              </a:r>
              <a:endPar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1" name="流程图: 决策 40"/>
            <p:cNvSpPr/>
            <p:nvPr/>
          </p:nvSpPr>
          <p:spPr>
            <a:xfrm>
              <a:off x="10952" y="7616"/>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审核汇总的工艺</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2" name="流程图: 终止 41"/>
            <p:cNvSpPr/>
            <p:nvPr/>
          </p:nvSpPr>
          <p:spPr>
            <a:xfrm>
              <a:off x="17212" y="7697"/>
              <a:ext cx="907" cy="448"/>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发布评</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估报告</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44" name="直接箭头连接符 43"/>
            <p:cNvCxnSpPr>
              <a:stCxn id="41" idx="3"/>
              <a:endCxn id="42" idx="1"/>
            </p:cNvCxnSpPr>
            <p:nvPr/>
          </p:nvCxnSpPr>
          <p:spPr>
            <a:xfrm>
              <a:off x="13560" y="7900"/>
              <a:ext cx="3652" cy="2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45" name="文本框 44"/>
            <p:cNvSpPr txBox="1"/>
            <p:nvPr/>
          </p:nvSpPr>
          <p:spPr>
            <a:xfrm>
              <a:off x="13612" y="7959"/>
              <a:ext cx="70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solidFill>
                    <a:srgbClr val="000000"/>
                  </a:solidFill>
                  <a:uFillTx/>
                  <a:cs typeface="Arial" panose="020B0604020202020204"/>
                  <a:sym typeface="Arial" panose="020B0604020202020204"/>
                </a:rPr>
                <a:t>不通过</a:t>
              </a:r>
              <a:endParaRPr lang="zh-CN" altLang="en-US" sz="900" kern="0" dirty="0">
                <a:solidFill>
                  <a:srgbClr val="000000"/>
                </a:solidFill>
                <a:uFillTx/>
                <a:cs typeface="Arial" panose="020B0604020202020204"/>
                <a:sym typeface="Arial" panose="020B0604020202020204"/>
              </a:endParaRPr>
            </a:p>
          </p:txBody>
        </p:sp>
        <p:cxnSp>
          <p:nvCxnSpPr>
            <p:cNvPr id="46" name="直接箭头连接符 45"/>
            <p:cNvCxnSpPr>
              <a:stCxn id="36" idx="2"/>
              <a:endCxn id="41" idx="0"/>
            </p:cNvCxnSpPr>
            <p:nvPr/>
          </p:nvCxnSpPr>
          <p:spPr>
            <a:xfrm>
              <a:off x="12256" y="7120"/>
              <a:ext cx="0" cy="496"/>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47" name="文本框 46"/>
            <p:cNvSpPr txBox="1"/>
            <p:nvPr/>
          </p:nvSpPr>
          <p:spPr>
            <a:xfrm>
              <a:off x="7486" y="8663"/>
              <a:ext cx="727"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49" name="直接箭头连接符 48"/>
            <p:cNvCxnSpPr>
              <a:stCxn id="41" idx="2"/>
              <a:endCxn id="50" idx="0"/>
            </p:cNvCxnSpPr>
            <p:nvPr/>
          </p:nvCxnSpPr>
          <p:spPr>
            <a:xfrm>
              <a:off x="12256" y="8183"/>
              <a:ext cx="0" cy="34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50" name="流程图: 决策 49"/>
            <p:cNvSpPr/>
            <p:nvPr/>
          </p:nvSpPr>
          <p:spPr>
            <a:xfrm>
              <a:off x="10952" y="8530"/>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确认是</a:t>
              </a:r>
              <a:endParaRPr kumimoji="0" lang="en-US" altLang="zh-CN"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否开发</a:t>
              </a:r>
              <a:endPar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2" name="流程图: 终止 51"/>
            <p:cNvSpPr/>
            <p:nvPr/>
          </p:nvSpPr>
          <p:spPr>
            <a:xfrm>
              <a:off x="17388" y="8644"/>
              <a:ext cx="907" cy="340"/>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END</a:t>
              </a:r>
              <a:endPar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55" name="直接箭头连接符 54"/>
            <p:cNvCxnSpPr>
              <a:stCxn id="50" idx="3"/>
              <a:endCxn id="52" idx="1"/>
            </p:cNvCxnSpPr>
            <p:nvPr/>
          </p:nvCxnSpPr>
          <p:spPr>
            <a:xfrm>
              <a:off x="13560" y="8814"/>
              <a:ext cx="3828" cy="0"/>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57" name="文本框 56"/>
            <p:cNvSpPr txBox="1"/>
            <p:nvPr/>
          </p:nvSpPr>
          <p:spPr>
            <a:xfrm>
              <a:off x="13551" y="8890"/>
              <a:ext cx="62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不开发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2" name="文本框 61"/>
            <p:cNvSpPr txBox="1"/>
            <p:nvPr/>
          </p:nvSpPr>
          <p:spPr>
            <a:xfrm>
              <a:off x="12413" y="9183"/>
              <a:ext cx="62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开发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8" name="文本框 67"/>
            <p:cNvSpPr txBox="1"/>
            <p:nvPr/>
          </p:nvSpPr>
          <p:spPr>
            <a:xfrm>
              <a:off x="12648" y="8177"/>
              <a:ext cx="397"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solidFill>
                    <a:srgbClr val="000000"/>
                  </a:solidFill>
                  <a:uFillTx/>
                  <a:cs typeface="Arial" panose="020B0604020202020204"/>
                  <a:sym typeface="Arial" panose="020B0604020202020204"/>
                </a:rPr>
                <a:t>通过</a:t>
              </a:r>
              <a:endParaRPr lang="zh-CN" altLang="en-US" sz="900" kern="0" dirty="0">
                <a:solidFill>
                  <a:srgbClr val="000000"/>
                </a:solidFill>
                <a:uFillTx/>
                <a:cs typeface="Arial" panose="020B0604020202020204"/>
                <a:sym typeface="Arial" panose="020B0604020202020204"/>
              </a:endParaRPr>
            </a:p>
          </p:txBody>
        </p:sp>
        <p:cxnSp>
          <p:nvCxnSpPr>
            <p:cNvPr id="69" name="直接箭头连接符 68"/>
            <p:cNvCxnSpPr>
              <a:stCxn id="50" idx="2"/>
              <a:endCxn id="78" idx="0"/>
            </p:cNvCxnSpPr>
            <p:nvPr/>
          </p:nvCxnSpPr>
          <p:spPr>
            <a:xfrm>
              <a:off x="12256" y="9097"/>
              <a:ext cx="10" cy="569"/>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70" name="文本框 69"/>
            <p:cNvSpPr txBox="1"/>
            <p:nvPr/>
          </p:nvSpPr>
          <p:spPr>
            <a:xfrm>
              <a:off x="7486" y="9817"/>
              <a:ext cx="727"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8" name="箭头: 五边形 45"/>
            <p:cNvSpPr/>
            <p:nvPr/>
          </p:nvSpPr>
          <p:spPr>
            <a:xfrm>
              <a:off x="10995" y="9666"/>
              <a:ext cx="2825" cy="567"/>
            </a:xfrm>
            <a:prstGeom prst="homePlate">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发起</a:t>
              </a:r>
              <a:endPar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新产品开发任务书</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81" name="直接连接符 80"/>
            <p:cNvCxnSpPr/>
            <p:nvPr/>
          </p:nvCxnSpPr>
          <p:spPr>
            <a:xfrm>
              <a:off x="7523" y="8325"/>
              <a:ext cx="10375" cy="0"/>
            </a:xfrm>
            <a:prstGeom prst="line">
              <a:avLst/>
            </a:prstGeom>
            <a:noFill/>
            <a:ln w="19050" cap="flat">
              <a:solidFill>
                <a:schemeClr val="bg1">
                  <a:lumMod val="65000"/>
                </a:schemeClr>
              </a:solidFill>
              <a:prstDash val="dash"/>
              <a:miter lim="800000"/>
            </a:ln>
          </p:spPr>
          <p:style>
            <a:lnRef idx="0">
              <a:srgbClr val="FFFFFF"/>
            </a:lnRef>
            <a:fillRef idx="0">
              <a:srgbClr val="FFFFFF"/>
            </a:fillRef>
            <a:effectRef idx="0">
              <a:srgbClr val="FFFFFF"/>
            </a:effectRef>
            <a:fontRef idx="none"/>
          </p:style>
        </p:cxnSp>
        <p:cxnSp>
          <p:nvCxnSpPr>
            <p:cNvPr id="83" name="连接符: 肘形 47"/>
            <p:cNvCxnSpPr>
              <a:stCxn id="41" idx="3"/>
              <a:endCxn id="36" idx="3"/>
            </p:cNvCxnSpPr>
            <p:nvPr/>
          </p:nvCxnSpPr>
          <p:spPr>
            <a:xfrm flipV="1">
              <a:off x="13560" y="6837"/>
              <a:ext cx="20" cy="1063"/>
            </a:xfrm>
            <a:prstGeom prst="bentConnector3">
              <a:avLst>
                <a:gd name="adj1" fmla="val 180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84" name="文本框 83"/>
            <p:cNvSpPr txBox="1"/>
            <p:nvPr/>
          </p:nvSpPr>
          <p:spPr>
            <a:xfrm>
              <a:off x="14000" y="7021"/>
              <a:ext cx="1304"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solidFill>
                    <a:schemeClr val="tx1"/>
                  </a:solidFill>
                  <a:uFillTx/>
                  <a:cs typeface="Arial" panose="020B0604020202020204"/>
                  <a:sym typeface="Arial" panose="020B0604020202020204"/>
                </a:rPr>
                <a:t>返回修改汇总的</a:t>
              </a:r>
              <a:r>
                <a:rPr lang="zh-CN" altLang="en-US" kern="0" dirty="0">
                  <a:solidFill>
                    <a:schemeClr val="tx1"/>
                  </a:solidFill>
                  <a:uFillTx/>
                  <a:cs typeface="Arial" panose="020B0604020202020204"/>
                  <a:sym typeface="Arial" panose="020B0604020202020204"/>
                </a:rPr>
                <a:t>工艺评估报告</a:t>
              </a:r>
              <a:endParaRPr lang="zh-CN" altLang="en-US" kern="0" dirty="0">
                <a:solidFill>
                  <a:schemeClr val="tx1"/>
                </a:solidFill>
                <a:uFillTx/>
                <a:cs typeface="Arial" panose="020B0604020202020204"/>
                <a:sym typeface="Arial" panose="020B0604020202020204"/>
              </a:endParaRPr>
            </a:p>
          </p:txBody>
        </p:sp>
        <p:sp>
          <p:nvSpPr>
            <p:cNvPr id="85" name="文本框 84"/>
            <p:cNvSpPr txBox="1"/>
            <p:nvPr/>
          </p:nvSpPr>
          <p:spPr>
            <a:xfrm>
              <a:off x="15945" y="8987"/>
              <a:ext cx="2138" cy="57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6" name="文本框 85"/>
            <p:cNvSpPr txBox="1"/>
            <p:nvPr/>
          </p:nvSpPr>
          <p:spPr>
            <a:xfrm>
              <a:off x="15304" y="3277"/>
              <a:ext cx="1713" cy="3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8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87" name="连接符: 肘形 62"/>
            <p:cNvCxnSpPr>
              <a:stCxn id="24" idx="3"/>
              <a:endCxn id="23" idx="3"/>
            </p:cNvCxnSpPr>
            <p:nvPr/>
          </p:nvCxnSpPr>
          <p:spPr>
            <a:xfrm flipV="1">
              <a:off x="13560" y="1806"/>
              <a:ext cx="20" cy="1409"/>
            </a:xfrm>
            <a:prstGeom prst="bentConnector3">
              <a:avLst>
                <a:gd name="adj1" fmla="val 180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88" name="文本框 87"/>
            <p:cNvSpPr txBox="1"/>
            <p:nvPr/>
          </p:nvSpPr>
          <p:spPr>
            <a:xfrm>
              <a:off x="14316" y="1701"/>
              <a:ext cx="1311"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rgbClr val="FF0000"/>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返回修改需求单</a:t>
              </a:r>
              <a:endParaRPr lang="zh-CN" altLang="en-US" kern="0" dirty="0">
                <a:uFillTx/>
                <a:cs typeface="Arial" panose="020B0604020202020204"/>
                <a:sym typeface="Arial" panose="020B0604020202020204"/>
              </a:endParaRPr>
            </a:p>
          </p:txBody>
        </p:sp>
        <p:sp>
          <p:nvSpPr>
            <p:cNvPr id="94" name="矩形 93"/>
            <p:cNvSpPr/>
            <p:nvPr/>
          </p:nvSpPr>
          <p:spPr>
            <a:xfrm>
              <a:off x="10952" y="2254"/>
              <a:ext cx="2608" cy="34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2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确认</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a:t>
              </a:r>
              <a:endPar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6" name="文本框 95"/>
            <p:cNvSpPr txBox="1"/>
            <p:nvPr/>
          </p:nvSpPr>
          <p:spPr>
            <a:xfrm>
              <a:off x="7486" y="2308"/>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a:t>
              </a: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技术经理</a:t>
              </a:r>
              <a:endPar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97" name="连接符: 肘形 73"/>
            <p:cNvCxnSpPr>
              <a:endCxn id="22" idx="3"/>
            </p:cNvCxnSpPr>
            <p:nvPr/>
          </p:nvCxnSpPr>
          <p:spPr>
            <a:xfrm rot="16200000">
              <a:off x="13359" y="5299"/>
              <a:ext cx="3843" cy="3187"/>
            </a:xfrm>
            <a:prstGeom prst="bentConnector4">
              <a:avLst>
                <a:gd name="adj1" fmla="val -364"/>
                <a:gd name="adj2" fmla="val 104486"/>
              </a:avLst>
            </a:prstGeom>
            <a:noFill/>
            <a:ln w="12700" cap="flat">
              <a:solidFill>
                <a:srgbClr val="FF0000"/>
              </a:solidFill>
              <a:prstDash val="solid"/>
              <a:miter lim="800000"/>
              <a:tailEnd type="triangle"/>
            </a:ln>
          </p:spPr>
          <p:style>
            <a:lnRef idx="0">
              <a:srgbClr val="FFFFFF"/>
            </a:lnRef>
            <a:fillRef idx="0">
              <a:srgbClr val="FFFFFF"/>
            </a:fillRef>
            <a:effectRef idx="0">
              <a:srgbClr val="FFFFFF"/>
            </a:effectRef>
            <a:fontRef idx="none"/>
          </p:style>
        </p:cxnSp>
        <p:sp>
          <p:nvSpPr>
            <p:cNvPr id="98" name="文本框 97"/>
            <p:cNvSpPr txBox="1"/>
            <p:nvPr/>
          </p:nvSpPr>
          <p:spPr>
            <a:xfrm>
              <a:off x="14444" y="8117"/>
              <a:ext cx="2430"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rgbClr val="FF0000"/>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uFillTx/>
                  <a:cs typeface="Arial" panose="020B0604020202020204"/>
                  <a:sym typeface="Arial" panose="020B0604020202020204"/>
                </a:rPr>
                <a:t>销售专员返回各专业工程师重新提交报价可行性分析</a:t>
              </a:r>
              <a:endParaRPr lang="zh-CN" altLang="en-US" sz="900" kern="0" dirty="0">
                <a:uFillTx/>
                <a:cs typeface="Arial" panose="020B0604020202020204"/>
                <a:sym typeface="Arial" panose="020B0604020202020204"/>
              </a:endParaRPr>
            </a:p>
          </p:txBody>
        </p:sp>
        <p:cxnSp>
          <p:nvCxnSpPr>
            <p:cNvPr id="99" name="直接箭头连接符 98"/>
            <p:cNvCxnSpPr>
              <a:stCxn id="94" idx="2"/>
              <a:endCxn id="24" idx="0"/>
            </p:cNvCxnSpPr>
            <p:nvPr/>
          </p:nvCxnSpPr>
          <p:spPr>
            <a:xfrm>
              <a:off x="12256" y="2594"/>
              <a:ext cx="0" cy="33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00" name="连接符: 肘形 78"/>
            <p:cNvCxnSpPr/>
            <p:nvPr/>
          </p:nvCxnSpPr>
          <p:spPr>
            <a:xfrm flipV="1">
              <a:off x="13565" y="1907"/>
              <a:ext cx="20" cy="510"/>
            </a:xfrm>
            <a:prstGeom prst="bentConnector3">
              <a:avLst>
                <a:gd name="adj1" fmla="val 2582614"/>
              </a:avLst>
            </a:prstGeom>
            <a:noFill/>
            <a:ln w="12700" cap="flat">
              <a:solidFill>
                <a:srgbClr val="FF0000"/>
              </a:solidFill>
              <a:prstDash val="solid"/>
              <a:miter lim="800000"/>
              <a:tailEnd type="triangle"/>
            </a:ln>
          </p:spPr>
          <p:style>
            <a:lnRef idx="0">
              <a:srgbClr val="FFFFFF"/>
            </a:lnRef>
            <a:fillRef idx="0">
              <a:srgbClr val="FFFFFF"/>
            </a:fillRef>
            <a:effectRef idx="0">
              <a:srgbClr val="FFFFFF"/>
            </a:effectRef>
            <a:fontRef idx="none"/>
          </p:style>
        </p:cxnSp>
        <p:sp>
          <p:nvSpPr>
            <p:cNvPr id="101" name="文本框 100"/>
            <p:cNvSpPr txBox="1"/>
            <p:nvPr/>
          </p:nvSpPr>
          <p:spPr>
            <a:xfrm>
              <a:off x="14897" y="2119"/>
              <a:ext cx="2499" cy="65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工艺技术经理确认需求，确认不通过则返回工艺工程师对接销售</a:t>
              </a: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专员修改</a:t>
              </a:r>
              <a:endPar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4" name="文本框 103"/>
            <p:cNvSpPr txBox="1"/>
            <p:nvPr/>
          </p:nvSpPr>
          <p:spPr>
            <a:xfrm>
              <a:off x="12413" y="2630"/>
              <a:ext cx="404" cy="24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000" b="1"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通过</a:t>
              </a:r>
              <a:endParaRPr kumimoji="0" lang="zh-CN" altLang="en-US" sz="1000" b="1"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5" name="文本框 104"/>
            <p:cNvSpPr txBox="1"/>
            <p:nvPr/>
          </p:nvSpPr>
          <p:spPr>
            <a:xfrm>
              <a:off x="14200" y="2323"/>
              <a:ext cx="545"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90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132" name="组合 131"/>
            <p:cNvGrpSpPr/>
            <p:nvPr/>
          </p:nvGrpSpPr>
          <p:grpSpPr>
            <a:xfrm rot="0">
              <a:off x="17204" y="4756"/>
              <a:ext cx="907" cy="3742"/>
              <a:chOff x="6587264" y="3008512"/>
              <a:chExt cx="576000" cy="2376000"/>
            </a:xfrm>
          </p:grpSpPr>
          <p:sp>
            <p:nvSpPr>
              <p:cNvPr id="133" name="文本框 132"/>
              <p:cNvSpPr txBox="1"/>
              <p:nvPr/>
            </p:nvSpPr>
            <p:spPr>
              <a:xfrm>
                <a:off x="6756102" y="3860828"/>
                <a:ext cx="252000" cy="83052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多轮</a:t>
                </a:r>
                <a:r>
                  <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评估可行性分析循环</a:t>
                </a:r>
                <a:endPar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134" name="组合 133"/>
              <p:cNvGrpSpPr/>
              <p:nvPr/>
            </p:nvGrpSpPr>
            <p:grpSpPr>
              <a:xfrm>
                <a:off x="6587264" y="3008512"/>
                <a:ext cx="576000" cy="2376000"/>
                <a:chOff x="4866209" y="3700280"/>
                <a:chExt cx="672753" cy="1988610"/>
              </a:xfrm>
            </p:grpSpPr>
            <p:sp>
              <p:nvSpPr>
                <p:cNvPr id="135" name="弧形 134"/>
                <p:cNvSpPr/>
                <p:nvPr/>
              </p:nvSpPr>
              <p:spPr>
                <a:xfrm>
                  <a:off x="4923409" y="3700280"/>
                  <a:ext cx="615553" cy="1980000"/>
                </a:xfrm>
                <a:prstGeom prst="arc">
                  <a:avLst>
                    <a:gd name="adj1" fmla="val 16133719"/>
                    <a:gd name="adj2" fmla="val 5371759"/>
                  </a:avLst>
                </a:prstGeom>
                <a:noFill/>
                <a:ln w="15875">
                  <a:solidFill>
                    <a:schemeClr val="bg2">
                      <a:lumMod val="50000"/>
                    </a:schemeClr>
                  </a:soli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sp>
              <p:nvSpPr>
                <p:cNvPr id="136" name="弧形 135"/>
                <p:cNvSpPr/>
                <p:nvPr/>
              </p:nvSpPr>
              <p:spPr>
                <a:xfrm rot="10800000">
                  <a:off x="4866209" y="3708890"/>
                  <a:ext cx="615553" cy="1980000"/>
                </a:xfrm>
                <a:prstGeom prst="arc">
                  <a:avLst>
                    <a:gd name="adj1" fmla="val 16133719"/>
                    <a:gd name="adj2" fmla="val 5371759"/>
                  </a:avLst>
                </a:prstGeom>
                <a:noFill/>
                <a:ln w="15875">
                  <a:solidFill>
                    <a:schemeClr val="bg2">
                      <a:lumMod val="50000"/>
                    </a:schemeClr>
                  </a:soli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grpSp>
        </p:grpSp>
        <p:cxnSp>
          <p:nvCxnSpPr>
            <p:cNvPr id="137" name="直接箭头连接符 136"/>
            <p:cNvCxnSpPr>
              <a:stCxn id="146" idx="2"/>
              <a:endCxn id="154" idx="0"/>
            </p:cNvCxnSpPr>
            <p:nvPr/>
          </p:nvCxnSpPr>
          <p:spPr>
            <a:xfrm>
              <a:off x="10802"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38" name="连接符: 肘形 93"/>
            <p:cNvCxnSpPr>
              <a:stCxn id="161" idx="3"/>
              <a:endCxn id="153" idx="3"/>
            </p:cNvCxnSpPr>
            <p:nvPr/>
          </p:nvCxnSpPr>
          <p:spPr>
            <a:xfrm flipV="1">
              <a:off x="10062" y="5023"/>
              <a:ext cx="20" cy="695"/>
            </a:xfrm>
            <a:prstGeom prst="bentConnector3">
              <a:avLst>
                <a:gd name="adj1" fmla="val 93912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sp>
          <p:nvSpPr>
            <p:cNvPr id="139" name="文本框 138"/>
            <p:cNvSpPr txBox="1"/>
            <p:nvPr/>
          </p:nvSpPr>
          <p:spPr>
            <a:xfrm>
              <a:off x="9827"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140" name="文本框 139"/>
            <p:cNvSpPr txBox="1"/>
            <p:nvPr/>
          </p:nvSpPr>
          <p:spPr>
            <a:xfrm>
              <a:off x="9998"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3" name="文本框 142"/>
            <p:cNvSpPr txBox="1"/>
            <p:nvPr/>
          </p:nvSpPr>
          <p:spPr>
            <a:xfrm>
              <a:off x="15490" y="5253"/>
              <a:ext cx="1474"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uFillTx/>
                  <a:cs typeface="Arial" panose="020B0604020202020204"/>
                  <a:sym typeface="Arial" panose="020B0604020202020204"/>
                </a:rPr>
                <a:t>返回各专业工程师修改可行性报告</a:t>
              </a:r>
              <a:endParaRPr lang="zh-CN" altLang="en-US" sz="900" kern="0" dirty="0">
                <a:uFillTx/>
                <a:cs typeface="Arial" panose="020B0604020202020204"/>
                <a:sym typeface="Arial" panose="020B0604020202020204"/>
              </a:endParaRPr>
            </a:p>
          </p:txBody>
        </p:sp>
        <p:sp>
          <p:nvSpPr>
            <p:cNvPr id="145" name="矩形 144"/>
            <p:cNvSpPr/>
            <p:nvPr/>
          </p:nvSpPr>
          <p:spPr>
            <a:xfrm>
              <a:off x="8929"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6" name="矩形 145"/>
            <p:cNvSpPr/>
            <p:nvPr/>
          </p:nvSpPr>
          <p:spPr>
            <a:xfrm>
              <a:off x="10235"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材料专业工程师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7" name="矩形 146"/>
            <p:cNvSpPr/>
            <p:nvPr/>
          </p:nvSpPr>
          <p:spPr>
            <a:xfrm>
              <a:off x="11542"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分派采购专业工程师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8" name="矩形 147"/>
            <p:cNvSpPr/>
            <p:nvPr/>
          </p:nvSpPr>
          <p:spPr>
            <a:xfrm>
              <a:off x="13057"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分派质量专业工程师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49" name="连接符: 肘形 109"/>
            <p:cNvCxnSpPr>
              <a:stCxn id="24" idx="2"/>
              <a:endCxn id="146" idx="0"/>
            </p:cNvCxnSpPr>
            <p:nvPr/>
          </p:nvCxnSpPr>
          <p:spPr>
            <a:xfrm rot="5400000">
              <a:off x="11228" y="3073"/>
              <a:ext cx="603" cy="145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50" name="连接符: 肘形 110"/>
            <p:cNvCxnSpPr>
              <a:stCxn id="24" idx="2"/>
              <a:endCxn id="145" idx="0"/>
            </p:cNvCxnSpPr>
            <p:nvPr/>
          </p:nvCxnSpPr>
          <p:spPr>
            <a:xfrm rot="5400000">
              <a:off x="10575" y="2420"/>
              <a:ext cx="603" cy="2760"/>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51" name="连接符: 肘形 111"/>
            <p:cNvCxnSpPr>
              <a:stCxn id="24" idx="2"/>
              <a:endCxn id="147" idx="0"/>
            </p:cNvCxnSpPr>
            <p:nvPr/>
          </p:nvCxnSpPr>
          <p:spPr>
            <a:xfrm rot="5400000">
              <a:off x="11881" y="3726"/>
              <a:ext cx="603" cy="147"/>
            </a:xfrm>
            <a:prstGeom prst="bentConnector3">
              <a:avLst>
                <a:gd name="adj1" fmla="val 50083"/>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52" name="连接符: 肘形 112"/>
            <p:cNvCxnSpPr>
              <a:stCxn id="24" idx="2"/>
              <a:endCxn id="148" idx="0"/>
            </p:cNvCxnSpPr>
            <p:nvPr/>
          </p:nvCxnSpPr>
          <p:spPr>
            <a:xfrm rot="5400000" flipV="1">
              <a:off x="12639" y="3116"/>
              <a:ext cx="603" cy="1368"/>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53" name="矩形 152"/>
            <p:cNvSpPr/>
            <p:nvPr/>
          </p:nvSpPr>
          <p:spPr>
            <a:xfrm>
              <a:off x="8929"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研发</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54" name="矩形 153"/>
            <p:cNvSpPr/>
            <p:nvPr/>
          </p:nvSpPr>
          <p:spPr>
            <a:xfrm>
              <a:off x="10235"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工程</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55" name="矩形 154"/>
            <p:cNvSpPr/>
            <p:nvPr/>
          </p:nvSpPr>
          <p:spPr>
            <a:xfrm>
              <a:off x="11542"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采购</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56" name="矩形 155"/>
            <p:cNvSpPr/>
            <p:nvPr/>
          </p:nvSpPr>
          <p:spPr>
            <a:xfrm>
              <a:off x="13057"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质量</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157" name="直接箭头连接符 156"/>
            <p:cNvCxnSpPr>
              <a:stCxn id="145" idx="2"/>
              <a:endCxn id="153" idx="0"/>
            </p:cNvCxnSpPr>
            <p:nvPr/>
          </p:nvCxnSpPr>
          <p:spPr>
            <a:xfrm>
              <a:off x="9496"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58" name="直接箭头连接符 157"/>
            <p:cNvCxnSpPr>
              <a:stCxn id="147" idx="2"/>
              <a:endCxn id="155" idx="0"/>
            </p:cNvCxnSpPr>
            <p:nvPr/>
          </p:nvCxnSpPr>
          <p:spPr>
            <a:xfrm>
              <a:off x="12109"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59" name="直接箭头连接符 158"/>
            <p:cNvCxnSpPr>
              <a:stCxn id="148" idx="2"/>
              <a:endCxn id="156" idx="0"/>
            </p:cNvCxnSpPr>
            <p:nvPr/>
          </p:nvCxnSpPr>
          <p:spPr>
            <a:xfrm>
              <a:off x="13624"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60" name="直接箭头连接符 159"/>
            <p:cNvCxnSpPr>
              <a:stCxn id="154" idx="2"/>
              <a:endCxn id="162" idx="0"/>
            </p:cNvCxnSpPr>
            <p:nvPr/>
          </p:nvCxnSpPr>
          <p:spPr>
            <a:xfrm>
              <a:off x="10802"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61" name="矩形 160"/>
            <p:cNvSpPr/>
            <p:nvPr/>
          </p:nvSpPr>
          <p:spPr>
            <a:xfrm>
              <a:off x="8929"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研发</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62" name="矩形 161"/>
            <p:cNvSpPr/>
            <p:nvPr/>
          </p:nvSpPr>
          <p:spPr>
            <a:xfrm>
              <a:off x="10235"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工程</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63" name="矩形 162"/>
            <p:cNvSpPr/>
            <p:nvPr/>
          </p:nvSpPr>
          <p:spPr>
            <a:xfrm>
              <a:off x="11542"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采购</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164" name="矩形 163"/>
            <p:cNvSpPr/>
            <p:nvPr/>
          </p:nvSpPr>
          <p:spPr>
            <a:xfrm>
              <a:off x="13057"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质量</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165" name="直接箭头连接符 164"/>
            <p:cNvCxnSpPr>
              <a:stCxn id="153" idx="2"/>
              <a:endCxn id="161" idx="0"/>
            </p:cNvCxnSpPr>
            <p:nvPr/>
          </p:nvCxnSpPr>
          <p:spPr>
            <a:xfrm>
              <a:off x="9496"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66" name="直接箭头连接符 165"/>
            <p:cNvCxnSpPr>
              <a:stCxn id="155" idx="2"/>
              <a:endCxn id="163" idx="0"/>
            </p:cNvCxnSpPr>
            <p:nvPr/>
          </p:nvCxnSpPr>
          <p:spPr>
            <a:xfrm>
              <a:off x="12109"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67" name="直接箭头连接符 166"/>
            <p:cNvCxnSpPr>
              <a:stCxn id="156" idx="2"/>
              <a:endCxn id="164" idx="0"/>
            </p:cNvCxnSpPr>
            <p:nvPr/>
          </p:nvCxnSpPr>
          <p:spPr>
            <a:xfrm>
              <a:off x="13624"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68" name="连接符: 肘形 131"/>
            <p:cNvCxnSpPr>
              <a:stCxn id="161" idx="2"/>
              <a:endCxn id="36" idx="0"/>
            </p:cNvCxnSpPr>
            <p:nvPr/>
          </p:nvCxnSpPr>
          <p:spPr>
            <a:xfrm rot="5400000" flipV="1">
              <a:off x="10572" y="4869"/>
              <a:ext cx="608" cy="2760"/>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69" name="连接符: 肘形 132"/>
            <p:cNvCxnSpPr>
              <a:stCxn id="162" idx="2"/>
              <a:endCxn id="36" idx="0"/>
            </p:cNvCxnSpPr>
            <p:nvPr/>
          </p:nvCxnSpPr>
          <p:spPr>
            <a:xfrm rot="5400000" flipV="1">
              <a:off x="11225" y="5522"/>
              <a:ext cx="608" cy="145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70" name="连接符: 肘形 133"/>
            <p:cNvCxnSpPr>
              <a:stCxn id="163" idx="2"/>
              <a:endCxn id="36" idx="0"/>
            </p:cNvCxnSpPr>
            <p:nvPr/>
          </p:nvCxnSpPr>
          <p:spPr>
            <a:xfrm rot="5400000" flipV="1">
              <a:off x="11879" y="6176"/>
              <a:ext cx="608" cy="147"/>
            </a:xfrm>
            <a:prstGeom prst="bentConnector3">
              <a:avLst>
                <a:gd name="adj1" fmla="val 49918"/>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71" name="连接符: 肘形 134"/>
            <p:cNvCxnSpPr>
              <a:stCxn id="164" idx="2"/>
              <a:endCxn id="36" idx="0"/>
            </p:cNvCxnSpPr>
            <p:nvPr/>
          </p:nvCxnSpPr>
          <p:spPr>
            <a:xfrm rot="5400000">
              <a:off x="12636" y="5565"/>
              <a:ext cx="608" cy="1368"/>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72" name="文本框 171"/>
            <p:cNvSpPr txBox="1"/>
            <p:nvPr/>
          </p:nvSpPr>
          <p:spPr>
            <a:xfrm>
              <a:off x="11309"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73" name="文本框 172"/>
            <p:cNvSpPr txBox="1"/>
            <p:nvPr/>
          </p:nvSpPr>
          <p:spPr>
            <a:xfrm>
              <a:off x="12806"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74" name="文本框 173"/>
            <p:cNvSpPr txBox="1"/>
            <p:nvPr/>
          </p:nvSpPr>
          <p:spPr>
            <a:xfrm>
              <a:off x="14369"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75" name="文本框 174"/>
            <p:cNvSpPr txBox="1"/>
            <p:nvPr/>
          </p:nvSpPr>
          <p:spPr>
            <a:xfrm>
              <a:off x="11334"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176" name="文本框 175"/>
            <p:cNvSpPr txBox="1"/>
            <p:nvPr/>
          </p:nvSpPr>
          <p:spPr>
            <a:xfrm>
              <a:off x="12840"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177" name="文本框 176"/>
            <p:cNvSpPr txBox="1"/>
            <p:nvPr/>
          </p:nvSpPr>
          <p:spPr>
            <a:xfrm>
              <a:off x="14345"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178" name="连接符: 肘形 141"/>
            <p:cNvCxnSpPr>
              <a:stCxn id="162" idx="3"/>
              <a:endCxn id="154" idx="3"/>
            </p:cNvCxnSpPr>
            <p:nvPr/>
          </p:nvCxnSpPr>
          <p:spPr>
            <a:xfrm flipV="1">
              <a:off x="11369" y="5023"/>
              <a:ext cx="20" cy="695"/>
            </a:xfrm>
            <a:prstGeom prst="bentConnector3">
              <a:avLst>
                <a:gd name="adj1" fmla="val 1017394"/>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179" name="连接符: 肘形 142"/>
            <p:cNvCxnSpPr>
              <a:stCxn id="163" idx="3"/>
              <a:endCxn id="155" idx="3"/>
            </p:cNvCxnSpPr>
            <p:nvPr/>
          </p:nvCxnSpPr>
          <p:spPr>
            <a:xfrm flipV="1">
              <a:off x="12676" y="5023"/>
              <a:ext cx="20" cy="695"/>
            </a:xfrm>
            <a:prstGeom prst="bentConnector3">
              <a:avLst>
                <a:gd name="adj1" fmla="val 101738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180" name="连接符: 肘形 143"/>
            <p:cNvCxnSpPr>
              <a:stCxn id="164" idx="3"/>
              <a:endCxn id="156" idx="3"/>
            </p:cNvCxnSpPr>
            <p:nvPr/>
          </p:nvCxnSpPr>
          <p:spPr>
            <a:xfrm flipV="1">
              <a:off x="14190" y="5023"/>
              <a:ext cx="20" cy="695"/>
            </a:xfrm>
            <a:prstGeom prst="bentConnector3">
              <a:avLst>
                <a:gd name="adj1" fmla="val 1800000"/>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181" name="连接符: 肘形 51"/>
            <p:cNvCxnSpPr/>
            <p:nvPr/>
          </p:nvCxnSpPr>
          <p:spPr>
            <a:xfrm flipV="1">
              <a:off x="10023" y="4207"/>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82" name="文本框 181"/>
            <p:cNvSpPr txBox="1"/>
            <p:nvPr/>
          </p:nvSpPr>
          <p:spPr>
            <a:xfrm>
              <a:off x="10052" y="4459"/>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85" name="连接符: 肘形 55"/>
            <p:cNvCxnSpPr/>
            <p:nvPr/>
          </p:nvCxnSpPr>
          <p:spPr>
            <a:xfrm flipV="1">
              <a:off x="11322" y="4217"/>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86" name="文本框 185"/>
            <p:cNvSpPr txBox="1"/>
            <p:nvPr/>
          </p:nvSpPr>
          <p:spPr>
            <a:xfrm>
              <a:off x="11351" y="4468"/>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87" name="连接符: 肘形 57"/>
            <p:cNvCxnSpPr/>
            <p:nvPr/>
          </p:nvCxnSpPr>
          <p:spPr>
            <a:xfrm flipV="1">
              <a:off x="12669" y="420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88" name="文本框 187"/>
            <p:cNvSpPr txBox="1"/>
            <p:nvPr/>
          </p:nvSpPr>
          <p:spPr>
            <a:xfrm>
              <a:off x="12698" y="4454"/>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89" name="连接符: 肘形 61"/>
            <p:cNvCxnSpPr/>
            <p:nvPr/>
          </p:nvCxnSpPr>
          <p:spPr>
            <a:xfrm flipV="1">
              <a:off x="14176" y="421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90" name="文本框 189"/>
            <p:cNvSpPr txBox="1"/>
            <p:nvPr/>
          </p:nvSpPr>
          <p:spPr>
            <a:xfrm>
              <a:off x="14205" y="4464"/>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2" name="文本框 191"/>
            <p:cNvSpPr txBox="1"/>
            <p:nvPr/>
          </p:nvSpPr>
          <p:spPr>
            <a:xfrm>
              <a:off x="7083" y="4753"/>
              <a:ext cx="1721"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、采购、质量、测试、供应</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工程师</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4" name="文本框 193"/>
            <p:cNvSpPr txBox="1"/>
            <p:nvPr/>
          </p:nvSpPr>
          <p:spPr>
            <a:xfrm>
              <a:off x="7086" y="5458"/>
              <a:ext cx="1685"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测试、供应经理</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6" name="矩形 195"/>
            <p:cNvSpPr/>
            <p:nvPr/>
          </p:nvSpPr>
          <p:spPr>
            <a:xfrm>
              <a:off x="14321" y="409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7" name="矩形 196"/>
            <p:cNvSpPr/>
            <p:nvPr/>
          </p:nvSpPr>
          <p:spPr>
            <a:xfrm>
              <a:off x="14321" y="4794"/>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98" name="直接箭头连接符 197"/>
            <p:cNvCxnSpPr>
              <a:stCxn id="196" idx="2"/>
              <a:endCxn id="197" idx="0"/>
            </p:cNvCxnSpPr>
            <p:nvPr/>
          </p:nvCxnSpPr>
          <p:spPr>
            <a:xfrm>
              <a:off x="14888" y="4553"/>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99" name="矩形 198"/>
            <p:cNvSpPr/>
            <p:nvPr/>
          </p:nvSpPr>
          <p:spPr>
            <a:xfrm>
              <a:off x="14321" y="548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3" name="连接符: 肘形 112"/>
            <p:cNvCxnSpPr>
              <a:stCxn id="24" idx="2"/>
              <a:endCxn id="196" idx="0"/>
            </p:cNvCxnSpPr>
            <p:nvPr/>
          </p:nvCxnSpPr>
          <p:spPr>
            <a:xfrm rot="5400000" flipV="1">
              <a:off x="13272" y="2483"/>
              <a:ext cx="601" cy="2632"/>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4" name="连接符: 肘形 134"/>
            <p:cNvCxnSpPr>
              <a:stCxn id="199" idx="2"/>
              <a:endCxn id="36" idx="0"/>
            </p:cNvCxnSpPr>
            <p:nvPr/>
          </p:nvCxnSpPr>
          <p:spPr>
            <a:xfrm rot="5400000">
              <a:off x="13267" y="4932"/>
              <a:ext cx="610" cy="2632"/>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7" name="文本框 6"/>
            <p:cNvSpPr txBox="1"/>
            <p:nvPr/>
          </p:nvSpPr>
          <p:spPr>
            <a:xfrm>
              <a:off x="15321" y="6034"/>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 name="文本框 7"/>
            <p:cNvSpPr txBox="1"/>
            <p:nvPr/>
          </p:nvSpPr>
          <p:spPr>
            <a:xfrm>
              <a:off x="15249" y="6256"/>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40" name="连接符: 肘形 93"/>
            <p:cNvCxnSpPr/>
            <p:nvPr/>
          </p:nvCxnSpPr>
          <p:spPr>
            <a:xfrm flipV="1">
              <a:off x="15417" y="5087"/>
              <a:ext cx="20" cy="695"/>
            </a:xfrm>
            <a:prstGeom prst="bentConnector3">
              <a:avLst>
                <a:gd name="adj1" fmla="val 93912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48" name="连接符: 肘形 143"/>
            <p:cNvCxnSpPr/>
            <p:nvPr/>
          </p:nvCxnSpPr>
          <p:spPr>
            <a:xfrm flipV="1">
              <a:off x="16606" y="5023"/>
              <a:ext cx="20" cy="695"/>
            </a:xfrm>
            <a:prstGeom prst="bentConnector3">
              <a:avLst>
                <a:gd name="adj1" fmla="val 890000"/>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53" name="连接符: 肘形 61"/>
            <p:cNvCxnSpPr/>
            <p:nvPr/>
          </p:nvCxnSpPr>
          <p:spPr>
            <a:xfrm flipV="1">
              <a:off x="16592" y="421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54" name="文本框 53"/>
            <p:cNvSpPr txBox="1"/>
            <p:nvPr/>
          </p:nvSpPr>
          <p:spPr>
            <a:xfrm>
              <a:off x="16541" y="4400"/>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6" name="矩形 55"/>
            <p:cNvSpPr/>
            <p:nvPr/>
          </p:nvSpPr>
          <p:spPr>
            <a:xfrm>
              <a:off x="15553" y="409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8" name="矩形 57"/>
            <p:cNvSpPr/>
            <p:nvPr/>
          </p:nvSpPr>
          <p:spPr>
            <a:xfrm>
              <a:off x="15553" y="4794"/>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59" name="直接箭头连接符 58"/>
            <p:cNvCxnSpPr/>
            <p:nvPr/>
          </p:nvCxnSpPr>
          <p:spPr>
            <a:xfrm>
              <a:off x="16105" y="4528"/>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63" name="矩形 62"/>
            <p:cNvSpPr/>
            <p:nvPr/>
          </p:nvSpPr>
          <p:spPr>
            <a:xfrm>
              <a:off x="15553" y="548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4" name="文本框 63"/>
            <p:cNvSpPr txBox="1"/>
            <p:nvPr/>
          </p:nvSpPr>
          <p:spPr>
            <a:xfrm>
              <a:off x="16297" y="6034"/>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5" name="文本框 64"/>
            <p:cNvSpPr txBox="1"/>
            <p:nvPr/>
          </p:nvSpPr>
          <p:spPr>
            <a:xfrm>
              <a:off x="16017" y="6256"/>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66" name="直接箭头连接符 65"/>
            <p:cNvCxnSpPr/>
            <p:nvPr/>
          </p:nvCxnSpPr>
          <p:spPr>
            <a:xfrm>
              <a:off x="16104" y="5214"/>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67" name="连接符: 肘形 112"/>
            <p:cNvCxnSpPr>
              <a:stCxn id="24" idx="2"/>
              <a:endCxn id="56" idx="0"/>
            </p:cNvCxnSpPr>
            <p:nvPr/>
          </p:nvCxnSpPr>
          <p:spPr>
            <a:xfrm rot="5400000" flipV="1">
              <a:off x="13888" y="1866"/>
              <a:ext cx="601" cy="386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72" name="文本框 71"/>
            <p:cNvSpPr txBox="1"/>
            <p:nvPr/>
          </p:nvSpPr>
          <p:spPr>
            <a:xfrm>
              <a:off x="15301" y="4440"/>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3" name="连接符: 肘形 53"/>
            <p:cNvCxnSpPr/>
            <p:nvPr/>
          </p:nvCxnSpPr>
          <p:spPr>
            <a:xfrm flipV="1">
              <a:off x="13648" y="4598"/>
              <a:ext cx="3228" cy="2083"/>
            </a:xfrm>
            <a:prstGeom prst="bentConnector3">
              <a:avLst>
                <a:gd name="adj1" fmla="val 108054"/>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4" name="文本框 73"/>
            <p:cNvSpPr txBox="1"/>
            <p:nvPr/>
          </p:nvSpPr>
          <p:spPr>
            <a:xfrm>
              <a:off x="17023" y="4228"/>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修改报告</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spTree>
    <p:custDataLst>
      <p:tags r:id="rId1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sz="2800" dirty="0">
                <a:solidFill>
                  <a:schemeClr val="tx1"/>
                </a:solidFill>
                <a:latin typeface="+mn-ea"/>
                <a:ea typeface="+mn-ea"/>
                <a:sym typeface="+mn-ea"/>
              </a:rPr>
              <a:t>基于价值流向的业务</a:t>
            </a:r>
            <a:r>
              <a:rPr lang="zh-CN" sz="2800" dirty="0" smtClean="0">
                <a:solidFill>
                  <a:schemeClr val="tx1"/>
                </a:solidFill>
                <a:latin typeface="+mn-ea"/>
                <a:ea typeface="+mn-ea"/>
                <a:sym typeface="+mn-ea"/>
              </a:rPr>
              <a:t>对象</a:t>
            </a:r>
            <a:r>
              <a:rPr lang="zh-CN" altLang="en-US" sz="2800" dirty="0" smtClean="0">
                <a:solidFill>
                  <a:schemeClr val="tx1"/>
                </a:solidFill>
                <a:latin typeface="+mn-ea"/>
                <a:ea typeface="+mn-ea"/>
                <a:sym typeface="+mn-ea"/>
              </a:rPr>
              <a:t>识别</a:t>
            </a:r>
            <a:endParaRPr lang="zh-CN" sz="2800" dirty="0">
              <a:solidFill>
                <a:schemeClr val="tx1"/>
              </a:solidFill>
              <a:latin typeface="+mn-ea"/>
              <a:ea typeface="+mn-ea"/>
              <a:sym typeface="+mn-ea"/>
            </a:endParaRPr>
          </a:p>
        </p:txBody>
      </p:sp>
      <p:sp>
        <p:nvSpPr>
          <p:cNvPr id="5" name="文本框 4"/>
          <p:cNvSpPr txBox="1"/>
          <p:nvPr>
            <p:custDataLst>
              <p:tags r:id="rId2"/>
            </p:custDataLst>
          </p:nvPr>
        </p:nvSpPr>
        <p:spPr>
          <a:xfrm>
            <a:off x="2203030" y="5429273"/>
            <a:ext cx="1800000" cy="389146"/>
          </a:xfrm>
          <a:prstGeom prst="rect">
            <a:avLst/>
          </a:prstGeom>
          <a:solidFill>
            <a:schemeClr val="accent1">
              <a:lumMod val="60000"/>
              <a:lumOff val="40000"/>
            </a:schemeClr>
          </a:solidFill>
          <a:ln>
            <a:solidFill>
              <a:srgbClr val="A5A5A5"/>
            </a:solidFill>
            <a:prstDash val="sysDash"/>
          </a:ln>
        </p:spPr>
        <p:txBody>
          <a:bodyPr wrap="square"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400" b="1" dirty="0">
                <a:solidFill>
                  <a:schemeClr val="bg1"/>
                </a:solidFill>
                <a:uFillTx/>
                <a:latin typeface="+mn-ea"/>
                <a:ea typeface="+mn-ea"/>
                <a:sym typeface="Arial" panose="020B0604020202020204"/>
              </a:rPr>
              <a:t>工艺评估需求单</a:t>
            </a:r>
            <a:endParaRPr lang="zh-CN" altLang="en-US" sz="1400" b="1" dirty="0">
              <a:solidFill>
                <a:schemeClr val="bg1"/>
              </a:solidFill>
              <a:uFillTx/>
              <a:latin typeface="+mn-ea"/>
              <a:ea typeface="+mn-ea"/>
              <a:sym typeface="Arial" panose="020B0604020202020204"/>
            </a:endParaRPr>
          </a:p>
        </p:txBody>
      </p:sp>
      <p:sp>
        <p:nvSpPr>
          <p:cNvPr id="6" name="文本框 5"/>
          <p:cNvSpPr txBox="1"/>
          <p:nvPr>
            <p:custDataLst>
              <p:tags r:id="rId3"/>
            </p:custDataLst>
          </p:nvPr>
        </p:nvSpPr>
        <p:spPr>
          <a:xfrm>
            <a:off x="482577" y="6126903"/>
            <a:ext cx="1116000" cy="252000"/>
          </a:xfrm>
          <a:prstGeom prst="rect">
            <a:avLst/>
          </a:prstGeom>
          <a:solidFill>
            <a:schemeClr val="accent1">
              <a:lumMod val="40000"/>
              <a:lumOff val="60000"/>
            </a:schemeClr>
          </a:solidFill>
          <a:ln>
            <a:solidFill>
              <a:srgbClr val="A5A5A5"/>
            </a:solidFill>
            <a:prstDash val="sysDash"/>
          </a:ln>
        </p:spPr>
        <p:txBody>
          <a:bodyPr wrap="square" tIns="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uFillTx/>
                <a:latin typeface="+mn-ea"/>
                <a:ea typeface="+mn-ea"/>
                <a:sym typeface="Arial" panose="020B0604020202020204"/>
              </a:rPr>
              <a:t>需求基本</a:t>
            </a:r>
            <a:r>
              <a:rPr lang="zh-CN" altLang="en-US" sz="1200" dirty="0">
                <a:solidFill>
                  <a:schemeClr val="tx1"/>
                </a:solidFill>
                <a:uFillTx/>
                <a:latin typeface="+mn-ea"/>
                <a:ea typeface="+mn-ea"/>
                <a:sym typeface="Arial" panose="020B0604020202020204"/>
              </a:rPr>
              <a:t>信息</a:t>
            </a:r>
            <a:endParaRPr lang="zh-CN" altLang="en-US" sz="1200" dirty="0">
              <a:solidFill>
                <a:schemeClr val="tx1"/>
              </a:solidFill>
              <a:uFillTx/>
              <a:latin typeface="+mn-ea"/>
              <a:ea typeface="+mn-ea"/>
              <a:sym typeface="Arial" panose="020B0604020202020204"/>
            </a:endParaRPr>
          </a:p>
        </p:txBody>
      </p:sp>
      <p:sp>
        <p:nvSpPr>
          <p:cNvPr id="48" name="文本框 47"/>
          <p:cNvSpPr txBox="1"/>
          <p:nvPr>
            <p:custDataLst>
              <p:tags r:id="rId4"/>
            </p:custDataLst>
          </p:nvPr>
        </p:nvSpPr>
        <p:spPr>
          <a:xfrm>
            <a:off x="1746935" y="6126903"/>
            <a:ext cx="1116000" cy="252000"/>
          </a:xfrm>
          <a:prstGeom prst="rect">
            <a:avLst/>
          </a:prstGeom>
          <a:solidFill>
            <a:schemeClr val="accent1">
              <a:lumMod val="40000"/>
              <a:lumOff val="60000"/>
            </a:schemeClr>
          </a:solidFill>
          <a:ln>
            <a:solidFill>
              <a:srgbClr val="A5A5A5"/>
            </a:solidFill>
            <a:prstDash val="sysDash"/>
          </a:ln>
        </p:spPr>
        <p:txBody>
          <a:bodyPr wrap="square" tIns="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a:solidFill>
                  <a:schemeClr val="tx1"/>
                </a:solidFill>
                <a:uFillTx/>
                <a:latin typeface="+mn-ea"/>
                <a:ea typeface="+mn-ea"/>
                <a:sym typeface="Arial" panose="020B0604020202020204"/>
              </a:rPr>
              <a:t>工艺</a:t>
            </a:r>
            <a:r>
              <a:rPr lang="zh-CN" altLang="en-US" sz="1200" dirty="0" smtClean="0">
                <a:solidFill>
                  <a:schemeClr val="tx1"/>
                </a:solidFill>
                <a:uFillTx/>
                <a:latin typeface="+mn-ea"/>
                <a:ea typeface="+mn-ea"/>
                <a:sym typeface="Arial" panose="020B0604020202020204"/>
              </a:rPr>
              <a:t>要素需求</a:t>
            </a:r>
            <a:endParaRPr lang="zh-CN" altLang="en-US" sz="1200" dirty="0">
              <a:solidFill>
                <a:schemeClr val="tx1"/>
              </a:solidFill>
              <a:uFillTx/>
              <a:latin typeface="+mn-ea"/>
              <a:ea typeface="+mn-ea"/>
              <a:sym typeface="Arial" panose="020B0604020202020204"/>
            </a:endParaRPr>
          </a:p>
        </p:txBody>
      </p:sp>
      <p:sp>
        <p:nvSpPr>
          <p:cNvPr id="51" name="文本框 50"/>
          <p:cNvSpPr txBox="1"/>
          <p:nvPr>
            <p:custDataLst>
              <p:tags r:id="rId5"/>
            </p:custDataLst>
          </p:nvPr>
        </p:nvSpPr>
        <p:spPr>
          <a:xfrm>
            <a:off x="3011293" y="6126903"/>
            <a:ext cx="1453117" cy="252000"/>
          </a:xfrm>
          <a:prstGeom prst="rect">
            <a:avLst/>
          </a:prstGeom>
          <a:solidFill>
            <a:schemeClr val="accent1">
              <a:lumMod val="40000"/>
              <a:lumOff val="60000"/>
            </a:schemeClr>
          </a:solidFill>
          <a:ln>
            <a:solidFill>
              <a:srgbClr val="A5A5A5"/>
            </a:solidFill>
            <a:prstDash val="sysDash"/>
          </a:ln>
        </p:spPr>
        <p:txBody>
          <a:bodyPr wrap="square" tIns="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latin typeface="+mn-ea"/>
                <a:ea typeface="+mn-ea"/>
                <a:sym typeface="Arial" panose="020B0604020202020204"/>
              </a:rPr>
              <a:t>工艺要素评估结果</a:t>
            </a:r>
            <a:endParaRPr lang="zh-CN" altLang="en-US" sz="1200" dirty="0">
              <a:solidFill>
                <a:schemeClr val="tx1"/>
              </a:solidFill>
              <a:uFillTx/>
              <a:latin typeface="+mn-ea"/>
              <a:ea typeface="+mn-ea"/>
              <a:sym typeface="Arial" panose="020B0604020202020204"/>
            </a:endParaRPr>
          </a:p>
        </p:txBody>
      </p:sp>
      <p:cxnSp>
        <p:nvCxnSpPr>
          <p:cNvPr id="53" name="曲线连接符 27"/>
          <p:cNvCxnSpPr>
            <a:stCxn id="5" idx="2"/>
            <a:endCxn id="35" idx="0"/>
          </p:cNvCxnSpPr>
          <p:nvPr/>
        </p:nvCxnSpPr>
        <p:spPr>
          <a:xfrm rot="16200000" flipH="1">
            <a:off x="4066936" y="4854513"/>
            <a:ext cx="308484" cy="2236296"/>
          </a:xfrm>
          <a:prstGeom prst="curvedConnector3">
            <a:avLst>
              <a:gd name="adj1" fmla="val 50000"/>
            </a:avLst>
          </a:prstGeom>
          <a:ln>
            <a:solidFill>
              <a:schemeClr val="bg2">
                <a:lumMod val="50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曲线连接符 27"/>
          <p:cNvCxnSpPr>
            <a:stCxn id="5" idx="2"/>
            <a:endCxn id="6" idx="0"/>
          </p:cNvCxnSpPr>
          <p:nvPr/>
        </p:nvCxnSpPr>
        <p:spPr>
          <a:xfrm rot="5400000">
            <a:off x="1917562" y="4941435"/>
            <a:ext cx="308484" cy="2062453"/>
          </a:xfrm>
          <a:prstGeom prst="curvedConnector3">
            <a:avLst>
              <a:gd name="adj1" fmla="val 50000"/>
            </a:avLst>
          </a:prstGeom>
          <a:ln>
            <a:solidFill>
              <a:schemeClr val="bg2">
                <a:lumMod val="50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6" name="曲线连接符 27"/>
          <p:cNvCxnSpPr>
            <a:stCxn id="5" idx="2"/>
            <a:endCxn id="51" idx="0"/>
          </p:cNvCxnSpPr>
          <p:nvPr/>
        </p:nvCxnSpPr>
        <p:spPr>
          <a:xfrm rot="16200000" flipH="1">
            <a:off x="3266199" y="5655250"/>
            <a:ext cx="308484" cy="634822"/>
          </a:xfrm>
          <a:prstGeom prst="curvedConnector3">
            <a:avLst>
              <a:gd name="adj1" fmla="val 50000"/>
            </a:avLst>
          </a:prstGeom>
          <a:ln>
            <a:solidFill>
              <a:schemeClr val="bg2">
                <a:lumMod val="50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graphicFrame>
        <p:nvGraphicFramePr>
          <p:cNvPr id="58" name="表格 57"/>
          <p:cNvGraphicFramePr>
            <a:graphicFrameLocks noGrp="1"/>
          </p:cNvGraphicFramePr>
          <p:nvPr/>
        </p:nvGraphicFramePr>
        <p:xfrm>
          <a:off x="7043031" y="5096148"/>
          <a:ext cx="4612903" cy="873453"/>
        </p:xfrm>
        <a:graphic>
          <a:graphicData uri="http://schemas.openxmlformats.org/drawingml/2006/table">
            <a:tbl>
              <a:tblPr firstRow="1" bandRow="1">
                <a:tableStyleId>{5C22544A-7EE6-4342-B048-85BDC9FD1C3A}</a:tableStyleId>
              </a:tblPr>
              <a:tblGrid>
                <a:gridCol w="1633591"/>
                <a:gridCol w="993104"/>
                <a:gridCol w="993104"/>
                <a:gridCol w="993104"/>
              </a:tblGrid>
              <a:tr h="543483">
                <a:tc>
                  <a:txBody>
                    <a:bodyPr/>
                    <a:lstStyle/>
                    <a:p>
                      <a:pPr algn="ctr"/>
                      <a:r>
                        <a:rPr lang="zh-CN" altLang="en-US" sz="1100" b="1" dirty="0">
                          <a:solidFill>
                            <a:schemeClr val="bg1"/>
                          </a:solidFill>
                          <a:latin typeface="+mn-ea"/>
                          <a:ea typeface="+mn-ea"/>
                        </a:rPr>
                        <a:t>企业运作和管理中不可缺少的 重要人</a:t>
                      </a:r>
                      <a:r>
                        <a:rPr lang="en-US" altLang="zh-CN" sz="1100" b="1" dirty="0">
                          <a:solidFill>
                            <a:schemeClr val="bg1"/>
                          </a:solidFill>
                          <a:latin typeface="+mn-ea"/>
                          <a:ea typeface="+mn-ea"/>
                        </a:rPr>
                        <a:t>/</a:t>
                      </a:r>
                      <a:r>
                        <a:rPr lang="zh-CN" altLang="en-US" sz="1100" b="1" dirty="0">
                          <a:solidFill>
                            <a:schemeClr val="bg1"/>
                          </a:solidFill>
                          <a:latin typeface="+mn-ea"/>
                          <a:ea typeface="+mn-ea"/>
                        </a:rPr>
                        <a:t>事</a:t>
                      </a:r>
                      <a:r>
                        <a:rPr lang="en-US" altLang="zh-CN" sz="1100" b="1" dirty="0">
                          <a:solidFill>
                            <a:schemeClr val="bg1"/>
                          </a:solidFill>
                          <a:latin typeface="+mn-ea"/>
                          <a:ea typeface="+mn-ea"/>
                        </a:rPr>
                        <a:t>/</a:t>
                      </a:r>
                      <a:r>
                        <a:rPr lang="zh-CN" altLang="en-US" sz="1100" b="1" dirty="0">
                          <a:solidFill>
                            <a:schemeClr val="bg1"/>
                          </a:solidFill>
                          <a:latin typeface="+mn-ea"/>
                          <a:ea typeface="+mn-ea"/>
                        </a:rPr>
                        <a:t>物</a:t>
                      </a:r>
                      <a:endParaRPr lang="zh-CN" altLang="en-US" sz="1100" b="1" dirty="0">
                        <a:solidFill>
                          <a:schemeClr val="bg1"/>
                        </a:solidFill>
                        <a:latin typeface="+mn-ea"/>
                        <a:ea typeface="+mn-ea"/>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100" b="1" dirty="0">
                          <a:solidFill>
                            <a:schemeClr val="bg1"/>
                          </a:solidFill>
                          <a:latin typeface="+mn-ea"/>
                          <a:ea typeface="+mn-ea"/>
                        </a:rPr>
                        <a:t>有唯一身份标识信息</a:t>
                      </a:r>
                      <a:endParaRPr lang="zh-CN" altLang="en-US" sz="1100" b="1" dirty="0">
                        <a:solidFill>
                          <a:schemeClr val="bg1"/>
                        </a:solidFill>
                        <a:latin typeface="+mn-ea"/>
                        <a:ea typeface="+mn-ea"/>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100" b="1" dirty="0">
                          <a:solidFill>
                            <a:schemeClr val="bg1"/>
                          </a:solidFill>
                          <a:latin typeface="+mn-ea"/>
                          <a:ea typeface="+mn-ea"/>
                        </a:rPr>
                        <a:t>相对独立并有属性描述</a:t>
                      </a:r>
                      <a:endParaRPr lang="zh-CN" altLang="en-US" sz="1100" b="1" dirty="0">
                        <a:solidFill>
                          <a:schemeClr val="bg1"/>
                        </a:solidFill>
                        <a:latin typeface="+mn-ea"/>
                        <a:ea typeface="+mn-ea"/>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100" b="1" dirty="0">
                          <a:solidFill>
                            <a:schemeClr val="bg1"/>
                          </a:solidFill>
                          <a:latin typeface="+mn-ea"/>
                          <a:ea typeface="+mn-ea"/>
                        </a:rPr>
                        <a:t>可实例化</a:t>
                      </a:r>
                      <a:endParaRPr lang="zh-CN" altLang="en-US" sz="1100" b="1" dirty="0">
                        <a:solidFill>
                          <a:schemeClr val="bg1"/>
                        </a:solidFill>
                        <a:latin typeface="+mn-ea"/>
                        <a:ea typeface="+mn-ea"/>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329970">
                <a:tc>
                  <a:txBody>
                    <a:bodyPr/>
                    <a:lstStyle/>
                    <a:p>
                      <a:pPr algn="ctr"/>
                      <a:r>
                        <a:rPr lang="zh-CN" altLang="en-US" sz="1100" b="1" dirty="0" smtClean="0">
                          <a:latin typeface="+mn-ea"/>
                          <a:ea typeface="+mn-ea"/>
                        </a:rPr>
                        <a:t>√</a:t>
                      </a:r>
                      <a:endParaRPr lang="zh-CN" altLang="en-US" sz="1100" b="1" dirty="0">
                        <a:latin typeface="+mn-ea"/>
                        <a:ea typeface="+mn-ea"/>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smtClean="0">
                          <a:ln>
                            <a:noFill/>
                          </a:ln>
                          <a:solidFill>
                            <a:srgbClr val="000000"/>
                          </a:solidFill>
                          <a:effectLst/>
                          <a:uLnTx/>
                          <a:uFillTx/>
                          <a:latin typeface="+mn-ea"/>
                          <a:ea typeface="+mn-ea"/>
                          <a:cs typeface="+mn-cs"/>
                        </a:rPr>
                        <a:t>√</a:t>
                      </a:r>
                      <a:endParaRPr kumimoji="0" lang="zh-CN" altLang="en-US" sz="1100" b="1" i="0" u="none" strike="noStrike" kern="1200" cap="none" spc="0" normalizeH="0" baseline="0" noProof="0" dirty="0">
                        <a:ln>
                          <a:noFill/>
                        </a:ln>
                        <a:solidFill>
                          <a:srgbClr val="000000"/>
                        </a:solidFill>
                        <a:effectLst/>
                        <a:uLnTx/>
                        <a:uFillTx/>
                        <a:latin typeface="+mn-ea"/>
                        <a:ea typeface="+mn-ea"/>
                        <a:cs typeface="+mn-cs"/>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smtClean="0">
                          <a:ln>
                            <a:noFill/>
                          </a:ln>
                          <a:solidFill>
                            <a:srgbClr val="000000"/>
                          </a:solidFill>
                          <a:effectLst/>
                          <a:uLnTx/>
                          <a:uFillTx/>
                          <a:latin typeface="+mn-ea"/>
                          <a:ea typeface="+mn-ea"/>
                          <a:cs typeface="+mn-cs"/>
                        </a:rPr>
                        <a:t>√</a:t>
                      </a:r>
                      <a:endParaRPr kumimoji="0" lang="zh-CN" altLang="en-US" sz="1100" b="1" i="0" u="none" strike="noStrike" kern="1200" cap="none" spc="0" normalizeH="0" baseline="0" noProof="0" dirty="0">
                        <a:ln>
                          <a:noFill/>
                        </a:ln>
                        <a:solidFill>
                          <a:srgbClr val="000000"/>
                        </a:solidFill>
                        <a:effectLst/>
                        <a:uLnTx/>
                        <a:uFillTx/>
                        <a:latin typeface="+mn-ea"/>
                        <a:ea typeface="+mn-ea"/>
                        <a:cs typeface="+mn-cs"/>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smtClean="0">
                          <a:ln>
                            <a:noFill/>
                          </a:ln>
                          <a:solidFill>
                            <a:srgbClr val="000000"/>
                          </a:solidFill>
                          <a:effectLst/>
                          <a:uLnTx/>
                          <a:uFillTx/>
                          <a:latin typeface="+mn-ea"/>
                          <a:ea typeface="+mn-ea"/>
                          <a:cs typeface="+mn-cs"/>
                        </a:rPr>
                        <a:t>√</a:t>
                      </a:r>
                      <a:endParaRPr kumimoji="0" lang="zh-CN" altLang="en-US" sz="1100" b="1" i="0" u="none" strike="noStrike" kern="1200" cap="none" spc="0" normalizeH="0" baseline="0" noProof="0" dirty="0">
                        <a:ln>
                          <a:noFill/>
                        </a:ln>
                        <a:solidFill>
                          <a:srgbClr val="000000"/>
                        </a:solidFill>
                        <a:effectLst/>
                        <a:uLnTx/>
                        <a:uFillTx/>
                        <a:latin typeface="+mn-ea"/>
                        <a:ea typeface="+mn-ea"/>
                        <a:cs typeface="+mn-cs"/>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7" name="矩形 16"/>
          <p:cNvSpPr/>
          <p:nvPr/>
        </p:nvSpPr>
        <p:spPr>
          <a:xfrm>
            <a:off x="2201291" y="1764157"/>
            <a:ext cx="1800225" cy="3331991"/>
          </a:xfrm>
          <a:prstGeom prst="rect">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compatLnSpc="1">
            <a:noAutofit/>
          </a:bodyPr>
          <a:lstStyle/>
          <a:p>
            <a:pPr lvl="0" algn="ctr" hangingPunct="0">
              <a:spcBef>
                <a:spcPts val="0"/>
              </a:spcBef>
              <a:spcAft>
                <a:spcPts val="0"/>
              </a:spcAft>
              <a:buClrTx/>
              <a:buSzTx/>
              <a:buFontTx/>
            </a:pPr>
            <a:r>
              <a:rPr lang="zh-CN" altLang="en-US" sz="1400" b="1" kern="0" dirty="0">
                <a:solidFill>
                  <a:schemeClr val="tx1"/>
                </a:solidFill>
                <a:uFillTx/>
                <a:latin typeface="+mn-ea"/>
                <a:sym typeface="+mn-ea"/>
              </a:rPr>
              <a:t>工艺评估管理</a:t>
            </a:r>
            <a:endParaRPr lang="zh-CN" altLang="en-US" sz="1400" b="1" kern="0" dirty="0">
              <a:solidFill>
                <a:schemeClr val="tx1"/>
              </a:solidFill>
              <a:uFillTx/>
              <a:latin typeface="+mn-ea"/>
              <a:sym typeface="+mn-ea"/>
            </a:endParaRPr>
          </a:p>
        </p:txBody>
      </p:sp>
      <p:sp>
        <p:nvSpPr>
          <p:cNvPr id="9" name="矩形 8"/>
          <p:cNvSpPr/>
          <p:nvPr/>
        </p:nvSpPr>
        <p:spPr>
          <a:xfrm>
            <a:off x="2417191" y="2088007"/>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创建需求</a:t>
            </a:r>
            <a:endParaRPr lang="zh-CN" altLang="en-US" sz="1200" kern="1200" dirty="0">
              <a:solidFill>
                <a:prstClr val="black"/>
              </a:solidFill>
              <a:uFillTx/>
              <a:latin typeface="+mn-ea"/>
              <a:cs typeface="Arial" panose="020B0604020202020204"/>
              <a:sym typeface="Arial" panose="020B0604020202020204"/>
            </a:endParaRPr>
          </a:p>
        </p:txBody>
      </p:sp>
      <p:sp>
        <p:nvSpPr>
          <p:cNvPr id="10" name="矩形 9"/>
          <p:cNvSpPr/>
          <p:nvPr/>
        </p:nvSpPr>
        <p:spPr>
          <a:xfrm>
            <a:off x="2417191" y="2527385"/>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确认需求</a:t>
            </a:r>
            <a:endParaRPr lang="zh-CN" altLang="en-US" sz="1200" kern="1200" dirty="0">
              <a:solidFill>
                <a:prstClr val="black"/>
              </a:solidFill>
              <a:uFillTx/>
              <a:latin typeface="+mn-ea"/>
              <a:cs typeface="Arial" panose="020B0604020202020204"/>
              <a:sym typeface="Arial" panose="020B0604020202020204"/>
            </a:endParaRPr>
          </a:p>
        </p:txBody>
      </p:sp>
      <p:sp>
        <p:nvSpPr>
          <p:cNvPr id="11" name="矩形 10"/>
          <p:cNvSpPr/>
          <p:nvPr/>
        </p:nvSpPr>
        <p:spPr>
          <a:xfrm>
            <a:off x="2417191" y="2966763"/>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审核需求</a:t>
            </a:r>
            <a:endParaRPr lang="zh-CN" altLang="en-US" sz="1200" kern="1200" dirty="0">
              <a:solidFill>
                <a:prstClr val="black"/>
              </a:solidFill>
              <a:uFillTx/>
              <a:latin typeface="+mn-ea"/>
              <a:cs typeface="Arial" panose="020B0604020202020204"/>
              <a:sym typeface="Arial" panose="020B0604020202020204"/>
            </a:endParaRPr>
          </a:p>
        </p:txBody>
      </p:sp>
      <p:sp>
        <p:nvSpPr>
          <p:cNvPr id="12" name="矩形 11"/>
          <p:cNvSpPr/>
          <p:nvPr/>
        </p:nvSpPr>
        <p:spPr>
          <a:xfrm>
            <a:off x="2417191" y="3845519"/>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确认评估报告</a:t>
            </a:r>
            <a:endParaRPr lang="zh-CN" altLang="en-US" sz="1200" kern="1200" dirty="0">
              <a:solidFill>
                <a:prstClr val="black"/>
              </a:solidFill>
              <a:uFillTx/>
              <a:latin typeface="+mn-ea"/>
              <a:cs typeface="Arial" panose="020B0604020202020204"/>
              <a:sym typeface="Arial" panose="020B0604020202020204"/>
            </a:endParaRPr>
          </a:p>
        </p:txBody>
      </p:sp>
      <p:sp>
        <p:nvSpPr>
          <p:cNvPr id="13" name="矩形 12"/>
          <p:cNvSpPr/>
          <p:nvPr/>
        </p:nvSpPr>
        <p:spPr>
          <a:xfrm>
            <a:off x="2417191" y="4284897"/>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发布评估报告</a:t>
            </a:r>
            <a:endParaRPr lang="zh-CN" altLang="en-US" sz="1200" kern="1200" dirty="0">
              <a:solidFill>
                <a:prstClr val="black"/>
              </a:solidFill>
              <a:uFillTx/>
              <a:latin typeface="+mn-ea"/>
              <a:cs typeface="Arial" panose="020B0604020202020204"/>
              <a:sym typeface="Arial" panose="020B0604020202020204"/>
            </a:endParaRPr>
          </a:p>
        </p:txBody>
      </p:sp>
      <p:sp>
        <p:nvSpPr>
          <p:cNvPr id="14" name="矩形 13"/>
          <p:cNvSpPr/>
          <p:nvPr/>
        </p:nvSpPr>
        <p:spPr>
          <a:xfrm>
            <a:off x="2417191" y="4724273"/>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关联需求与项目</a:t>
            </a:r>
            <a:endParaRPr lang="zh-CN" altLang="en-US" sz="1200" kern="1200" dirty="0">
              <a:solidFill>
                <a:prstClr val="black"/>
              </a:solidFill>
              <a:uFillTx/>
              <a:latin typeface="+mn-ea"/>
              <a:cs typeface="Arial" panose="020B0604020202020204"/>
              <a:sym typeface="Arial" panose="020B0604020202020204"/>
            </a:endParaRPr>
          </a:p>
        </p:txBody>
      </p:sp>
      <p:sp>
        <p:nvSpPr>
          <p:cNvPr id="21" name="矩形: 圆角 13"/>
          <p:cNvSpPr/>
          <p:nvPr>
            <p:custDataLst>
              <p:tags r:id="rId6"/>
            </p:custDataLst>
          </p:nvPr>
        </p:nvSpPr>
        <p:spPr>
          <a:xfrm>
            <a:off x="1230376" y="1153160"/>
            <a:ext cx="1007745" cy="35572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mn-ea"/>
                <a:sym typeface="Arial" panose="020B0604020202020204"/>
              </a:rPr>
              <a:t>客户主数据</a:t>
            </a:r>
            <a:endParaRPr lang="zh-CN" altLang="en-US" sz="1100" b="1" kern="0" dirty="0">
              <a:solidFill>
                <a:schemeClr val="tx1"/>
              </a:solidFill>
              <a:uFillTx/>
              <a:latin typeface="+mn-ea"/>
              <a:sym typeface="Arial" panose="020B0604020202020204"/>
            </a:endParaRPr>
          </a:p>
        </p:txBody>
      </p:sp>
      <p:sp>
        <p:nvSpPr>
          <p:cNvPr id="25" name="矩形: 圆角 13"/>
          <p:cNvSpPr/>
          <p:nvPr>
            <p:custDataLst>
              <p:tags r:id="rId7"/>
            </p:custDataLst>
          </p:nvPr>
        </p:nvSpPr>
        <p:spPr>
          <a:xfrm>
            <a:off x="2596896" y="1153160"/>
            <a:ext cx="1007745" cy="35572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mn-ea"/>
                <a:sym typeface="Arial" panose="020B0604020202020204"/>
              </a:rPr>
              <a:t>组织主数据</a:t>
            </a:r>
            <a:endParaRPr lang="zh-CN" altLang="en-US" sz="1100" b="1" kern="0" dirty="0">
              <a:solidFill>
                <a:schemeClr val="tx1"/>
              </a:solidFill>
              <a:uFillTx/>
              <a:latin typeface="+mn-ea"/>
              <a:sym typeface="Arial" panose="020B0604020202020204"/>
            </a:endParaRPr>
          </a:p>
        </p:txBody>
      </p:sp>
      <p:sp>
        <p:nvSpPr>
          <p:cNvPr id="26" name="矩形: 圆角 13"/>
          <p:cNvSpPr/>
          <p:nvPr>
            <p:custDataLst>
              <p:tags r:id="rId8"/>
            </p:custDataLst>
          </p:nvPr>
        </p:nvSpPr>
        <p:spPr>
          <a:xfrm>
            <a:off x="3991356" y="1153160"/>
            <a:ext cx="1007745" cy="35572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hangingPunct="0">
              <a:lnSpc>
                <a:spcPct val="90000"/>
              </a:lnSpc>
              <a:spcBef>
                <a:spcPts val="0"/>
              </a:spcBef>
              <a:spcAft>
                <a:spcPts val="0"/>
              </a:spcAft>
            </a:pPr>
            <a:r>
              <a:rPr lang="zh-CN" altLang="en-US" sz="1100" b="1" kern="0" dirty="0">
                <a:solidFill>
                  <a:schemeClr val="tx1"/>
                </a:solidFill>
                <a:uFillTx/>
                <a:latin typeface="+mn-ea"/>
                <a:sym typeface="Arial" panose="020B0604020202020204"/>
              </a:rPr>
              <a:t>产品主数据</a:t>
            </a:r>
            <a:endParaRPr lang="zh-CN" altLang="en-US" sz="1100" b="1" kern="0" dirty="0">
              <a:solidFill>
                <a:schemeClr val="tx1"/>
              </a:solidFill>
              <a:uFillTx/>
              <a:latin typeface="+mn-ea"/>
              <a:sym typeface="Arial" panose="020B0604020202020204"/>
            </a:endParaRPr>
          </a:p>
        </p:txBody>
      </p:sp>
      <p:cxnSp>
        <p:nvCxnSpPr>
          <p:cNvPr id="28" name="直接箭头连接符 27"/>
          <p:cNvCxnSpPr>
            <a:stCxn id="21" idx="2"/>
            <a:endCxn id="17" idx="0"/>
          </p:cNvCxnSpPr>
          <p:nvPr>
            <p:custDataLst>
              <p:tags r:id="rId9"/>
            </p:custDataLst>
          </p:nvPr>
        </p:nvCxnSpPr>
        <p:spPr>
          <a:xfrm>
            <a:off x="1734566" y="1508887"/>
            <a:ext cx="1367155" cy="255905"/>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6" idx="2"/>
            <a:endCxn id="17" idx="0"/>
          </p:cNvCxnSpPr>
          <p:nvPr>
            <p:custDataLst>
              <p:tags r:id="rId10"/>
            </p:custDataLst>
          </p:nvPr>
        </p:nvCxnSpPr>
        <p:spPr>
          <a:xfrm flipH="1">
            <a:off x="3101721" y="1508887"/>
            <a:ext cx="1393825" cy="255905"/>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25" idx="2"/>
            <a:endCxn id="17" idx="0"/>
          </p:cNvCxnSpPr>
          <p:nvPr>
            <p:custDataLst>
              <p:tags r:id="rId11"/>
            </p:custDataLst>
          </p:nvPr>
        </p:nvCxnSpPr>
        <p:spPr>
          <a:xfrm>
            <a:off x="3101086" y="1508887"/>
            <a:ext cx="635" cy="255905"/>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60" name="燕尾形 13"/>
          <p:cNvSpPr/>
          <p:nvPr>
            <p:custDataLst>
              <p:tags r:id="rId12"/>
            </p:custDataLst>
          </p:nvPr>
        </p:nvSpPr>
        <p:spPr>
          <a:xfrm>
            <a:off x="566801" y="3109087"/>
            <a:ext cx="935990" cy="346075"/>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mn-ea"/>
                <a:cs typeface="+mn-cs"/>
                <a:sym typeface="+mn-ea"/>
              </a:rPr>
              <a:t>机会点</a:t>
            </a:r>
            <a:endParaRPr lang="zh-CN" altLang="en-US" sz="1100" kern="0" dirty="0">
              <a:solidFill>
                <a:schemeClr val="tx1"/>
              </a:solidFill>
              <a:uFillTx/>
              <a:latin typeface="+mn-ea"/>
              <a:cs typeface="+mn-cs"/>
              <a:sym typeface="+mn-ea"/>
            </a:endParaRPr>
          </a:p>
          <a:p>
            <a:pPr algn="ctr" hangingPunct="0">
              <a:spcBef>
                <a:spcPts val="0"/>
              </a:spcBef>
              <a:spcAft>
                <a:spcPts val="0"/>
              </a:spcAft>
            </a:pPr>
            <a:r>
              <a:rPr lang="zh-CN" altLang="en-US" sz="1100" kern="0" dirty="0">
                <a:solidFill>
                  <a:schemeClr val="tx1"/>
                </a:solidFill>
                <a:uFillTx/>
                <a:latin typeface="+mn-ea"/>
                <a:cs typeface="+mn-cs"/>
                <a:sym typeface="+mn-ea"/>
              </a:rPr>
              <a:t>验证</a:t>
            </a:r>
            <a:endParaRPr lang="zh-CN" altLang="en-US" sz="1100" kern="0" dirty="0">
              <a:solidFill>
                <a:schemeClr val="tx1"/>
              </a:solidFill>
              <a:uFillTx/>
              <a:latin typeface="+mn-ea"/>
              <a:cs typeface="+mn-cs"/>
              <a:sym typeface="+mn-ea"/>
            </a:endParaRPr>
          </a:p>
        </p:txBody>
      </p:sp>
      <p:cxnSp>
        <p:nvCxnSpPr>
          <p:cNvPr id="61" name="直接箭头连接符 60"/>
          <p:cNvCxnSpPr>
            <a:stCxn id="17" idx="3"/>
            <a:endCxn id="71" idx="1"/>
          </p:cNvCxnSpPr>
          <p:nvPr>
            <p:custDataLst>
              <p:tags r:id="rId13"/>
            </p:custDataLst>
          </p:nvPr>
        </p:nvCxnSpPr>
        <p:spPr>
          <a:xfrm flipV="1">
            <a:off x="4001516" y="3019552"/>
            <a:ext cx="396240" cy="603250"/>
          </a:xfrm>
          <a:prstGeom prst="straightConnector1">
            <a:avLst/>
          </a:prstGeom>
          <a:noFill/>
          <a:ln w="6350" cap="flat" cmpd="sng" algn="ctr">
            <a:solidFill>
              <a:sysClr val="windowText" lastClr="000000">
                <a:lumMod val="65000"/>
                <a:lumOff val="35000"/>
              </a:sysClr>
            </a:solidFill>
            <a:prstDash val="solid"/>
            <a:miter lim="800000"/>
            <a:headEnd type="none"/>
            <a:tailEnd type="triangle" w="med" len="med"/>
          </a:ln>
          <a:effectLst/>
        </p:spPr>
      </p:cxnSp>
      <p:sp>
        <p:nvSpPr>
          <p:cNvPr id="71" name="燕尾形 13"/>
          <p:cNvSpPr/>
          <p:nvPr>
            <p:custDataLst>
              <p:tags r:id="rId14"/>
            </p:custDataLst>
          </p:nvPr>
        </p:nvSpPr>
        <p:spPr>
          <a:xfrm>
            <a:off x="4310761" y="2846197"/>
            <a:ext cx="935990" cy="346075"/>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mn-ea"/>
                <a:cs typeface="+mn-cs"/>
                <a:sym typeface="+mn-ea"/>
              </a:rPr>
              <a:t>谈判和生成合同</a:t>
            </a:r>
            <a:endParaRPr lang="zh-CN" altLang="en-US" sz="1100" kern="0" dirty="0">
              <a:solidFill>
                <a:schemeClr val="tx1"/>
              </a:solidFill>
              <a:uFillTx/>
              <a:latin typeface="+mn-ea"/>
              <a:cs typeface="+mn-cs"/>
              <a:sym typeface="+mn-ea"/>
            </a:endParaRPr>
          </a:p>
        </p:txBody>
      </p:sp>
      <p:sp>
        <p:nvSpPr>
          <p:cNvPr id="15" name="燕尾形 13"/>
          <p:cNvSpPr/>
          <p:nvPr>
            <p:custDataLst>
              <p:tags r:id="rId15"/>
            </p:custDataLst>
          </p:nvPr>
        </p:nvSpPr>
        <p:spPr>
          <a:xfrm>
            <a:off x="4383786" y="4035552"/>
            <a:ext cx="935990" cy="346075"/>
          </a:xfrm>
          <a:prstGeom prst="chevron">
            <a:avLst>
              <a:gd name="adj" fmla="val 24216"/>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compatLnSpc="1">
            <a:noAutofit/>
          </a:bodyPr>
          <a:lstStyle/>
          <a:p>
            <a:pPr algn="ctr" hangingPunct="0">
              <a:spcBef>
                <a:spcPts val="0"/>
              </a:spcBef>
              <a:spcAft>
                <a:spcPts val="0"/>
              </a:spcAft>
            </a:pPr>
            <a:r>
              <a:rPr lang="zh-CN" altLang="en-US" sz="1100" kern="0" dirty="0">
                <a:solidFill>
                  <a:schemeClr val="tx1"/>
                </a:solidFill>
                <a:uFillTx/>
                <a:latin typeface="+mn-ea"/>
                <a:cs typeface="+mn-cs"/>
                <a:sym typeface="+mn-ea"/>
              </a:rPr>
              <a:t>产品立项</a:t>
            </a:r>
            <a:endParaRPr lang="zh-CN" altLang="en-US" sz="1100" kern="0" dirty="0">
              <a:solidFill>
                <a:schemeClr val="tx1"/>
              </a:solidFill>
              <a:uFillTx/>
              <a:latin typeface="+mn-ea"/>
              <a:cs typeface="+mn-cs"/>
              <a:sym typeface="+mn-ea"/>
            </a:endParaRPr>
          </a:p>
        </p:txBody>
      </p:sp>
      <p:cxnSp>
        <p:nvCxnSpPr>
          <p:cNvPr id="16" name="直接箭头连接符 15"/>
          <p:cNvCxnSpPr>
            <a:stCxn id="17" idx="3"/>
            <a:endCxn id="15" idx="1"/>
          </p:cNvCxnSpPr>
          <p:nvPr>
            <p:custDataLst>
              <p:tags r:id="rId16"/>
            </p:custDataLst>
          </p:nvPr>
        </p:nvCxnSpPr>
        <p:spPr>
          <a:xfrm>
            <a:off x="4001516" y="3622802"/>
            <a:ext cx="469265" cy="586105"/>
          </a:xfrm>
          <a:prstGeom prst="straightConnector1">
            <a:avLst/>
          </a:prstGeom>
          <a:noFill/>
          <a:ln w="6350" cap="flat" cmpd="sng" algn="ctr">
            <a:solidFill>
              <a:sysClr val="windowText" lastClr="000000">
                <a:lumMod val="65000"/>
                <a:lumOff val="35000"/>
              </a:sysClr>
            </a:solidFill>
            <a:prstDash val="solid"/>
            <a:miter lim="800000"/>
            <a:headEnd type="none"/>
            <a:tailEnd type="triangle" w="med" len="med"/>
          </a:ln>
          <a:effectLst/>
        </p:spPr>
      </p:cxnSp>
      <p:cxnSp>
        <p:nvCxnSpPr>
          <p:cNvPr id="18" name="直接箭头连接符 17"/>
          <p:cNvCxnSpPr>
            <a:stCxn id="60" idx="3"/>
          </p:cNvCxnSpPr>
          <p:nvPr>
            <p:custDataLst>
              <p:tags r:id="rId17"/>
            </p:custDataLst>
          </p:nvPr>
        </p:nvCxnSpPr>
        <p:spPr>
          <a:xfrm>
            <a:off x="1502791" y="3283077"/>
            <a:ext cx="653415" cy="1270"/>
          </a:xfrm>
          <a:prstGeom prst="straightConnector1">
            <a:avLst/>
          </a:prstGeom>
          <a:ln>
            <a:solidFill>
              <a:schemeClr val="tx1">
                <a:lumMod val="65000"/>
                <a:lumOff val="3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4454906" y="3239897"/>
            <a:ext cx="647700" cy="1689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latin typeface="+mn-ea"/>
                <a:ea typeface="+mn-ea"/>
                <a:cs typeface="Arial" panose="020B0604020202020204"/>
                <a:sym typeface="Arial" panose="020B0604020202020204"/>
              </a:rPr>
              <a:t>初始报价</a:t>
            </a:r>
            <a:endParaRPr lang="zh-CN" altLang="en-US" kern="0" dirty="0">
              <a:uFillTx/>
              <a:latin typeface="+mn-ea"/>
              <a:ea typeface="+mn-ea"/>
              <a:cs typeface="Arial" panose="020B0604020202020204"/>
              <a:sym typeface="Arial" panose="020B0604020202020204"/>
            </a:endParaRPr>
          </a:p>
        </p:txBody>
      </p:sp>
      <p:sp>
        <p:nvSpPr>
          <p:cNvPr id="91" name="文本框 90"/>
          <p:cNvSpPr txBox="1"/>
          <p:nvPr/>
        </p:nvSpPr>
        <p:spPr>
          <a:xfrm>
            <a:off x="4392041" y="3812032"/>
            <a:ext cx="647700" cy="1689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latin typeface="+mn-ea"/>
                <a:ea typeface="+mn-ea"/>
                <a:cs typeface="Arial" panose="020B0604020202020204"/>
                <a:sym typeface="Arial" panose="020B0604020202020204"/>
              </a:rPr>
              <a:t>初始产品</a:t>
            </a:r>
            <a:endParaRPr lang="zh-CN" altLang="en-US" kern="0" dirty="0">
              <a:uFillTx/>
              <a:latin typeface="+mn-ea"/>
              <a:ea typeface="+mn-ea"/>
              <a:cs typeface="Arial" panose="020B0604020202020204"/>
              <a:sym typeface="Arial" panose="020B0604020202020204"/>
            </a:endParaRPr>
          </a:p>
        </p:txBody>
      </p:sp>
      <p:sp>
        <p:nvSpPr>
          <p:cNvPr id="19" name="文本框 18"/>
          <p:cNvSpPr txBox="1"/>
          <p:nvPr/>
        </p:nvSpPr>
        <p:spPr>
          <a:xfrm>
            <a:off x="1536446" y="2919857"/>
            <a:ext cx="647700" cy="3384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chemeClr val="tx1"/>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latin typeface="+mn-ea"/>
                <a:ea typeface="+mn-ea"/>
                <a:cs typeface="Arial" panose="020B0604020202020204"/>
                <a:sym typeface="Arial" panose="020B0604020202020204"/>
              </a:rPr>
              <a:t>客户工艺需求信息</a:t>
            </a:r>
            <a:endParaRPr lang="zh-CN" altLang="en-US" kern="0" dirty="0">
              <a:uFillTx/>
              <a:latin typeface="+mn-ea"/>
              <a:ea typeface="+mn-ea"/>
              <a:cs typeface="Arial" panose="020B0604020202020204"/>
              <a:sym typeface="Arial" panose="020B0604020202020204"/>
            </a:endParaRPr>
          </a:p>
        </p:txBody>
      </p:sp>
      <p:sp>
        <p:nvSpPr>
          <p:cNvPr id="191" name="矩形 190"/>
          <p:cNvSpPr/>
          <p:nvPr/>
        </p:nvSpPr>
        <p:spPr>
          <a:xfrm>
            <a:off x="2417191" y="3406141"/>
            <a:ext cx="1367790" cy="277495"/>
          </a:xfrm>
          <a:prstGeom prst="rect">
            <a:avLst/>
          </a:prstGeom>
          <a:solidFill>
            <a:srgbClr val="ED7D31"/>
          </a:solidFill>
          <a:ln w="12700" cap="flat" cmpd="sng" algn="ctr">
            <a:solidFill>
              <a:srgbClr val="E7E6E6">
                <a:lumMod val="50000"/>
              </a:srgbClr>
            </a:solidFill>
            <a:prstDash val="solid"/>
            <a:miter lim="800000"/>
          </a:ln>
          <a:effectLst/>
        </p:spPr>
        <p:txBody>
          <a:bodyPr vertOverflow="overflow" horzOverflow="overflow" vert="horz" wrap="square" numCol="1" spcCol="0" rtlCol="0" fromWordArt="0" anchor="ctr" anchorCtr="0" compatLnSpc="1">
            <a:noAutofit/>
          </a:bodyPr>
          <a:lstStyle/>
          <a:p>
            <a:pPr algn="ctr" hangingPunct="1">
              <a:spcBef>
                <a:spcPts val="0"/>
              </a:spcBef>
              <a:spcAft>
                <a:spcPts val="0"/>
              </a:spcAft>
            </a:pPr>
            <a:r>
              <a:rPr lang="zh-CN" altLang="en-US" sz="1200" kern="1200" dirty="0">
                <a:solidFill>
                  <a:prstClr val="black"/>
                </a:solidFill>
                <a:uFillTx/>
                <a:latin typeface="+mn-ea"/>
                <a:cs typeface="Arial" panose="020B0604020202020204"/>
                <a:sym typeface="Arial" panose="020B0604020202020204"/>
              </a:rPr>
              <a:t>分析评估需求</a:t>
            </a:r>
            <a:endParaRPr lang="zh-CN" altLang="en-US" sz="1200" kern="1200" dirty="0">
              <a:solidFill>
                <a:prstClr val="black"/>
              </a:solidFill>
              <a:uFillTx/>
              <a:latin typeface="+mn-ea"/>
              <a:cs typeface="Arial" panose="020B0604020202020204"/>
              <a:sym typeface="Arial" panose="020B0604020202020204"/>
            </a:endParaRPr>
          </a:p>
        </p:txBody>
      </p:sp>
      <p:sp>
        <p:nvSpPr>
          <p:cNvPr id="35" name="文本框 34"/>
          <p:cNvSpPr txBox="1"/>
          <p:nvPr>
            <p:custDataLst>
              <p:tags r:id="rId18"/>
            </p:custDataLst>
          </p:nvPr>
        </p:nvSpPr>
        <p:spPr>
          <a:xfrm>
            <a:off x="4612767" y="6126903"/>
            <a:ext cx="1453117" cy="252000"/>
          </a:xfrm>
          <a:prstGeom prst="rect">
            <a:avLst/>
          </a:prstGeom>
          <a:solidFill>
            <a:schemeClr val="accent1">
              <a:lumMod val="40000"/>
              <a:lumOff val="60000"/>
            </a:schemeClr>
          </a:solidFill>
          <a:ln>
            <a:solidFill>
              <a:srgbClr val="A5A5A5"/>
            </a:solidFill>
            <a:prstDash val="sysDash"/>
          </a:ln>
        </p:spPr>
        <p:txBody>
          <a:bodyPr wrap="square" tIns="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latin typeface="+mn-ea"/>
                <a:ea typeface="+mn-ea"/>
                <a:sym typeface="Arial" panose="020B0604020202020204"/>
              </a:rPr>
              <a:t>工艺评估结论报告</a:t>
            </a:r>
            <a:endParaRPr lang="zh-CN" altLang="en-US" sz="1200" dirty="0">
              <a:solidFill>
                <a:schemeClr val="tx1"/>
              </a:solidFill>
              <a:uFillTx/>
              <a:latin typeface="+mn-ea"/>
              <a:ea typeface="+mn-ea"/>
              <a:sym typeface="Arial" panose="020B0604020202020204"/>
            </a:endParaRPr>
          </a:p>
        </p:txBody>
      </p:sp>
      <p:cxnSp>
        <p:nvCxnSpPr>
          <p:cNvPr id="38" name="曲线连接符 27"/>
          <p:cNvCxnSpPr>
            <a:stCxn id="5" idx="2"/>
            <a:endCxn id="48" idx="0"/>
          </p:cNvCxnSpPr>
          <p:nvPr/>
        </p:nvCxnSpPr>
        <p:spPr>
          <a:xfrm rot="5400000">
            <a:off x="2549741" y="5573614"/>
            <a:ext cx="308484" cy="798095"/>
          </a:xfrm>
          <a:prstGeom prst="curvedConnector3">
            <a:avLst>
              <a:gd name="adj1" fmla="val 50000"/>
            </a:avLst>
          </a:prstGeom>
          <a:ln>
            <a:solidFill>
              <a:schemeClr val="bg2">
                <a:lumMod val="50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2" name="下箭头 21"/>
          <p:cNvSpPr/>
          <p:nvPr/>
        </p:nvSpPr>
        <p:spPr>
          <a:xfrm>
            <a:off x="2953603" y="5139521"/>
            <a:ext cx="289088" cy="288000"/>
          </a:xfrm>
          <a:prstGeom prst="downArrow">
            <a:avLst/>
          </a:prstGeom>
          <a:solidFill>
            <a:schemeClr val="accent2"/>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latin typeface="+mn-ea"/>
            </a:endParaRPr>
          </a:p>
        </p:txBody>
      </p:sp>
      <p:graphicFrame>
        <p:nvGraphicFramePr>
          <p:cNvPr id="34" name="表格 33"/>
          <p:cNvGraphicFramePr>
            <a:graphicFrameLocks noGrp="1"/>
          </p:cNvGraphicFramePr>
          <p:nvPr/>
        </p:nvGraphicFramePr>
        <p:xfrm>
          <a:off x="5829662" y="1153160"/>
          <a:ext cx="6016819" cy="2969854"/>
        </p:xfrm>
        <a:graphic>
          <a:graphicData uri="http://schemas.openxmlformats.org/drawingml/2006/table">
            <a:tbl>
              <a:tblPr/>
              <a:tblGrid>
                <a:gridCol w="462848"/>
                <a:gridCol w="763706"/>
                <a:gridCol w="587149"/>
                <a:gridCol w="1505694"/>
                <a:gridCol w="504825"/>
                <a:gridCol w="571500"/>
                <a:gridCol w="666750"/>
                <a:gridCol w="438150"/>
                <a:gridCol w="516197"/>
              </a:tblGrid>
              <a:tr h="809366">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主题域</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主题域分组</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业务对象</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业务对象定义</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smtClean="0">
                          <a:solidFill>
                            <a:srgbClr val="F9FBFC"/>
                          </a:solidFill>
                          <a:effectLst/>
                          <a:latin typeface="微软雅黑" panose="020B0503020204020204" pitchFamily="34" charset="-122"/>
                          <a:ea typeface="微软雅黑" panose="020B0503020204020204" pitchFamily="34" charset="-122"/>
                        </a:rPr>
                        <a:t>数据类型</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使用场景</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创建人</a:t>
                      </a:r>
                      <a:r>
                        <a:rPr lang="en-US" altLang="zh-CN" sz="1400" b="1" i="0" u="none" strike="noStrike" dirty="0">
                          <a:solidFill>
                            <a:srgbClr val="F9FBFC"/>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创建方式</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smtClean="0">
                          <a:solidFill>
                            <a:srgbClr val="F9FBFC"/>
                          </a:solidFill>
                          <a:effectLst/>
                          <a:latin typeface="微软雅黑" panose="020B0503020204020204" pitchFamily="34" charset="-122"/>
                          <a:ea typeface="微软雅黑" panose="020B0503020204020204" pitchFamily="34" charset="-122"/>
                        </a:rPr>
                        <a:t>支撑</a:t>
                      </a:r>
                      <a:endParaRPr lang="en-US" altLang="zh-CN" sz="1400" b="1" i="0" u="none" strike="noStrike" dirty="0" smtClean="0">
                        <a:solidFill>
                          <a:srgbClr val="F9FBFC"/>
                        </a:solidFill>
                        <a:effectLst/>
                        <a:latin typeface="微软雅黑" panose="020B0503020204020204" pitchFamily="34" charset="-122"/>
                        <a:ea typeface="微软雅黑" panose="020B0503020204020204" pitchFamily="34" charset="-122"/>
                      </a:endParaRPr>
                    </a:p>
                    <a:p>
                      <a:pPr algn="ctr" fontAlgn="ctr"/>
                      <a:r>
                        <a:rPr lang="zh-CN" altLang="en-US" sz="1400" b="1" i="0" u="none" strike="noStrike" dirty="0" smtClean="0">
                          <a:solidFill>
                            <a:srgbClr val="F9FBFC"/>
                          </a:solidFill>
                          <a:effectLst/>
                          <a:latin typeface="微软雅黑" panose="020B0503020204020204" pitchFamily="34" charset="-122"/>
                          <a:ea typeface="微软雅黑" panose="020B0503020204020204" pitchFamily="34" charset="-122"/>
                        </a:rPr>
                        <a:t>系统</a:t>
                      </a:r>
                      <a:endParaRPr lang="zh-CN" alt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ctr"/>
                      <a:r>
                        <a:rPr lang="zh-CN" altLang="en-US" sz="1400" b="1" i="0" u="none" strike="noStrike" dirty="0">
                          <a:solidFill>
                            <a:srgbClr val="F9FBFC"/>
                          </a:solidFill>
                          <a:effectLst/>
                          <a:latin typeface="微软雅黑" panose="020B0503020204020204" pitchFamily="34" charset="-122"/>
                          <a:ea typeface="微软雅黑" panose="020B0503020204020204" pitchFamily="34" charset="-122"/>
                        </a:rPr>
                        <a:t>数据</a:t>
                      </a:r>
                      <a:r>
                        <a:rPr lang="en-US" sz="1400" b="1" i="0" u="none" strike="noStrike" dirty="0">
                          <a:solidFill>
                            <a:srgbClr val="F9FBFC"/>
                          </a:solidFill>
                          <a:effectLst/>
                          <a:latin typeface="微软雅黑" panose="020B0503020204020204" pitchFamily="34" charset="-122"/>
                          <a:ea typeface="微软雅黑" panose="020B0503020204020204" pitchFamily="34" charset="-122"/>
                        </a:rPr>
                        <a:t>Owner</a:t>
                      </a:r>
                      <a:endParaRPr lang="en-US" sz="1400" b="1" i="0" u="none" strike="noStrike" dirty="0">
                        <a:solidFill>
                          <a:srgbClr val="F9FBFC"/>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2160488">
                <a:tc>
                  <a:txBody>
                    <a:bodyPr/>
                    <a:lstStyle/>
                    <a:p>
                      <a:pPr algn="ctr" fontAlgn="ctr"/>
                      <a:r>
                        <a:rPr lang="en-US" altLang="zh-CN" sz="1200" b="0" i="0" u="none" strike="noStrike" dirty="0" smtClean="0">
                          <a:solidFill>
                            <a:srgbClr val="000000"/>
                          </a:solidFill>
                          <a:effectLst/>
                          <a:latin typeface="微软雅黑" panose="020B0503020204020204" pitchFamily="34" charset="-122"/>
                          <a:ea typeface="微软雅黑" panose="020B0503020204020204" pitchFamily="34" charset="-122"/>
                        </a:rPr>
                        <a:t>IPD</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管理研发需求</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1" i="0" u="none" strike="noStrike" dirty="0" smtClean="0">
                          <a:solidFill>
                            <a:srgbClr val="000000"/>
                          </a:solidFill>
                          <a:effectLst/>
                          <a:latin typeface="微软雅黑" panose="020B0503020204020204" pitchFamily="34" charset="-122"/>
                          <a:ea typeface="微软雅黑" panose="020B0503020204020204" pitchFamily="34" charset="-122"/>
                        </a:rPr>
                        <a:t>工艺评估需求单</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kern="1200" dirty="0" smtClean="0">
                          <a:solidFill>
                            <a:schemeClr val="tx1"/>
                          </a:solidFill>
                          <a:effectLst/>
                          <a:latin typeface="+mn-lt"/>
                          <a:ea typeface="+mn-ea"/>
                          <a:cs typeface="+mn-cs"/>
                        </a:rPr>
                        <a:t>是由客户提出的，对于产品设计或研发部门发起的正式产品技术规格的需求文件，用于请求对一项尚未验证或未导入量产的产品进行工艺技术评估和分析，以判断最终是否能够生产的技术决策。</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事务数据</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机会点验证时针对相关的技术工艺评估</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销售人员</a:t>
                      </a:r>
                      <a:r>
                        <a:rPr lang="en-US" altLang="zh-CN" sz="1200" b="0" i="0" u="none" strike="noStrike" dirty="0" smtClean="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人工录入</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dirty="0" smtClean="0">
                          <a:solidFill>
                            <a:srgbClr val="000000"/>
                          </a:solidFill>
                          <a:effectLst/>
                          <a:latin typeface="微软雅黑" panose="020B0503020204020204" pitchFamily="34" charset="-122"/>
                          <a:ea typeface="微软雅黑" panose="020B0503020204020204" pitchFamily="34" charset="-122"/>
                        </a:rPr>
                        <a:t>CRM</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销售部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39" name="肘形连接符 38"/>
          <p:cNvCxnSpPr/>
          <p:nvPr/>
        </p:nvCxnSpPr>
        <p:spPr>
          <a:xfrm flipV="1">
            <a:off x="4003030" y="4137978"/>
            <a:ext cx="2088000" cy="1512000"/>
          </a:xfrm>
          <a:prstGeom prst="bentConnector3">
            <a:avLst>
              <a:gd name="adj1" fmla="val 100058"/>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等腰三角形 56"/>
          <p:cNvSpPr/>
          <p:nvPr/>
        </p:nvSpPr>
        <p:spPr>
          <a:xfrm>
            <a:off x="7041517" y="4208907"/>
            <a:ext cx="4614417" cy="887241"/>
          </a:xfrm>
          <a:prstGeom prst="triangle">
            <a:avLst>
              <a:gd name="adj" fmla="val 30391"/>
            </a:avLst>
          </a:prstGeom>
          <a:solidFill>
            <a:schemeClr val="bg1">
              <a:lumMod val="75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Tree>
    <p:custDataLst>
      <p:tags r:id="rId19"/>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altLang="en-US" sz="2800" dirty="0">
                <a:solidFill>
                  <a:schemeClr val="tx1"/>
                </a:solidFill>
                <a:sym typeface="+mn-ea"/>
              </a:rPr>
              <a:t>数据架构</a:t>
            </a:r>
            <a:r>
              <a:rPr lang="en-US" altLang="zh-CN" sz="2800" dirty="0" smtClean="0">
                <a:sym typeface="+mn-ea"/>
              </a:rPr>
              <a:t>–</a:t>
            </a:r>
            <a:r>
              <a:rPr lang="zh-CN" altLang="en-US" sz="2800" dirty="0" smtClean="0">
                <a:sym typeface="+mn-ea"/>
              </a:rPr>
              <a:t>业务对象清单</a:t>
            </a:r>
            <a:endParaRPr lang="zh-CN" sz="2800" dirty="0">
              <a:solidFill>
                <a:schemeClr val="tx1"/>
              </a:solidFill>
              <a:latin typeface="+mn-ea"/>
              <a:ea typeface="+mn-ea"/>
              <a:sym typeface="+mn-ea"/>
            </a:endParaRPr>
          </a:p>
        </p:txBody>
      </p:sp>
      <p:graphicFrame>
        <p:nvGraphicFramePr>
          <p:cNvPr id="5" name="Table 3"/>
          <p:cNvGraphicFramePr>
            <a:graphicFrameLocks noGrp="1"/>
          </p:cNvGraphicFramePr>
          <p:nvPr/>
        </p:nvGraphicFramePr>
        <p:xfrm>
          <a:off x="619124" y="1099821"/>
          <a:ext cx="10972799" cy="5219802"/>
        </p:xfrm>
        <a:graphic>
          <a:graphicData uri="http://schemas.openxmlformats.org/drawingml/2006/table">
            <a:tbl>
              <a:tblPr firstRow="1" bandRow="1">
                <a:tableStyleId>{7DF18680-E054-41AD-8BC1-D1AEF772440D}</a:tableStyleId>
              </a:tblPr>
              <a:tblGrid>
                <a:gridCol w="532880"/>
                <a:gridCol w="762521"/>
                <a:gridCol w="1362075"/>
                <a:gridCol w="1181100"/>
                <a:gridCol w="3790950"/>
                <a:gridCol w="1009650"/>
                <a:gridCol w="787527"/>
                <a:gridCol w="584073"/>
                <a:gridCol w="962023"/>
              </a:tblGrid>
              <a:tr h="636387">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algn="ctr" defTabSz="1188085" rtl="0" eaLnBrk="1" latinLnBrk="0" hangingPunct="1"/>
                      <a:r>
                        <a:rPr lang="zh-CN" altLang="en-US" sz="1400" b="1" kern="1200" dirty="0">
                          <a:solidFill>
                            <a:schemeClr val="bg1"/>
                          </a:solidFill>
                          <a:latin typeface="+mn-ea"/>
                          <a:ea typeface="+mn-ea"/>
                          <a:cs typeface="+mn-cs"/>
                        </a:rPr>
                        <a:t>序号</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algn="ctr" defTabSz="1188085" rtl="0" eaLnBrk="1" latinLnBrk="0" hangingPunct="1"/>
                      <a:r>
                        <a:rPr lang="zh-CN" altLang="en-US" sz="1400" b="1" kern="1200" dirty="0" smtClean="0">
                          <a:solidFill>
                            <a:schemeClr val="bg1"/>
                          </a:solidFill>
                          <a:latin typeface="+mn-ea"/>
                          <a:ea typeface="+mn-ea"/>
                          <a:cs typeface="+mn-cs"/>
                        </a:rPr>
                        <a:t>主题域</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algn="ctr" defTabSz="1188085" rtl="0" eaLnBrk="1" latinLnBrk="0" hangingPunct="1"/>
                      <a:r>
                        <a:rPr lang="zh-CN" altLang="en-US" sz="1400" b="1" kern="1200" dirty="0" smtClean="0">
                          <a:solidFill>
                            <a:schemeClr val="bg1"/>
                          </a:solidFill>
                          <a:latin typeface="+mn-ea"/>
                          <a:ea typeface="+mn-ea"/>
                          <a:cs typeface="+mn-cs"/>
                        </a:rPr>
                        <a:t>主题域分组</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algn="ctr" defTabSz="1188085" rtl="0" eaLnBrk="1" latinLnBrk="0" hangingPunct="1"/>
                      <a:r>
                        <a:rPr lang="zh-CN" altLang="en-US" sz="1400" b="1" kern="1200" dirty="0">
                          <a:solidFill>
                            <a:schemeClr val="bg1"/>
                          </a:solidFill>
                          <a:latin typeface="+mn-ea"/>
                          <a:ea typeface="+mn-ea"/>
                          <a:cs typeface="+mn-cs"/>
                        </a:rPr>
                        <a:t>业务对象</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业务定义</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数据分类</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数据</a:t>
                      </a:r>
                      <a:r>
                        <a:rPr lang="en-US" altLang="zh-CN" sz="1400" b="1" kern="1200" dirty="0" smtClean="0">
                          <a:solidFill>
                            <a:schemeClr val="bg1"/>
                          </a:solidFill>
                          <a:latin typeface="+mn-ea"/>
                          <a:ea typeface="+mn-ea"/>
                          <a:cs typeface="+mn-cs"/>
                        </a:rPr>
                        <a:t>Owner</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来源系统</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是否新建</a:t>
                      </a:r>
                      <a:endParaRPr lang="en-US" altLang="zh-CN" sz="1400" b="1" kern="1200" dirty="0" smtClean="0">
                        <a:solidFill>
                          <a:schemeClr val="bg1"/>
                        </a:solidFill>
                        <a:latin typeface="+mn-ea"/>
                        <a:ea typeface="+mn-ea"/>
                        <a:cs typeface="+mn-cs"/>
                      </a:endParaRPr>
                    </a:p>
                    <a:p>
                      <a:pPr marL="0" marR="0" indent="0" algn="ctr" defTabSz="1188085" rtl="0" eaLnBrk="1" fontAlgn="auto" latinLnBrk="0" hangingPunct="1">
                        <a:lnSpc>
                          <a:spcPct val="100000"/>
                        </a:lnSpc>
                        <a:spcBef>
                          <a:spcPts val="0"/>
                        </a:spcBef>
                        <a:spcAft>
                          <a:spcPts val="0"/>
                        </a:spcAft>
                        <a:buClrTx/>
                        <a:buSzTx/>
                        <a:buFontTx/>
                        <a:buNone/>
                        <a:defRPr/>
                      </a:pPr>
                      <a:r>
                        <a:rPr lang="zh-CN" altLang="en-US" sz="1400" b="1" kern="1200" dirty="0" smtClean="0">
                          <a:solidFill>
                            <a:schemeClr val="bg1"/>
                          </a:solidFill>
                          <a:latin typeface="+mn-ea"/>
                          <a:ea typeface="+mn-ea"/>
                          <a:cs typeface="+mn-cs"/>
                        </a:rPr>
                        <a:t>业务</a:t>
                      </a:r>
                      <a:r>
                        <a:rPr lang="zh-CN" altLang="en-US" sz="1400" b="1" kern="1200" dirty="0">
                          <a:solidFill>
                            <a:schemeClr val="bg1"/>
                          </a:solidFill>
                          <a:latin typeface="+mn-ea"/>
                          <a:ea typeface="+mn-ea"/>
                          <a:cs typeface="+mn-cs"/>
                        </a:rPr>
                        <a:t>对象</a:t>
                      </a:r>
                      <a:endParaRPr lang="zh-CN" altLang="en-US" sz="1400" b="1" kern="1200" dirty="0">
                        <a:solidFill>
                          <a:schemeClr val="bg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729973">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latin typeface="+mn-ea"/>
                          <a:ea typeface="+mn-ea"/>
                        </a:rPr>
                        <a:t>1</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IPD</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100" b="1" i="0" u="none" strike="noStrike" dirty="0" smtClean="0">
                          <a:solidFill>
                            <a:srgbClr val="000000"/>
                          </a:solidFill>
                          <a:effectLst/>
                          <a:latin typeface="+mn-ea"/>
                          <a:ea typeface="+mn-ea"/>
                        </a:rPr>
                        <a:t>售前研发需求</a:t>
                      </a:r>
                      <a:endParaRPr lang="zh-CN" altLang="en-US" sz="1100" b="1" i="0" u="none" strike="noStrike" dirty="0">
                        <a:solidFill>
                          <a:srgbClr val="00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smtClean="0">
                          <a:solidFill>
                            <a:schemeClr val="tx1">
                              <a:lumMod val="65000"/>
                              <a:lumOff val="35000"/>
                            </a:schemeClr>
                          </a:solidFill>
                          <a:latin typeface="+mn-ea"/>
                          <a:ea typeface="+mn-ea"/>
                        </a:rPr>
                        <a:t>工艺评估需求</a:t>
                      </a:r>
                      <a:r>
                        <a:rPr lang="zh-CN" altLang="en-US" sz="1100" b="1" dirty="0">
                          <a:solidFill>
                            <a:schemeClr val="tx1">
                              <a:lumMod val="65000"/>
                              <a:lumOff val="35000"/>
                            </a:schemeClr>
                          </a:solidFill>
                          <a:latin typeface="+mn-ea"/>
                          <a:ea typeface="+mn-ea"/>
                        </a:rPr>
                        <a:t>单</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100" b="0" kern="1200" dirty="0" smtClean="0">
                          <a:solidFill>
                            <a:schemeClr val="tx1"/>
                          </a:solidFill>
                          <a:effectLst/>
                          <a:latin typeface="+mn-ea"/>
                          <a:ea typeface="+mn-ea"/>
                          <a:cs typeface="+mn-cs"/>
                        </a:rPr>
                        <a:t>是由客户提出的，对于产品设计或研发部门发起的正式产品技术规格的需求文件，用于请求对一项尚未验证或未导入量产的产品进行工艺技术评估和分析，以判断最终是否能够生产的技术决策。</a:t>
                      </a:r>
                      <a:endParaRPr lang="zh-CN" altLang="en-US" sz="1100" b="0" i="0" u="none" strike="noStrike" dirty="0" smtClean="0">
                        <a:solidFill>
                          <a:srgbClr val="00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a:solidFill>
                            <a:schemeClr val="tx1">
                              <a:lumMod val="65000"/>
                              <a:lumOff val="35000"/>
                            </a:schemeClr>
                          </a:solidFill>
                          <a:latin typeface="+mn-ea"/>
                          <a:ea typeface="+mn-ea"/>
                        </a:rPr>
                        <a:t>事务数据</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smtClean="0">
                          <a:solidFill>
                            <a:schemeClr val="tx1">
                              <a:lumMod val="65000"/>
                              <a:lumOff val="35000"/>
                            </a:schemeClr>
                          </a:solidFill>
                          <a:latin typeface="+mn-ea"/>
                          <a:ea typeface="+mn-ea"/>
                        </a:rPr>
                        <a:t>销售部</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0" dirty="0" smtClean="0">
                          <a:solidFill>
                            <a:schemeClr val="tx1">
                              <a:lumMod val="65000"/>
                              <a:lumOff val="35000"/>
                            </a:schemeClr>
                          </a:solidFill>
                          <a:latin typeface="+mn-ea"/>
                          <a:ea typeface="+mn-ea"/>
                        </a:rPr>
                        <a:t>CRM</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0" kern="1200" dirty="0">
                          <a:solidFill>
                            <a:schemeClr val="tx1">
                              <a:lumMod val="65000"/>
                              <a:lumOff val="35000"/>
                            </a:schemeClr>
                          </a:solidFill>
                          <a:latin typeface="+mn-ea"/>
                          <a:ea typeface="+mn-ea"/>
                          <a:cs typeface="+mn-cs"/>
                        </a:rPr>
                        <a:t>Y</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612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latin typeface="+mn-ea"/>
                          <a:ea typeface="+mn-ea"/>
                        </a:rPr>
                        <a:t>2</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MCR</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100" b="1" dirty="0" smtClean="0">
                          <a:solidFill>
                            <a:schemeClr val="tx1">
                              <a:lumMod val="65000"/>
                              <a:lumOff val="35000"/>
                            </a:schemeClr>
                          </a:solidFill>
                          <a:latin typeface="+mn-ea"/>
                          <a:ea typeface="+mn-ea"/>
                        </a:rPr>
                        <a:t>管理客户</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smtClean="0">
                          <a:solidFill>
                            <a:schemeClr val="tx1">
                              <a:lumMod val="65000"/>
                              <a:lumOff val="35000"/>
                            </a:schemeClr>
                          </a:solidFill>
                          <a:latin typeface="+mn-ea"/>
                          <a:ea typeface="+mn-ea"/>
                        </a:rPr>
                        <a:t>客户</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l"/>
                      <a:r>
                        <a:rPr lang="zh-CN" altLang="en-US" sz="1200" b="0" kern="1200" dirty="0" smtClean="0">
                          <a:solidFill>
                            <a:schemeClr val="dk1"/>
                          </a:solidFill>
                          <a:effectLst/>
                          <a:latin typeface="+mn-ea"/>
                          <a:ea typeface="+mn-ea"/>
                          <a:cs typeface="+mn-cs"/>
                        </a:rPr>
                        <a:t>是企业在销售、服务、市场等业务活动中所识别和管理的外部交易对象或服务组织的标准化信息集合，用于支撑客户关系管理、订单履行、信用控制与商业分析。</a:t>
                      </a:r>
                      <a:endParaRPr lang="en-US" sz="12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a:solidFill>
                            <a:schemeClr val="tx1">
                              <a:lumMod val="65000"/>
                              <a:lumOff val="35000"/>
                            </a:schemeClr>
                          </a:solidFill>
                          <a:latin typeface="+mn-ea"/>
                          <a:ea typeface="+mn-ea"/>
                        </a:rPr>
                        <a:t>主</a:t>
                      </a:r>
                      <a:r>
                        <a:rPr lang="zh-CN" altLang="en-US" sz="1100" b="0" dirty="0" smtClean="0">
                          <a:solidFill>
                            <a:schemeClr val="tx1">
                              <a:lumMod val="65000"/>
                              <a:lumOff val="35000"/>
                            </a:schemeClr>
                          </a:solidFill>
                          <a:latin typeface="+mn-ea"/>
                          <a:ea typeface="+mn-ea"/>
                        </a:rPr>
                        <a:t>数据</a:t>
                      </a:r>
                      <a:r>
                        <a:rPr lang="en-US" altLang="zh-CN" sz="1100" b="0" dirty="0" smtClean="0">
                          <a:solidFill>
                            <a:schemeClr val="tx1">
                              <a:lumMod val="65000"/>
                              <a:lumOff val="35000"/>
                            </a:schemeClr>
                          </a:solidFill>
                          <a:latin typeface="+mn-ea"/>
                          <a:ea typeface="+mn-ea"/>
                        </a:rPr>
                        <a:t>(</a:t>
                      </a:r>
                      <a:r>
                        <a:rPr lang="zh-CN" altLang="en-US" sz="1100" b="0" dirty="0" smtClean="0">
                          <a:solidFill>
                            <a:schemeClr val="tx1">
                              <a:lumMod val="65000"/>
                              <a:lumOff val="35000"/>
                            </a:schemeClr>
                          </a:solidFill>
                          <a:latin typeface="+mn-ea"/>
                          <a:ea typeface="+mn-ea"/>
                        </a:rPr>
                        <a:t>引用</a:t>
                      </a:r>
                      <a:r>
                        <a:rPr lang="en-US" altLang="zh-CN" sz="1100" b="0" dirty="0" smtClean="0">
                          <a:solidFill>
                            <a:schemeClr val="tx1">
                              <a:lumMod val="65000"/>
                              <a:lumOff val="35000"/>
                            </a:schemeClr>
                          </a:solidFill>
                          <a:latin typeface="+mn-ea"/>
                          <a:ea typeface="+mn-ea"/>
                        </a:rPr>
                        <a:t>)</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smtClean="0">
                          <a:solidFill>
                            <a:schemeClr val="tx1">
                              <a:lumMod val="65000"/>
                              <a:lumOff val="35000"/>
                            </a:schemeClr>
                          </a:solidFill>
                          <a:latin typeface="+mn-ea"/>
                          <a:ea typeface="+mn-ea"/>
                        </a:rPr>
                        <a:t>销售部</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0" dirty="0" smtClean="0">
                          <a:solidFill>
                            <a:schemeClr val="tx1">
                              <a:lumMod val="65000"/>
                              <a:lumOff val="35000"/>
                            </a:schemeClr>
                          </a:solidFill>
                          <a:latin typeface="+mn-ea"/>
                          <a:ea typeface="+mn-ea"/>
                        </a:rPr>
                        <a:t>CRM</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0" kern="1200" dirty="0" smtClean="0">
                          <a:solidFill>
                            <a:schemeClr val="tx1">
                              <a:lumMod val="65000"/>
                              <a:lumOff val="35000"/>
                            </a:schemeClr>
                          </a:solidFill>
                          <a:latin typeface="+mn-ea"/>
                          <a:ea typeface="+mn-ea"/>
                          <a:cs typeface="+mn-cs"/>
                        </a:rPr>
                        <a:t>N</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612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latin typeface="+mn-ea"/>
                          <a:ea typeface="+mn-ea"/>
                        </a:rPr>
                        <a:t>3</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IPD</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100" b="1" dirty="0" smtClean="0">
                          <a:solidFill>
                            <a:schemeClr val="tx1">
                              <a:lumMod val="65000"/>
                              <a:lumOff val="35000"/>
                            </a:schemeClr>
                          </a:solidFill>
                          <a:latin typeface="+mn-ea"/>
                          <a:ea typeface="+mn-ea"/>
                        </a:rPr>
                        <a:t>管理产品数据</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smtClean="0">
                          <a:solidFill>
                            <a:schemeClr val="tx1">
                              <a:lumMod val="65000"/>
                              <a:lumOff val="35000"/>
                            </a:schemeClr>
                          </a:solidFill>
                          <a:latin typeface="+mn-ea"/>
                          <a:ea typeface="+mn-ea"/>
                        </a:rPr>
                        <a:t>产品</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l"/>
                      <a:r>
                        <a:rPr lang="zh-CN" altLang="en-US" sz="1200" b="0" kern="1200" dirty="0" smtClean="0">
                          <a:solidFill>
                            <a:schemeClr val="dk1"/>
                          </a:solidFill>
                          <a:effectLst/>
                          <a:latin typeface="+mn-ea"/>
                          <a:ea typeface="+mn-ea"/>
                          <a:cs typeface="+mn-cs"/>
                        </a:rPr>
                        <a:t>是企业对所有可销售、可生产或可管理的物料</a:t>
                      </a:r>
                      <a:r>
                        <a:rPr lang="en-US" altLang="zh-CN" sz="1200" b="0" kern="1200" dirty="0" smtClean="0">
                          <a:solidFill>
                            <a:schemeClr val="dk1"/>
                          </a:solidFill>
                          <a:effectLst/>
                          <a:latin typeface="+mn-ea"/>
                          <a:ea typeface="+mn-ea"/>
                          <a:cs typeface="+mn-cs"/>
                        </a:rPr>
                        <a:t>/</a:t>
                      </a:r>
                      <a:r>
                        <a:rPr lang="zh-CN" altLang="en-US" sz="1200" b="0" kern="1200" dirty="0" smtClean="0">
                          <a:solidFill>
                            <a:schemeClr val="dk1"/>
                          </a:solidFill>
                          <a:effectLst/>
                          <a:latin typeface="+mn-ea"/>
                          <a:ea typeface="+mn-ea"/>
                          <a:cs typeface="+mn-cs"/>
                        </a:rPr>
                        <a:t>服务单元进行标准化描述的核心信息集合，贯穿研发、采购、生产、库存、销售全价值链。</a:t>
                      </a:r>
                      <a:endParaRPr lang="en-US" sz="12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smtClean="0">
                          <a:ln>
                            <a:noFill/>
                          </a:ln>
                          <a:solidFill>
                            <a:srgbClr val="000000">
                              <a:lumMod val="65000"/>
                              <a:lumOff val="35000"/>
                            </a:srgbClr>
                          </a:solidFill>
                          <a:effectLst/>
                          <a:uLnTx/>
                          <a:uFillTx/>
                          <a:latin typeface="+mn-ea"/>
                          <a:ea typeface="+mn-ea"/>
                          <a:cs typeface="+mn-cs"/>
                        </a:rPr>
                        <a:t>主数据</a:t>
                      </a:r>
                      <a:r>
                        <a:rPr kumimoji="0" lang="en-US" altLang="zh-CN" sz="1100" b="0" i="0" u="none" strike="noStrike" kern="1200" cap="none" spc="0" normalizeH="0" baseline="0" noProof="0" smtClean="0">
                          <a:ln>
                            <a:noFill/>
                          </a:ln>
                          <a:solidFill>
                            <a:srgbClr val="000000">
                              <a:lumMod val="65000"/>
                              <a:lumOff val="35000"/>
                            </a:srgbClr>
                          </a:solidFill>
                          <a:effectLst/>
                          <a:uLnTx/>
                          <a:uFillTx/>
                          <a:latin typeface="+mn-ea"/>
                          <a:ea typeface="+mn-ea"/>
                          <a:cs typeface="+mn-cs"/>
                        </a:rPr>
                        <a:t>(</a:t>
                      </a:r>
                      <a:r>
                        <a:rPr kumimoji="0" lang="zh-CN" altLang="en-US" sz="1100" b="0" i="0" u="none" strike="noStrike" kern="1200" cap="none" spc="0" normalizeH="0" baseline="0" noProof="0" smtClean="0">
                          <a:ln>
                            <a:noFill/>
                          </a:ln>
                          <a:solidFill>
                            <a:srgbClr val="000000">
                              <a:lumMod val="65000"/>
                              <a:lumOff val="35000"/>
                            </a:srgbClr>
                          </a:solidFill>
                          <a:effectLst/>
                          <a:uLnTx/>
                          <a:uFillTx/>
                          <a:latin typeface="+mn-ea"/>
                          <a:ea typeface="+mn-ea"/>
                          <a:cs typeface="+mn-cs"/>
                        </a:rPr>
                        <a:t>引用</a:t>
                      </a:r>
                      <a:r>
                        <a:rPr kumimoji="0" lang="en-US" altLang="zh-CN" sz="1100" b="0" i="0" u="none" strike="noStrike" kern="1200" cap="none" spc="0" normalizeH="0" baseline="0" noProof="0" smtClean="0">
                          <a:ln>
                            <a:noFill/>
                          </a:ln>
                          <a:solidFill>
                            <a:srgbClr val="000000">
                              <a:lumMod val="65000"/>
                              <a:lumOff val="35000"/>
                            </a:srgbClr>
                          </a:solidFill>
                          <a:effectLst/>
                          <a:uLnTx/>
                          <a:uFillTx/>
                          <a:latin typeface="+mn-ea"/>
                          <a:ea typeface="+mn-ea"/>
                          <a:cs typeface="+mn-cs"/>
                        </a:rPr>
                        <a:t>)</a:t>
                      </a:r>
                      <a:endParaRPr kumimoji="0" lang="en-US" altLang="zh-CN" sz="1100" b="0" i="0" u="none" strike="noStrike" kern="1200" cap="none" spc="0" normalizeH="0" baseline="0" noProof="0" dirty="0">
                        <a:ln>
                          <a:noFill/>
                        </a:ln>
                        <a:solidFill>
                          <a:srgbClr val="000000">
                            <a:lumMod val="65000"/>
                            <a:lumOff val="35000"/>
                          </a:srgbClr>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smtClean="0">
                          <a:solidFill>
                            <a:schemeClr val="tx1">
                              <a:lumMod val="65000"/>
                              <a:lumOff val="35000"/>
                            </a:schemeClr>
                          </a:solidFill>
                          <a:latin typeface="+mn-ea"/>
                          <a:ea typeface="+mn-ea"/>
                        </a:rPr>
                        <a:t>产品设计部</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0" dirty="0" smtClean="0">
                          <a:solidFill>
                            <a:schemeClr val="tx1">
                              <a:lumMod val="65000"/>
                              <a:lumOff val="35000"/>
                            </a:schemeClr>
                          </a:solidFill>
                          <a:latin typeface="+mn-ea"/>
                          <a:ea typeface="+mn-ea"/>
                        </a:rPr>
                        <a:t>PDM</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0" kern="1200" dirty="0">
                          <a:solidFill>
                            <a:schemeClr val="tx1">
                              <a:lumMod val="65000"/>
                              <a:lumOff val="35000"/>
                            </a:schemeClr>
                          </a:solidFill>
                          <a:latin typeface="+mn-ea"/>
                          <a:ea typeface="+mn-ea"/>
                          <a:cs typeface="+mn-cs"/>
                        </a:rPr>
                        <a:t>N</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61518">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4</a:t>
                      </a:r>
                      <a:endParaRPr lang="en-US" sz="10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IHR</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100" b="1" dirty="0" smtClean="0">
                          <a:solidFill>
                            <a:schemeClr val="tx1">
                              <a:lumMod val="65000"/>
                              <a:lumOff val="35000"/>
                            </a:schemeClr>
                          </a:solidFill>
                          <a:latin typeface="+mn-ea"/>
                          <a:ea typeface="+mn-ea"/>
                        </a:rPr>
                        <a:t>管理组织</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a:solidFill>
                            <a:schemeClr val="tx1">
                              <a:lumMod val="65000"/>
                              <a:lumOff val="35000"/>
                            </a:schemeClr>
                          </a:solidFill>
                          <a:latin typeface="+mn-ea"/>
                          <a:ea typeface="+mn-ea"/>
                        </a:rPr>
                        <a:t>组织</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l"/>
                      <a:r>
                        <a:rPr lang="zh-CN" altLang="en-US" sz="1200" b="0" kern="1200" dirty="0" smtClean="0">
                          <a:solidFill>
                            <a:schemeClr val="dk1"/>
                          </a:solidFill>
                          <a:effectLst/>
                          <a:latin typeface="+mn-ea"/>
                          <a:ea typeface="+mn-ea"/>
                          <a:cs typeface="+mn-cs"/>
                        </a:rPr>
                        <a:t>是企业内部法定实体、管理单元及业务责任主体的结构化定义，用于明确权责边界、财务核算、流程审批与绩效归属。</a:t>
                      </a:r>
                      <a:endParaRPr lang="en-US" sz="12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主数据</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引用</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endParaRPr kumimoji="0" lang="en-US" altLang="zh-CN" sz="1100" b="0" i="0" u="none" strike="noStrike" kern="1200" cap="none" spc="0" normalizeH="0" baseline="0" noProof="0" dirty="0">
                        <a:ln>
                          <a:noFill/>
                        </a:ln>
                        <a:solidFill>
                          <a:srgbClr val="000000">
                            <a:lumMod val="65000"/>
                            <a:lumOff val="35000"/>
                          </a:srgbClr>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smtClean="0">
                          <a:solidFill>
                            <a:schemeClr val="tx1">
                              <a:lumMod val="65000"/>
                              <a:lumOff val="35000"/>
                            </a:schemeClr>
                          </a:solidFill>
                          <a:latin typeface="+mn-ea"/>
                          <a:ea typeface="+mn-ea"/>
                        </a:rPr>
                        <a:t>人事部</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0" dirty="0" smtClean="0">
                          <a:solidFill>
                            <a:schemeClr val="tx1">
                              <a:lumMod val="65000"/>
                              <a:lumOff val="35000"/>
                            </a:schemeClr>
                          </a:solidFill>
                          <a:latin typeface="+mn-ea"/>
                          <a:ea typeface="+mn-ea"/>
                        </a:rPr>
                        <a:t>IHR</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0" kern="1200" dirty="0">
                          <a:solidFill>
                            <a:schemeClr val="tx1">
                              <a:lumMod val="65000"/>
                              <a:lumOff val="35000"/>
                            </a:schemeClr>
                          </a:solidFill>
                          <a:latin typeface="+mn-ea"/>
                          <a:ea typeface="+mn-ea"/>
                          <a:cs typeface="+mn-cs"/>
                        </a:rPr>
                        <a:t>N</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612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latin typeface="+mn-ea"/>
                          <a:ea typeface="+mn-ea"/>
                        </a:rPr>
                        <a:t>5</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IHR</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100" b="1" dirty="0" smtClean="0">
                          <a:solidFill>
                            <a:schemeClr val="tx1">
                              <a:lumMod val="65000"/>
                              <a:lumOff val="35000"/>
                            </a:schemeClr>
                          </a:solidFill>
                          <a:latin typeface="+mn-ea"/>
                          <a:ea typeface="+mn-ea"/>
                        </a:rPr>
                        <a:t>管理人员</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a:solidFill>
                            <a:schemeClr val="tx1">
                              <a:lumMod val="65000"/>
                              <a:lumOff val="35000"/>
                            </a:schemeClr>
                          </a:solidFill>
                          <a:latin typeface="+mn-ea"/>
                          <a:ea typeface="+mn-ea"/>
                        </a:rPr>
                        <a:t>人员</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l"/>
                      <a:r>
                        <a:rPr lang="zh-CN" altLang="en-US" sz="1200" b="0" kern="1200" dirty="0" smtClean="0">
                          <a:solidFill>
                            <a:schemeClr val="dk1"/>
                          </a:solidFill>
                          <a:effectLst/>
                          <a:latin typeface="+mn-ea"/>
                          <a:ea typeface="+mn-ea"/>
                          <a:cs typeface="+mn-cs"/>
                        </a:rPr>
                        <a:t>是企业对正式雇员（含外包</a:t>
                      </a:r>
                      <a:r>
                        <a:rPr lang="en-US" altLang="zh-CN" sz="1200" b="0" kern="1200" dirty="0" smtClean="0">
                          <a:solidFill>
                            <a:schemeClr val="dk1"/>
                          </a:solidFill>
                          <a:effectLst/>
                          <a:latin typeface="+mn-ea"/>
                          <a:ea typeface="+mn-ea"/>
                          <a:cs typeface="+mn-cs"/>
                        </a:rPr>
                        <a:t>/</a:t>
                      </a:r>
                      <a:r>
                        <a:rPr lang="zh-CN" altLang="en-US" sz="1200" b="0" kern="1200" dirty="0" smtClean="0">
                          <a:solidFill>
                            <a:schemeClr val="dk1"/>
                          </a:solidFill>
                          <a:effectLst/>
                          <a:latin typeface="+mn-ea"/>
                          <a:ea typeface="+mn-ea"/>
                          <a:cs typeface="+mn-cs"/>
                        </a:rPr>
                        <a:t>实习生等扩展人员）进行统一身份管理和人事管理的核心信息集合，是</a:t>
                      </a:r>
                      <a:r>
                        <a:rPr lang="en-US" altLang="zh-CN" sz="1200" b="0" kern="1200" dirty="0" smtClean="0">
                          <a:solidFill>
                            <a:schemeClr val="dk1"/>
                          </a:solidFill>
                          <a:effectLst/>
                          <a:latin typeface="+mn-ea"/>
                          <a:ea typeface="+mn-ea"/>
                          <a:cs typeface="+mn-cs"/>
                        </a:rPr>
                        <a:t>HR</a:t>
                      </a:r>
                      <a:r>
                        <a:rPr lang="zh-CN" altLang="en-US" sz="1200" b="0" kern="1200" dirty="0" smtClean="0">
                          <a:solidFill>
                            <a:schemeClr val="dk1"/>
                          </a:solidFill>
                          <a:effectLst/>
                          <a:latin typeface="+mn-ea"/>
                          <a:ea typeface="+mn-ea"/>
                          <a:cs typeface="+mn-cs"/>
                        </a:rPr>
                        <a:t>、薪酬、考勤、权限系统的数据基石。</a:t>
                      </a:r>
                      <a:endParaRPr lang="zh-CN" altLang="en-US" sz="1200" b="0" dirty="0" smtClean="0">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主数据</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引用</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endParaRPr kumimoji="0" lang="en-US" altLang="zh-CN" sz="1100" b="0" i="0" u="none" strike="noStrike" kern="1200" cap="none" spc="0" normalizeH="0" baseline="0" noProof="0" dirty="0">
                        <a:ln>
                          <a:noFill/>
                        </a:ln>
                        <a:solidFill>
                          <a:srgbClr val="000000">
                            <a:lumMod val="65000"/>
                            <a:lumOff val="35000"/>
                          </a:srgbClr>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0" dirty="0" smtClean="0">
                          <a:solidFill>
                            <a:schemeClr val="tx1">
                              <a:lumMod val="65000"/>
                              <a:lumOff val="35000"/>
                            </a:schemeClr>
                          </a:solidFill>
                          <a:latin typeface="+mn-ea"/>
                          <a:ea typeface="+mn-ea"/>
                        </a:rPr>
                        <a:t>人事部</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0" dirty="0" smtClean="0">
                          <a:solidFill>
                            <a:schemeClr val="tx1">
                              <a:lumMod val="65000"/>
                              <a:lumOff val="35000"/>
                            </a:schemeClr>
                          </a:solidFill>
                          <a:latin typeface="+mn-ea"/>
                          <a:ea typeface="+mn-ea"/>
                        </a:rPr>
                        <a:t>IHR</a:t>
                      </a:r>
                      <a:endParaRPr lang="en-US" sz="1100" b="0"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0" kern="1200" dirty="0">
                          <a:solidFill>
                            <a:schemeClr val="tx1">
                              <a:lumMod val="65000"/>
                              <a:lumOff val="35000"/>
                            </a:schemeClr>
                          </a:solidFill>
                          <a:latin typeface="+mn-ea"/>
                          <a:ea typeface="+mn-ea"/>
                          <a:cs typeface="+mn-cs"/>
                        </a:rPr>
                        <a:t>N</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612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mn-ea"/>
                          <a:ea typeface="+mn-ea"/>
                          <a:cs typeface="+mn-cs"/>
                        </a:rPr>
                        <a:t>6</a:t>
                      </a:r>
                      <a:endParaRPr lang="en-US" sz="1100" b="1"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b="1" dirty="0" smtClean="0">
                          <a:solidFill>
                            <a:schemeClr val="tx1">
                              <a:lumMod val="65000"/>
                              <a:lumOff val="35000"/>
                            </a:schemeClr>
                          </a:solidFill>
                          <a:latin typeface="+mn-ea"/>
                          <a:ea typeface="+mn-ea"/>
                        </a:rPr>
                        <a:t>IPD</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100" b="1" dirty="0" smtClean="0">
                          <a:solidFill>
                            <a:schemeClr val="tx1">
                              <a:lumMod val="65000"/>
                              <a:lumOff val="35000"/>
                            </a:schemeClr>
                          </a:solidFill>
                          <a:latin typeface="+mn-ea"/>
                          <a:ea typeface="+mn-ea"/>
                        </a:rPr>
                        <a:t>管理研发项目</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100" b="1" dirty="0">
                          <a:solidFill>
                            <a:schemeClr val="tx1">
                              <a:lumMod val="65000"/>
                              <a:lumOff val="35000"/>
                            </a:schemeClr>
                          </a:solidFill>
                          <a:latin typeface="+mn-ea"/>
                          <a:ea typeface="+mn-ea"/>
                        </a:rPr>
                        <a:t>研发项目</a:t>
                      </a:r>
                      <a:endParaRPr lang="en-US" sz="1100" b="1" dirty="0">
                        <a:solidFill>
                          <a:schemeClr val="tx1">
                            <a:lumMod val="65000"/>
                            <a:lumOff val="35000"/>
                          </a:schemeClr>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l" defTabSz="1188085" rtl="0" eaLnBrk="1" latinLnBrk="0" hangingPunct="1"/>
                      <a:r>
                        <a:rPr lang="zh-CN" altLang="en-US" sz="1200" b="0" kern="1200" dirty="0" smtClean="0">
                          <a:solidFill>
                            <a:schemeClr val="dk1"/>
                          </a:solidFill>
                          <a:effectLst/>
                          <a:latin typeface="+mn-ea"/>
                          <a:ea typeface="+mn-ea"/>
                          <a:cs typeface="+mn-cs"/>
                        </a:rPr>
                        <a:t>是企业对技术开发、产品创新或工艺改进类项目进行全生命周期管理的标准化标识与核心属性集合，用于统筹资源投入、进度监控、成本归集与知识产权管理。</a:t>
                      </a:r>
                      <a:endParaRPr lang="en-US" sz="12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主数据</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r>
                        <a:rPr kumimoji="0" lang="zh-CN" altLang="en-US"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引用</a:t>
                      </a:r>
                      <a:r>
                        <a:rPr kumimoji="0" lang="en-US" altLang="zh-CN" sz="1100" b="0" i="0" u="none" strike="noStrike" kern="1200" cap="none" spc="0" normalizeH="0" baseline="0" noProof="0" dirty="0" smtClean="0">
                          <a:ln>
                            <a:noFill/>
                          </a:ln>
                          <a:solidFill>
                            <a:srgbClr val="000000">
                              <a:lumMod val="65000"/>
                              <a:lumOff val="35000"/>
                            </a:srgbClr>
                          </a:solidFill>
                          <a:effectLst/>
                          <a:uLnTx/>
                          <a:uFillTx/>
                          <a:latin typeface="+mn-ea"/>
                          <a:ea typeface="+mn-ea"/>
                          <a:cs typeface="+mn-cs"/>
                        </a:rPr>
                        <a:t>)</a:t>
                      </a:r>
                      <a:endParaRPr kumimoji="0" lang="en-US" altLang="zh-CN" sz="1100" b="0" i="0" u="none" strike="noStrike" kern="1200" cap="none" spc="0" normalizeH="0" baseline="0" noProof="0" dirty="0">
                        <a:ln>
                          <a:noFill/>
                        </a:ln>
                        <a:solidFill>
                          <a:srgbClr val="000000">
                            <a:lumMod val="65000"/>
                            <a:lumOff val="35000"/>
                          </a:srgbClr>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zh-CN" altLang="en-US" sz="1100" b="0" kern="1200" dirty="0" smtClean="0">
                          <a:solidFill>
                            <a:schemeClr val="tx1">
                              <a:lumMod val="65000"/>
                              <a:lumOff val="35000"/>
                            </a:schemeClr>
                          </a:solidFill>
                          <a:latin typeface="+mn-ea"/>
                          <a:ea typeface="+mn-ea"/>
                          <a:cs typeface="+mn-cs"/>
                        </a:rPr>
                        <a:t>研发管理部</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0" kern="1200" dirty="0" smtClean="0">
                          <a:solidFill>
                            <a:schemeClr val="tx1">
                              <a:lumMod val="65000"/>
                              <a:lumOff val="35000"/>
                            </a:schemeClr>
                          </a:solidFill>
                          <a:latin typeface="+mn-ea"/>
                          <a:ea typeface="+mn-ea"/>
                          <a:cs typeface="+mn-cs"/>
                        </a:rPr>
                        <a:t>PM</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0" kern="1200" dirty="0">
                          <a:solidFill>
                            <a:schemeClr val="tx1">
                              <a:lumMod val="65000"/>
                              <a:lumOff val="35000"/>
                            </a:schemeClr>
                          </a:solidFill>
                          <a:latin typeface="+mn-ea"/>
                          <a:ea typeface="+mn-ea"/>
                          <a:cs typeface="+mn-cs"/>
                        </a:rPr>
                        <a:t>N</a:t>
                      </a:r>
                      <a:endParaRPr lang="en-US" sz="1100" b="0" kern="1200" dirty="0">
                        <a:solidFill>
                          <a:schemeClr val="tx1">
                            <a:lumMod val="65000"/>
                            <a:lumOff val="35000"/>
                          </a:schemeClr>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ustDataLst>
      <p:tags r:id="rId2"/>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a:t>
            </a:r>
            <a:r>
              <a:rPr sz="2800">
                <a:solidFill>
                  <a:schemeClr val="tx1"/>
                </a:solidFill>
                <a:latin typeface="+mn-ea"/>
                <a:ea typeface="+mn-ea"/>
                <a:sym typeface="+mn-ea"/>
              </a:rPr>
              <a:t>工艺</a:t>
            </a:r>
            <a:r>
              <a:rPr lang="zh-CN" sz="2800">
                <a:solidFill>
                  <a:schemeClr val="tx1"/>
                </a:solidFill>
                <a:latin typeface="+mn-ea"/>
                <a:ea typeface="+mn-ea"/>
                <a:sym typeface="+mn-ea"/>
              </a:rPr>
              <a:t>评估业务架构</a:t>
            </a:r>
            <a:endParaRPr lang="zh-CN" sz="2800">
              <a:solidFill>
                <a:schemeClr val="tx1"/>
              </a:solidFill>
              <a:latin typeface="+mn-ea"/>
              <a:ea typeface="+mn-ea"/>
              <a:sym typeface="+mn-ea"/>
            </a:endParaRPr>
          </a:p>
        </p:txBody>
      </p:sp>
      <p:sp>
        <p:nvSpPr>
          <p:cNvPr id="40" name="矩形 39"/>
          <p:cNvSpPr/>
          <p:nvPr/>
        </p:nvSpPr>
        <p:spPr>
          <a:xfrm>
            <a:off x="1539874" y="2074078"/>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创建需求</a:t>
            </a:r>
            <a:endParaRPr kumimoji="0" lang="zh-CN" altLang="en-US" sz="110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8" name="矩形 47"/>
          <p:cNvSpPr/>
          <p:nvPr/>
        </p:nvSpPr>
        <p:spPr>
          <a:xfrm>
            <a:off x="2860100" y="3137590"/>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审核需求</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1" name="矩形 50"/>
          <p:cNvSpPr/>
          <p:nvPr/>
        </p:nvSpPr>
        <p:spPr>
          <a:xfrm>
            <a:off x="3395875" y="366226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3" name="文本框 52"/>
          <p:cNvSpPr txBox="1"/>
          <p:nvPr/>
        </p:nvSpPr>
        <p:spPr>
          <a:xfrm>
            <a:off x="586231" y="2074078"/>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4" name="文本框 53"/>
          <p:cNvSpPr txBox="1"/>
          <p:nvPr/>
        </p:nvSpPr>
        <p:spPr>
          <a:xfrm>
            <a:off x="586231" y="3137590"/>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工艺技术总监</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6" name="文本框 55"/>
          <p:cNvSpPr txBox="1"/>
          <p:nvPr/>
        </p:nvSpPr>
        <p:spPr>
          <a:xfrm>
            <a:off x="586231" y="3662265"/>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bg2">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专业分派责任人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8" name="矩形 57"/>
          <p:cNvSpPr/>
          <p:nvPr/>
        </p:nvSpPr>
        <p:spPr>
          <a:xfrm>
            <a:off x="3395875" y="408793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研发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3" name="箭头: V 形 13"/>
          <p:cNvSpPr/>
          <p:nvPr/>
        </p:nvSpPr>
        <p:spPr>
          <a:xfrm>
            <a:off x="3539286" y="1077197"/>
            <a:ext cx="4248000" cy="576000"/>
          </a:xfrm>
          <a:prstGeom prst="chevron">
            <a:avLst>
              <a:gd name="adj" fmla="val 30321"/>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解析技术工艺过程</a:t>
            </a:r>
            <a:endParaRPr lang="zh-CN" altLang="en-US" sz="1600" b="1" kern="0" dirty="0">
              <a:solidFill>
                <a:schemeClr val="tx1"/>
              </a:solidFill>
              <a:uFillTx/>
              <a:cs typeface="+mn-ea"/>
              <a:sym typeface="Arial" panose="020B0604020202020204"/>
            </a:endParaRPr>
          </a:p>
        </p:txBody>
      </p:sp>
      <p:sp>
        <p:nvSpPr>
          <p:cNvPr id="64" name="箭头: 五边形 15"/>
          <p:cNvSpPr/>
          <p:nvPr/>
        </p:nvSpPr>
        <p:spPr>
          <a:xfrm>
            <a:off x="1529213" y="1077197"/>
            <a:ext cx="2016000" cy="576000"/>
          </a:xfrm>
          <a:prstGeom prst="homePlate">
            <a:avLst>
              <a:gd name="adj" fmla="val 30689"/>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接受工艺评估需求</a:t>
            </a:r>
            <a:endParaRPr lang="zh-CN" altLang="en-US" sz="1600" b="1" kern="0" dirty="0">
              <a:solidFill>
                <a:schemeClr val="tx1"/>
              </a:solidFill>
              <a:uFillTx/>
              <a:cs typeface="+mn-ea"/>
              <a:sym typeface="Arial" panose="020B0604020202020204"/>
            </a:endParaRPr>
          </a:p>
        </p:txBody>
      </p:sp>
      <p:sp>
        <p:nvSpPr>
          <p:cNvPr id="65" name="箭头: V 形 16"/>
          <p:cNvSpPr/>
          <p:nvPr/>
        </p:nvSpPr>
        <p:spPr>
          <a:xfrm>
            <a:off x="7774305" y="1076960"/>
            <a:ext cx="3448685" cy="575945"/>
          </a:xfrm>
          <a:prstGeom prst="chevron">
            <a:avLst>
              <a:gd name="adj" fmla="val 30321"/>
            </a:avLst>
          </a:prstGeom>
          <a:solidFill>
            <a:srgbClr val="FE9B1C"/>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hangingPunct="0">
              <a:spcBef>
                <a:spcPts val="0"/>
              </a:spcBef>
              <a:spcAft>
                <a:spcPts val="0"/>
              </a:spcAft>
            </a:pPr>
            <a:r>
              <a:rPr lang="zh-CN" altLang="en-US" sz="1600" b="1" kern="0" dirty="0">
                <a:solidFill>
                  <a:schemeClr val="tx1"/>
                </a:solidFill>
                <a:uFillTx/>
                <a:cs typeface="+mn-ea"/>
                <a:sym typeface="Arial" panose="020B0604020202020204"/>
              </a:rPr>
              <a:t>输出工艺评估结果</a:t>
            </a:r>
            <a:endParaRPr lang="zh-CN" altLang="en-US" sz="1600" b="1" kern="0" dirty="0">
              <a:solidFill>
                <a:schemeClr val="tx1"/>
              </a:solidFill>
              <a:uFillTx/>
              <a:cs typeface="+mn-ea"/>
              <a:sym typeface="Arial" panose="020B0604020202020204"/>
            </a:endParaRPr>
          </a:p>
        </p:txBody>
      </p:sp>
      <p:cxnSp>
        <p:nvCxnSpPr>
          <p:cNvPr id="66" name="连接符: 肘形 20"/>
          <p:cNvCxnSpPr>
            <a:stCxn id="40" idx="3"/>
            <a:endCxn id="80" idx="1"/>
          </p:cNvCxnSpPr>
          <p:nvPr/>
        </p:nvCxnSpPr>
        <p:spPr>
          <a:xfrm>
            <a:off x="1971874" y="2254078"/>
            <a:ext cx="223079" cy="531756"/>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67" name="连接符: 肘形 25"/>
          <p:cNvCxnSpPr>
            <a:stCxn id="48" idx="3"/>
            <a:endCxn id="51" idx="0"/>
          </p:cNvCxnSpPr>
          <p:nvPr/>
        </p:nvCxnSpPr>
        <p:spPr>
          <a:xfrm>
            <a:off x="3292100" y="3317590"/>
            <a:ext cx="427775"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2" name="矩形 71"/>
          <p:cNvSpPr/>
          <p:nvPr/>
        </p:nvSpPr>
        <p:spPr>
          <a:xfrm>
            <a:off x="8622030" y="3121152"/>
            <a:ext cx="652780" cy="36004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审核工艺评估结果</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3" name="连接符: 肘形 80"/>
          <p:cNvCxnSpPr>
            <a:stCxn id="125" idx="3"/>
            <a:endCxn id="72" idx="1"/>
          </p:cNvCxnSpPr>
          <p:nvPr/>
        </p:nvCxnSpPr>
        <p:spPr>
          <a:xfrm flipV="1">
            <a:off x="8404860" y="3301492"/>
            <a:ext cx="217170" cy="2238375"/>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4" name="矩形 73"/>
          <p:cNvSpPr/>
          <p:nvPr/>
        </p:nvSpPr>
        <p:spPr>
          <a:xfrm>
            <a:off x="9395460" y="3121152"/>
            <a:ext cx="714375" cy="36004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发布工艺评估报告</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5" name="直接箭头连接符 74"/>
          <p:cNvCxnSpPr>
            <a:stCxn id="72" idx="3"/>
            <a:endCxn id="74" idx="1"/>
          </p:cNvCxnSpPr>
          <p:nvPr/>
        </p:nvCxnSpPr>
        <p:spPr>
          <a:xfrm>
            <a:off x="9274606" y="3301193"/>
            <a:ext cx="120650" cy="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76" name="文本框 75"/>
          <p:cNvSpPr txBox="1"/>
          <p:nvPr/>
        </p:nvSpPr>
        <p:spPr>
          <a:xfrm>
            <a:off x="586231" y="5936250"/>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7" name="箭头: 五边形 100"/>
          <p:cNvSpPr/>
          <p:nvPr/>
        </p:nvSpPr>
        <p:spPr>
          <a:xfrm>
            <a:off x="10286866" y="5936250"/>
            <a:ext cx="936000" cy="360000"/>
          </a:xfrm>
          <a:prstGeom prst="homePlate">
            <a:avLst/>
          </a:prstGeom>
          <a:solidFill>
            <a:srgbClr val="FFFFFF"/>
          </a:solidFill>
          <a:ln w="12700" cap="flat">
            <a:solidFill>
              <a:schemeClr val="accent1"/>
            </a:solidFill>
            <a:prstDash val="sysDot"/>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接收工艺</a:t>
            </a:r>
            <a:endPar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endPar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9" name="连接符: 肘形 104"/>
          <p:cNvCxnSpPr>
            <a:stCxn id="74" idx="3"/>
            <a:endCxn id="77" idx="1"/>
          </p:cNvCxnSpPr>
          <p:nvPr/>
        </p:nvCxnSpPr>
        <p:spPr>
          <a:xfrm>
            <a:off x="10109835" y="3301492"/>
            <a:ext cx="177165" cy="2814955"/>
          </a:xfrm>
          <a:prstGeom prst="bentConnector3">
            <a:avLst>
              <a:gd name="adj1" fmla="val 50179"/>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80" name="矩形 79"/>
          <p:cNvSpPr/>
          <p:nvPr/>
        </p:nvSpPr>
        <p:spPr>
          <a:xfrm>
            <a:off x="2194953" y="2605834"/>
            <a:ext cx="432000" cy="360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确认需求</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2" name="文本框 81"/>
          <p:cNvSpPr txBox="1"/>
          <p:nvPr/>
        </p:nvSpPr>
        <p:spPr>
          <a:xfrm>
            <a:off x="586231" y="2605834"/>
            <a:ext cx="718145"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工艺技术经理</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90" name="连接符: 肘形 23"/>
          <p:cNvCxnSpPr>
            <a:stCxn id="80" idx="3"/>
            <a:endCxn id="48" idx="1"/>
          </p:cNvCxnSpPr>
          <p:nvPr/>
        </p:nvCxnSpPr>
        <p:spPr>
          <a:xfrm>
            <a:off x="2626953" y="2785834"/>
            <a:ext cx="233147" cy="531756"/>
          </a:xfrm>
          <a:prstGeom prst="bentConnector3">
            <a:avLst>
              <a:gd name="adj1" fmla="val 50000"/>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92" name="矩形 91"/>
          <p:cNvSpPr/>
          <p:nvPr/>
        </p:nvSpPr>
        <p:spPr>
          <a:xfrm>
            <a:off x="4128547" y="366226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材料</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3" name="矩形 92"/>
          <p:cNvSpPr/>
          <p:nvPr/>
        </p:nvSpPr>
        <p:spPr>
          <a:xfrm>
            <a:off x="4859528" y="366226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采购</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5" name="矩形 94"/>
          <p:cNvSpPr/>
          <p:nvPr/>
        </p:nvSpPr>
        <p:spPr>
          <a:xfrm>
            <a:off x="5589914" y="366226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质量</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02" name="直接箭头连接符 101"/>
          <p:cNvCxnSpPr>
            <a:stCxn id="51" idx="2"/>
            <a:endCxn id="58" idx="0"/>
          </p:cNvCxnSpPr>
          <p:nvPr/>
        </p:nvCxnSpPr>
        <p:spPr>
          <a:xfrm>
            <a:off x="3719875" y="395026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03" name="矩形 102"/>
          <p:cNvSpPr/>
          <p:nvPr/>
        </p:nvSpPr>
        <p:spPr>
          <a:xfrm>
            <a:off x="4128547" y="408793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材料可行性分析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6" name="矩形 105"/>
          <p:cNvSpPr/>
          <p:nvPr/>
        </p:nvSpPr>
        <p:spPr>
          <a:xfrm>
            <a:off x="4859528" y="408793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成本可行性分析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7" name="矩形 106"/>
          <p:cNvSpPr/>
          <p:nvPr/>
        </p:nvSpPr>
        <p:spPr>
          <a:xfrm>
            <a:off x="5589914" y="408793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8" name="矩形 107"/>
          <p:cNvSpPr/>
          <p:nvPr/>
        </p:nvSpPr>
        <p:spPr>
          <a:xfrm>
            <a:off x="3395875" y="451564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研发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9" name="矩形 108"/>
          <p:cNvSpPr/>
          <p:nvPr/>
        </p:nvSpPr>
        <p:spPr>
          <a:xfrm>
            <a:off x="4128547" y="451564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材料可行性审核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0" name="矩形 109"/>
          <p:cNvSpPr/>
          <p:nvPr/>
        </p:nvSpPr>
        <p:spPr>
          <a:xfrm>
            <a:off x="4859528" y="451564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成本可行性审核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1" name="矩形 110"/>
          <p:cNvSpPr/>
          <p:nvPr/>
        </p:nvSpPr>
        <p:spPr>
          <a:xfrm>
            <a:off x="5589914" y="451564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质量</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3" name="连接符: 肘形 56"/>
          <p:cNvCxnSpPr>
            <a:stCxn id="108" idx="2"/>
            <a:endCxn id="125" idx="1"/>
          </p:cNvCxnSpPr>
          <p:nvPr/>
        </p:nvCxnSpPr>
        <p:spPr>
          <a:xfrm rot="5400000" flipV="1">
            <a:off x="5370513" y="3153220"/>
            <a:ext cx="735965" cy="403733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14" name="文本框 113"/>
          <p:cNvSpPr txBox="1"/>
          <p:nvPr/>
        </p:nvSpPr>
        <p:spPr>
          <a:xfrm>
            <a:off x="586231" y="4087934"/>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5" name="文本框 114"/>
          <p:cNvSpPr txBox="1"/>
          <p:nvPr/>
        </p:nvSpPr>
        <p:spPr>
          <a:xfrm>
            <a:off x="586231" y="4515644"/>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专业审核责任人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6" name="直接箭头连接符 115"/>
          <p:cNvCxnSpPr>
            <a:stCxn id="58" idx="2"/>
            <a:endCxn id="108" idx="0"/>
          </p:cNvCxnSpPr>
          <p:nvPr/>
        </p:nvCxnSpPr>
        <p:spPr>
          <a:xfrm>
            <a:off x="3719875" y="4375934"/>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7" name="连接符: 肘形 18"/>
          <p:cNvCxnSpPr>
            <a:stCxn id="48" idx="3"/>
            <a:endCxn id="92" idx="0"/>
          </p:cNvCxnSpPr>
          <p:nvPr/>
        </p:nvCxnSpPr>
        <p:spPr>
          <a:xfrm>
            <a:off x="3292100" y="3317590"/>
            <a:ext cx="1160447"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8" name="连接符: 肘形 26"/>
          <p:cNvCxnSpPr>
            <a:stCxn id="48" idx="3"/>
            <a:endCxn id="93" idx="0"/>
          </p:cNvCxnSpPr>
          <p:nvPr/>
        </p:nvCxnSpPr>
        <p:spPr>
          <a:xfrm>
            <a:off x="3292100" y="3317590"/>
            <a:ext cx="1891428"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19" name="连接符: 肘形 35"/>
          <p:cNvCxnSpPr>
            <a:stCxn id="48" idx="3"/>
            <a:endCxn id="95" idx="0"/>
          </p:cNvCxnSpPr>
          <p:nvPr/>
        </p:nvCxnSpPr>
        <p:spPr>
          <a:xfrm>
            <a:off x="3292100" y="3317590"/>
            <a:ext cx="2621814" cy="34467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0" name="连接符: 肘形 49"/>
          <p:cNvCxnSpPr>
            <a:stCxn id="111" idx="2"/>
            <a:endCxn id="125" idx="1"/>
          </p:cNvCxnSpPr>
          <p:nvPr/>
        </p:nvCxnSpPr>
        <p:spPr>
          <a:xfrm rot="5400000" flipV="1">
            <a:off x="6467475" y="4250182"/>
            <a:ext cx="735965" cy="184340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1" name="连接符: 肘形 54"/>
          <p:cNvCxnSpPr>
            <a:stCxn id="110" idx="2"/>
            <a:endCxn id="125" idx="1"/>
          </p:cNvCxnSpPr>
          <p:nvPr/>
        </p:nvCxnSpPr>
        <p:spPr>
          <a:xfrm rot="5400000" flipV="1">
            <a:off x="6102350" y="3885057"/>
            <a:ext cx="735965" cy="257365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2" name="连接符: 肘形 61"/>
          <p:cNvCxnSpPr>
            <a:stCxn id="109" idx="2"/>
            <a:endCxn id="125" idx="1"/>
          </p:cNvCxnSpPr>
          <p:nvPr/>
        </p:nvCxnSpPr>
        <p:spPr>
          <a:xfrm rot="5400000" flipV="1">
            <a:off x="5736908" y="3519615"/>
            <a:ext cx="735965" cy="330454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123" name="文本框 122"/>
          <p:cNvSpPr txBox="1"/>
          <p:nvPr/>
        </p:nvSpPr>
        <p:spPr>
          <a:xfrm>
            <a:off x="586231" y="5386052"/>
            <a:ext cx="718145"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nchorCtr="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综合审核责任人</a:t>
            </a:r>
            <a:endParaRPr kumimoji="0" lang="zh-CN" altLang="en-US" sz="1100" b="0" i="0" u="none" strike="noStrike" kern="0" cap="none" spc="0" normalizeH="0" baseline="0" dirty="0">
              <a:ln>
                <a:noFill/>
              </a:ln>
              <a:solidFill>
                <a:schemeClr val="bg2">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5" name="矩形 124"/>
          <p:cNvSpPr/>
          <p:nvPr/>
        </p:nvSpPr>
        <p:spPr>
          <a:xfrm>
            <a:off x="7757146" y="5395577"/>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汇总工艺可行性结果</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26" name="直接箭头连接符 125"/>
          <p:cNvCxnSpPr>
            <a:stCxn id="92" idx="2"/>
            <a:endCxn id="103" idx="0"/>
          </p:cNvCxnSpPr>
          <p:nvPr/>
        </p:nvCxnSpPr>
        <p:spPr>
          <a:xfrm>
            <a:off x="4452547" y="395026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7" name="直接箭头连接符 126"/>
          <p:cNvCxnSpPr>
            <a:stCxn id="103" idx="2"/>
            <a:endCxn id="109" idx="0"/>
          </p:cNvCxnSpPr>
          <p:nvPr/>
        </p:nvCxnSpPr>
        <p:spPr>
          <a:xfrm>
            <a:off x="4452547" y="4375934"/>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8" name="直接箭头连接符 127"/>
          <p:cNvCxnSpPr>
            <a:stCxn id="93" idx="2"/>
            <a:endCxn id="106" idx="0"/>
          </p:cNvCxnSpPr>
          <p:nvPr/>
        </p:nvCxnSpPr>
        <p:spPr>
          <a:xfrm>
            <a:off x="5183528" y="395026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29" name="直接箭头连接符 128"/>
          <p:cNvCxnSpPr>
            <a:stCxn id="106" idx="2"/>
            <a:endCxn id="110" idx="0"/>
          </p:cNvCxnSpPr>
          <p:nvPr/>
        </p:nvCxnSpPr>
        <p:spPr>
          <a:xfrm>
            <a:off x="5183528" y="4375934"/>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30" name="直接箭头连接符 129"/>
          <p:cNvCxnSpPr>
            <a:stCxn id="95" idx="2"/>
            <a:endCxn id="107" idx="0"/>
          </p:cNvCxnSpPr>
          <p:nvPr/>
        </p:nvCxnSpPr>
        <p:spPr>
          <a:xfrm>
            <a:off x="5913914" y="395026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31" name="直接箭头连接符 130"/>
          <p:cNvCxnSpPr>
            <a:stCxn id="107" idx="2"/>
            <a:endCxn id="111" idx="0"/>
          </p:cNvCxnSpPr>
          <p:nvPr/>
        </p:nvCxnSpPr>
        <p:spPr>
          <a:xfrm>
            <a:off x="5913914" y="4375934"/>
            <a:ext cx="0" cy="139710"/>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3" name="矩形 2"/>
          <p:cNvSpPr/>
          <p:nvPr/>
        </p:nvSpPr>
        <p:spPr>
          <a:xfrm>
            <a:off x="6316989" y="366226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4" name="连接符: 肘形 35"/>
          <p:cNvCxnSpPr>
            <a:endCxn id="3" idx="0"/>
          </p:cNvCxnSpPr>
          <p:nvPr/>
        </p:nvCxnSpPr>
        <p:spPr>
          <a:xfrm>
            <a:off x="3395980" y="3317367"/>
            <a:ext cx="3244850" cy="34480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5" name="矩形 4"/>
          <p:cNvSpPr/>
          <p:nvPr/>
        </p:nvSpPr>
        <p:spPr>
          <a:xfrm>
            <a:off x="6333499" y="408793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检测可行性分析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 name="矩形 5"/>
          <p:cNvSpPr/>
          <p:nvPr/>
        </p:nvSpPr>
        <p:spPr>
          <a:xfrm>
            <a:off x="6333499" y="451592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检测可行性审核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7" name="连接符: 肘形 49"/>
          <p:cNvCxnSpPr>
            <a:stCxn id="6" idx="2"/>
            <a:endCxn id="125" idx="1"/>
          </p:cNvCxnSpPr>
          <p:nvPr/>
        </p:nvCxnSpPr>
        <p:spPr>
          <a:xfrm rot="5400000" flipV="1">
            <a:off x="6839268" y="4621975"/>
            <a:ext cx="735965" cy="109982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9" name="直接箭头连接符 8"/>
          <p:cNvCxnSpPr/>
          <p:nvPr/>
        </p:nvCxnSpPr>
        <p:spPr>
          <a:xfrm>
            <a:off x="6655594" y="438714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0" name="直接箭头连接符 9"/>
          <p:cNvCxnSpPr/>
          <p:nvPr/>
        </p:nvCxnSpPr>
        <p:spPr>
          <a:xfrm>
            <a:off x="6640989" y="3944550"/>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8" name="矩形 7"/>
          <p:cNvSpPr/>
          <p:nvPr/>
        </p:nvSpPr>
        <p:spPr>
          <a:xfrm>
            <a:off x="7053589" y="3677505"/>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r>
              <a:rPr lang="zh-CN" altLang="en-US" sz="9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专业工程师</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 name="矩形 10"/>
          <p:cNvSpPr/>
          <p:nvPr/>
        </p:nvSpPr>
        <p:spPr>
          <a:xfrm>
            <a:off x="7070099" y="410317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制造可行性分析</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 name="矩形 11"/>
          <p:cNvSpPr/>
          <p:nvPr/>
        </p:nvSpPr>
        <p:spPr>
          <a:xfrm>
            <a:off x="7070099" y="4531164"/>
            <a:ext cx="648000" cy="28800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制造可行性审核</a:t>
            </a: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3" name="直接箭头连接符 12"/>
          <p:cNvCxnSpPr/>
          <p:nvPr/>
        </p:nvCxnSpPr>
        <p:spPr>
          <a:xfrm>
            <a:off x="7392194" y="4402385"/>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4" name="直接箭头连接符 13"/>
          <p:cNvCxnSpPr/>
          <p:nvPr/>
        </p:nvCxnSpPr>
        <p:spPr>
          <a:xfrm>
            <a:off x="7377589" y="3959790"/>
            <a:ext cx="0" cy="137669"/>
          </a:xfrm>
          <a:prstGeom prst="straightConnector1">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5" name="连接符: 肘形 35"/>
          <p:cNvCxnSpPr>
            <a:stCxn id="48" idx="3"/>
            <a:endCxn id="8" idx="0"/>
          </p:cNvCxnSpPr>
          <p:nvPr/>
        </p:nvCxnSpPr>
        <p:spPr>
          <a:xfrm>
            <a:off x="3291840" y="3317367"/>
            <a:ext cx="4085590" cy="360045"/>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cxnSp>
        <p:nvCxnSpPr>
          <p:cNvPr id="16" name="连接符: 肘形 49"/>
          <p:cNvCxnSpPr>
            <a:stCxn id="12" idx="2"/>
            <a:endCxn id="125" idx="1"/>
          </p:cNvCxnSpPr>
          <p:nvPr/>
        </p:nvCxnSpPr>
        <p:spPr>
          <a:xfrm rot="5400000" flipV="1">
            <a:off x="7215505" y="4997577"/>
            <a:ext cx="720725" cy="363220"/>
          </a:xfrm>
          <a:prstGeom prst="bentConnector2">
            <a:avLst/>
          </a:prstGeom>
          <a:noFill/>
          <a:ln w="12700" cap="flat">
            <a:solidFill>
              <a:schemeClr val="bg2">
                <a:lumMod val="75000"/>
              </a:schemeClr>
            </a:solidFill>
            <a:prstDash val="solid"/>
            <a:miter lim="800000"/>
            <a:tailEnd type="triangle"/>
          </a:ln>
        </p:spPr>
        <p:style>
          <a:lnRef idx="0">
            <a:srgbClr val="FFFFFF"/>
          </a:lnRef>
          <a:fillRef idx="0">
            <a:srgbClr val="FFFFFF"/>
          </a:fillRef>
          <a:effectRef idx="0">
            <a:srgbClr val="FFFFFF"/>
          </a:effectRef>
          <a:fontRef idx="none"/>
        </p:style>
      </p:cxnSp>
      <p:sp>
        <p:nvSpPr>
          <p:cNvPr id="68" name="椭圆 67"/>
          <p:cNvSpPr/>
          <p:nvPr/>
        </p:nvSpPr>
        <p:spPr>
          <a:xfrm>
            <a:off x="1548756" y="1788953"/>
            <a:ext cx="216000" cy="216000"/>
          </a:xfrm>
          <a:prstGeom prst="ellipse">
            <a:avLst/>
          </a:prstGeom>
          <a:solidFill>
            <a:schemeClr val="accent6"/>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69" name="椭圆 68"/>
          <p:cNvSpPr/>
          <p:nvPr/>
        </p:nvSpPr>
        <p:spPr>
          <a:xfrm>
            <a:off x="1767313" y="1788953"/>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70" name="椭圆 69"/>
          <p:cNvSpPr/>
          <p:nvPr/>
        </p:nvSpPr>
        <p:spPr>
          <a:xfrm>
            <a:off x="1985870" y="178895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2</a:t>
            </a:r>
            <a:endParaRPr lang="zh-CN" altLang="en-US" sz="1000" dirty="0">
              <a:solidFill>
                <a:schemeClr val="bg1"/>
              </a:solidFill>
            </a:endParaRPr>
          </a:p>
        </p:txBody>
      </p:sp>
      <p:sp>
        <p:nvSpPr>
          <p:cNvPr id="71" name="椭圆 70"/>
          <p:cNvSpPr/>
          <p:nvPr/>
        </p:nvSpPr>
        <p:spPr>
          <a:xfrm>
            <a:off x="2204427" y="178895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3</a:t>
            </a:r>
            <a:endParaRPr lang="zh-CN" altLang="en-US" sz="1000" dirty="0">
              <a:solidFill>
                <a:schemeClr val="bg1"/>
              </a:solidFill>
            </a:endParaRPr>
          </a:p>
        </p:txBody>
      </p:sp>
      <p:sp>
        <p:nvSpPr>
          <p:cNvPr id="78" name="椭圆 77"/>
          <p:cNvSpPr/>
          <p:nvPr/>
        </p:nvSpPr>
        <p:spPr>
          <a:xfrm>
            <a:off x="2422984" y="178895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4</a:t>
            </a:r>
            <a:endParaRPr lang="zh-CN" altLang="en-US" sz="1000" dirty="0">
              <a:solidFill>
                <a:schemeClr val="bg1"/>
              </a:solidFill>
            </a:endParaRPr>
          </a:p>
        </p:txBody>
      </p:sp>
      <p:sp>
        <p:nvSpPr>
          <p:cNvPr id="81" name="椭圆 80"/>
          <p:cNvSpPr/>
          <p:nvPr/>
        </p:nvSpPr>
        <p:spPr>
          <a:xfrm>
            <a:off x="2641541" y="178895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5</a:t>
            </a:r>
            <a:endParaRPr lang="zh-CN" altLang="en-US" sz="1000" dirty="0">
              <a:solidFill>
                <a:schemeClr val="bg1"/>
              </a:solidFill>
            </a:endParaRPr>
          </a:p>
        </p:txBody>
      </p:sp>
      <p:sp>
        <p:nvSpPr>
          <p:cNvPr id="83" name="椭圆 82"/>
          <p:cNvSpPr/>
          <p:nvPr/>
        </p:nvSpPr>
        <p:spPr>
          <a:xfrm>
            <a:off x="2860100" y="178895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6</a:t>
            </a:r>
            <a:endParaRPr lang="zh-CN" altLang="en-US" sz="1000" dirty="0">
              <a:solidFill>
                <a:schemeClr val="bg1"/>
              </a:solidFill>
            </a:endParaRPr>
          </a:p>
        </p:txBody>
      </p:sp>
      <p:sp>
        <p:nvSpPr>
          <p:cNvPr id="84" name="椭圆 83"/>
          <p:cNvSpPr/>
          <p:nvPr/>
        </p:nvSpPr>
        <p:spPr>
          <a:xfrm>
            <a:off x="2214775" y="2310076"/>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85" name="椭圆 84"/>
          <p:cNvSpPr/>
          <p:nvPr/>
        </p:nvSpPr>
        <p:spPr>
          <a:xfrm>
            <a:off x="2870778" y="2862143"/>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86" name="椭圆 85"/>
          <p:cNvSpPr/>
          <p:nvPr/>
        </p:nvSpPr>
        <p:spPr>
          <a:xfrm>
            <a:off x="3092650" y="3704501"/>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87" name="椭圆 86"/>
          <p:cNvSpPr/>
          <p:nvPr/>
        </p:nvSpPr>
        <p:spPr>
          <a:xfrm>
            <a:off x="3092650" y="4149278"/>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88" name="椭圆 87"/>
          <p:cNvSpPr/>
          <p:nvPr/>
        </p:nvSpPr>
        <p:spPr>
          <a:xfrm>
            <a:off x="3092650" y="4562810"/>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89" name="椭圆 88"/>
          <p:cNvSpPr/>
          <p:nvPr/>
        </p:nvSpPr>
        <p:spPr>
          <a:xfrm>
            <a:off x="2864740" y="4149278"/>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1" name="椭圆 90"/>
          <p:cNvSpPr/>
          <p:nvPr/>
        </p:nvSpPr>
        <p:spPr>
          <a:xfrm>
            <a:off x="2864740" y="4562810"/>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4" name="椭圆 93"/>
          <p:cNvSpPr/>
          <p:nvPr/>
        </p:nvSpPr>
        <p:spPr>
          <a:xfrm>
            <a:off x="8018254" y="5111967"/>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6" name="椭圆 95"/>
          <p:cNvSpPr/>
          <p:nvPr/>
        </p:nvSpPr>
        <p:spPr>
          <a:xfrm>
            <a:off x="7780202" y="5111967"/>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7" name="椭圆 96"/>
          <p:cNvSpPr/>
          <p:nvPr/>
        </p:nvSpPr>
        <p:spPr>
          <a:xfrm>
            <a:off x="8634275" y="2835556"/>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8" name="椭圆 97"/>
          <p:cNvSpPr/>
          <p:nvPr/>
        </p:nvSpPr>
        <p:spPr>
          <a:xfrm>
            <a:off x="9419148" y="2837846"/>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99" name="椭圆 98"/>
          <p:cNvSpPr/>
          <p:nvPr/>
        </p:nvSpPr>
        <p:spPr>
          <a:xfrm>
            <a:off x="8854503" y="2834504"/>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sp>
        <p:nvSpPr>
          <p:cNvPr id="100" name="椭圆 99"/>
          <p:cNvSpPr/>
          <p:nvPr/>
        </p:nvSpPr>
        <p:spPr>
          <a:xfrm>
            <a:off x="9643312" y="2834504"/>
            <a:ext cx="216000" cy="216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graphicFrame>
        <p:nvGraphicFramePr>
          <p:cNvPr id="101" name="表格 100"/>
          <p:cNvGraphicFramePr>
            <a:graphicFrameLocks noGrp="1"/>
          </p:cNvGraphicFramePr>
          <p:nvPr/>
        </p:nvGraphicFramePr>
        <p:xfrm>
          <a:off x="10345394" y="1788955"/>
          <a:ext cx="1573883" cy="1348634"/>
        </p:xfrm>
        <a:graphic>
          <a:graphicData uri="http://schemas.openxmlformats.org/drawingml/2006/table">
            <a:tbl>
              <a:tblPr firstRow="1" bandRow="1">
                <a:tableStyleId>{7DF18680-E054-41AD-8BC1-D1AEF772440D}</a:tableStyleId>
              </a:tblPr>
              <a:tblGrid>
                <a:gridCol w="438154"/>
                <a:gridCol w="1135729"/>
              </a:tblGrid>
              <a:tr h="192662">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algn="ctr" defTabSz="1188085" rtl="0" eaLnBrk="1" latinLnBrk="0" hangingPunct="1"/>
                      <a:r>
                        <a:rPr lang="zh-CN" altLang="en-US" sz="1000" b="1" kern="1200" dirty="0">
                          <a:solidFill>
                            <a:schemeClr val="bg1"/>
                          </a:solidFill>
                          <a:latin typeface="+mn-ea"/>
                          <a:ea typeface="+mn-ea"/>
                          <a:cs typeface="+mn-cs"/>
                        </a:rPr>
                        <a:t>序号</a:t>
                      </a:r>
                      <a:endParaRPr lang="zh-CN" altLang="en-US" sz="1000" b="1" kern="1200" dirty="0">
                        <a:solidFill>
                          <a:schemeClr val="bg1"/>
                        </a:solidFill>
                        <a:latin typeface="+mn-ea"/>
                        <a:ea typeface="+mn-ea"/>
                        <a:cs typeface="+mn-cs"/>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algn="ctr" defTabSz="1188085" rtl="0" eaLnBrk="1" latinLnBrk="0" hangingPunct="1"/>
                      <a:r>
                        <a:rPr lang="zh-CN" altLang="en-US" sz="1000" b="1" kern="1200" dirty="0">
                          <a:solidFill>
                            <a:schemeClr val="bg1"/>
                          </a:solidFill>
                          <a:latin typeface="+mn-ea"/>
                          <a:ea typeface="+mn-ea"/>
                          <a:cs typeface="+mn-cs"/>
                        </a:rPr>
                        <a:t>业务对象</a:t>
                      </a:r>
                      <a:endParaRPr lang="zh-CN" altLang="en-US" sz="1000" b="1" kern="1200" dirty="0">
                        <a:solidFill>
                          <a:schemeClr val="bg1"/>
                        </a:solidFill>
                        <a:latin typeface="+mn-ea"/>
                        <a:ea typeface="+mn-ea"/>
                        <a:cs typeface="+mn-cs"/>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1</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smtClean="0">
                          <a:solidFill>
                            <a:schemeClr val="tx1">
                              <a:lumMod val="65000"/>
                              <a:lumOff val="35000"/>
                            </a:schemeClr>
                          </a:solidFill>
                          <a:latin typeface="+mn-ea"/>
                          <a:ea typeface="+mn-ea"/>
                        </a:rPr>
                        <a:t>工艺评估需求</a:t>
                      </a:r>
                      <a:r>
                        <a:rPr lang="zh-CN" altLang="en-US" sz="1000" b="1" dirty="0">
                          <a:solidFill>
                            <a:schemeClr val="tx1">
                              <a:lumMod val="65000"/>
                              <a:lumOff val="35000"/>
                            </a:schemeClr>
                          </a:solidFill>
                          <a:latin typeface="+mn-ea"/>
                          <a:ea typeface="+mn-ea"/>
                        </a:rPr>
                        <a:t>单</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2</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smtClean="0">
                          <a:solidFill>
                            <a:schemeClr val="tx1">
                              <a:lumMod val="65000"/>
                              <a:lumOff val="35000"/>
                            </a:schemeClr>
                          </a:solidFill>
                          <a:latin typeface="+mn-ea"/>
                          <a:ea typeface="+mn-ea"/>
                        </a:rPr>
                        <a:t>客户</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3</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smtClean="0">
                          <a:solidFill>
                            <a:schemeClr val="tx1">
                              <a:lumMod val="65000"/>
                              <a:lumOff val="35000"/>
                            </a:schemeClr>
                          </a:solidFill>
                          <a:latin typeface="+mn-ea"/>
                          <a:ea typeface="+mn-ea"/>
                        </a:rPr>
                        <a:t>产品</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4</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a:solidFill>
                            <a:schemeClr val="tx1">
                              <a:lumMod val="65000"/>
                              <a:lumOff val="35000"/>
                            </a:schemeClr>
                          </a:solidFill>
                          <a:latin typeface="+mn-ea"/>
                          <a:ea typeface="+mn-ea"/>
                        </a:rPr>
                        <a:t>组织</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mn-ea"/>
                          <a:ea typeface="+mn-ea"/>
                        </a:rPr>
                        <a:t>5</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a:solidFill>
                            <a:schemeClr val="tx1">
                              <a:lumMod val="65000"/>
                              <a:lumOff val="35000"/>
                            </a:schemeClr>
                          </a:solidFill>
                          <a:latin typeface="+mn-ea"/>
                          <a:ea typeface="+mn-ea"/>
                        </a:rPr>
                        <a:t>人员</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662">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000" b="1" kern="1200" dirty="0">
                          <a:solidFill>
                            <a:schemeClr val="tx1">
                              <a:lumMod val="65000"/>
                              <a:lumOff val="35000"/>
                            </a:schemeClr>
                          </a:solidFill>
                          <a:latin typeface="+mn-ea"/>
                          <a:ea typeface="+mn-ea"/>
                          <a:cs typeface="+mn-cs"/>
                        </a:rPr>
                        <a:t>6</a:t>
                      </a:r>
                      <a:endParaRPr lang="en-US" sz="1000" b="1" kern="1200" dirty="0">
                        <a:solidFill>
                          <a:schemeClr val="tx1">
                            <a:lumMod val="65000"/>
                            <a:lumOff val="35000"/>
                          </a:schemeClr>
                        </a:solidFill>
                        <a:latin typeface="+mn-ea"/>
                        <a:ea typeface="+mn-ea"/>
                        <a:cs typeface="+mn-cs"/>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zh-CN" altLang="en-US" sz="1000" b="1" dirty="0">
                          <a:solidFill>
                            <a:schemeClr val="tx1">
                              <a:lumMod val="65000"/>
                              <a:lumOff val="35000"/>
                            </a:schemeClr>
                          </a:solidFill>
                          <a:latin typeface="+mn-ea"/>
                          <a:ea typeface="+mn-ea"/>
                        </a:rPr>
                        <a:t>研发项目</a:t>
                      </a:r>
                      <a:endParaRPr lang="en-US" sz="1000" b="1" dirty="0">
                        <a:solidFill>
                          <a:schemeClr val="tx1">
                            <a:lumMod val="65000"/>
                            <a:lumOff val="35000"/>
                          </a:schemeClr>
                        </a:solidFill>
                        <a:latin typeface="+mn-ea"/>
                        <a:ea typeface="+mn-ea"/>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4" name="椭圆 103"/>
          <p:cNvSpPr/>
          <p:nvPr/>
        </p:nvSpPr>
        <p:spPr>
          <a:xfrm>
            <a:off x="10345394" y="5658028"/>
            <a:ext cx="216000" cy="216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lIns="0" tIns="0" rIns="0" bIns="0" rtlCol="0" anchor="ctr"/>
          <a:lstStyle/>
          <a:p>
            <a:pPr algn="ctr"/>
            <a:r>
              <a:rPr lang="en-US" altLang="zh-CN" sz="1000" dirty="0" smtClean="0">
                <a:solidFill>
                  <a:schemeClr val="bg1"/>
                </a:solidFill>
              </a:rPr>
              <a:t>1</a:t>
            </a:r>
            <a:endParaRPr lang="zh-CN" altLang="en-US" sz="1000" dirty="0">
              <a:solidFill>
                <a:schemeClr val="bg1"/>
              </a:solidFill>
            </a:endParaRPr>
          </a:p>
        </p:txBody>
      </p:sp>
      <p:grpSp>
        <p:nvGrpSpPr>
          <p:cNvPr id="105" name="组合 104"/>
          <p:cNvGrpSpPr/>
          <p:nvPr/>
        </p:nvGrpSpPr>
        <p:grpSpPr>
          <a:xfrm>
            <a:off x="8397431" y="1814623"/>
            <a:ext cx="1830183" cy="439455"/>
            <a:chOff x="3314700" y="5604042"/>
            <a:chExt cx="1830183" cy="439455"/>
          </a:xfrm>
        </p:grpSpPr>
        <p:sp>
          <p:nvSpPr>
            <p:cNvPr id="112" name="椭圆 111"/>
            <p:cNvSpPr/>
            <p:nvPr/>
          </p:nvSpPr>
          <p:spPr>
            <a:xfrm>
              <a:off x="3314700" y="5622042"/>
              <a:ext cx="144000" cy="144000"/>
            </a:xfrm>
            <a:prstGeom prst="ellipse">
              <a:avLst/>
            </a:prstGeom>
            <a:solidFill>
              <a:srgbClr val="FF0000"/>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124" name="矩形 123"/>
            <p:cNvSpPr/>
            <p:nvPr/>
          </p:nvSpPr>
          <p:spPr>
            <a:xfrm>
              <a:off x="3528014" y="5604042"/>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000" dirty="0" smtClean="0">
                  <a:solidFill>
                    <a:schemeClr val="tx1"/>
                  </a:solidFill>
                </a:rPr>
                <a:t>创建</a:t>
              </a:r>
              <a:endParaRPr lang="zh-CN" altLang="en-US" sz="1000" dirty="0">
                <a:solidFill>
                  <a:schemeClr val="tx1"/>
                </a:solidFill>
              </a:endParaRPr>
            </a:p>
          </p:txBody>
        </p:sp>
        <p:sp>
          <p:nvSpPr>
            <p:cNvPr id="132" name="椭圆 131"/>
            <p:cNvSpPr/>
            <p:nvPr/>
          </p:nvSpPr>
          <p:spPr>
            <a:xfrm>
              <a:off x="3314700" y="5881497"/>
              <a:ext cx="144000" cy="144000"/>
            </a:xfrm>
            <a:prstGeom prst="ellipse">
              <a:avLst/>
            </a:prstGeom>
            <a:solidFill>
              <a:schemeClr val="accent3"/>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133" name="矩形 132"/>
            <p:cNvSpPr/>
            <p:nvPr/>
          </p:nvSpPr>
          <p:spPr>
            <a:xfrm>
              <a:off x="3528014" y="5863497"/>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000" dirty="0"/>
                <a:t>查阅</a:t>
              </a:r>
              <a:endParaRPr lang="zh-CN" altLang="en-US" sz="1000" dirty="0">
                <a:solidFill>
                  <a:schemeClr val="tx1"/>
                </a:solidFill>
              </a:endParaRPr>
            </a:p>
          </p:txBody>
        </p:sp>
        <p:sp>
          <p:nvSpPr>
            <p:cNvPr id="134" name="椭圆 133"/>
            <p:cNvSpPr/>
            <p:nvPr/>
          </p:nvSpPr>
          <p:spPr>
            <a:xfrm>
              <a:off x="4283569" y="5881497"/>
              <a:ext cx="144000" cy="144000"/>
            </a:xfrm>
            <a:prstGeom prst="ellipse">
              <a:avLst/>
            </a:prstGeom>
            <a:solidFill>
              <a:schemeClr val="tx1"/>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135" name="矩形 134"/>
            <p:cNvSpPr/>
            <p:nvPr/>
          </p:nvSpPr>
          <p:spPr>
            <a:xfrm>
              <a:off x="4496883" y="5863497"/>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000" dirty="0" smtClean="0">
                  <a:solidFill>
                    <a:schemeClr val="tx1"/>
                  </a:solidFill>
                </a:rPr>
                <a:t>创建</a:t>
              </a:r>
              <a:endParaRPr lang="zh-CN" altLang="en-US" sz="1000" dirty="0">
                <a:solidFill>
                  <a:schemeClr val="tx1"/>
                </a:solidFill>
              </a:endParaRPr>
            </a:p>
          </p:txBody>
        </p:sp>
        <p:sp>
          <p:nvSpPr>
            <p:cNvPr id="136" name="椭圆 135"/>
            <p:cNvSpPr/>
            <p:nvPr/>
          </p:nvSpPr>
          <p:spPr>
            <a:xfrm>
              <a:off x="4283569" y="5622042"/>
              <a:ext cx="144000" cy="144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137" name="矩形 136"/>
            <p:cNvSpPr/>
            <p:nvPr/>
          </p:nvSpPr>
          <p:spPr>
            <a:xfrm>
              <a:off x="4496883" y="5604042"/>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000" dirty="0"/>
                <a:t>修改</a:t>
              </a:r>
              <a:endParaRPr lang="zh-CN" altLang="en-US" sz="1000" dirty="0">
                <a:solidFill>
                  <a:schemeClr val="tx1"/>
                </a:solidFill>
              </a:endParaRPr>
            </a:p>
          </p:txBody>
        </p:sp>
      </p:gr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altLang="en-US" sz="2800" dirty="0">
                <a:solidFill>
                  <a:schemeClr val="tx1"/>
                </a:solidFill>
                <a:sym typeface="+mn-ea"/>
              </a:rPr>
              <a:t>数据架构</a:t>
            </a:r>
            <a:r>
              <a:rPr lang="en-US" altLang="zh-CN" sz="2800" dirty="0" smtClean="0">
                <a:solidFill>
                  <a:schemeClr val="tx1"/>
                </a:solidFill>
                <a:sym typeface="+mn-ea"/>
              </a:rPr>
              <a:t>–</a:t>
            </a:r>
            <a:r>
              <a:rPr lang="zh-CN" altLang="en-US" sz="2800" dirty="0" smtClean="0">
                <a:solidFill>
                  <a:schemeClr val="tx1"/>
                </a:solidFill>
                <a:sym typeface="+mn-ea"/>
              </a:rPr>
              <a:t>数据模型</a:t>
            </a:r>
            <a:endParaRPr lang="zh-CN" sz="2800" dirty="0">
              <a:solidFill>
                <a:schemeClr val="tx1"/>
              </a:solidFill>
              <a:latin typeface="+mn-ea"/>
              <a:ea typeface="+mn-ea"/>
              <a:sym typeface="+mn-ea"/>
            </a:endParaRPr>
          </a:p>
        </p:txBody>
      </p:sp>
      <p:sp>
        <p:nvSpPr>
          <p:cNvPr id="37" name="椭圆 36"/>
          <p:cNvSpPr/>
          <p:nvPr/>
        </p:nvSpPr>
        <p:spPr>
          <a:xfrm>
            <a:off x="5613150" y="1123950"/>
            <a:ext cx="1080000" cy="1080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smtClean="0">
                <a:solidFill>
                  <a:schemeClr val="tx1"/>
                </a:solidFill>
              </a:rPr>
              <a:t>工艺需求评估单</a:t>
            </a:r>
            <a:endParaRPr lang="zh-CN" altLang="en-US" sz="1400" dirty="0">
              <a:solidFill>
                <a:schemeClr val="tx1"/>
              </a:solidFill>
            </a:endParaRPr>
          </a:p>
        </p:txBody>
      </p:sp>
      <p:sp>
        <p:nvSpPr>
          <p:cNvPr id="98" name="椭圆 97"/>
          <p:cNvSpPr/>
          <p:nvPr/>
        </p:nvSpPr>
        <p:spPr>
          <a:xfrm>
            <a:off x="7369717" y="4558472"/>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smtClean="0">
                <a:solidFill>
                  <a:schemeClr val="tx1"/>
                </a:solidFill>
              </a:rPr>
              <a:t>组织</a:t>
            </a:r>
            <a:endParaRPr lang="zh-CN" altLang="en-US" sz="1400" dirty="0">
              <a:solidFill>
                <a:schemeClr val="tx1"/>
              </a:solidFill>
            </a:endParaRPr>
          </a:p>
        </p:txBody>
      </p:sp>
      <p:sp>
        <p:nvSpPr>
          <p:cNvPr id="100" name="椭圆 99"/>
          <p:cNvSpPr/>
          <p:nvPr/>
        </p:nvSpPr>
        <p:spPr>
          <a:xfrm>
            <a:off x="5305258" y="4558472"/>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smtClean="0"/>
              <a:t>研发</a:t>
            </a:r>
            <a:endParaRPr lang="en-US" altLang="zh-CN" sz="1400" dirty="0" smtClean="0"/>
          </a:p>
          <a:p>
            <a:pPr algn="ctr"/>
            <a:r>
              <a:rPr lang="zh-CN" altLang="en-US" sz="1400" dirty="0" smtClean="0"/>
              <a:t>项目</a:t>
            </a:r>
            <a:endParaRPr lang="zh-CN" altLang="en-US" sz="1400" dirty="0">
              <a:solidFill>
                <a:schemeClr val="tx1"/>
              </a:solidFill>
            </a:endParaRPr>
          </a:p>
        </p:txBody>
      </p:sp>
      <p:sp>
        <p:nvSpPr>
          <p:cNvPr id="102" name="椭圆 101"/>
          <p:cNvSpPr/>
          <p:nvPr/>
        </p:nvSpPr>
        <p:spPr>
          <a:xfrm>
            <a:off x="3240798" y="4558472"/>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a:t>产品</a:t>
            </a:r>
            <a:endParaRPr lang="zh-CN" altLang="en-US" sz="1400" dirty="0">
              <a:solidFill>
                <a:schemeClr val="tx1"/>
              </a:solidFill>
            </a:endParaRPr>
          </a:p>
        </p:txBody>
      </p:sp>
      <p:sp>
        <p:nvSpPr>
          <p:cNvPr id="103" name="椭圆 102"/>
          <p:cNvSpPr/>
          <p:nvPr/>
        </p:nvSpPr>
        <p:spPr>
          <a:xfrm>
            <a:off x="1176338" y="4558472"/>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a:t>客户</a:t>
            </a:r>
            <a:endParaRPr lang="zh-CN" altLang="en-US" sz="1400" dirty="0">
              <a:solidFill>
                <a:schemeClr val="tx1"/>
              </a:solidFill>
            </a:endParaRPr>
          </a:p>
        </p:txBody>
      </p:sp>
      <p:sp>
        <p:nvSpPr>
          <p:cNvPr id="104" name="椭圆 103"/>
          <p:cNvSpPr/>
          <p:nvPr/>
        </p:nvSpPr>
        <p:spPr>
          <a:xfrm>
            <a:off x="9434176" y="4558472"/>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smtClean="0"/>
              <a:t>人员</a:t>
            </a:r>
            <a:endParaRPr lang="zh-CN" altLang="en-US" sz="1400" dirty="0">
              <a:solidFill>
                <a:schemeClr val="tx1"/>
              </a:solidFill>
            </a:endParaRPr>
          </a:p>
        </p:txBody>
      </p:sp>
      <p:sp>
        <p:nvSpPr>
          <p:cNvPr id="105" name="文本框 104"/>
          <p:cNvSpPr txBox="1"/>
          <p:nvPr>
            <p:custDataLst>
              <p:tags r:id="rId2"/>
            </p:custDataLst>
          </p:nvPr>
        </p:nvSpPr>
        <p:spPr>
          <a:xfrm>
            <a:off x="4291049" y="2543560"/>
            <a:ext cx="648000" cy="612000"/>
          </a:xfrm>
          <a:prstGeom prst="rect">
            <a:avLst/>
          </a:prstGeom>
          <a:solidFill>
            <a:schemeClr val="accent4">
              <a:lumMod val="20000"/>
              <a:lumOff val="80000"/>
            </a:schemeClr>
          </a:solidFill>
          <a:ln>
            <a:solidFill>
              <a:srgbClr val="A5A5A5"/>
            </a:solidFill>
            <a:prstDash val="sysDash"/>
          </a:ln>
        </p:spPr>
        <p:txBody>
          <a:bodyPr wrap="square" lIns="72000" tIns="0" rIns="72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uFillTx/>
                <a:latin typeface="+mn-ea"/>
                <a:ea typeface="+mn-ea"/>
                <a:sym typeface="Arial" panose="020B0604020202020204"/>
              </a:rPr>
              <a:t>需求基本</a:t>
            </a:r>
            <a:r>
              <a:rPr lang="zh-CN" altLang="en-US" sz="1200" dirty="0">
                <a:solidFill>
                  <a:schemeClr val="tx1"/>
                </a:solidFill>
                <a:uFillTx/>
                <a:latin typeface="+mn-ea"/>
                <a:ea typeface="+mn-ea"/>
                <a:sym typeface="Arial" panose="020B0604020202020204"/>
              </a:rPr>
              <a:t>信息</a:t>
            </a:r>
            <a:endParaRPr lang="zh-CN" altLang="en-US" sz="1200" dirty="0">
              <a:solidFill>
                <a:schemeClr val="tx1"/>
              </a:solidFill>
              <a:uFillTx/>
              <a:latin typeface="+mn-ea"/>
              <a:ea typeface="+mn-ea"/>
              <a:sym typeface="Arial" panose="020B0604020202020204"/>
            </a:endParaRPr>
          </a:p>
        </p:txBody>
      </p:sp>
      <p:sp>
        <p:nvSpPr>
          <p:cNvPr id="106" name="文本框 105"/>
          <p:cNvSpPr txBox="1"/>
          <p:nvPr>
            <p:custDataLst>
              <p:tags r:id="rId3"/>
            </p:custDataLst>
          </p:nvPr>
        </p:nvSpPr>
        <p:spPr>
          <a:xfrm>
            <a:off x="5316450" y="2543560"/>
            <a:ext cx="648000" cy="612000"/>
          </a:xfrm>
          <a:prstGeom prst="rect">
            <a:avLst/>
          </a:prstGeom>
          <a:solidFill>
            <a:schemeClr val="accent4">
              <a:lumMod val="20000"/>
              <a:lumOff val="80000"/>
            </a:schemeClr>
          </a:solidFill>
          <a:ln>
            <a:solidFill>
              <a:srgbClr val="A5A5A5"/>
            </a:solidFill>
            <a:prstDash val="sysDash"/>
          </a:ln>
        </p:spPr>
        <p:txBody>
          <a:bodyPr wrap="square" lIns="72000" tIns="0" rIns="72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a:solidFill>
                  <a:schemeClr val="tx1"/>
                </a:solidFill>
                <a:uFillTx/>
                <a:latin typeface="+mn-ea"/>
                <a:ea typeface="+mn-ea"/>
                <a:sym typeface="Arial" panose="020B0604020202020204"/>
              </a:rPr>
              <a:t>工艺</a:t>
            </a:r>
            <a:r>
              <a:rPr lang="zh-CN" altLang="en-US" sz="1200" dirty="0" smtClean="0">
                <a:solidFill>
                  <a:schemeClr val="tx1"/>
                </a:solidFill>
                <a:uFillTx/>
                <a:latin typeface="+mn-ea"/>
                <a:ea typeface="+mn-ea"/>
                <a:sym typeface="Arial" panose="020B0604020202020204"/>
              </a:rPr>
              <a:t>要素需求</a:t>
            </a:r>
            <a:endParaRPr lang="zh-CN" altLang="en-US" sz="1200" dirty="0">
              <a:solidFill>
                <a:schemeClr val="tx1"/>
              </a:solidFill>
              <a:uFillTx/>
              <a:latin typeface="+mn-ea"/>
              <a:ea typeface="+mn-ea"/>
              <a:sym typeface="Arial" panose="020B0604020202020204"/>
            </a:endParaRPr>
          </a:p>
        </p:txBody>
      </p:sp>
      <p:sp>
        <p:nvSpPr>
          <p:cNvPr id="107" name="文本框 106"/>
          <p:cNvSpPr txBox="1"/>
          <p:nvPr>
            <p:custDataLst>
              <p:tags r:id="rId4"/>
            </p:custDataLst>
          </p:nvPr>
        </p:nvSpPr>
        <p:spPr>
          <a:xfrm>
            <a:off x="6341851" y="2543560"/>
            <a:ext cx="648000" cy="612000"/>
          </a:xfrm>
          <a:prstGeom prst="rect">
            <a:avLst/>
          </a:prstGeom>
          <a:solidFill>
            <a:schemeClr val="accent4">
              <a:lumMod val="20000"/>
              <a:lumOff val="80000"/>
            </a:schemeClr>
          </a:solidFill>
          <a:ln>
            <a:solidFill>
              <a:srgbClr val="A5A5A5"/>
            </a:solidFill>
            <a:prstDash val="sysDash"/>
          </a:ln>
        </p:spPr>
        <p:txBody>
          <a:bodyPr wrap="square" lIns="72000" tIns="0" rIns="72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latin typeface="+mn-ea"/>
                <a:ea typeface="+mn-ea"/>
                <a:sym typeface="Arial" panose="020B0604020202020204"/>
              </a:rPr>
              <a:t>工艺要素评估结果</a:t>
            </a:r>
            <a:endParaRPr lang="zh-CN" altLang="en-US" sz="1200" dirty="0">
              <a:solidFill>
                <a:schemeClr val="tx1"/>
              </a:solidFill>
              <a:uFillTx/>
              <a:latin typeface="+mn-ea"/>
              <a:ea typeface="+mn-ea"/>
              <a:sym typeface="Arial" panose="020B0604020202020204"/>
            </a:endParaRPr>
          </a:p>
        </p:txBody>
      </p:sp>
      <p:sp>
        <p:nvSpPr>
          <p:cNvPr id="108" name="文本框 107"/>
          <p:cNvSpPr txBox="1"/>
          <p:nvPr>
            <p:custDataLst>
              <p:tags r:id="rId5"/>
            </p:custDataLst>
          </p:nvPr>
        </p:nvSpPr>
        <p:spPr>
          <a:xfrm>
            <a:off x="7367251" y="2543560"/>
            <a:ext cx="648000" cy="612000"/>
          </a:xfrm>
          <a:prstGeom prst="rect">
            <a:avLst/>
          </a:prstGeom>
          <a:solidFill>
            <a:schemeClr val="accent4">
              <a:lumMod val="20000"/>
              <a:lumOff val="80000"/>
            </a:schemeClr>
          </a:solidFill>
          <a:ln>
            <a:solidFill>
              <a:srgbClr val="A5A5A5"/>
            </a:solidFill>
            <a:prstDash val="sysDash"/>
          </a:ln>
        </p:spPr>
        <p:txBody>
          <a:bodyPr wrap="square" lIns="72000" tIns="0" rIns="72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200" dirty="0" smtClean="0">
                <a:solidFill>
                  <a:schemeClr val="tx1"/>
                </a:solidFill>
                <a:latin typeface="+mn-ea"/>
                <a:ea typeface="+mn-ea"/>
                <a:sym typeface="Arial" panose="020B0604020202020204"/>
              </a:rPr>
              <a:t>工艺评估结论报告</a:t>
            </a:r>
            <a:endParaRPr lang="zh-CN" altLang="en-US" sz="1200" dirty="0">
              <a:solidFill>
                <a:schemeClr val="tx1"/>
              </a:solidFill>
              <a:uFillTx/>
              <a:latin typeface="+mn-ea"/>
              <a:ea typeface="+mn-ea"/>
              <a:sym typeface="Arial" panose="020B0604020202020204"/>
            </a:endParaRPr>
          </a:p>
        </p:txBody>
      </p:sp>
      <p:cxnSp>
        <p:nvCxnSpPr>
          <p:cNvPr id="41" name="曲线连接符 40"/>
          <p:cNvCxnSpPr>
            <a:stCxn id="37" idx="4"/>
            <a:endCxn id="105" idx="0"/>
          </p:cNvCxnSpPr>
          <p:nvPr/>
        </p:nvCxnSpPr>
        <p:spPr>
          <a:xfrm rot="5400000">
            <a:off x="5214295" y="1604705"/>
            <a:ext cx="339610" cy="153810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曲线连接符 42"/>
          <p:cNvCxnSpPr>
            <a:stCxn id="37" idx="4"/>
            <a:endCxn id="106" idx="0"/>
          </p:cNvCxnSpPr>
          <p:nvPr/>
        </p:nvCxnSpPr>
        <p:spPr>
          <a:xfrm rot="5400000">
            <a:off x="5726995" y="2117405"/>
            <a:ext cx="339610" cy="512700"/>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曲线连接符 51"/>
          <p:cNvCxnSpPr>
            <a:stCxn id="37" idx="4"/>
            <a:endCxn id="107" idx="0"/>
          </p:cNvCxnSpPr>
          <p:nvPr/>
        </p:nvCxnSpPr>
        <p:spPr>
          <a:xfrm rot="16200000" flipH="1">
            <a:off x="6239695" y="2117404"/>
            <a:ext cx="339610" cy="51270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曲线连接符 66"/>
          <p:cNvCxnSpPr>
            <a:stCxn id="37" idx="4"/>
            <a:endCxn id="108" idx="0"/>
          </p:cNvCxnSpPr>
          <p:nvPr/>
        </p:nvCxnSpPr>
        <p:spPr>
          <a:xfrm rot="16200000" flipH="1">
            <a:off x="6752395" y="1604704"/>
            <a:ext cx="339610" cy="1538101"/>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曲线连接符 109"/>
          <p:cNvCxnSpPr>
            <a:stCxn id="105" idx="2"/>
            <a:endCxn id="103" idx="0"/>
          </p:cNvCxnSpPr>
          <p:nvPr/>
        </p:nvCxnSpPr>
        <p:spPr>
          <a:xfrm rot="5400000">
            <a:off x="2464238" y="2407661"/>
            <a:ext cx="1402912" cy="2898711"/>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曲线连接符 111"/>
          <p:cNvCxnSpPr>
            <a:stCxn id="105" idx="2"/>
            <a:endCxn id="102" idx="0"/>
          </p:cNvCxnSpPr>
          <p:nvPr/>
        </p:nvCxnSpPr>
        <p:spPr>
          <a:xfrm rot="5400000">
            <a:off x="3496468" y="3439891"/>
            <a:ext cx="1402912" cy="83425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曲线连接符 113"/>
          <p:cNvCxnSpPr>
            <a:stCxn id="105" idx="2"/>
            <a:endCxn id="100" idx="0"/>
          </p:cNvCxnSpPr>
          <p:nvPr/>
        </p:nvCxnSpPr>
        <p:spPr>
          <a:xfrm rot="16200000" flipH="1">
            <a:off x="4528697" y="3241911"/>
            <a:ext cx="1402912" cy="1230209"/>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文本框 125"/>
          <p:cNvSpPr txBox="1"/>
          <p:nvPr/>
        </p:nvSpPr>
        <p:spPr>
          <a:xfrm>
            <a:off x="1639546" y="3938539"/>
            <a:ext cx="397866" cy="313932"/>
          </a:xfrm>
          <a:prstGeom prst="rect">
            <a:avLst/>
          </a:prstGeom>
          <a:noFill/>
        </p:spPr>
        <p:txBody>
          <a:bodyPr wrap="none" rtlCol="0" anchor="t">
            <a:spAutoFit/>
          </a:bodyPr>
          <a:lstStyle/>
          <a:p>
            <a:pPr algn="ctr" fontAlgn="auto">
              <a:lnSpc>
                <a:spcPct val="120000"/>
              </a:lnSpc>
              <a:spcBef>
                <a:spcPts val="0"/>
              </a:spcBef>
            </a:pPr>
            <a:r>
              <a:rPr lang="en-US" altLang="zh-CN" sz="1200" dirty="0" smtClean="0">
                <a:sym typeface="+mn-ea"/>
              </a:rPr>
              <a:t>1:1</a:t>
            </a:r>
            <a:endParaRPr lang="zh-CN" altLang="en-US" sz="1200" dirty="0">
              <a:sym typeface="+mn-ea"/>
            </a:endParaRPr>
          </a:p>
        </p:txBody>
      </p:sp>
      <p:sp>
        <p:nvSpPr>
          <p:cNvPr id="127" name="文本框 126"/>
          <p:cNvSpPr txBox="1"/>
          <p:nvPr/>
        </p:nvSpPr>
        <p:spPr>
          <a:xfrm>
            <a:off x="3453669" y="3938539"/>
            <a:ext cx="423514" cy="293607"/>
          </a:xfrm>
          <a:prstGeom prst="rect">
            <a:avLst/>
          </a:prstGeom>
          <a:noFill/>
        </p:spPr>
        <p:txBody>
          <a:bodyPr wrap="none" rtlCol="0" anchor="t">
            <a:spAutoFit/>
          </a:bodyPr>
          <a:lstStyle/>
          <a:p>
            <a:pPr algn="ctr" fontAlgn="auto">
              <a:lnSpc>
                <a:spcPct val="120000"/>
              </a:lnSpc>
              <a:spcBef>
                <a:spcPts val="0"/>
              </a:spcBef>
            </a:pPr>
            <a:r>
              <a:rPr lang="en-US" altLang="zh-CN" sz="1200" dirty="0" smtClean="0">
                <a:sym typeface="+mn-ea"/>
              </a:rPr>
              <a:t>1:N</a:t>
            </a:r>
            <a:endParaRPr lang="zh-CN" altLang="en-US" sz="1200" dirty="0">
              <a:sym typeface="+mn-ea"/>
            </a:endParaRPr>
          </a:p>
        </p:txBody>
      </p:sp>
      <p:sp>
        <p:nvSpPr>
          <p:cNvPr id="128" name="文本框 127"/>
          <p:cNvSpPr txBox="1"/>
          <p:nvPr/>
        </p:nvSpPr>
        <p:spPr>
          <a:xfrm>
            <a:off x="5198959" y="3948702"/>
            <a:ext cx="397866" cy="293607"/>
          </a:xfrm>
          <a:prstGeom prst="rect">
            <a:avLst/>
          </a:prstGeom>
          <a:noFill/>
        </p:spPr>
        <p:txBody>
          <a:bodyPr wrap="none" rtlCol="0" anchor="t">
            <a:spAutoFit/>
          </a:bodyPr>
          <a:lstStyle/>
          <a:p>
            <a:pPr algn="ctr" fontAlgn="auto">
              <a:lnSpc>
                <a:spcPct val="120000"/>
              </a:lnSpc>
              <a:spcBef>
                <a:spcPts val="0"/>
              </a:spcBef>
            </a:pPr>
            <a:r>
              <a:rPr lang="en-US" altLang="zh-CN" sz="1200" dirty="0" smtClean="0">
                <a:sym typeface="+mn-ea"/>
              </a:rPr>
              <a:t>1:1</a:t>
            </a:r>
            <a:endParaRPr lang="zh-CN" altLang="en-US" sz="1200" dirty="0">
              <a:sym typeface="+mn-ea"/>
            </a:endParaRPr>
          </a:p>
        </p:txBody>
      </p:sp>
      <p:cxnSp>
        <p:nvCxnSpPr>
          <p:cNvPr id="138" name="曲线连接符 137"/>
          <p:cNvCxnSpPr>
            <a:stCxn id="105" idx="2"/>
            <a:endCxn id="104" idx="0"/>
          </p:cNvCxnSpPr>
          <p:nvPr/>
        </p:nvCxnSpPr>
        <p:spPr>
          <a:xfrm rot="16200000" flipH="1">
            <a:off x="6593156" y="1177452"/>
            <a:ext cx="1402912" cy="5359127"/>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曲线连接符 153"/>
          <p:cNvCxnSpPr>
            <a:stCxn id="105" idx="2"/>
            <a:endCxn id="98" idx="0"/>
          </p:cNvCxnSpPr>
          <p:nvPr/>
        </p:nvCxnSpPr>
        <p:spPr>
          <a:xfrm rot="16200000" flipH="1">
            <a:off x="5560927" y="2209682"/>
            <a:ext cx="1402912" cy="3294668"/>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9" name="文本框 158"/>
          <p:cNvSpPr txBox="1"/>
          <p:nvPr/>
        </p:nvSpPr>
        <p:spPr>
          <a:xfrm>
            <a:off x="6909624" y="3948702"/>
            <a:ext cx="423514" cy="293607"/>
          </a:xfrm>
          <a:prstGeom prst="rect">
            <a:avLst/>
          </a:prstGeom>
          <a:noFill/>
        </p:spPr>
        <p:txBody>
          <a:bodyPr wrap="none" rtlCol="0" anchor="t">
            <a:spAutoFit/>
          </a:bodyPr>
          <a:lstStyle/>
          <a:p>
            <a:pPr algn="ctr" fontAlgn="auto">
              <a:lnSpc>
                <a:spcPct val="120000"/>
              </a:lnSpc>
              <a:spcBef>
                <a:spcPts val="0"/>
              </a:spcBef>
            </a:pPr>
            <a:r>
              <a:rPr lang="en-US" altLang="zh-CN" sz="1200" dirty="0" smtClean="0">
                <a:sym typeface="+mn-ea"/>
              </a:rPr>
              <a:t>1:N</a:t>
            </a:r>
            <a:endParaRPr lang="zh-CN" altLang="en-US" sz="1200" dirty="0">
              <a:sym typeface="+mn-ea"/>
            </a:endParaRPr>
          </a:p>
        </p:txBody>
      </p:sp>
      <p:sp>
        <p:nvSpPr>
          <p:cNvPr id="160" name="文本框 159"/>
          <p:cNvSpPr txBox="1"/>
          <p:nvPr/>
        </p:nvSpPr>
        <p:spPr>
          <a:xfrm>
            <a:off x="9443440" y="3948702"/>
            <a:ext cx="423514" cy="293607"/>
          </a:xfrm>
          <a:prstGeom prst="rect">
            <a:avLst/>
          </a:prstGeom>
          <a:noFill/>
        </p:spPr>
        <p:txBody>
          <a:bodyPr wrap="none" rtlCol="0" anchor="t">
            <a:spAutoFit/>
          </a:bodyPr>
          <a:lstStyle/>
          <a:p>
            <a:pPr algn="ctr" fontAlgn="auto">
              <a:lnSpc>
                <a:spcPct val="120000"/>
              </a:lnSpc>
              <a:spcBef>
                <a:spcPts val="0"/>
              </a:spcBef>
            </a:pPr>
            <a:r>
              <a:rPr lang="en-US" altLang="zh-CN" sz="1200" dirty="0" smtClean="0">
                <a:sym typeface="+mn-ea"/>
              </a:rPr>
              <a:t>1:N</a:t>
            </a:r>
            <a:endParaRPr lang="zh-CN" altLang="en-US" sz="1200" dirty="0">
              <a:sym typeface="+mn-ea"/>
            </a:endParaRPr>
          </a:p>
        </p:txBody>
      </p:sp>
      <p:sp>
        <p:nvSpPr>
          <p:cNvPr id="165" name="文本框 164"/>
          <p:cNvSpPr txBox="1"/>
          <p:nvPr>
            <p:custDataLst>
              <p:tags r:id="rId6"/>
            </p:custDataLst>
          </p:nvPr>
        </p:nvSpPr>
        <p:spPr>
          <a:xfrm>
            <a:off x="1252829"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法人信息</a:t>
            </a:r>
            <a:endParaRPr lang="zh-CN" altLang="en-US" sz="1000" dirty="0">
              <a:solidFill>
                <a:schemeClr val="tx1"/>
              </a:solidFill>
              <a:uFillTx/>
              <a:latin typeface="+mn-ea"/>
              <a:ea typeface="+mn-ea"/>
              <a:sym typeface="Arial" panose="020B0604020202020204"/>
            </a:endParaRPr>
          </a:p>
        </p:txBody>
      </p:sp>
      <p:sp>
        <p:nvSpPr>
          <p:cNvPr id="166" name="文本框 165"/>
          <p:cNvSpPr txBox="1"/>
          <p:nvPr>
            <p:custDataLst>
              <p:tags r:id="rId7"/>
            </p:custDataLst>
          </p:nvPr>
        </p:nvSpPr>
        <p:spPr>
          <a:xfrm>
            <a:off x="1811808"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uFillTx/>
                <a:latin typeface="+mn-ea"/>
                <a:ea typeface="+mn-ea"/>
                <a:sym typeface="Arial" panose="020B0604020202020204"/>
              </a:rPr>
              <a:t>账号信息</a:t>
            </a:r>
            <a:endParaRPr lang="zh-CN" altLang="en-US" sz="1000" dirty="0">
              <a:solidFill>
                <a:schemeClr val="tx1"/>
              </a:solidFill>
              <a:uFillTx/>
              <a:latin typeface="+mn-ea"/>
              <a:ea typeface="+mn-ea"/>
              <a:sym typeface="Arial" panose="020B0604020202020204"/>
            </a:endParaRPr>
          </a:p>
        </p:txBody>
      </p:sp>
      <p:cxnSp>
        <p:nvCxnSpPr>
          <p:cNvPr id="170" name="曲线连接符 169"/>
          <p:cNvCxnSpPr>
            <a:stCxn id="103" idx="4"/>
            <a:endCxn id="165" idx="0"/>
          </p:cNvCxnSpPr>
          <p:nvPr/>
        </p:nvCxnSpPr>
        <p:spPr>
          <a:xfrm rot="5400000">
            <a:off x="1439023" y="5653113"/>
            <a:ext cx="291957" cy="262675"/>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曲线连接符 171"/>
          <p:cNvCxnSpPr>
            <a:stCxn id="103" idx="4"/>
            <a:endCxn id="166" idx="0"/>
          </p:cNvCxnSpPr>
          <p:nvPr/>
        </p:nvCxnSpPr>
        <p:spPr>
          <a:xfrm rot="16200000" flipH="1">
            <a:off x="1718512" y="5636298"/>
            <a:ext cx="291957" cy="296304"/>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5" name="文本框 174"/>
          <p:cNvSpPr txBox="1"/>
          <p:nvPr>
            <p:custDataLst>
              <p:tags r:id="rId8"/>
            </p:custDataLst>
          </p:nvPr>
        </p:nvSpPr>
        <p:spPr>
          <a:xfrm>
            <a:off x="3090102"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产品</a:t>
            </a:r>
            <a:r>
              <a:rPr lang="zh-CN" altLang="en-US" sz="1000" dirty="0">
                <a:solidFill>
                  <a:schemeClr val="tx1"/>
                </a:solidFill>
                <a:latin typeface="+mn-ea"/>
                <a:ea typeface="+mn-ea"/>
                <a:sym typeface="Arial" panose="020B0604020202020204"/>
              </a:rPr>
              <a:t>编码</a:t>
            </a:r>
            <a:endParaRPr lang="zh-CN" altLang="en-US" sz="1000" dirty="0">
              <a:solidFill>
                <a:schemeClr val="tx1"/>
              </a:solidFill>
              <a:uFillTx/>
              <a:latin typeface="+mn-ea"/>
              <a:ea typeface="+mn-ea"/>
              <a:sym typeface="Arial" panose="020B0604020202020204"/>
            </a:endParaRPr>
          </a:p>
        </p:txBody>
      </p:sp>
      <p:sp>
        <p:nvSpPr>
          <p:cNvPr id="176" name="文本框 175"/>
          <p:cNvSpPr txBox="1"/>
          <p:nvPr>
            <p:custDataLst>
              <p:tags r:id="rId9"/>
            </p:custDataLst>
          </p:nvPr>
        </p:nvSpPr>
        <p:spPr>
          <a:xfrm>
            <a:off x="3611117"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分类信息</a:t>
            </a:r>
            <a:endParaRPr lang="zh-CN" altLang="en-US" sz="1000" dirty="0">
              <a:solidFill>
                <a:schemeClr val="tx1"/>
              </a:solidFill>
              <a:uFillTx/>
              <a:latin typeface="+mn-ea"/>
              <a:ea typeface="+mn-ea"/>
              <a:sym typeface="Arial" panose="020B0604020202020204"/>
            </a:endParaRPr>
          </a:p>
        </p:txBody>
      </p:sp>
      <p:sp>
        <p:nvSpPr>
          <p:cNvPr id="177" name="文本框 176"/>
          <p:cNvSpPr txBox="1"/>
          <p:nvPr>
            <p:custDataLst>
              <p:tags r:id="rId10"/>
            </p:custDataLst>
          </p:nvPr>
        </p:nvSpPr>
        <p:spPr>
          <a:xfrm>
            <a:off x="4132132"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结构信息</a:t>
            </a:r>
            <a:endParaRPr lang="zh-CN" altLang="en-US" sz="1000" dirty="0">
              <a:solidFill>
                <a:schemeClr val="tx1"/>
              </a:solidFill>
              <a:uFillTx/>
              <a:latin typeface="+mn-ea"/>
              <a:ea typeface="+mn-ea"/>
              <a:sym typeface="Arial" panose="020B0604020202020204"/>
            </a:endParaRPr>
          </a:p>
        </p:txBody>
      </p:sp>
      <p:sp>
        <p:nvSpPr>
          <p:cNvPr id="179" name="文本框 178"/>
          <p:cNvSpPr txBox="1"/>
          <p:nvPr>
            <p:custDataLst>
              <p:tags r:id="rId11"/>
            </p:custDataLst>
          </p:nvPr>
        </p:nvSpPr>
        <p:spPr>
          <a:xfrm>
            <a:off x="5160050"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基本信息</a:t>
            </a:r>
            <a:endParaRPr lang="zh-CN" altLang="en-US" sz="1000" dirty="0">
              <a:solidFill>
                <a:schemeClr val="tx1"/>
              </a:solidFill>
              <a:uFillTx/>
              <a:latin typeface="+mn-ea"/>
              <a:ea typeface="+mn-ea"/>
              <a:sym typeface="Arial" panose="020B0604020202020204"/>
            </a:endParaRPr>
          </a:p>
        </p:txBody>
      </p:sp>
      <p:sp>
        <p:nvSpPr>
          <p:cNvPr id="180" name="文本框 179"/>
          <p:cNvSpPr txBox="1"/>
          <p:nvPr>
            <p:custDataLst>
              <p:tags r:id="rId12"/>
            </p:custDataLst>
          </p:nvPr>
        </p:nvSpPr>
        <p:spPr>
          <a:xfrm>
            <a:off x="5681065"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里程碑信息</a:t>
            </a:r>
            <a:endParaRPr lang="zh-CN" altLang="en-US" sz="1000" dirty="0">
              <a:solidFill>
                <a:schemeClr val="tx1"/>
              </a:solidFill>
              <a:uFillTx/>
              <a:latin typeface="+mn-ea"/>
              <a:ea typeface="+mn-ea"/>
              <a:sym typeface="Arial" panose="020B0604020202020204"/>
            </a:endParaRPr>
          </a:p>
        </p:txBody>
      </p:sp>
      <p:sp>
        <p:nvSpPr>
          <p:cNvPr id="181" name="文本框 180"/>
          <p:cNvSpPr txBox="1"/>
          <p:nvPr>
            <p:custDataLst>
              <p:tags r:id="rId13"/>
            </p:custDataLst>
          </p:nvPr>
        </p:nvSpPr>
        <p:spPr>
          <a:xfrm>
            <a:off x="6202080"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运作信息</a:t>
            </a:r>
            <a:endParaRPr lang="zh-CN" altLang="en-US" sz="1000" dirty="0">
              <a:solidFill>
                <a:schemeClr val="tx1"/>
              </a:solidFill>
              <a:uFillTx/>
              <a:latin typeface="+mn-ea"/>
              <a:ea typeface="+mn-ea"/>
              <a:sym typeface="Arial" panose="020B0604020202020204"/>
            </a:endParaRPr>
          </a:p>
        </p:txBody>
      </p:sp>
      <p:sp>
        <p:nvSpPr>
          <p:cNvPr id="183" name="文本框 182"/>
          <p:cNvSpPr txBox="1"/>
          <p:nvPr>
            <p:custDataLst>
              <p:tags r:id="rId14"/>
            </p:custDataLst>
          </p:nvPr>
        </p:nvSpPr>
        <p:spPr>
          <a:xfrm>
            <a:off x="7232434"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uFillTx/>
                <a:latin typeface="+mn-ea"/>
                <a:ea typeface="+mn-ea"/>
                <a:sym typeface="Arial" panose="020B0604020202020204"/>
              </a:rPr>
              <a:t>组织类型</a:t>
            </a:r>
            <a:endParaRPr lang="zh-CN" altLang="en-US" sz="1000" dirty="0">
              <a:solidFill>
                <a:schemeClr val="tx1"/>
              </a:solidFill>
              <a:uFillTx/>
              <a:latin typeface="+mn-ea"/>
              <a:ea typeface="+mn-ea"/>
              <a:sym typeface="Arial" panose="020B0604020202020204"/>
            </a:endParaRPr>
          </a:p>
        </p:txBody>
      </p:sp>
      <p:sp>
        <p:nvSpPr>
          <p:cNvPr id="184" name="文本框 183"/>
          <p:cNvSpPr txBox="1"/>
          <p:nvPr>
            <p:custDataLst>
              <p:tags r:id="rId15"/>
            </p:custDataLst>
          </p:nvPr>
        </p:nvSpPr>
        <p:spPr>
          <a:xfrm>
            <a:off x="7753449"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组织结构</a:t>
            </a:r>
            <a:endParaRPr lang="zh-CN" altLang="en-US" sz="1000" dirty="0">
              <a:solidFill>
                <a:schemeClr val="tx1"/>
              </a:solidFill>
              <a:uFillTx/>
              <a:latin typeface="+mn-ea"/>
              <a:ea typeface="+mn-ea"/>
              <a:sym typeface="Arial" panose="020B0604020202020204"/>
            </a:endParaRPr>
          </a:p>
        </p:txBody>
      </p:sp>
      <p:sp>
        <p:nvSpPr>
          <p:cNvPr id="185" name="文本框 184"/>
          <p:cNvSpPr txBox="1"/>
          <p:nvPr>
            <p:custDataLst>
              <p:tags r:id="rId16"/>
            </p:custDataLst>
          </p:nvPr>
        </p:nvSpPr>
        <p:spPr>
          <a:xfrm>
            <a:off x="9581341"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a:solidFill>
                  <a:schemeClr val="tx1"/>
                </a:solidFill>
                <a:latin typeface="+mn-ea"/>
                <a:ea typeface="+mn-ea"/>
                <a:sym typeface="Arial" panose="020B0604020202020204"/>
              </a:rPr>
              <a:t>基本</a:t>
            </a:r>
            <a:r>
              <a:rPr lang="zh-CN" altLang="en-US" sz="1000" dirty="0" smtClean="0">
                <a:solidFill>
                  <a:schemeClr val="tx1"/>
                </a:solidFill>
                <a:latin typeface="+mn-ea"/>
                <a:ea typeface="+mn-ea"/>
                <a:sym typeface="Arial" panose="020B0604020202020204"/>
              </a:rPr>
              <a:t>信息</a:t>
            </a:r>
            <a:endParaRPr lang="zh-CN" altLang="en-US" sz="1000" dirty="0">
              <a:solidFill>
                <a:schemeClr val="tx1"/>
              </a:solidFill>
              <a:uFillTx/>
              <a:latin typeface="+mn-ea"/>
              <a:ea typeface="+mn-ea"/>
              <a:sym typeface="Arial" panose="020B0604020202020204"/>
            </a:endParaRPr>
          </a:p>
        </p:txBody>
      </p:sp>
      <p:sp>
        <p:nvSpPr>
          <p:cNvPr id="186" name="文本框 185"/>
          <p:cNvSpPr txBox="1"/>
          <p:nvPr>
            <p:custDataLst>
              <p:tags r:id="rId17"/>
            </p:custDataLst>
          </p:nvPr>
        </p:nvSpPr>
        <p:spPr>
          <a:xfrm>
            <a:off x="10074589"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a:solidFill>
                  <a:schemeClr val="tx1"/>
                </a:solidFill>
                <a:latin typeface="+mn-ea"/>
                <a:ea typeface="+mn-ea"/>
                <a:sym typeface="Arial" panose="020B0604020202020204"/>
              </a:rPr>
              <a:t>管理</a:t>
            </a:r>
            <a:r>
              <a:rPr lang="zh-CN" altLang="en-US" sz="1000" dirty="0" smtClean="0">
                <a:solidFill>
                  <a:schemeClr val="tx1"/>
                </a:solidFill>
                <a:latin typeface="+mn-ea"/>
                <a:ea typeface="+mn-ea"/>
                <a:sym typeface="Arial" panose="020B0604020202020204"/>
              </a:rPr>
              <a:t>信息</a:t>
            </a:r>
            <a:endParaRPr lang="zh-CN" altLang="en-US" sz="1000" dirty="0">
              <a:solidFill>
                <a:schemeClr val="tx1"/>
              </a:solidFill>
              <a:uFillTx/>
              <a:latin typeface="+mn-ea"/>
              <a:ea typeface="+mn-ea"/>
              <a:sym typeface="Arial" panose="020B0604020202020204"/>
            </a:endParaRPr>
          </a:p>
        </p:txBody>
      </p:sp>
      <p:sp>
        <p:nvSpPr>
          <p:cNvPr id="187" name="文本框 186"/>
          <p:cNvSpPr txBox="1"/>
          <p:nvPr>
            <p:custDataLst>
              <p:tags r:id="rId18"/>
            </p:custDataLst>
          </p:nvPr>
        </p:nvSpPr>
        <p:spPr>
          <a:xfrm>
            <a:off x="8274464" y="5930429"/>
            <a:ext cx="401667" cy="399665"/>
          </a:xfrm>
          <a:prstGeom prst="rect">
            <a:avLst/>
          </a:prstGeom>
          <a:solidFill>
            <a:schemeClr val="accent1">
              <a:lumMod val="20000"/>
              <a:lumOff val="80000"/>
            </a:schemeClr>
          </a:solidFill>
          <a:ln>
            <a:solidFill>
              <a:srgbClr val="A5A5A5"/>
            </a:solidFill>
            <a:prstDash val="sysDash"/>
          </a:ln>
        </p:spPr>
        <p:txBody>
          <a:bodyPr wrap="square" lIns="36000" tIns="0" rIns="36000" bIns="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lvl="0" algn="ctr" eaLnBrk="1" hangingPunct="1">
              <a:buFont typeface="Arial" panose="020B0604020202020204" pitchFamily="34" charset="0"/>
              <a:defRPr sz="800" kern="1200">
                <a:solidFill>
                  <a:prstClr val="black"/>
                </a:solidFill>
                <a:uLnTx/>
                <a:latin typeface="微软雅黑" panose="020B0503020204020204" pitchFamily="34" charset="-122"/>
                <a:ea typeface="微软雅黑" panose="020B0503020204020204" pitchFamily="34" charset="-122"/>
                <a:cs typeface="+mn-cs"/>
              </a:defRPr>
            </a:lvl1pPr>
          </a:lstStyle>
          <a:p>
            <a:pPr>
              <a:spcBef>
                <a:spcPts val="0"/>
              </a:spcBef>
              <a:spcAft>
                <a:spcPts val="0"/>
              </a:spcAft>
            </a:pPr>
            <a:r>
              <a:rPr lang="zh-CN" altLang="en-US" sz="1000" dirty="0" smtClean="0">
                <a:solidFill>
                  <a:schemeClr val="tx1"/>
                </a:solidFill>
                <a:latin typeface="+mn-ea"/>
                <a:ea typeface="+mn-ea"/>
                <a:sym typeface="Arial" panose="020B0604020202020204"/>
              </a:rPr>
              <a:t>组织描述</a:t>
            </a:r>
            <a:endParaRPr lang="zh-CN" altLang="en-US" sz="1000" dirty="0">
              <a:solidFill>
                <a:schemeClr val="tx1"/>
              </a:solidFill>
              <a:uFillTx/>
              <a:latin typeface="+mn-ea"/>
              <a:ea typeface="+mn-ea"/>
              <a:sym typeface="Arial" panose="020B0604020202020204"/>
            </a:endParaRPr>
          </a:p>
        </p:txBody>
      </p:sp>
      <p:cxnSp>
        <p:nvCxnSpPr>
          <p:cNvPr id="189" name="曲线连接符 188"/>
          <p:cNvCxnSpPr>
            <a:stCxn id="102" idx="4"/>
            <a:endCxn id="175" idx="0"/>
          </p:cNvCxnSpPr>
          <p:nvPr/>
        </p:nvCxnSpPr>
        <p:spPr>
          <a:xfrm rot="5400000">
            <a:off x="3389889" y="5539519"/>
            <a:ext cx="291957" cy="489862"/>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曲线连接符 190"/>
          <p:cNvCxnSpPr>
            <a:stCxn id="102" idx="4"/>
            <a:endCxn id="176" idx="0"/>
          </p:cNvCxnSpPr>
          <p:nvPr/>
        </p:nvCxnSpPr>
        <p:spPr>
          <a:xfrm rot="16200000" flipH="1">
            <a:off x="3650396" y="5768873"/>
            <a:ext cx="291957" cy="31153"/>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曲线连接符 192"/>
          <p:cNvCxnSpPr>
            <a:stCxn id="102" idx="4"/>
            <a:endCxn id="177" idx="0"/>
          </p:cNvCxnSpPr>
          <p:nvPr/>
        </p:nvCxnSpPr>
        <p:spPr>
          <a:xfrm rot="16200000" flipH="1">
            <a:off x="3910904" y="5508366"/>
            <a:ext cx="291957" cy="552168"/>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曲线连接符 194"/>
          <p:cNvCxnSpPr>
            <a:stCxn id="100" idx="4"/>
            <a:endCxn id="179" idx="0"/>
          </p:cNvCxnSpPr>
          <p:nvPr/>
        </p:nvCxnSpPr>
        <p:spPr>
          <a:xfrm rot="5400000">
            <a:off x="5457093" y="5542263"/>
            <a:ext cx="291957" cy="484374"/>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曲线连接符 196"/>
          <p:cNvCxnSpPr>
            <a:stCxn id="100" idx="4"/>
            <a:endCxn id="180" idx="0"/>
          </p:cNvCxnSpPr>
          <p:nvPr/>
        </p:nvCxnSpPr>
        <p:spPr>
          <a:xfrm rot="16200000" flipH="1">
            <a:off x="5717600" y="5766129"/>
            <a:ext cx="291957" cy="3664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曲线连接符 199"/>
          <p:cNvCxnSpPr>
            <a:stCxn id="100" idx="4"/>
            <a:endCxn id="181" idx="0"/>
          </p:cNvCxnSpPr>
          <p:nvPr/>
        </p:nvCxnSpPr>
        <p:spPr>
          <a:xfrm rot="16200000" flipH="1">
            <a:off x="5978108" y="5505622"/>
            <a:ext cx="291957" cy="557656"/>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曲线连接符 201"/>
          <p:cNvCxnSpPr>
            <a:stCxn id="98" idx="4"/>
            <a:endCxn id="183" idx="0"/>
          </p:cNvCxnSpPr>
          <p:nvPr/>
        </p:nvCxnSpPr>
        <p:spPr>
          <a:xfrm rot="5400000">
            <a:off x="7525515" y="5546226"/>
            <a:ext cx="291957" cy="476449"/>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曲线连接符 203"/>
          <p:cNvCxnSpPr>
            <a:stCxn id="98" idx="4"/>
            <a:endCxn id="187" idx="0"/>
          </p:cNvCxnSpPr>
          <p:nvPr/>
        </p:nvCxnSpPr>
        <p:spPr>
          <a:xfrm rot="16200000" flipH="1">
            <a:off x="8046529" y="5501659"/>
            <a:ext cx="291957" cy="56558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曲线连接符 205"/>
          <p:cNvCxnSpPr>
            <a:stCxn id="98" idx="4"/>
            <a:endCxn id="184" idx="0"/>
          </p:cNvCxnSpPr>
          <p:nvPr/>
        </p:nvCxnSpPr>
        <p:spPr>
          <a:xfrm rot="16200000" flipH="1">
            <a:off x="7786022" y="5762167"/>
            <a:ext cx="291957" cy="44566"/>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曲线连接符 207"/>
          <p:cNvCxnSpPr>
            <a:stCxn id="104" idx="4"/>
            <a:endCxn id="185" idx="0"/>
          </p:cNvCxnSpPr>
          <p:nvPr/>
        </p:nvCxnSpPr>
        <p:spPr>
          <a:xfrm rot="5400000">
            <a:off x="9732198" y="5688450"/>
            <a:ext cx="291957" cy="192001"/>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曲线连接符 209"/>
          <p:cNvCxnSpPr>
            <a:stCxn id="104" idx="4"/>
            <a:endCxn id="186" idx="0"/>
          </p:cNvCxnSpPr>
          <p:nvPr/>
        </p:nvCxnSpPr>
        <p:spPr>
          <a:xfrm rot="16200000" flipH="1">
            <a:off x="9978821" y="5633826"/>
            <a:ext cx="291957" cy="301247"/>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1" name="椭圆 210"/>
          <p:cNvSpPr/>
          <p:nvPr/>
        </p:nvSpPr>
        <p:spPr>
          <a:xfrm>
            <a:off x="1929912" y="1123950"/>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a:t>机会点</a:t>
            </a:r>
            <a:endParaRPr lang="zh-CN" altLang="en-US" sz="1400" dirty="0">
              <a:solidFill>
                <a:schemeClr val="tx1"/>
              </a:solidFill>
            </a:endParaRPr>
          </a:p>
        </p:txBody>
      </p:sp>
      <p:cxnSp>
        <p:nvCxnSpPr>
          <p:cNvPr id="213" name="曲线连接符 212"/>
          <p:cNvCxnSpPr>
            <a:stCxn id="211" idx="6"/>
            <a:endCxn id="37" idx="2"/>
          </p:cNvCxnSpPr>
          <p:nvPr/>
        </p:nvCxnSpPr>
        <p:spPr>
          <a:xfrm>
            <a:off x="3009912" y="1663950"/>
            <a:ext cx="2603238" cy="12700"/>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4" name="文本框 213"/>
          <p:cNvSpPr txBox="1"/>
          <p:nvPr/>
        </p:nvSpPr>
        <p:spPr>
          <a:xfrm>
            <a:off x="3607267" y="1337624"/>
            <a:ext cx="1056700" cy="313932"/>
          </a:xfrm>
          <a:prstGeom prst="rect">
            <a:avLst/>
          </a:prstGeom>
          <a:noFill/>
        </p:spPr>
        <p:txBody>
          <a:bodyPr wrap="none" rtlCol="0" anchor="t">
            <a:spAutoFit/>
          </a:bodyPr>
          <a:lstStyle/>
          <a:p>
            <a:pPr algn="ctr" fontAlgn="auto">
              <a:lnSpc>
                <a:spcPct val="120000"/>
              </a:lnSpc>
              <a:spcBef>
                <a:spcPts val="0"/>
              </a:spcBef>
            </a:pPr>
            <a:r>
              <a:rPr lang="zh-CN" altLang="en-US" sz="1200" dirty="0" smtClean="0">
                <a:sym typeface="+mn-ea"/>
              </a:rPr>
              <a:t>技术评估 </a:t>
            </a:r>
            <a:r>
              <a:rPr lang="en-US" altLang="zh-CN" sz="1200" dirty="0" smtClean="0">
                <a:sym typeface="+mn-ea"/>
              </a:rPr>
              <a:t>1:1</a:t>
            </a:r>
            <a:endParaRPr lang="zh-CN" altLang="en-US" sz="1200" dirty="0">
              <a:sym typeface="+mn-ea"/>
            </a:endParaRPr>
          </a:p>
        </p:txBody>
      </p:sp>
      <p:sp>
        <p:nvSpPr>
          <p:cNvPr id="215" name="椭圆 214"/>
          <p:cNvSpPr/>
          <p:nvPr/>
        </p:nvSpPr>
        <p:spPr>
          <a:xfrm>
            <a:off x="9640981" y="1123950"/>
            <a:ext cx="1080000" cy="1080000"/>
          </a:xfrm>
          <a:prstGeom prst="ellipse">
            <a:avLst/>
          </a:prstGeom>
          <a:solidFill>
            <a:schemeClr val="accent1">
              <a:lumMod val="60000"/>
              <a:lumOff val="40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400" dirty="0" smtClean="0">
                <a:solidFill>
                  <a:schemeClr val="tx1"/>
                </a:solidFill>
              </a:rPr>
              <a:t>工艺</a:t>
            </a:r>
            <a:endParaRPr lang="en-US" altLang="zh-CN" sz="1400" dirty="0" smtClean="0">
              <a:solidFill>
                <a:schemeClr val="tx1"/>
              </a:solidFill>
            </a:endParaRPr>
          </a:p>
          <a:p>
            <a:pPr algn="ctr"/>
            <a:r>
              <a:rPr lang="zh-CN" altLang="en-US" sz="1400" dirty="0" smtClean="0">
                <a:solidFill>
                  <a:schemeClr val="tx1"/>
                </a:solidFill>
              </a:rPr>
              <a:t>路线</a:t>
            </a:r>
            <a:endParaRPr lang="zh-CN" altLang="en-US" sz="1400" dirty="0">
              <a:solidFill>
                <a:schemeClr val="tx1"/>
              </a:solidFill>
            </a:endParaRPr>
          </a:p>
        </p:txBody>
      </p:sp>
      <p:cxnSp>
        <p:nvCxnSpPr>
          <p:cNvPr id="217" name="直接箭头连接符 216"/>
          <p:cNvCxnSpPr>
            <a:stCxn id="37" idx="6"/>
            <a:endCxn id="215" idx="2"/>
          </p:cNvCxnSpPr>
          <p:nvPr/>
        </p:nvCxnSpPr>
        <p:spPr>
          <a:xfrm>
            <a:off x="6693150" y="1663950"/>
            <a:ext cx="2947831" cy="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8" name="文本框 217"/>
          <p:cNvSpPr txBox="1"/>
          <p:nvPr/>
        </p:nvSpPr>
        <p:spPr>
          <a:xfrm>
            <a:off x="7672910" y="1365169"/>
            <a:ext cx="1082348" cy="313932"/>
          </a:xfrm>
          <a:prstGeom prst="rect">
            <a:avLst/>
          </a:prstGeom>
          <a:noFill/>
        </p:spPr>
        <p:txBody>
          <a:bodyPr wrap="none" rtlCol="0" anchor="t">
            <a:spAutoFit/>
          </a:bodyPr>
          <a:lstStyle/>
          <a:p>
            <a:pPr algn="ctr" fontAlgn="auto">
              <a:lnSpc>
                <a:spcPct val="120000"/>
              </a:lnSpc>
              <a:spcBef>
                <a:spcPts val="0"/>
              </a:spcBef>
            </a:pPr>
            <a:r>
              <a:rPr lang="zh-CN" altLang="en-US" sz="1200" dirty="0" smtClean="0">
                <a:sym typeface="+mn-ea"/>
              </a:rPr>
              <a:t>工艺需求 </a:t>
            </a:r>
            <a:r>
              <a:rPr lang="en-US" altLang="zh-CN" sz="1200" dirty="0" smtClean="0">
                <a:sym typeface="+mn-ea"/>
              </a:rPr>
              <a:t>N:1</a:t>
            </a:r>
            <a:endParaRPr lang="zh-CN" altLang="en-US" sz="1200" dirty="0">
              <a:sym typeface="+mn-ea"/>
            </a:endParaRPr>
          </a:p>
        </p:txBody>
      </p:sp>
      <p:grpSp>
        <p:nvGrpSpPr>
          <p:cNvPr id="219" name="组合 218"/>
          <p:cNvGrpSpPr/>
          <p:nvPr/>
        </p:nvGrpSpPr>
        <p:grpSpPr>
          <a:xfrm>
            <a:off x="10808535" y="3169208"/>
            <a:ext cx="861314" cy="439455"/>
            <a:chOff x="3314700" y="5604042"/>
            <a:chExt cx="861314" cy="439455"/>
          </a:xfrm>
        </p:grpSpPr>
        <p:sp>
          <p:nvSpPr>
            <p:cNvPr id="220" name="椭圆 219"/>
            <p:cNvSpPr/>
            <p:nvPr/>
          </p:nvSpPr>
          <p:spPr>
            <a:xfrm>
              <a:off x="3314700" y="5622042"/>
              <a:ext cx="144000" cy="144000"/>
            </a:xfrm>
            <a:prstGeom prst="ellipse">
              <a:avLst/>
            </a:prstGeom>
            <a:solidFill>
              <a:schemeClr val="accent4"/>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221" name="矩形 220"/>
            <p:cNvSpPr/>
            <p:nvPr/>
          </p:nvSpPr>
          <p:spPr>
            <a:xfrm>
              <a:off x="3528014" y="5604042"/>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dirty="0"/>
                <a:t>本项目</a:t>
              </a:r>
              <a:endParaRPr lang="zh-CN" altLang="en-US" sz="1000" dirty="0">
                <a:solidFill>
                  <a:schemeClr val="tx1"/>
                </a:solidFill>
              </a:endParaRPr>
            </a:p>
          </p:txBody>
        </p:sp>
        <p:sp>
          <p:nvSpPr>
            <p:cNvPr id="222" name="椭圆 221"/>
            <p:cNvSpPr/>
            <p:nvPr/>
          </p:nvSpPr>
          <p:spPr>
            <a:xfrm>
              <a:off x="3314700" y="5881497"/>
              <a:ext cx="144000" cy="144000"/>
            </a:xfrm>
            <a:prstGeom prst="ellipse">
              <a:avLst/>
            </a:prstGeom>
            <a:solidFill>
              <a:schemeClr val="accent1"/>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223" name="矩形 222"/>
            <p:cNvSpPr/>
            <p:nvPr/>
          </p:nvSpPr>
          <p:spPr>
            <a:xfrm>
              <a:off x="3528014" y="5863497"/>
              <a:ext cx="648000" cy="180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dirty="0" smtClean="0"/>
                <a:t>其它项目</a:t>
              </a:r>
              <a:endParaRPr lang="zh-CN" altLang="en-US" sz="1000" dirty="0">
                <a:solidFill>
                  <a:schemeClr val="tx1"/>
                </a:solidFill>
              </a:endParaRPr>
            </a:p>
          </p:txBody>
        </p:sp>
      </p:grpSp>
    </p:spTree>
    <p:custDataLst>
      <p:tags r:id="rId19"/>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技术工艺</a:t>
            </a:r>
            <a:r>
              <a:rPr lang="zh-CN" sz="2800">
                <a:solidFill>
                  <a:schemeClr val="tx1"/>
                </a:solidFill>
                <a:latin typeface="+mn-ea"/>
                <a:ea typeface="+mn-ea"/>
                <a:sym typeface="+mn-ea"/>
              </a:rPr>
              <a:t>评估业务能力</a:t>
            </a:r>
            <a:r>
              <a:rPr lang="zh-CN" sz="2800">
                <a:solidFill>
                  <a:schemeClr val="tx1"/>
                </a:solidFill>
                <a:latin typeface="+mn-ea"/>
                <a:ea typeface="+mn-ea"/>
                <a:sym typeface="+mn-ea"/>
              </a:rPr>
              <a:t>架构</a:t>
            </a:r>
            <a:endParaRPr lang="zh-CN" sz="2800">
              <a:solidFill>
                <a:schemeClr val="tx1"/>
              </a:solidFill>
              <a:latin typeface="+mn-ea"/>
              <a:ea typeface="+mn-ea"/>
              <a:sym typeface="+mn-ea"/>
            </a:endParaRPr>
          </a:p>
        </p:txBody>
      </p:sp>
      <p:grpSp>
        <p:nvGrpSpPr>
          <p:cNvPr id="3" name="组合 2"/>
          <p:cNvGrpSpPr/>
          <p:nvPr/>
        </p:nvGrpSpPr>
        <p:grpSpPr>
          <a:xfrm>
            <a:off x="681990" y="1336675"/>
            <a:ext cx="10335260" cy="2493010"/>
            <a:chOff x="1565646" y="1207842"/>
            <a:chExt cx="9216000" cy="3168000"/>
          </a:xfrm>
        </p:grpSpPr>
        <p:cxnSp>
          <p:nvCxnSpPr>
            <p:cNvPr id="4" name="直接箭头连接符 3"/>
            <p:cNvCxnSpPr/>
            <p:nvPr/>
          </p:nvCxnSpPr>
          <p:spPr>
            <a:xfrm>
              <a:off x="1748053" y="3844340"/>
              <a:ext cx="8919210" cy="0"/>
            </a:xfrm>
            <a:prstGeom prst="straightConnector1">
              <a:avLst/>
            </a:prstGeom>
            <a:ln w="31750">
              <a:solidFill>
                <a:schemeClr val="accent4">
                  <a:lumMod val="75000"/>
                </a:schemeClr>
              </a:solidFill>
              <a:tailEnd type="arrow" w="med" len="med"/>
            </a:ln>
          </p:spPr>
          <p:style>
            <a:lnRef idx="0">
              <a:srgbClr val="FFFFFF"/>
            </a:lnRef>
            <a:fillRef idx="0">
              <a:srgbClr val="FFFFFF"/>
            </a:fillRef>
            <a:effectRef idx="0">
              <a:srgbClr val="FFFFFF"/>
            </a:effectRef>
            <a:fontRef idx="minor">
              <a:schemeClr val="tx1"/>
            </a:fontRef>
          </p:style>
        </p:cxnSp>
        <p:sp>
          <p:nvSpPr>
            <p:cNvPr id="49" name="矩形 48"/>
            <p:cNvSpPr/>
            <p:nvPr/>
          </p:nvSpPr>
          <p:spPr>
            <a:xfrm>
              <a:off x="3599004"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产品计划和确定项目</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50" name="矩形 49"/>
            <p:cNvSpPr/>
            <p:nvPr/>
          </p:nvSpPr>
          <p:spPr>
            <a:xfrm flipH="1">
              <a:off x="7827723"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产品和过程确认</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7" name="矩形 6"/>
            <p:cNvSpPr/>
            <p:nvPr/>
          </p:nvSpPr>
          <p:spPr>
            <a:xfrm flipH="1">
              <a:off x="5008577"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产品设计和开发</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52" name="矩形 51"/>
            <p:cNvSpPr/>
            <p:nvPr>
              <p:custDataLst>
                <p:tags r:id="rId2"/>
              </p:custDataLst>
            </p:nvPr>
          </p:nvSpPr>
          <p:spPr>
            <a:xfrm flipH="1">
              <a:off x="2189431"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客户需求管理</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8" name="矩形 7"/>
            <p:cNvSpPr/>
            <p:nvPr>
              <p:custDataLst>
                <p:tags r:id="rId3"/>
              </p:custDataLst>
            </p:nvPr>
          </p:nvSpPr>
          <p:spPr>
            <a:xfrm flipH="1">
              <a:off x="6418150"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过程设计开发</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55" name="矩形 54"/>
            <p:cNvSpPr/>
            <p:nvPr>
              <p:custDataLst>
                <p:tags r:id="rId4"/>
              </p:custDataLst>
            </p:nvPr>
          </p:nvSpPr>
          <p:spPr>
            <a:xfrm>
              <a:off x="9237297" y="3628340"/>
              <a:ext cx="1008000" cy="432000"/>
            </a:xfrm>
            <a:prstGeom prst="rect">
              <a:avLst/>
            </a:prstGeom>
            <a:solidFill>
              <a:schemeClr val="bg2">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hangingPunct="0">
                <a:spcBef>
                  <a:spcPts val="0"/>
                </a:spcBef>
                <a:spcAft>
                  <a:spcPts val="0"/>
                </a:spcAft>
              </a:pPr>
              <a:r>
                <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rPr>
                <a:t>产品量产</a:t>
              </a:r>
              <a:endParaRPr lang="zh-CN" altLang="en-US" sz="1000" b="1" kern="0" dirty="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sp>
          <p:nvSpPr>
            <p:cNvPr id="20" name="矩形 19"/>
            <p:cNvSpPr/>
            <p:nvPr/>
          </p:nvSpPr>
          <p:spPr>
            <a:xfrm>
              <a:off x="1722653" y="3481655"/>
              <a:ext cx="8928100" cy="535940"/>
            </a:xfrm>
            <a:prstGeom prst="rect">
              <a:avLst/>
            </a:prstGeom>
            <a:no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sz="1000" b="1" kern="0">
                <a:solidFill>
                  <a:schemeClr val="tx1">
                    <a:lumMod val="85000"/>
                    <a:lumOff val="15000"/>
                  </a:schemeClr>
                </a:solidFill>
                <a:uFillTx/>
                <a:latin typeface="微软雅黑" panose="020B0503020204020204" pitchFamily="34" charset="-122"/>
                <a:ea typeface="微软雅黑" panose="020B0503020204020204" pitchFamily="34" charset="-122"/>
                <a:sym typeface="Arial" panose="020B0604020202020204"/>
              </a:endParaRPr>
            </a:p>
          </p:txBody>
        </p:sp>
        <p:grpSp>
          <p:nvGrpSpPr>
            <p:cNvPr id="22" name="组合 21"/>
            <p:cNvGrpSpPr/>
            <p:nvPr/>
          </p:nvGrpSpPr>
          <p:grpSpPr>
            <a:xfrm>
              <a:off x="1726463" y="1985595"/>
              <a:ext cx="8822690" cy="1436370"/>
              <a:chOff x="3679" y="5260"/>
              <a:chExt cx="13894" cy="1853"/>
            </a:xfrm>
          </p:grpSpPr>
          <p:sp>
            <p:nvSpPr>
              <p:cNvPr id="23" name="矩形 22"/>
              <p:cNvSpPr/>
              <p:nvPr/>
            </p:nvSpPr>
            <p:spPr>
              <a:xfrm>
                <a:off x="7486" y="5260"/>
                <a:ext cx="1556" cy="932"/>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齐套性管理</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（数据连接）</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24" name="矩形 23"/>
              <p:cNvSpPr/>
              <p:nvPr/>
            </p:nvSpPr>
            <p:spPr>
              <a:xfrm>
                <a:off x="9191" y="5260"/>
                <a:ext cx="1438" cy="932"/>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预警</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a:t>
                </a:r>
                <a:r>
                  <a:rPr lang="zh-CN" altLang="en-US" sz="1000" kern="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临期自动</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27" name="矩形 26"/>
              <p:cNvSpPr/>
              <p:nvPr/>
            </p:nvSpPr>
            <p:spPr>
              <a:xfrm>
                <a:off x="10804" y="5260"/>
                <a:ext cx="1539" cy="932"/>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告警</a:t>
                </a:r>
                <a:b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b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超期自动</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62" name="矩形 61"/>
              <p:cNvSpPr/>
              <p:nvPr/>
            </p:nvSpPr>
            <p:spPr>
              <a:xfrm>
                <a:off x="12436" y="5260"/>
                <a:ext cx="1654" cy="1841"/>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活动</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流程完成预测</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（未来推算）</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63" name="矩形 62"/>
              <p:cNvSpPr/>
              <p:nvPr/>
            </p:nvSpPr>
            <p:spPr>
              <a:xfrm>
                <a:off x="14182" y="5260"/>
                <a:ext cx="1654" cy="1841"/>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赛马</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（智能排序）</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64" name="矩形 63"/>
              <p:cNvSpPr/>
              <p:nvPr/>
            </p:nvSpPr>
            <p:spPr>
              <a:xfrm>
                <a:off x="7476" y="6343"/>
                <a:ext cx="4867" cy="770"/>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任务令</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（数据找人，察打一体）</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65" name="矩形 64"/>
              <p:cNvSpPr/>
              <p:nvPr/>
            </p:nvSpPr>
            <p:spPr>
              <a:xfrm>
                <a:off x="15919" y="5260"/>
                <a:ext cx="1654" cy="1841"/>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rPr>
                  <a:t>流程绩效度量与分析</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66" name="矩形 65"/>
              <p:cNvSpPr/>
              <p:nvPr/>
            </p:nvSpPr>
            <p:spPr>
              <a:xfrm>
                <a:off x="5715" y="5260"/>
                <a:ext cx="1579" cy="1841"/>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全程可视</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000" kern="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（计划/实际/预测）</a:t>
                </a:r>
                <a:endPar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7" name="矩形 66"/>
              <p:cNvSpPr/>
              <p:nvPr/>
            </p:nvSpPr>
            <p:spPr>
              <a:xfrm>
                <a:off x="3679" y="5260"/>
                <a:ext cx="1935" cy="1841"/>
              </a:xfrm>
              <a:prstGeom prst="rect">
                <a:avLst/>
              </a:prstGeom>
              <a:solidFill>
                <a:srgbClr val="FFF2CC"/>
              </a:solidFill>
              <a:ln>
                <a:noFill/>
              </a:ln>
            </p:spPr>
            <p:style>
              <a:lnRef idx="2">
                <a:schemeClr val="dk1"/>
              </a:lnRef>
              <a:fillRef idx="1">
                <a:schemeClr val="lt1"/>
              </a:fillRef>
              <a:effectRef idx="0">
                <a:schemeClr val="dk1"/>
              </a:effectRef>
              <a:fontRef idx="minor">
                <a:schemeClr val="dk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场景化</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SLA</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配置</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（时间基线</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AI</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辅助优化）</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68" name="组合 67"/>
            <p:cNvGrpSpPr/>
            <p:nvPr/>
          </p:nvGrpSpPr>
          <p:grpSpPr>
            <a:xfrm>
              <a:off x="1727733" y="1313130"/>
              <a:ext cx="8891905" cy="675640"/>
              <a:chOff x="3681" y="3702"/>
              <a:chExt cx="14003" cy="1557"/>
            </a:xfrm>
          </p:grpSpPr>
          <p:sp>
            <p:nvSpPr>
              <p:cNvPr id="69" name="上箭头 4"/>
              <p:cNvSpPr/>
              <p:nvPr/>
            </p:nvSpPr>
            <p:spPr>
              <a:xfrm>
                <a:off x="5458" y="4863"/>
                <a:ext cx="464" cy="397"/>
              </a:xfrm>
              <a:prstGeom prst="upArrow">
                <a:avLst/>
              </a:prstGeom>
              <a:solidFill>
                <a:schemeClr val="accent4">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sz="1200" kern="0">
                  <a:solidFill>
                    <a:schemeClr val="tx1"/>
                  </a:solidFill>
                  <a:uFillTx/>
                  <a:latin typeface="微软雅黑" panose="020B0503020204020204" pitchFamily="34" charset="-122"/>
                  <a:ea typeface="微软雅黑" panose="020B0503020204020204" pitchFamily="34" charset="-122"/>
                  <a:sym typeface="Arial" panose="020B0604020202020204"/>
                </a:endParaRPr>
              </a:p>
            </p:txBody>
          </p:sp>
          <p:sp>
            <p:nvSpPr>
              <p:cNvPr id="70" name="上箭头 5"/>
              <p:cNvSpPr/>
              <p:nvPr/>
            </p:nvSpPr>
            <p:spPr>
              <a:xfrm>
                <a:off x="15580" y="4863"/>
                <a:ext cx="464" cy="397"/>
              </a:xfrm>
              <a:prstGeom prst="upArrow">
                <a:avLst/>
              </a:prstGeom>
              <a:solidFill>
                <a:schemeClr val="accent4">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endParaRPr lang="zh-CN" altLang="en-US" sz="1200" kern="0">
                  <a:solidFill>
                    <a:schemeClr val="tx1"/>
                  </a:solidFill>
                  <a:uFillTx/>
                  <a:latin typeface="微软雅黑" panose="020B0503020204020204" pitchFamily="34" charset="-122"/>
                  <a:ea typeface="微软雅黑" panose="020B0503020204020204" pitchFamily="34" charset="-122"/>
                  <a:sym typeface="+mn-ea"/>
                </a:endParaRPr>
              </a:p>
            </p:txBody>
          </p:sp>
          <p:sp>
            <p:nvSpPr>
              <p:cNvPr id="29" name="上箭头 7"/>
              <p:cNvSpPr/>
              <p:nvPr/>
            </p:nvSpPr>
            <p:spPr>
              <a:xfrm>
                <a:off x="8856" y="4863"/>
                <a:ext cx="464" cy="397"/>
              </a:xfrm>
              <a:prstGeom prst="upArrow">
                <a:avLst/>
              </a:prstGeom>
              <a:solidFill>
                <a:schemeClr val="accent4">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endParaRPr lang="zh-CN" altLang="en-US" sz="1200" kern="0">
                  <a:solidFill>
                    <a:schemeClr val="tx1"/>
                  </a:solidFill>
                  <a:uFillTx/>
                  <a:latin typeface="微软雅黑" panose="020B0503020204020204" pitchFamily="34" charset="-122"/>
                  <a:ea typeface="微软雅黑" panose="020B0503020204020204" pitchFamily="34" charset="-122"/>
                  <a:sym typeface="+mn-ea"/>
                </a:endParaRPr>
              </a:p>
            </p:txBody>
          </p:sp>
          <p:sp>
            <p:nvSpPr>
              <p:cNvPr id="72" name="燕尾形 46"/>
              <p:cNvSpPr/>
              <p:nvPr/>
            </p:nvSpPr>
            <p:spPr>
              <a:xfrm>
                <a:off x="3681"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rPr>
                  <a:t>端到端状态可视</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73" name="燕尾形 47"/>
              <p:cNvSpPr/>
              <p:nvPr/>
            </p:nvSpPr>
            <p:spPr>
              <a:xfrm>
                <a:off x="13002"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行动</a:t>
                </a:r>
                <a:r>
                  <a:rPr kumimoji="0" lang="en-US" altLang="zh-CN"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&amp;</a:t>
                </a:r>
                <a:r>
                  <a:rPr kumimoji="0" lang="zh-CN" altLang="en-US"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跟踪闭环</a:t>
                </a:r>
                <a:endParaRPr kumimoji="0" lang="zh-CN" altLang="en-US"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74" name="燕尾形 53"/>
              <p:cNvSpPr/>
              <p:nvPr/>
            </p:nvSpPr>
            <p:spPr>
              <a:xfrm>
                <a:off x="15332"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管理优化</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5" name="燕尾形 77"/>
              <p:cNvSpPr/>
              <p:nvPr/>
            </p:nvSpPr>
            <p:spPr>
              <a:xfrm>
                <a:off x="6011"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rPr>
                  <a:t>智能识别问题</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76" name="燕尾形 77"/>
              <p:cNvSpPr/>
              <p:nvPr/>
            </p:nvSpPr>
            <p:spPr>
              <a:xfrm>
                <a:off x="8341"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rPr>
                  <a:t>自动定位问题</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77" name="燕尾形 77"/>
              <p:cNvSpPr/>
              <p:nvPr/>
            </p:nvSpPr>
            <p:spPr>
              <a:xfrm>
                <a:off x="10672" y="3702"/>
                <a:ext cx="2352" cy="1185"/>
              </a:xfrm>
              <a:prstGeom prst="chevron">
                <a:avLst>
                  <a:gd name="adj" fmla="val 18000"/>
                </a:avLst>
              </a:prstGeom>
              <a:solidFill>
                <a:srgbClr val="FFE3BB"/>
              </a:solidFill>
              <a:ln>
                <a:no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rPr>
                  <a:t>自动分析问题</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78" name="上箭头 17"/>
              <p:cNvSpPr/>
              <p:nvPr/>
            </p:nvSpPr>
            <p:spPr>
              <a:xfrm>
                <a:off x="12116" y="4863"/>
                <a:ext cx="464" cy="397"/>
              </a:xfrm>
              <a:prstGeom prst="upArrow">
                <a:avLst/>
              </a:prstGeom>
              <a:solidFill>
                <a:schemeClr val="accent4">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endParaRPr lang="zh-CN" altLang="en-US" sz="1200" kern="0">
                  <a:solidFill>
                    <a:schemeClr val="tx1"/>
                  </a:solidFill>
                  <a:uFillTx/>
                  <a:latin typeface="微软雅黑" panose="020B0503020204020204" pitchFamily="34" charset="-122"/>
                  <a:ea typeface="微软雅黑" panose="020B0503020204020204" pitchFamily="34" charset="-122"/>
                  <a:sym typeface="+mn-ea"/>
                </a:endParaRPr>
              </a:p>
            </p:txBody>
          </p:sp>
        </p:grpSp>
        <p:sp>
          <p:nvSpPr>
            <p:cNvPr id="30" name="矩形 29"/>
            <p:cNvSpPr/>
            <p:nvPr/>
          </p:nvSpPr>
          <p:spPr>
            <a:xfrm>
              <a:off x="1565646" y="1207842"/>
              <a:ext cx="9216000" cy="3168000"/>
            </a:xfrm>
            <a:prstGeom prst="rect">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Arial" panose="020B0604020202020204"/>
                </a:rPr>
                <a:t>研发过程可视管理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Arial" panose="020B0604020202020204"/>
              </a:endParaRPr>
            </a:p>
          </p:txBody>
        </p:sp>
      </p:grpSp>
      <p:grpSp>
        <p:nvGrpSpPr>
          <p:cNvPr id="11" name="组合 10"/>
          <p:cNvGrpSpPr/>
          <p:nvPr/>
        </p:nvGrpSpPr>
        <p:grpSpPr>
          <a:xfrm>
            <a:off x="681990" y="3989705"/>
            <a:ext cx="10333990" cy="1561465"/>
            <a:chOff x="1074" y="6918"/>
            <a:chExt cx="16274" cy="1824"/>
          </a:xfrm>
        </p:grpSpPr>
        <p:sp>
          <p:nvSpPr>
            <p:cNvPr id="31" name="矩形 30"/>
            <p:cNvSpPr/>
            <p:nvPr/>
          </p:nvSpPr>
          <p:spPr>
            <a:xfrm>
              <a:off x="12528" y="6918"/>
              <a:ext cx="4821" cy="1814"/>
            </a:xfrm>
            <a:prstGeom prst="rect">
              <a:avLst/>
            </a:prstGeom>
            <a:solidFill>
              <a:schemeClr val="accent1">
                <a:lumMod val="20000"/>
                <a:lumOff val="80000"/>
              </a:schemeClr>
            </a:solidFill>
            <a:ln w="190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hangingPunct="0">
                <a:spcBef>
                  <a:spcPts val="0"/>
                </a:spcBef>
                <a:spcAft>
                  <a:spcPts val="0"/>
                </a:spcAft>
              </a:pPr>
              <a:r>
                <a:rPr lang="zh-CN" altLang="en-US" sz="1400" b="1" kern="0" dirty="0">
                  <a:solidFill>
                    <a:srgbClr val="F87D2F"/>
                  </a:solidFill>
                  <a:uFillTx/>
                  <a:latin typeface="微软雅黑" panose="020B0503020204020204" pitchFamily="34" charset="-122"/>
                  <a:ea typeface="微软雅黑" panose="020B0503020204020204" pitchFamily="34" charset="-122"/>
                  <a:sym typeface="+mn-ea"/>
                </a:rPr>
                <a:t>项目计划管理</a:t>
              </a:r>
              <a:endParaRPr lang="zh-CN" altLang="en-US" sz="14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32" name="矩形 31"/>
            <p:cNvSpPr/>
            <p:nvPr/>
          </p:nvSpPr>
          <p:spPr>
            <a:xfrm>
              <a:off x="14265" y="7114"/>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交付件管理</a:t>
              </a:r>
              <a:endParaRPr lang="zh-CN" altLang="en-US" sz="1050" kern="0" dirty="0">
                <a:solidFill>
                  <a:schemeClr val="tx1"/>
                </a:solidFill>
                <a:uFillTx/>
                <a:sym typeface="+mn-ea"/>
              </a:endParaRPr>
            </a:p>
          </p:txBody>
        </p:sp>
        <p:sp>
          <p:nvSpPr>
            <p:cNvPr id="33" name="矩形 32"/>
            <p:cNvSpPr/>
            <p:nvPr/>
          </p:nvSpPr>
          <p:spPr>
            <a:xfrm>
              <a:off x="12708" y="7114"/>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项目计划生成</a:t>
              </a:r>
              <a:endParaRPr lang="zh-CN" altLang="en-US" sz="1050" kern="0" dirty="0">
                <a:solidFill>
                  <a:schemeClr val="tx1"/>
                </a:solidFill>
                <a:uFillTx/>
                <a:sym typeface="+mn-ea"/>
              </a:endParaRPr>
            </a:p>
          </p:txBody>
        </p:sp>
        <p:sp>
          <p:nvSpPr>
            <p:cNvPr id="34" name="矩形 33"/>
            <p:cNvSpPr/>
            <p:nvPr/>
          </p:nvSpPr>
          <p:spPr>
            <a:xfrm>
              <a:off x="14265" y="7750"/>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权限控制</a:t>
              </a:r>
              <a:endParaRPr lang="zh-CN" altLang="en-US" sz="1050" kern="0" dirty="0">
                <a:solidFill>
                  <a:schemeClr val="tx1"/>
                </a:solidFill>
                <a:uFillTx/>
                <a:sym typeface="+mn-ea"/>
              </a:endParaRPr>
            </a:p>
          </p:txBody>
        </p:sp>
        <p:sp>
          <p:nvSpPr>
            <p:cNvPr id="35" name="矩形 34"/>
            <p:cNvSpPr/>
            <p:nvPr/>
          </p:nvSpPr>
          <p:spPr>
            <a:xfrm>
              <a:off x="1074" y="6928"/>
              <a:ext cx="11326" cy="1814"/>
            </a:xfrm>
            <a:prstGeom prst="rect">
              <a:avLst/>
            </a:prstGeom>
            <a:solidFill>
              <a:schemeClr val="accent1">
                <a:lumMod val="20000"/>
                <a:lumOff val="80000"/>
              </a:schemeClr>
            </a:solidFill>
            <a:ln w="190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hangingPunct="0">
                <a:spcBef>
                  <a:spcPts val="0"/>
                </a:spcBef>
                <a:spcAft>
                  <a:spcPts val="0"/>
                </a:spcAft>
              </a:pPr>
              <a:r>
                <a:rPr lang="zh-CN" altLang="en-US" sz="1400" b="1" kern="0" dirty="0">
                  <a:solidFill>
                    <a:srgbClr val="F87D2F"/>
                  </a:solidFill>
                  <a:uFillTx/>
                  <a:latin typeface="微软雅黑" panose="020B0503020204020204" pitchFamily="34" charset="-122"/>
                  <a:ea typeface="微软雅黑" panose="020B0503020204020204" pitchFamily="34" charset="-122"/>
                  <a:sym typeface="+mn-ea"/>
                </a:rPr>
                <a:t>工艺</a:t>
              </a:r>
              <a:r>
                <a:rPr lang="zh-CN" altLang="en-US" sz="1400" b="1" kern="0" dirty="0">
                  <a:solidFill>
                    <a:srgbClr val="F87D2F"/>
                  </a:solidFill>
                  <a:uFillTx/>
                  <a:latin typeface="微软雅黑" panose="020B0503020204020204" pitchFamily="34" charset="-122"/>
                  <a:ea typeface="微软雅黑" panose="020B0503020204020204" pitchFamily="34" charset="-122"/>
                  <a:sym typeface="+mn-ea"/>
                </a:rPr>
                <a:t>评估管理</a:t>
              </a:r>
              <a:endParaRPr lang="zh-CN" altLang="en-US" sz="14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38" name="矩形 37"/>
            <p:cNvSpPr/>
            <p:nvPr/>
          </p:nvSpPr>
          <p:spPr>
            <a:xfrm>
              <a:off x="1178" y="7114"/>
              <a:ext cx="3742" cy="113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lvl="0" algn="ctr" hangingPunct="0">
                <a:spcBef>
                  <a:spcPts val="0"/>
                </a:spcBef>
                <a:spcAft>
                  <a:spcPts val="0"/>
                </a:spcAft>
                <a:buClrTx/>
                <a:buSzTx/>
                <a:buFontTx/>
              </a:pPr>
              <a:r>
                <a:rPr lang="zh-CN" altLang="en-US" sz="1200" b="1" kern="0" dirty="0">
                  <a:solidFill>
                    <a:schemeClr val="tx1"/>
                  </a:solidFill>
                  <a:uFillTx/>
                  <a:sym typeface="+mn-ea"/>
                </a:rPr>
                <a:t>接收工艺</a:t>
              </a:r>
              <a:r>
                <a:rPr lang="zh-CN" altLang="en-US" sz="1200" b="1" kern="0" dirty="0">
                  <a:solidFill>
                    <a:schemeClr val="tx1"/>
                  </a:solidFill>
                  <a:uFillTx/>
                  <a:sym typeface="+mn-ea"/>
                </a:rPr>
                <a:t>评估需求</a:t>
              </a:r>
              <a:endParaRPr lang="zh-CN" altLang="en-US" sz="1200" b="1" kern="0" dirty="0">
                <a:solidFill>
                  <a:schemeClr val="tx1"/>
                </a:solidFill>
                <a:uFillTx/>
                <a:sym typeface="+mn-ea"/>
              </a:endParaRPr>
            </a:p>
          </p:txBody>
        </p:sp>
        <p:sp>
          <p:nvSpPr>
            <p:cNvPr id="39" name="矩形 38"/>
            <p:cNvSpPr/>
            <p:nvPr/>
          </p:nvSpPr>
          <p:spPr>
            <a:xfrm>
              <a:off x="1297" y="7634"/>
              <a:ext cx="1174"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a:t>
              </a:r>
              <a:r>
                <a:rPr lang="zh-CN" altLang="en-US" sz="1050" kern="0" dirty="0">
                  <a:solidFill>
                    <a:schemeClr val="tx1"/>
                  </a:solidFill>
                  <a:uFillTx/>
                  <a:sym typeface="+mn-ea"/>
                </a:rPr>
                <a:t>创建</a:t>
              </a:r>
              <a:endParaRPr lang="zh-CN" altLang="en-US" sz="1050" kern="0" dirty="0">
                <a:solidFill>
                  <a:schemeClr val="tx1"/>
                </a:solidFill>
                <a:uFillTx/>
                <a:sym typeface="+mn-ea"/>
              </a:endParaRPr>
            </a:p>
          </p:txBody>
        </p:sp>
        <p:sp>
          <p:nvSpPr>
            <p:cNvPr id="40" name="矩形 39"/>
            <p:cNvSpPr/>
            <p:nvPr/>
          </p:nvSpPr>
          <p:spPr>
            <a:xfrm>
              <a:off x="3705" y="7634"/>
              <a:ext cx="1093"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需求审核</a:t>
              </a:r>
              <a:endParaRPr lang="zh-CN" altLang="en-US" sz="1050" kern="0" dirty="0">
                <a:solidFill>
                  <a:schemeClr val="tx1"/>
                </a:solidFill>
                <a:uFillTx/>
                <a:sym typeface="+mn-ea"/>
              </a:endParaRPr>
            </a:p>
          </p:txBody>
        </p:sp>
        <p:sp>
          <p:nvSpPr>
            <p:cNvPr id="42" name="矩形 41"/>
            <p:cNvSpPr/>
            <p:nvPr/>
          </p:nvSpPr>
          <p:spPr>
            <a:xfrm>
              <a:off x="5031" y="7114"/>
              <a:ext cx="4238" cy="113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lvl="0" algn="ctr" hangingPunct="0">
                <a:spcBef>
                  <a:spcPts val="0"/>
                </a:spcBef>
                <a:spcAft>
                  <a:spcPts val="0"/>
                </a:spcAft>
                <a:buClrTx/>
                <a:buSzTx/>
                <a:buFontTx/>
              </a:pPr>
              <a:r>
                <a:rPr lang="zh-CN" altLang="en-US" sz="1200" b="1" kern="0" dirty="0">
                  <a:solidFill>
                    <a:schemeClr val="tx1"/>
                  </a:solidFill>
                  <a:uFillTx/>
                  <a:sym typeface="+mn-ea"/>
                </a:rPr>
                <a:t>解析工艺</a:t>
              </a:r>
              <a:r>
                <a:rPr lang="zh-CN" altLang="en-US" sz="1200" b="1" kern="0" dirty="0">
                  <a:solidFill>
                    <a:schemeClr val="tx1"/>
                  </a:solidFill>
                  <a:uFillTx/>
                  <a:sym typeface="+mn-ea"/>
                </a:rPr>
                <a:t>评估需求</a:t>
              </a:r>
              <a:endParaRPr lang="zh-CN" altLang="en-US" sz="1200" b="1" kern="0" dirty="0">
                <a:solidFill>
                  <a:schemeClr val="tx1"/>
                </a:solidFill>
                <a:uFillTx/>
                <a:sym typeface="+mn-ea"/>
              </a:endParaRPr>
            </a:p>
          </p:txBody>
        </p:sp>
        <p:sp>
          <p:nvSpPr>
            <p:cNvPr id="44" name="矩形 43"/>
            <p:cNvSpPr/>
            <p:nvPr/>
          </p:nvSpPr>
          <p:spPr>
            <a:xfrm>
              <a:off x="6646" y="7634"/>
              <a:ext cx="1196"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可行性</a:t>
              </a:r>
              <a:r>
                <a:rPr lang="zh-CN" altLang="en-US" sz="1050" kern="0" dirty="0">
                  <a:solidFill>
                    <a:schemeClr val="tx1"/>
                  </a:solidFill>
                  <a:uFillTx/>
                  <a:sym typeface="+mn-ea"/>
                </a:rPr>
                <a:t>评估</a:t>
              </a:r>
              <a:endParaRPr lang="zh-CN" altLang="en-US" sz="1050" kern="0" dirty="0">
                <a:solidFill>
                  <a:schemeClr val="tx1"/>
                </a:solidFill>
                <a:uFillTx/>
                <a:sym typeface="+mn-ea"/>
              </a:endParaRPr>
            </a:p>
          </p:txBody>
        </p:sp>
        <p:sp>
          <p:nvSpPr>
            <p:cNvPr id="45" name="矩形 44"/>
            <p:cNvSpPr/>
            <p:nvPr/>
          </p:nvSpPr>
          <p:spPr>
            <a:xfrm>
              <a:off x="7958" y="7634"/>
              <a:ext cx="1196"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可行性审核</a:t>
              </a:r>
              <a:endParaRPr lang="zh-CN" altLang="en-US" sz="1050" kern="0" dirty="0">
                <a:solidFill>
                  <a:schemeClr val="tx1"/>
                </a:solidFill>
                <a:uFillTx/>
                <a:sym typeface="+mn-ea"/>
              </a:endParaRPr>
            </a:p>
          </p:txBody>
        </p:sp>
        <p:sp>
          <p:nvSpPr>
            <p:cNvPr id="57" name="矩形 56"/>
            <p:cNvSpPr/>
            <p:nvPr/>
          </p:nvSpPr>
          <p:spPr>
            <a:xfrm>
              <a:off x="9375" y="7114"/>
              <a:ext cx="2826" cy="113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lvl="0" algn="ctr" hangingPunct="0">
                <a:spcBef>
                  <a:spcPts val="0"/>
                </a:spcBef>
                <a:spcAft>
                  <a:spcPts val="0"/>
                </a:spcAft>
                <a:buClrTx/>
                <a:buSzTx/>
                <a:buFontTx/>
              </a:pPr>
              <a:r>
                <a:rPr lang="zh-CN" altLang="en-US" sz="1200" b="1" kern="0" dirty="0">
                  <a:solidFill>
                    <a:schemeClr val="tx1"/>
                  </a:solidFill>
                  <a:uFillTx/>
                  <a:sym typeface="+mn-ea"/>
                </a:rPr>
                <a:t>输出工艺评估</a:t>
              </a:r>
              <a:r>
                <a:rPr lang="zh-CN" altLang="en-US" sz="1200" b="1" kern="0" dirty="0">
                  <a:solidFill>
                    <a:schemeClr val="tx1"/>
                  </a:solidFill>
                  <a:uFillTx/>
                  <a:sym typeface="+mn-ea"/>
                </a:rPr>
                <a:t>结果</a:t>
              </a:r>
              <a:endParaRPr lang="zh-CN" altLang="en-US" sz="1200" b="1" kern="0" dirty="0">
                <a:solidFill>
                  <a:schemeClr val="tx1"/>
                </a:solidFill>
                <a:uFillTx/>
                <a:sym typeface="+mn-ea"/>
              </a:endParaRPr>
            </a:p>
          </p:txBody>
        </p:sp>
        <p:sp>
          <p:nvSpPr>
            <p:cNvPr id="79" name="矩形 78"/>
            <p:cNvSpPr/>
            <p:nvPr/>
          </p:nvSpPr>
          <p:spPr>
            <a:xfrm>
              <a:off x="9546" y="7634"/>
              <a:ext cx="1196"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汇总</a:t>
              </a:r>
              <a:r>
                <a:rPr lang="zh-CN" altLang="en-US" sz="1050" kern="0" dirty="0">
                  <a:solidFill>
                    <a:schemeClr val="tx1"/>
                  </a:solidFill>
                  <a:uFillTx/>
                  <a:sym typeface="+mn-ea"/>
                </a:rPr>
                <a:t>报告</a:t>
              </a:r>
              <a:endParaRPr lang="zh-CN" altLang="en-US" sz="1050" kern="0" dirty="0">
                <a:solidFill>
                  <a:schemeClr val="tx1"/>
                </a:solidFill>
                <a:uFillTx/>
                <a:sym typeface="+mn-ea"/>
              </a:endParaRPr>
            </a:p>
          </p:txBody>
        </p:sp>
        <p:sp>
          <p:nvSpPr>
            <p:cNvPr id="80" name="矩形 79"/>
            <p:cNvSpPr/>
            <p:nvPr/>
          </p:nvSpPr>
          <p:spPr>
            <a:xfrm>
              <a:off x="10890" y="7634"/>
              <a:ext cx="1196"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发布</a:t>
              </a:r>
              <a:r>
                <a:rPr lang="zh-CN" altLang="en-US" sz="1050" kern="0" dirty="0">
                  <a:solidFill>
                    <a:schemeClr val="tx1"/>
                  </a:solidFill>
                  <a:uFillTx/>
                  <a:sym typeface="+mn-ea"/>
                </a:rPr>
                <a:t>报告</a:t>
              </a:r>
              <a:endParaRPr lang="zh-CN" altLang="en-US" sz="1050" kern="0" dirty="0">
                <a:solidFill>
                  <a:schemeClr val="tx1"/>
                </a:solidFill>
                <a:uFillTx/>
                <a:sym typeface="+mn-ea"/>
              </a:endParaRPr>
            </a:p>
          </p:txBody>
        </p:sp>
        <p:sp>
          <p:nvSpPr>
            <p:cNvPr id="81" name="矩形 80"/>
            <p:cNvSpPr/>
            <p:nvPr/>
          </p:nvSpPr>
          <p:spPr>
            <a:xfrm>
              <a:off x="12708" y="7750"/>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项目计划变更</a:t>
              </a:r>
              <a:endParaRPr lang="zh-CN" altLang="en-US" sz="1050" kern="0" dirty="0">
                <a:solidFill>
                  <a:schemeClr val="tx1"/>
                </a:solidFill>
                <a:uFillTx/>
                <a:sym typeface="+mn-ea"/>
              </a:endParaRPr>
            </a:p>
          </p:txBody>
        </p:sp>
        <p:sp>
          <p:nvSpPr>
            <p:cNvPr id="82" name="矩形 81"/>
            <p:cNvSpPr/>
            <p:nvPr/>
          </p:nvSpPr>
          <p:spPr>
            <a:xfrm>
              <a:off x="15821" y="7114"/>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计划基线管理</a:t>
              </a:r>
              <a:endParaRPr lang="zh-CN" altLang="en-US" sz="1050" kern="0" dirty="0">
                <a:solidFill>
                  <a:schemeClr val="tx1"/>
                </a:solidFill>
                <a:uFillTx/>
                <a:sym typeface="+mn-ea"/>
              </a:endParaRPr>
            </a:p>
          </p:txBody>
        </p:sp>
        <p:sp>
          <p:nvSpPr>
            <p:cNvPr id="6" name="矩形 5"/>
            <p:cNvSpPr/>
            <p:nvPr/>
          </p:nvSpPr>
          <p:spPr>
            <a:xfrm>
              <a:off x="5128" y="7634"/>
              <a:ext cx="141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任务分配</a:t>
              </a:r>
              <a:endParaRPr lang="zh-CN" altLang="en-US" sz="1050" kern="0" dirty="0">
                <a:solidFill>
                  <a:schemeClr val="tx1"/>
                </a:solidFill>
                <a:uFillTx/>
                <a:sym typeface="+mn-ea"/>
              </a:endParaRPr>
            </a:p>
          </p:txBody>
        </p:sp>
        <p:sp>
          <p:nvSpPr>
            <p:cNvPr id="9" name="矩形 8"/>
            <p:cNvSpPr/>
            <p:nvPr/>
          </p:nvSpPr>
          <p:spPr>
            <a:xfrm>
              <a:off x="2567" y="7634"/>
              <a:ext cx="1093"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a:t>
              </a:r>
              <a:r>
                <a:rPr lang="zh-CN" altLang="en-US" sz="1050" kern="0" dirty="0">
                  <a:solidFill>
                    <a:schemeClr val="tx1"/>
                  </a:solidFill>
                  <a:uFillTx/>
                  <a:sym typeface="+mn-ea"/>
                </a:rPr>
                <a:t>确认</a:t>
              </a:r>
              <a:endParaRPr lang="zh-CN" altLang="en-US" sz="1050" kern="0" dirty="0">
                <a:solidFill>
                  <a:schemeClr val="tx1"/>
                </a:solidFill>
                <a:uFillTx/>
                <a:sym typeface="+mn-ea"/>
              </a:endParaRPr>
            </a:p>
          </p:txBody>
        </p:sp>
        <p:sp>
          <p:nvSpPr>
            <p:cNvPr id="10" name="矩形 9"/>
            <p:cNvSpPr/>
            <p:nvPr/>
          </p:nvSpPr>
          <p:spPr>
            <a:xfrm>
              <a:off x="15821" y="7750"/>
              <a:ext cx="1361" cy="454"/>
            </a:xfrm>
            <a:prstGeom prst="rect">
              <a:avLst/>
            </a:prstGeom>
            <a:solidFill>
              <a:schemeClr val="bg2">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algn="ctr" hangingPunct="0">
                <a:spcBef>
                  <a:spcPts val="0"/>
                </a:spcBef>
                <a:spcAft>
                  <a:spcPts val="0"/>
                </a:spcAft>
              </a:pPr>
              <a:r>
                <a:rPr lang="zh-CN" altLang="en-US" sz="1050" kern="0" dirty="0">
                  <a:solidFill>
                    <a:schemeClr val="tx1"/>
                  </a:solidFill>
                  <a:uFillTx/>
                  <a:sym typeface="+mn-ea"/>
                </a:rPr>
                <a:t>资源</a:t>
              </a:r>
              <a:r>
                <a:rPr lang="zh-CN" altLang="en-US" sz="1050" kern="0" dirty="0">
                  <a:solidFill>
                    <a:schemeClr val="tx1"/>
                  </a:solidFill>
                  <a:uFillTx/>
                  <a:sym typeface="+mn-ea"/>
                </a:rPr>
                <a:t>计划管理</a:t>
              </a:r>
              <a:endParaRPr lang="zh-CN" altLang="en-US" sz="1050" kern="0" dirty="0">
                <a:solidFill>
                  <a:schemeClr val="tx1"/>
                </a:solidFill>
                <a:uFillTx/>
                <a:sym typeface="+mn-ea"/>
              </a:endParaRPr>
            </a:p>
          </p:txBody>
        </p:sp>
      </p:gr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altLang="en-US" sz="2800">
                <a:solidFill>
                  <a:schemeClr val="tx1"/>
                </a:solidFill>
                <a:sym typeface="+mn-ea"/>
              </a:rPr>
              <a:t>数据架构</a:t>
            </a:r>
            <a:r>
              <a:rPr lang="en-US" altLang="zh-CN" sz="2800">
                <a:sym typeface="+mn-ea"/>
              </a:rPr>
              <a:t>– </a:t>
            </a:r>
            <a:r>
              <a:rPr lang="zh-CN" altLang="en-US" sz="2800">
                <a:sym typeface="+mn-ea"/>
              </a:rPr>
              <a:t>数据资产目录</a:t>
            </a:r>
            <a:r>
              <a:rPr lang="en-US" altLang="zh-CN" sz="2800">
                <a:sym typeface="+mn-ea"/>
              </a:rPr>
              <a:t>L3</a:t>
            </a:r>
            <a:r>
              <a:rPr lang="zh-CN" altLang="en-US" sz="2800">
                <a:sym typeface="+mn-ea"/>
              </a:rPr>
              <a:t> </a:t>
            </a:r>
            <a:r>
              <a:rPr lang="en-US" altLang="zh-CN" sz="2800">
                <a:sym typeface="+mn-ea"/>
              </a:rPr>
              <a:t>– </a:t>
            </a:r>
            <a:r>
              <a:rPr lang="zh-CN" altLang="en-US" sz="2800">
                <a:sym typeface="+mn-ea"/>
              </a:rPr>
              <a:t>识别业务对象</a:t>
            </a:r>
            <a:endParaRPr lang="zh-CN" sz="2800">
              <a:solidFill>
                <a:schemeClr val="tx1"/>
              </a:solidFill>
              <a:latin typeface="+mn-ea"/>
              <a:ea typeface="+mn-ea"/>
              <a:sym typeface="+mn-ea"/>
            </a:endParaRPr>
          </a:p>
        </p:txBody>
      </p:sp>
      <p:graphicFrame>
        <p:nvGraphicFramePr>
          <p:cNvPr id="5" name="Table 3"/>
          <p:cNvGraphicFramePr>
            <a:graphicFrameLocks noGrp="1"/>
          </p:cNvGraphicFramePr>
          <p:nvPr/>
        </p:nvGraphicFramePr>
        <p:xfrm>
          <a:off x="487680" y="1099820"/>
          <a:ext cx="11110595" cy="4146550"/>
        </p:xfrm>
        <a:graphic>
          <a:graphicData uri="http://schemas.openxmlformats.org/drawingml/2006/table">
            <a:tbl>
              <a:tblPr firstRow="1" bandRow="1">
                <a:tableStyleId>{7DF18680-E054-41AD-8BC1-D1AEF772440D}</a:tableStyleId>
              </a:tblPr>
              <a:tblGrid>
                <a:gridCol w="615950"/>
                <a:gridCol w="1513840"/>
                <a:gridCol w="1351280"/>
                <a:gridCol w="798195"/>
                <a:gridCol w="1007745"/>
                <a:gridCol w="772160"/>
                <a:gridCol w="987425"/>
                <a:gridCol w="1193165"/>
                <a:gridCol w="2870835"/>
              </a:tblGrid>
              <a:tr h="759460">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algn="ctr"/>
                      <a:r>
                        <a:rPr lang="zh-CN" altLang="en-US" sz="1100" dirty="0">
                          <a:solidFill>
                            <a:schemeClr val="bg1"/>
                          </a:solidFill>
                        </a:rPr>
                        <a:t>序号</a:t>
                      </a:r>
                      <a:endParaRPr lang="zh-CN" altLang="en-US" sz="1100" dirty="0">
                        <a:solidFill>
                          <a:schemeClr val="bg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algn="ctr"/>
                      <a:r>
                        <a:rPr lang="zh-CN" altLang="en-US" sz="1100" dirty="0">
                          <a:solidFill>
                            <a:schemeClr val="bg1"/>
                          </a:solidFill>
                        </a:rPr>
                        <a:t>业务对象</a:t>
                      </a:r>
                      <a:endParaRPr lang="zh-CN" altLang="en-US" sz="1100" dirty="0">
                        <a:solidFill>
                          <a:schemeClr val="bg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628015" rtl="0" eaLnBrk="1" fontAlgn="auto" latinLnBrk="0" hangingPunct="1">
                        <a:lnSpc>
                          <a:spcPct val="100000"/>
                        </a:lnSpc>
                        <a:spcBef>
                          <a:spcPts val="0"/>
                        </a:spcBef>
                        <a:spcAft>
                          <a:spcPts val="0"/>
                        </a:spcAft>
                        <a:buClrTx/>
                        <a:buSzTx/>
                        <a:buFontTx/>
                        <a:buNone/>
                        <a:defRPr/>
                      </a:pPr>
                      <a:r>
                        <a:rPr lang="zh-CN" altLang="en-US" sz="1100" dirty="0">
                          <a:solidFill>
                            <a:schemeClr val="bg1"/>
                          </a:solidFill>
                        </a:rPr>
                        <a:t>企业运作和管理中不可缺少的重要人、事、物信息</a:t>
                      </a:r>
                      <a:endParaRPr lang="zh-CN" altLang="en-US" sz="1100" b="1" kern="1200" dirty="0">
                        <a:solidFill>
                          <a:schemeClr val="bg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628015" rtl="0" eaLnBrk="1" fontAlgn="auto" latinLnBrk="0" hangingPunct="1">
                        <a:lnSpc>
                          <a:spcPct val="100000"/>
                        </a:lnSpc>
                        <a:spcBef>
                          <a:spcPts val="0"/>
                        </a:spcBef>
                        <a:spcAft>
                          <a:spcPts val="0"/>
                        </a:spcAft>
                        <a:buClrTx/>
                        <a:buSzTx/>
                        <a:buFontTx/>
                        <a:buNone/>
                        <a:defRPr/>
                      </a:pPr>
                      <a:r>
                        <a:rPr lang="zh-CN" altLang="en-US" sz="1100" dirty="0">
                          <a:solidFill>
                            <a:schemeClr val="bg1"/>
                          </a:solidFill>
                        </a:rPr>
                        <a:t>有唯一身份标识信息</a:t>
                      </a:r>
                      <a:endParaRPr lang="zh-CN" altLang="en-US" sz="1100" b="0" i="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r>
                        <a:rPr lang="zh-CN" altLang="en-US" sz="1100" kern="1200" dirty="0">
                          <a:solidFill>
                            <a:schemeClr val="bg1"/>
                          </a:solidFill>
                        </a:rPr>
                        <a:t>相对独立并有属性描述</a:t>
                      </a:r>
                      <a:endParaRPr lang="zh-CN" altLang="en-US" sz="1100" b="0" kern="1200"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r>
                        <a:rPr lang="zh-CN" altLang="en-US" sz="1100" dirty="0">
                          <a:solidFill>
                            <a:schemeClr val="bg1"/>
                          </a:solidFill>
                        </a:rPr>
                        <a:t>可实例化</a:t>
                      </a:r>
                      <a:endParaRPr lang="zh-CN" altLang="en-US" sz="1100" b="0" dirty="0">
                        <a:solidFill>
                          <a:schemeClr val="bg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628015" rtl="0" eaLnBrk="1" fontAlgn="auto" latinLnBrk="0" hangingPunct="1">
                        <a:lnSpc>
                          <a:spcPct val="100000"/>
                        </a:lnSpc>
                        <a:spcBef>
                          <a:spcPts val="0"/>
                        </a:spcBef>
                        <a:spcAft>
                          <a:spcPts val="0"/>
                        </a:spcAft>
                        <a:buClrTx/>
                        <a:buSzTx/>
                        <a:buFontTx/>
                        <a:buNone/>
                        <a:defRPr/>
                      </a:pPr>
                      <a:r>
                        <a:rPr lang="zh-CN" altLang="en-US" sz="1100" b="1" kern="1200" dirty="0">
                          <a:solidFill>
                            <a:schemeClr val="bg1"/>
                          </a:solidFill>
                        </a:rPr>
                        <a:t>是否业务对象</a:t>
                      </a:r>
                      <a:endParaRPr lang="zh-CN" altLang="en-US" sz="1100" b="1" kern="1200" dirty="0">
                        <a:solidFill>
                          <a:schemeClr val="bg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tc>
                  <a:txBody>
                    <a:bodyPr/>
                    <a:lstStyle>
                      <a:lvl1pPr marL="0" algn="l" defTabSz="1188085" rtl="0" eaLnBrk="1" latinLnBrk="0" hangingPunct="1">
                        <a:defRPr sz="2340" b="1" kern="1200">
                          <a:solidFill>
                            <a:schemeClr val="lt1"/>
                          </a:solidFill>
                          <a:latin typeface="Calibri" panose="020F0502020204030204"/>
                        </a:defRPr>
                      </a:lvl1pPr>
                      <a:lvl2pPr marL="593725" algn="l" defTabSz="1188085" rtl="0" eaLnBrk="1" latinLnBrk="0" hangingPunct="1">
                        <a:defRPr sz="2340" b="1" kern="1200">
                          <a:solidFill>
                            <a:schemeClr val="lt1"/>
                          </a:solidFill>
                          <a:latin typeface="Calibri" panose="020F0502020204030204"/>
                        </a:defRPr>
                      </a:lvl2pPr>
                      <a:lvl3pPr marL="1188085" algn="l" defTabSz="1188085" rtl="0" eaLnBrk="1" latinLnBrk="0" hangingPunct="1">
                        <a:defRPr sz="2340" b="1" kern="1200">
                          <a:solidFill>
                            <a:schemeClr val="lt1"/>
                          </a:solidFill>
                          <a:latin typeface="Calibri" panose="020F0502020204030204"/>
                        </a:defRPr>
                      </a:lvl3pPr>
                      <a:lvl4pPr marL="1781810" algn="l" defTabSz="1188085" rtl="0" eaLnBrk="1" latinLnBrk="0" hangingPunct="1">
                        <a:defRPr sz="2340" b="1" kern="1200">
                          <a:solidFill>
                            <a:schemeClr val="lt1"/>
                          </a:solidFill>
                          <a:latin typeface="Calibri" panose="020F0502020204030204"/>
                        </a:defRPr>
                      </a:lvl4pPr>
                      <a:lvl5pPr marL="2375535" algn="l" defTabSz="1188085" rtl="0" eaLnBrk="1" latinLnBrk="0" hangingPunct="1">
                        <a:defRPr sz="2340" b="1" kern="1200">
                          <a:solidFill>
                            <a:schemeClr val="lt1"/>
                          </a:solidFill>
                          <a:latin typeface="Calibri" panose="020F0502020204030204"/>
                        </a:defRPr>
                      </a:lvl5pPr>
                      <a:lvl6pPr marL="2969260" algn="l" defTabSz="1188085" rtl="0" eaLnBrk="1" latinLnBrk="0" hangingPunct="1">
                        <a:defRPr sz="2340" b="1" kern="1200">
                          <a:solidFill>
                            <a:schemeClr val="lt1"/>
                          </a:solidFill>
                          <a:latin typeface="Calibri" panose="020F0502020204030204"/>
                        </a:defRPr>
                      </a:lvl6pPr>
                      <a:lvl7pPr marL="3563620" algn="l" defTabSz="1188085" rtl="0" eaLnBrk="1" latinLnBrk="0" hangingPunct="1">
                        <a:defRPr sz="2340" b="1" kern="1200">
                          <a:solidFill>
                            <a:schemeClr val="lt1"/>
                          </a:solidFill>
                          <a:latin typeface="Calibri" panose="020F0502020204030204"/>
                        </a:defRPr>
                      </a:lvl7pPr>
                      <a:lvl8pPr marL="4157345" algn="l" defTabSz="1188085" rtl="0" eaLnBrk="1" latinLnBrk="0" hangingPunct="1">
                        <a:defRPr sz="2340" b="1" kern="1200">
                          <a:solidFill>
                            <a:schemeClr val="lt1"/>
                          </a:solidFill>
                          <a:latin typeface="Calibri" panose="020F0502020204030204"/>
                        </a:defRPr>
                      </a:lvl8pPr>
                      <a:lvl9pPr marL="4751070" algn="l" defTabSz="1188085" rtl="0" eaLnBrk="1" latinLnBrk="0" hangingPunct="1">
                        <a:defRPr sz="2340" b="1" kern="1200">
                          <a:solidFill>
                            <a:schemeClr val="lt1"/>
                          </a:solidFill>
                          <a:latin typeface="Calibri" panose="020F0502020204030204"/>
                        </a:defRPr>
                      </a:lvl9pPr>
                    </a:lstStyle>
                    <a:p>
                      <a:pPr marL="0" marR="0" indent="0" algn="ctr" defTabSz="628015" rtl="0" eaLnBrk="1" fontAlgn="auto" latinLnBrk="0" hangingPunct="1">
                        <a:lnSpc>
                          <a:spcPct val="100000"/>
                        </a:lnSpc>
                        <a:spcBef>
                          <a:spcPts val="0"/>
                        </a:spcBef>
                        <a:spcAft>
                          <a:spcPts val="0"/>
                        </a:spcAft>
                        <a:buClrTx/>
                        <a:buSzTx/>
                        <a:buFontTx/>
                        <a:buNone/>
                        <a:defRPr/>
                      </a:pPr>
                      <a:r>
                        <a:rPr lang="zh-CN" altLang="en-US" sz="1100" b="1" kern="1200" dirty="0">
                          <a:solidFill>
                            <a:schemeClr val="bg1"/>
                          </a:solidFill>
                        </a:rPr>
                        <a:t>数据分类</a:t>
                      </a:r>
                      <a:endParaRPr lang="zh-CN" altLang="en-US" sz="1100" b="1" kern="1200" dirty="0">
                        <a:solidFill>
                          <a:schemeClr val="bg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tc>
                  <a:txBody>
                    <a:bodyPr/>
                    <a:lstStyle/>
                    <a:p>
                      <a:pPr marL="0" marR="0" indent="0" algn="ctr" defTabSz="628015" rtl="0" eaLnBrk="1" fontAlgn="auto" latinLnBrk="0" hangingPunct="1">
                        <a:lnSpc>
                          <a:spcPct val="100000"/>
                        </a:lnSpc>
                        <a:spcBef>
                          <a:spcPts val="0"/>
                        </a:spcBef>
                        <a:spcAft>
                          <a:spcPts val="0"/>
                        </a:spcAft>
                        <a:buClrTx/>
                        <a:buSzTx/>
                        <a:buFontTx/>
                        <a:buNone/>
                        <a:defRPr/>
                      </a:pPr>
                      <a:r>
                        <a:rPr lang="zh-CN" altLang="en-US" sz="1100" b="1" kern="1200" dirty="0">
                          <a:solidFill>
                            <a:schemeClr val="bg1"/>
                          </a:solidFill>
                        </a:rPr>
                        <a:t>业务定义</a:t>
                      </a:r>
                      <a:endParaRPr lang="zh-CN" altLang="en-US" sz="1100" b="1" kern="1200" dirty="0">
                        <a:solidFill>
                          <a:schemeClr val="bg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rPr>
                        <a:t>1</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需求单</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事务数据</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rPr>
                        <a:t>2</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客户？</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主数据（引用）</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rPr>
                        <a:t>3</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产品？</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主数据（引用）</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000" b="1" dirty="0">
                          <a:solidFill>
                            <a:schemeClr val="tx1">
                              <a:lumMod val="65000"/>
                              <a:lumOff val="35000"/>
                            </a:schemeClr>
                          </a:solidFill>
                          <a:latin typeface="微软雅黑" panose="020B0503020204020204" pitchFamily="34" charset="-122"/>
                          <a:ea typeface="微软雅黑" panose="020B0503020204020204" pitchFamily="34" charset="-122"/>
                        </a:rPr>
                        <a:t>4</a:t>
                      </a:r>
                      <a:endParaRPr lang="en-US" sz="10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组织</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主数据（引用）</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pPr marL="0" marR="0" indent="0" algn="l" defTabSz="628015" rtl="0" eaLnBrk="1" fontAlgn="auto" latinLnBrk="0" hangingPunct="1">
                        <a:lnSpc>
                          <a:spcPct val="100000"/>
                        </a:lnSpc>
                        <a:spcBef>
                          <a:spcPts val="0"/>
                        </a:spcBef>
                        <a:spcAft>
                          <a:spcPts val="0"/>
                        </a:spcAft>
                        <a:buClrTx/>
                        <a:buSzTx/>
                        <a:buFontTx/>
                        <a:buNone/>
                        <a:defRPr/>
                      </a:pP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33083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sz="1100" b="1" dirty="0">
                          <a:solidFill>
                            <a:schemeClr val="tx1">
                              <a:lumMod val="65000"/>
                              <a:lumOff val="35000"/>
                            </a:schemeClr>
                          </a:solidFill>
                        </a:rPr>
                        <a:t>5</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rPr>
                        <a:t>人员</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r>
                        <a:rPr lang="en-US" altLang="zh-CN" sz="1100" dirty="0">
                          <a:solidFill>
                            <a:schemeClr val="tx1">
                              <a:lumMod val="65000"/>
                              <a:lumOff val="35000"/>
                            </a:schemeClr>
                          </a:solidFill>
                        </a:rPr>
                        <a:t>Y</a:t>
                      </a:r>
                      <a:endParaRPr 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altLang="zh-CN" sz="1100" b="1" kern="1200" dirty="0">
                          <a:solidFill>
                            <a:schemeClr val="tx1">
                              <a:lumMod val="65000"/>
                              <a:lumOff val="35000"/>
                            </a:schemeClr>
                          </a:solidFill>
                          <a:latin typeface="Calibri" panose="020F0502020204030204"/>
                          <a:ea typeface="+mn-ea"/>
                          <a:cs typeface="+mn-cs"/>
                        </a:rPr>
                        <a:t>N</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indent="0" algn="l" defTabSz="628015" rtl="0" eaLnBrk="1" fontAlgn="auto" latinLnBrk="0" hangingPunct="1">
                        <a:lnSpc>
                          <a:spcPct val="100000"/>
                        </a:lnSpc>
                        <a:spcBef>
                          <a:spcPts val="0"/>
                        </a:spcBef>
                        <a:spcAft>
                          <a:spcPts val="0"/>
                        </a:spcAft>
                        <a:buClrTx/>
                        <a:buSzTx/>
                        <a:buFontTx/>
                        <a:buNone/>
                        <a:defRPr/>
                      </a:pPr>
                      <a:r>
                        <a:rPr lang="zh-CN" altLang="en-US" sz="1100" b="1" dirty="0">
                          <a:solidFill>
                            <a:schemeClr val="tx1">
                              <a:lumMod val="65000"/>
                              <a:lumOff val="35000"/>
                            </a:schemeClr>
                          </a:solidFill>
                        </a:rPr>
                        <a:t>主数据（引用）</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pPr marL="0" marR="0" indent="0" algn="l" defTabSz="628015" rtl="0" eaLnBrk="1" fontAlgn="auto" latinLnBrk="0" hangingPunct="1">
                        <a:lnSpc>
                          <a:spcPct val="100000"/>
                        </a:lnSpc>
                        <a:spcBef>
                          <a:spcPts val="0"/>
                        </a:spcBef>
                        <a:spcAft>
                          <a:spcPts val="0"/>
                        </a:spcAft>
                        <a:buClrTx/>
                        <a:buSzTx/>
                        <a:buFontTx/>
                        <a:buNone/>
                        <a:defRPr/>
                      </a:pP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6</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研发项目</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indent="0" algn="l" defTabSz="628015" rtl="0" eaLnBrk="1" fontAlgn="auto" latinLnBrk="0" hangingPunct="1">
                        <a:lnSpc>
                          <a:spcPct val="100000"/>
                        </a:lnSpc>
                        <a:spcBef>
                          <a:spcPts val="0"/>
                        </a:spcBef>
                        <a:spcAft>
                          <a:spcPts val="0"/>
                        </a:spcAft>
                        <a:buClrTx/>
                        <a:buSzTx/>
                        <a:buFontTx/>
                        <a:buNone/>
                        <a:defRP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主数据</a:t>
                      </a:r>
                      <a:r>
                        <a:rPr lang="zh-CN" altLang="en-US" sz="1100" b="1" dirty="0">
                          <a:solidFill>
                            <a:schemeClr val="tx1">
                              <a:lumMod val="65000"/>
                              <a:lumOff val="35000"/>
                            </a:schemeClr>
                          </a:solidFill>
                        </a:rPr>
                        <a:t>（引用）</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pPr marL="0" marR="0" indent="0" algn="l" defTabSz="628015" rtl="0" eaLnBrk="1" fontAlgn="auto" latinLnBrk="0" hangingPunct="1">
                        <a:lnSpc>
                          <a:spcPct val="100000"/>
                        </a:lnSpc>
                        <a:spcBef>
                          <a:spcPts val="0"/>
                        </a:spcBef>
                        <a:spcAft>
                          <a:spcPts val="0"/>
                        </a:spcAft>
                        <a:buClrTx/>
                        <a:buSzTx/>
                        <a:buFontTx/>
                        <a:buNone/>
                        <a:defRPr/>
                      </a:pP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r>
              <a:tr h="40513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7</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l" defTabSz="628015" rtl="0" eaLnBrk="1" latinLnBrk="0" hangingPunct="1"/>
                      <a:r>
                        <a:rPr lang="zh-CN" altLang="en-US" sz="1100" b="1"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项目计划</a:t>
                      </a:r>
                      <a:endParaRPr lang="en-US" sz="1100" b="1"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indent="0" algn="l" defTabSz="628015" rtl="0" eaLnBrk="1" fontAlgn="auto" latinLnBrk="0" hangingPunct="1">
                        <a:lnSpc>
                          <a:spcPct val="100000"/>
                        </a:lnSpc>
                        <a:spcBef>
                          <a:spcPts val="0"/>
                        </a:spcBef>
                        <a:spcAft>
                          <a:spcPts val="0"/>
                        </a:spcAft>
                        <a:buClrTx/>
                        <a:buSzTx/>
                        <a:buFontTx/>
                        <a:buNone/>
                        <a:defRP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事务数据</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tc>
                <a:tc>
                  <a:txBody>
                    <a:bodyPr/>
                    <a:lstStyle/>
                    <a:p>
                      <a:pPr marL="0" algn="l" defTabSz="628015" rtl="0" eaLnBrk="1" latinLnBrk="0" hangingPunct="1"/>
                      <a:endParaRPr lang="en-US"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r>
              <a:tr h="330835">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628015" rtl="0" eaLnBrk="1" latinLnBrk="0" hangingPunct="1"/>
                      <a:r>
                        <a:rPr lang="en-US" sz="1100" b="1" kern="1200" dirty="0">
                          <a:solidFill>
                            <a:schemeClr val="dk1"/>
                          </a:solidFill>
                          <a:latin typeface="微软雅黑" panose="020B0503020204020204" pitchFamily="34" charset="-122"/>
                          <a:ea typeface="微软雅黑" panose="020B0503020204020204" pitchFamily="34" charset="-122"/>
                          <a:cs typeface="+mn-cs"/>
                        </a:rPr>
                        <a:t>8</a:t>
                      </a:r>
                      <a:endParaRPr lang="en-US"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indent="0" algn="l" defTabSz="628015" rtl="0" eaLnBrk="1" fontAlgn="auto" latinLnBrk="0" hangingPunct="1">
                        <a:lnSpc>
                          <a:spcPct val="100000"/>
                        </a:lnSpc>
                        <a:spcBef>
                          <a:spcPts val="0"/>
                        </a:spcBef>
                        <a:spcAft>
                          <a:spcPts val="0"/>
                        </a:spcAft>
                        <a:buClrTx/>
                        <a:buSzTx/>
                        <a:buFontTx/>
                        <a:buNone/>
                        <a:defRPr/>
                      </a:pPr>
                      <a:r>
                        <a:rPr lang="zh-CN" altLang="en-US" sz="1100" b="1"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新产品开发任务书</a:t>
                      </a:r>
                      <a:endParaRPr lang="zh-CN" altLang="zh-CN" sz="1100" b="1"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kern="1200" dirty="0">
                          <a:solidFill>
                            <a:schemeClr val="tx1">
                              <a:lumMod val="65000"/>
                              <a:lumOff val="35000"/>
                            </a:schemeClr>
                          </a:solidFill>
                          <a:latin typeface="Calibri" panose="020F0502020204030204"/>
                          <a:ea typeface="+mn-ea"/>
                          <a:cs typeface="+mn-cs"/>
                        </a:rPr>
                        <a:t>Y</a:t>
                      </a:r>
                      <a:endParaRPr lang="en-US" sz="1100"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1188085" rtl="0" eaLnBrk="1" latinLnBrk="0" hangingPunct="1"/>
                      <a:r>
                        <a:rPr lang="en-US" sz="1100" b="1" kern="1200" dirty="0">
                          <a:solidFill>
                            <a:schemeClr val="tx1">
                              <a:lumMod val="65000"/>
                              <a:lumOff val="35000"/>
                            </a:schemeClr>
                          </a:solidFill>
                          <a:latin typeface="Calibri" panose="020F0502020204030204"/>
                          <a:ea typeface="+mn-ea"/>
                          <a:cs typeface="+mn-cs"/>
                        </a:rPr>
                        <a:t>Y</a:t>
                      </a:r>
                      <a:endParaRPr lang="en-US" sz="1100" b="1" kern="1200" dirty="0">
                        <a:solidFill>
                          <a:schemeClr val="tx1">
                            <a:lumMod val="65000"/>
                            <a:lumOff val="35000"/>
                          </a:schemeClr>
                        </a:solidFill>
                        <a:latin typeface="Calibri" panose="020F0502020204030204"/>
                        <a:ea typeface="+mn-ea"/>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l" defTabSz="628015" rtl="0" eaLnBrk="1" latinLnBrk="0" hangingPunct="1"/>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事务数据（引用）</a:t>
                      </a:r>
                      <a:endParaRPr lang="en-US" sz="1100" b="1"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628015" rtl="0" eaLnBrk="1" latinLnBrk="0" hangingPunct="1"/>
                      <a:endParaRPr lang="en-US" altLang="zh-CN"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628015" rtl="0" eaLnBrk="1" latinLnBrk="0" hangingPunct="1"/>
                      <a:endParaRPr lang="en-US"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endParaRPr lang="en-US" sz="1100" b="1" dirty="0">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628015" rtl="0" eaLnBrk="1" latinLnBrk="0" hangingPunct="1"/>
                      <a:endParaRPr lang="en-US" altLang="zh-CN" sz="1100" b="1" kern="1200" dirty="0">
                        <a:solidFill>
                          <a:srgbClr val="339966"/>
                        </a:solidFill>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l" defTabSz="628015" rtl="0" eaLnBrk="1" latinLnBrk="0" hangingPunct="1"/>
                      <a:endParaRPr lang="en-US" altLang="zh-CN"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628015" rtl="0" eaLnBrk="1" latinLnBrk="0" hangingPunct="1"/>
                      <a:endParaRPr lang="en-US" altLang="zh-CN"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r>
              <a:tr h="331470">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algn="ctr"/>
                      <a:endParaRPr lang="en-US" sz="1100" b="1" dirty="0">
                        <a:latin typeface="微软雅黑" panose="020B0503020204020204" pitchFamily="34" charset="-122"/>
                        <a:ea typeface="微软雅黑" panose="020B0503020204020204" pitchFamily="34"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l" defTabSz="628015" rtl="0" eaLnBrk="1" fontAlgn="auto" latinLnBrk="0" hangingPunct="1">
                        <a:lnSpc>
                          <a:spcPct val="100000"/>
                        </a:lnSpc>
                        <a:spcBef>
                          <a:spcPts val="0"/>
                        </a:spcBef>
                        <a:spcAft>
                          <a:spcPts val="0"/>
                        </a:spcAft>
                        <a:buClrTx/>
                        <a:buSzTx/>
                        <a:buFontTx/>
                        <a:buNone/>
                        <a:defRPr/>
                      </a:pPr>
                      <a:endParaRPr lang="zh-CN" altLang="zh-CN" sz="1100" b="0"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ctr" defTabSz="628015" rtl="0" eaLnBrk="1" fontAlgn="auto" latinLnBrk="0" hangingPunct="1">
                        <a:lnSpc>
                          <a:spcPct val="100000"/>
                        </a:lnSpc>
                        <a:spcBef>
                          <a:spcPts val="0"/>
                        </a:spcBef>
                        <a:spcAft>
                          <a:spcPts val="0"/>
                        </a:spcAft>
                        <a:buClrTx/>
                        <a:buSzTx/>
                        <a:buFontTx/>
                        <a:buNone/>
                        <a:defRPr/>
                      </a:pPr>
                      <a:endParaRPr kumimoji="0" lang="en-US" sz="11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algn="ctr" defTabSz="628015" rtl="0" eaLnBrk="1" latinLnBrk="0" hangingPunct="1"/>
                      <a:endParaRPr lang="en-US" altLang="zh-CN" sz="1100" b="1" kern="1200" dirty="0">
                        <a:solidFill>
                          <a:srgbClr val="339966"/>
                        </a:solidFill>
                        <a:latin typeface="微软雅黑" panose="020B0503020204020204" pitchFamily="34" charset="-122"/>
                        <a:ea typeface="微软雅黑" panose="020B0503020204020204" pitchFamily="34" charset="-122"/>
                        <a:cs typeface="+mn-cs"/>
                      </a:endParaRPr>
                    </a:p>
                  </a:txBody>
                  <a:tcPr anchor="ctr"/>
                </a:tc>
                <a:tc>
                  <a:txBody>
                    <a:bodyPr/>
                    <a:lstStyle>
                      <a:lvl1pPr marL="0" algn="l" defTabSz="1188085" rtl="0" eaLnBrk="1" latinLnBrk="0" hangingPunct="1">
                        <a:defRPr sz="2340" kern="1200">
                          <a:solidFill>
                            <a:schemeClr val="dk1"/>
                          </a:solidFill>
                          <a:latin typeface="Calibri" panose="020F0502020204030204"/>
                        </a:defRPr>
                      </a:lvl1pPr>
                      <a:lvl2pPr marL="593725" algn="l" defTabSz="1188085" rtl="0" eaLnBrk="1" latinLnBrk="0" hangingPunct="1">
                        <a:defRPr sz="2340" kern="1200">
                          <a:solidFill>
                            <a:schemeClr val="dk1"/>
                          </a:solidFill>
                          <a:latin typeface="Calibri" panose="020F0502020204030204"/>
                        </a:defRPr>
                      </a:lvl2pPr>
                      <a:lvl3pPr marL="1188085" algn="l" defTabSz="1188085" rtl="0" eaLnBrk="1" latinLnBrk="0" hangingPunct="1">
                        <a:defRPr sz="2340" kern="1200">
                          <a:solidFill>
                            <a:schemeClr val="dk1"/>
                          </a:solidFill>
                          <a:latin typeface="Calibri" panose="020F0502020204030204"/>
                        </a:defRPr>
                      </a:lvl3pPr>
                      <a:lvl4pPr marL="1781810" algn="l" defTabSz="1188085" rtl="0" eaLnBrk="1" latinLnBrk="0" hangingPunct="1">
                        <a:defRPr sz="2340" kern="1200">
                          <a:solidFill>
                            <a:schemeClr val="dk1"/>
                          </a:solidFill>
                          <a:latin typeface="Calibri" panose="020F0502020204030204"/>
                        </a:defRPr>
                      </a:lvl4pPr>
                      <a:lvl5pPr marL="2375535" algn="l" defTabSz="1188085" rtl="0" eaLnBrk="1" latinLnBrk="0" hangingPunct="1">
                        <a:defRPr sz="2340" kern="1200">
                          <a:solidFill>
                            <a:schemeClr val="dk1"/>
                          </a:solidFill>
                          <a:latin typeface="Calibri" panose="020F0502020204030204"/>
                        </a:defRPr>
                      </a:lvl5pPr>
                      <a:lvl6pPr marL="2969260" algn="l" defTabSz="1188085" rtl="0" eaLnBrk="1" latinLnBrk="0" hangingPunct="1">
                        <a:defRPr sz="2340" kern="1200">
                          <a:solidFill>
                            <a:schemeClr val="dk1"/>
                          </a:solidFill>
                          <a:latin typeface="Calibri" panose="020F0502020204030204"/>
                        </a:defRPr>
                      </a:lvl6pPr>
                      <a:lvl7pPr marL="3563620" algn="l" defTabSz="1188085" rtl="0" eaLnBrk="1" latinLnBrk="0" hangingPunct="1">
                        <a:defRPr sz="2340" kern="1200">
                          <a:solidFill>
                            <a:schemeClr val="dk1"/>
                          </a:solidFill>
                          <a:latin typeface="Calibri" panose="020F0502020204030204"/>
                        </a:defRPr>
                      </a:lvl7pPr>
                      <a:lvl8pPr marL="4157345" algn="l" defTabSz="1188085" rtl="0" eaLnBrk="1" latinLnBrk="0" hangingPunct="1">
                        <a:defRPr sz="2340" kern="1200">
                          <a:solidFill>
                            <a:schemeClr val="dk1"/>
                          </a:solidFill>
                          <a:latin typeface="Calibri" panose="020F0502020204030204"/>
                        </a:defRPr>
                      </a:lvl8pPr>
                      <a:lvl9pPr marL="4751070" algn="l" defTabSz="1188085" rtl="0" eaLnBrk="1" latinLnBrk="0" hangingPunct="1">
                        <a:defRPr sz="2340" kern="1200">
                          <a:solidFill>
                            <a:schemeClr val="dk1"/>
                          </a:solidFill>
                          <a:latin typeface="Calibri" panose="020F0502020204030204"/>
                        </a:defRPr>
                      </a:lvl9pPr>
                    </a:lstStyle>
                    <a:p>
                      <a:pPr marL="0" marR="0" lvl="0" indent="0" algn="l" defTabSz="628015" rtl="0" eaLnBrk="1" fontAlgn="auto" latinLnBrk="0" hangingPunct="1">
                        <a:lnSpc>
                          <a:spcPct val="100000"/>
                        </a:lnSpc>
                        <a:spcBef>
                          <a:spcPts val="0"/>
                        </a:spcBef>
                        <a:spcAft>
                          <a:spcPts val="0"/>
                        </a:spcAft>
                        <a:buClrTx/>
                        <a:buSzTx/>
                        <a:buFontTx/>
                        <a:buNone/>
                        <a:defRPr/>
                      </a:pPr>
                      <a:endParaRPr lang="en-US" altLang="zh-CN"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628015" rtl="0" eaLnBrk="1" fontAlgn="auto" latinLnBrk="0" hangingPunct="1">
                        <a:lnSpc>
                          <a:spcPct val="100000"/>
                        </a:lnSpc>
                        <a:spcBef>
                          <a:spcPts val="0"/>
                        </a:spcBef>
                        <a:spcAft>
                          <a:spcPts val="0"/>
                        </a:spcAft>
                        <a:buClrTx/>
                        <a:buSzTx/>
                        <a:buFontTx/>
                        <a:buNone/>
                        <a:defRPr/>
                      </a:pPr>
                      <a:endParaRPr lang="en-US" altLang="zh-CN" sz="1100" b="1" kern="1200" dirty="0">
                        <a:solidFill>
                          <a:schemeClr val="dk1"/>
                        </a:solidFill>
                        <a:latin typeface="微软雅黑" panose="020B0503020204020204" pitchFamily="34" charset="-122"/>
                        <a:ea typeface="微软雅黑" panose="020B0503020204020204" pitchFamily="34" charset="-122"/>
                        <a:cs typeface="+mn-cs"/>
                      </a:endParaRPr>
                    </a:p>
                  </a:txBody>
                  <a:tcPr anchor="ctr"/>
                </a:tc>
              </a:tr>
            </a:tbl>
          </a:graphicData>
        </a:graphic>
      </p:graphicFrame>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altLang="en-US" sz="2800">
                <a:solidFill>
                  <a:schemeClr val="tx1"/>
                </a:solidFill>
                <a:sym typeface="+mn-ea"/>
              </a:rPr>
              <a:t>数据架构</a:t>
            </a:r>
            <a:r>
              <a:rPr lang="en-US" altLang="zh-CN" sz="2800">
                <a:solidFill>
                  <a:schemeClr val="tx1"/>
                </a:solidFill>
                <a:sym typeface="+mn-ea"/>
              </a:rPr>
              <a:t>– </a:t>
            </a:r>
            <a:r>
              <a:rPr lang="zh-CN" altLang="en-US" sz="2800">
                <a:sym typeface="+mn-ea"/>
              </a:rPr>
              <a:t>数据资产目录</a:t>
            </a:r>
            <a:r>
              <a:rPr lang="en-US" altLang="zh-CN" sz="2800">
                <a:sym typeface="+mn-ea"/>
              </a:rPr>
              <a:t>L1-L4</a:t>
            </a:r>
            <a:r>
              <a:rPr lang="zh-CN" altLang="en-US" sz="2800">
                <a:sym typeface="+mn-ea"/>
              </a:rPr>
              <a:t>（</a:t>
            </a:r>
            <a:r>
              <a:rPr lang="en-US" altLang="zh-CN" sz="2800">
                <a:sym typeface="+mn-ea"/>
              </a:rPr>
              <a:t>1/2</a:t>
            </a:r>
            <a:r>
              <a:rPr lang="zh-CN" altLang="en-US" sz="2800">
                <a:sym typeface="+mn-ea"/>
              </a:rPr>
              <a:t>）</a:t>
            </a:r>
            <a:endParaRPr lang="zh-CN" sz="2800">
              <a:solidFill>
                <a:schemeClr val="tx1"/>
              </a:solidFill>
              <a:latin typeface="+mn-ea"/>
              <a:ea typeface="+mn-ea"/>
              <a:sym typeface="+mn-ea"/>
            </a:endParaRPr>
          </a:p>
        </p:txBody>
      </p:sp>
      <p:sp>
        <p:nvSpPr>
          <p:cNvPr id="4" name="矩形 3"/>
          <p:cNvSpPr/>
          <p:nvPr/>
        </p:nvSpPr>
        <p:spPr>
          <a:xfrm>
            <a:off x="460156" y="1127531"/>
            <a:ext cx="1168589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IPD</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5" name="矩形 4"/>
          <p:cNvSpPr/>
          <p:nvPr/>
        </p:nvSpPr>
        <p:spPr>
          <a:xfrm>
            <a:off x="460157" y="1654446"/>
            <a:ext cx="8987061"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研发需求管理</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6" name="矩形 5"/>
          <p:cNvSpPr/>
          <p:nvPr/>
        </p:nvSpPr>
        <p:spPr>
          <a:xfrm>
            <a:off x="460155" y="2176497"/>
            <a:ext cx="4023015"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需求单</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7" name="矩形 6"/>
          <p:cNvSpPr/>
          <p:nvPr/>
        </p:nvSpPr>
        <p:spPr>
          <a:xfrm>
            <a:off x="4530544" y="2176497"/>
            <a:ext cx="116151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买方</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8" name="矩形 7"/>
          <p:cNvSpPr/>
          <p:nvPr/>
        </p:nvSpPr>
        <p:spPr>
          <a:xfrm>
            <a:off x="602873" y="2845378"/>
            <a:ext cx="1585971"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 name="文本框 8"/>
          <p:cNvSpPr txBox="1"/>
          <p:nvPr/>
        </p:nvSpPr>
        <p:spPr>
          <a:xfrm>
            <a:off x="996132" y="2823627"/>
            <a:ext cx="83112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创建需求</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 name="文本框 9"/>
          <p:cNvSpPr txBox="1"/>
          <p:nvPr/>
        </p:nvSpPr>
        <p:spPr>
          <a:xfrm>
            <a:off x="988525" y="3153883"/>
            <a:ext cx="83112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审批需求</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 name="文本框 10"/>
          <p:cNvSpPr txBox="1"/>
          <p:nvPr/>
        </p:nvSpPr>
        <p:spPr>
          <a:xfrm>
            <a:off x="858582" y="3505214"/>
            <a:ext cx="1106221"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分派工程师</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2" name="矩形 11"/>
          <p:cNvSpPr/>
          <p:nvPr/>
        </p:nvSpPr>
        <p:spPr>
          <a:xfrm>
            <a:off x="2264236" y="2852339"/>
            <a:ext cx="2206803"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3" name="箭头: 燕尾形 12"/>
          <p:cNvSpPr/>
          <p:nvPr/>
        </p:nvSpPr>
        <p:spPr>
          <a:xfrm rot="5400000">
            <a:off x="943717" y="4232883"/>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4" name="箭头: 燕尾形 13"/>
          <p:cNvSpPr/>
          <p:nvPr/>
        </p:nvSpPr>
        <p:spPr>
          <a:xfrm rot="5400000">
            <a:off x="3389300" y="4232883"/>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5" name="文本框 14"/>
          <p:cNvSpPr txBox="1"/>
          <p:nvPr/>
        </p:nvSpPr>
        <p:spPr>
          <a:xfrm>
            <a:off x="1051707" y="2611001"/>
            <a:ext cx="755564"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事件活动</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16" name="文本框 15"/>
          <p:cNvSpPr txBox="1"/>
          <p:nvPr/>
        </p:nvSpPr>
        <p:spPr>
          <a:xfrm>
            <a:off x="2900444" y="2611001"/>
            <a:ext cx="1182820"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人</a:t>
            </a:r>
            <a:r>
              <a:rPr kumimoji="0" lang="en-US" altLang="zh-CN"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a:t>
            </a: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物的关键信息</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17" name="文本框 16"/>
          <p:cNvSpPr txBox="1"/>
          <p:nvPr/>
        </p:nvSpPr>
        <p:spPr>
          <a:xfrm>
            <a:off x="2297521" y="3863330"/>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B</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nvGrpSpPr>
          <p:cNvPr id="18" name="组合 17"/>
          <p:cNvGrpSpPr/>
          <p:nvPr/>
        </p:nvGrpSpPr>
        <p:grpSpPr>
          <a:xfrm>
            <a:off x="2294578" y="3569302"/>
            <a:ext cx="2038404" cy="261610"/>
            <a:chOff x="2548799" y="3513169"/>
            <a:chExt cx="2038404" cy="261610"/>
          </a:xfrm>
        </p:grpSpPr>
        <p:sp>
          <p:nvSpPr>
            <p:cNvPr id="19" name="文本框 18"/>
            <p:cNvSpPr txBox="1"/>
            <p:nvPr/>
          </p:nvSpPr>
          <p:spPr>
            <a:xfrm>
              <a:off x="2548799"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披露口径</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0" name="文本框 19"/>
            <p:cNvSpPr txBox="1"/>
            <p:nvPr/>
          </p:nvSpPr>
          <p:spPr>
            <a:xfrm>
              <a:off x="3519235"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A</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sp>
        <p:nvSpPr>
          <p:cNvPr id="21" name="矩形 20"/>
          <p:cNvSpPr/>
          <p:nvPr/>
        </p:nvSpPr>
        <p:spPr>
          <a:xfrm>
            <a:off x="602873" y="4578766"/>
            <a:ext cx="1585971"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2" name="文本框 21"/>
          <p:cNvSpPr txBox="1"/>
          <p:nvPr/>
        </p:nvSpPr>
        <p:spPr>
          <a:xfrm>
            <a:off x="856287" y="4592550"/>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研发需求信息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3" name="文本框 22"/>
          <p:cNvSpPr txBox="1"/>
          <p:nvPr/>
        </p:nvSpPr>
        <p:spPr>
          <a:xfrm>
            <a:off x="681853" y="5242295"/>
            <a:ext cx="1402847"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需求分派信息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4" name="文本框 23"/>
          <p:cNvSpPr txBox="1"/>
          <p:nvPr/>
        </p:nvSpPr>
        <p:spPr>
          <a:xfrm>
            <a:off x="856287" y="4903120"/>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5" name="矩形 24"/>
          <p:cNvSpPr/>
          <p:nvPr/>
        </p:nvSpPr>
        <p:spPr>
          <a:xfrm>
            <a:off x="4563487" y="2852339"/>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6" name="文本框 25"/>
          <p:cNvSpPr txBox="1"/>
          <p:nvPr/>
        </p:nvSpPr>
        <p:spPr>
          <a:xfrm>
            <a:off x="4758328" y="3009318"/>
            <a:ext cx="79187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买方</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7" name="箭头: 燕尾形 26"/>
          <p:cNvSpPr/>
          <p:nvPr/>
        </p:nvSpPr>
        <p:spPr>
          <a:xfrm rot="5400000">
            <a:off x="5085203" y="4232883"/>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8" name="矩形 27"/>
          <p:cNvSpPr/>
          <p:nvPr/>
        </p:nvSpPr>
        <p:spPr>
          <a:xfrm>
            <a:off x="4563487" y="4585727"/>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29" name="文本框 28"/>
          <p:cNvSpPr txBox="1"/>
          <p:nvPr/>
        </p:nvSpPr>
        <p:spPr>
          <a:xfrm>
            <a:off x="4612808" y="4637052"/>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买方</a:t>
            </a:r>
            <a:r>
              <a:rPr kumimoji="0" lang="zh-CN" altLang="en-US" sz="1100" b="0" i="0" u="none" strike="noStrike" kern="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nvGrpSpPr>
          <p:cNvPr id="30" name="组合 29"/>
          <p:cNvGrpSpPr/>
          <p:nvPr/>
        </p:nvGrpSpPr>
        <p:grpSpPr>
          <a:xfrm>
            <a:off x="2431590" y="2904087"/>
            <a:ext cx="1808494" cy="313356"/>
            <a:chOff x="2685811" y="2809330"/>
            <a:chExt cx="1808494" cy="313356"/>
          </a:xfrm>
        </p:grpSpPr>
        <p:sp>
          <p:nvSpPr>
            <p:cNvPr id="31" name="文本框 30"/>
            <p:cNvSpPr txBox="1"/>
            <p:nvPr/>
          </p:nvSpPr>
          <p:spPr>
            <a:xfrm>
              <a:off x="3691925" y="2857745"/>
              <a:ext cx="802380"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新旧客户</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32" name="文本框 31"/>
            <p:cNvSpPr txBox="1"/>
            <p:nvPr/>
          </p:nvSpPr>
          <p:spPr>
            <a:xfrm>
              <a:off x="2685811" y="2809330"/>
              <a:ext cx="79187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需求状态</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sp>
        <p:nvSpPr>
          <p:cNvPr id="33" name="文本框 32"/>
          <p:cNvSpPr txBox="1"/>
          <p:nvPr/>
        </p:nvSpPr>
        <p:spPr>
          <a:xfrm>
            <a:off x="4528597" y="2547394"/>
            <a:ext cx="1216843" cy="30949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人</a:t>
            </a:r>
            <a:r>
              <a:rPr kumimoji="0" lang="en-US" altLang="zh-CN"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a:t>
            </a: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物的关键信息</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34" name="矩形: 圆角 33"/>
          <p:cNvSpPr/>
          <p:nvPr/>
        </p:nvSpPr>
        <p:spPr>
          <a:xfrm>
            <a:off x="106061" y="2735218"/>
            <a:ext cx="332039" cy="153280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rPr>
              <a:t>识别活动</a:t>
            </a:r>
            <a:r>
              <a:rPr kumimoji="0" lang="en-US" altLang="zh-CN"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rPr>
              <a:t>/</a:t>
            </a:r>
            <a:r>
              <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rPr>
              <a:t>关键信息</a:t>
            </a:r>
            <a:endPar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endParaRPr>
          </a:p>
        </p:txBody>
      </p:sp>
      <p:sp>
        <p:nvSpPr>
          <p:cNvPr id="35" name="矩形: 圆角 34"/>
          <p:cNvSpPr/>
          <p:nvPr/>
        </p:nvSpPr>
        <p:spPr>
          <a:xfrm>
            <a:off x="106060" y="4578765"/>
            <a:ext cx="332039" cy="153280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rPr>
              <a:t>设计逻辑实体</a:t>
            </a:r>
            <a:endPar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endParaRPr>
          </a:p>
        </p:txBody>
      </p:sp>
      <p:sp>
        <p:nvSpPr>
          <p:cNvPr id="36" name="矩形 35"/>
          <p:cNvSpPr/>
          <p:nvPr/>
        </p:nvSpPr>
        <p:spPr>
          <a:xfrm>
            <a:off x="2265725" y="4585727"/>
            <a:ext cx="2206803"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4" name="矩形 43"/>
          <p:cNvSpPr/>
          <p:nvPr/>
        </p:nvSpPr>
        <p:spPr>
          <a:xfrm>
            <a:off x="5782263" y="2176497"/>
            <a:ext cx="116151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卖方</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45" name="文本框 44"/>
          <p:cNvSpPr txBox="1"/>
          <p:nvPr/>
        </p:nvSpPr>
        <p:spPr>
          <a:xfrm>
            <a:off x="5764758" y="2611001"/>
            <a:ext cx="1182820"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人</a:t>
            </a:r>
            <a:r>
              <a:rPr kumimoji="0" lang="en-US" altLang="zh-CN"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a:t>
            </a: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物的关键信息</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46" name="矩形 45"/>
          <p:cNvSpPr/>
          <p:nvPr/>
        </p:nvSpPr>
        <p:spPr>
          <a:xfrm>
            <a:off x="5803781" y="2846304"/>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7" name="矩形 46"/>
          <p:cNvSpPr/>
          <p:nvPr/>
        </p:nvSpPr>
        <p:spPr>
          <a:xfrm>
            <a:off x="5803781" y="4579692"/>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8" name="文本框 47"/>
          <p:cNvSpPr txBox="1"/>
          <p:nvPr/>
        </p:nvSpPr>
        <p:spPr>
          <a:xfrm>
            <a:off x="5989842" y="3058340"/>
            <a:ext cx="802380"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卖方</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9" name="文本框 48"/>
          <p:cNvSpPr txBox="1"/>
          <p:nvPr/>
        </p:nvSpPr>
        <p:spPr>
          <a:xfrm>
            <a:off x="5820598" y="4519968"/>
            <a:ext cx="1067968" cy="430887"/>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卖方基本信息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0" name="文本框 49"/>
          <p:cNvSpPr txBox="1"/>
          <p:nvPr/>
        </p:nvSpPr>
        <p:spPr>
          <a:xfrm>
            <a:off x="3415202" y="3256058"/>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产品类型</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3" name="矩形 52"/>
          <p:cNvSpPr/>
          <p:nvPr/>
        </p:nvSpPr>
        <p:spPr>
          <a:xfrm>
            <a:off x="7054474" y="2854929"/>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4" name="文本框 53"/>
          <p:cNvSpPr txBox="1"/>
          <p:nvPr/>
        </p:nvSpPr>
        <p:spPr>
          <a:xfrm>
            <a:off x="7249315" y="3011908"/>
            <a:ext cx="79187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产品</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5" name="箭头: 燕尾形 54"/>
          <p:cNvSpPr/>
          <p:nvPr/>
        </p:nvSpPr>
        <p:spPr>
          <a:xfrm rot="5400000">
            <a:off x="7576190" y="4235473"/>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6" name="矩形 55"/>
          <p:cNvSpPr/>
          <p:nvPr/>
        </p:nvSpPr>
        <p:spPr>
          <a:xfrm>
            <a:off x="7054474" y="4588317"/>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7" name="文本框 56"/>
          <p:cNvSpPr txBox="1"/>
          <p:nvPr/>
        </p:nvSpPr>
        <p:spPr>
          <a:xfrm>
            <a:off x="7103795" y="4639642"/>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产品</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9" name="文本框 58"/>
          <p:cNvSpPr txBox="1"/>
          <p:nvPr/>
        </p:nvSpPr>
        <p:spPr>
          <a:xfrm>
            <a:off x="10917815" y="2611001"/>
            <a:ext cx="1182820"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人</a:t>
            </a:r>
            <a:r>
              <a:rPr kumimoji="0" lang="en-US" altLang="zh-CN"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a:t>
            </a: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物的关键信息</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60" name="矩形 59"/>
          <p:cNvSpPr/>
          <p:nvPr/>
        </p:nvSpPr>
        <p:spPr>
          <a:xfrm>
            <a:off x="10964712" y="2854929"/>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1" name="矩形 60"/>
          <p:cNvSpPr/>
          <p:nvPr/>
        </p:nvSpPr>
        <p:spPr>
          <a:xfrm>
            <a:off x="10964712" y="4588317"/>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2" name="文本框 61"/>
          <p:cNvSpPr txBox="1"/>
          <p:nvPr/>
        </p:nvSpPr>
        <p:spPr>
          <a:xfrm>
            <a:off x="11131761" y="3057401"/>
            <a:ext cx="802380"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项目</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3" name="文本框 62"/>
          <p:cNvSpPr txBox="1"/>
          <p:nvPr/>
        </p:nvSpPr>
        <p:spPr>
          <a:xfrm>
            <a:off x="10998044" y="4688798"/>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项目</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4" name="箭头: 燕尾形 63"/>
          <p:cNvSpPr/>
          <p:nvPr/>
        </p:nvSpPr>
        <p:spPr>
          <a:xfrm rot="5400000">
            <a:off x="6260895" y="4242279"/>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5" name="箭头: 燕尾形 64"/>
          <p:cNvSpPr/>
          <p:nvPr/>
        </p:nvSpPr>
        <p:spPr>
          <a:xfrm rot="5400000">
            <a:off x="11415538" y="4242279"/>
            <a:ext cx="187374" cy="184698"/>
          </a:xfrm>
          <a:prstGeom prst="notchedRightArrow">
            <a:avLst/>
          </a:prstGeom>
          <a:solidFill>
            <a:srgbClr val="F5DF02"/>
          </a:solidFill>
          <a:ln w="12700" cap="flat" cmpd="sng" algn="ctr">
            <a:solidFill>
              <a:srgbClr val="F5DF02">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6" name="文本框 65"/>
          <p:cNvSpPr txBox="1"/>
          <p:nvPr/>
        </p:nvSpPr>
        <p:spPr>
          <a:xfrm>
            <a:off x="2293541" y="3254624"/>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是否</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ODM</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8" name="文本框 67"/>
          <p:cNvSpPr txBox="1"/>
          <p:nvPr/>
        </p:nvSpPr>
        <p:spPr>
          <a:xfrm>
            <a:off x="709105" y="5547692"/>
            <a:ext cx="1402847"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分析报告审批信息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9" name="文本框 68"/>
          <p:cNvSpPr txBox="1"/>
          <p:nvPr/>
        </p:nvSpPr>
        <p:spPr>
          <a:xfrm>
            <a:off x="858582" y="3816987"/>
            <a:ext cx="1106221"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审批报告</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71" name="文本框 70"/>
          <p:cNvSpPr txBox="1"/>
          <p:nvPr/>
        </p:nvSpPr>
        <p:spPr>
          <a:xfrm>
            <a:off x="3264194" y="3854290"/>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全新</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OR</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迭代</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72" name="文本框 71"/>
          <p:cNvSpPr txBox="1"/>
          <p:nvPr/>
        </p:nvSpPr>
        <p:spPr>
          <a:xfrm>
            <a:off x="2298309" y="5593420"/>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B</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nvGrpSpPr>
          <p:cNvPr id="73" name="组合 72"/>
          <p:cNvGrpSpPr/>
          <p:nvPr/>
        </p:nvGrpSpPr>
        <p:grpSpPr>
          <a:xfrm>
            <a:off x="2295366" y="5299392"/>
            <a:ext cx="2038404" cy="261610"/>
            <a:chOff x="2548799" y="3513169"/>
            <a:chExt cx="2038404" cy="261610"/>
          </a:xfrm>
        </p:grpSpPr>
        <p:sp>
          <p:nvSpPr>
            <p:cNvPr id="74" name="文本框 73"/>
            <p:cNvSpPr txBox="1"/>
            <p:nvPr/>
          </p:nvSpPr>
          <p:spPr>
            <a:xfrm>
              <a:off x="2548799"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披露口径信息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75" name="文本框 74"/>
            <p:cNvSpPr txBox="1"/>
            <p:nvPr/>
          </p:nvSpPr>
          <p:spPr>
            <a:xfrm>
              <a:off x="3519235"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A</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grpSp>
        <p:nvGrpSpPr>
          <p:cNvPr id="76" name="组合 75"/>
          <p:cNvGrpSpPr/>
          <p:nvPr/>
        </p:nvGrpSpPr>
        <p:grpSpPr>
          <a:xfrm>
            <a:off x="2301324" y="4651005"/>
            <a:ext cx="2072342" cy="292072"/>
            <a:chOff x="2554757" y="2826158"/>
            <a:chExt cx="2072342" cy="292072"/>
          </a:xfrm>
        </p:grpSpPr>
        <p:sp>
          <p:nvSpPr>
            <p:cNvPr id="77" name="文本框 76"/>
            <p:cNvSpPr txBox="1"/>
            <p:nvPr/>
          </p:nvSpPr>
          <p:spPr>
            <a:xfrm>
              <a:off x="3559131" y="2850683"/>
              <a:ext cx="1067968" cy="267547"/>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新旧客户信息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78" name="文本框 77"/>
            <p:cNvSpPr txBox="1"/>
            <p:nvPr/>
          </p:nvSpPr>
          <p:spPr>
            <a:xfrm>
              <a:off x="2554757" y="2826158"/>
              <a:ext cx="1053979"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需求状态</a:t>
              </a: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sp>
        <p:nvSpPr>
          <p:cNvPr id="79" name="文本框 78"/>
          <p:cNvSpPr txBox="1"/>
          <p:nvPr/>
        </p:nvSpPr>
        <p:spPr>
          <a:xfrm>
            <a:off x="3415990" y="4986148"/>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产品类型信息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80" name="文本框 79"/>
          <p:cNvSpPr txBox="1"/>
          <p:nvPr/>
        </p:nvSpPr>
        <p:spPr>
          <a:xfrm>
            <a:off x="2294329" y="4984714"/>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是否</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ODM</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81" name="文本框 80"/>
          <p:cNvSpPr txBox="1"/>
          <p:nvPr/>
        </p:nvSpPr>
        <p:spPr>
          <a:xfrm>
            <a:off x="3152845" y="5613168"/>
            <a:ext cx="1292242" cy="243225"/>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全新</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OR</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迭代信息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82" name="矩形 81"/>
          <p:cNvSpPr/>
          <p:nvPr/>
        </p:nvSpPr>
        <p:spPr>
          <a:xfrm>
            <a:off x="7033982" y="2167905"/>
            <a:ext cx="116151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产品</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83" name="矩形 82"/>
          <p:cNvSpPr/>
          <p:nvPr/>
        </p:nvSpPr>
        <p:spPr>
          <a:xfrm>
            <a:off x="10904787" y="2167905"/>
            <a:ext cx="124126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研发项目</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84" name="文本框 83"/>
          <p:cNvSpPr txBox="1"/>
          <p:nvPr/>
        </p:nvSpPr>
        <p:spPr>
          <a:xfrm>
            <a:off x="7031303" y="2612506"/>
            <a:ext cx="1182820"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人</a:t>
            </a:r>
            <a:r>
              <a:rPr kumimoji="0" lang="en-US" altLang="zh-CN"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a:t>
            </a: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物的关键信息</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85" name="矩形 84"/>
          <p:cNvSpPr/>
          <p:nvPr/>
        </p:nvSpPr>
        <p:spPr>
          <a:xfrm>
            <a:off x="9603740" y="1650682"/>
            <a:ext cx="2542314"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研发项目管理</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86" name="矩形 85"/>
          <p:cNvSpPr/>
          <p:nvPr/>
        </p:nvSpPr>
        <p:spPr>
          <a:xfrm>
            <a:off x="9618536" y="2167905"/>
            <a:ext cx="124126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项目计划</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87" name="矩形 86"/>
          <p:cNvSpPr/>
          <p:nvPr/>
        </p:nvSpPr>
        <p:spPr>
          <a:xfrm>
            <a:off x="9603741" y="2835373"/>
            <a:ext cx="1256064" cy="1279562"/>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88" name="文本框 87"/>
          <p:cNvSpPr txBox="1"/>
          <p:nvPr/>
        </p:nvSpPr>
        <p:spPr>
          <a:xfrm>
            <a:off x="9863061" y="2600996"/>
            <a:ext cx="755564"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事件活动</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89" name="文本框 88"/>
          <p:cNvSpPr txBox="1"/>
          <p:nvPr/>
        </p:nvSpPr>
        <p:spPr>
          <a:xfrm>
            <a:off x="9815288" y="2840527"/>
            <a:ext cx="83112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编制计划</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0" name="文本框 89"/>
          <p:cNvSpPr txBox="1"/>
          <p:nvPr/>
        </p:nvSpPr>
        <p:spPr>
          <a:xfrm>
            <a:off x="9773732" y="3178670"/>
            <a:ext cx="914232"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上传交付物</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1" name="矩形 90"/>
          <p:cNvSpPr/>
          <p:nvPr/>
        </p:nvSpPr>
        <p:spPr>
          <a:xfrm>
            <a:off x="9603740" y="4592550"/>
            <a:ext cx="1256064" cy="1268498"/>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2" name="矩形 91"/>
          <p:cNvSpPr/>
          <p:nvPr/>
        </p:nvSpPr>
        <p:spPr>
          <a:xfrm>
            <a:off x="8285700" y="2167905"/>
            <a:ext cx="1161518"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新产品开发任务书</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93" name="文本框 92"/>
          <p:cNvSpPr txBox="1"/>
          <p:nvPr/>
        </p:nvSpPr>
        <p:spPr>
          <a:xfrm>
            <a:off x="9815288" y="4646267"/>
            <a:ext cx="83112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项目</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计划</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4" name="文本框 93"/>
          <p:cNvSpPr txBox="1"/>
          <p:nvPr/>
        </p:nvSpPr>
        <p:spPr>
          <a:xfrm>
            <a:off x="9773732" y="4962154"/>
            <a:ext cx="914232"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交付物</a:t>
            </a: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5" name="矩形 94"/>
          <p:cNvSpPr/>
          <p:nvPr/>
        </p:nvSpPr>
        <p:spPr>
          <a:xfrm>
            <a:off x="8263702" y="2845378"/>
            <a:ext cx="1256064" cy="1279562"/>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6" name="文本框 95"/>
          <p:cNvSpPr txBox="1"/>
          <p:nvPr/>
        </p:nvSpPr>
        <p:spPr>
          <a:xfrm>
            <a:off x="8523022" y="2611001"/>
            <a:ext cx="755564" cy="25578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rPr>
              <a:t>事件活动</a:t>
            </a:r>
            <a:endParaRPr kumimoji="0" lang="zh-CN" altLang="en-US" sz="1050" b="0" i="0" u="sng"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Arial" panose="020B0604020202020204"/>
              <a:sym typeface="Arial" panose="020B0604020202020204"/>
            </a:endParaRPr>
          </a:p>
        </p:txBody>
      </p:sp>
      <p:sp>
        <p:nvSpPr>
          <p:cNvPr id="97" name="文本框 96"/>
          <p:cNvSpPr txBox="1"/>
          <p:nvPr/>
        </p:nvSpPr>
        <p:spPr>
          <a:xfrm>
            <a:off x="8337699" y="2905266"/>
            <a:ext cx="1106221"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发起开发任务</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9" name="矩形 98"/>
          <p:cNvSpPr/>
          <p:nvPr/>
        </p:nvSpPr>
        <p:spPr>
          <a:xfrm>
            <a:off x="8269314" y="4598754"/>
            <a:ext cx="1256064" cy="1262294"/>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1" name="文本框 100"/>
          <p:cNvSpPr txBox="1"/>
          <p:nvPr/>
        </p:nvSpPr>
        <p:spPr>
          <a:xfrm>
            <a:off x="8227158" y="4662691"/>
            <a:ext cx="1338527"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新产品开发任务书</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99110" y="417195"/>
            <a:ext cx="9387840" cy="480695"/>
          </a:xfrm>
        </p:spPr>
        <p:txBody>
          <a:bodyPr wrap="square"/>
          <a:lstStyle/>
          <a:p>
            <a:pPr algn="l" defTabSz="685800">
              <a:lnSpc>
                <a:spcPct val="90000"/>
              </a:lnSpc>
              <a:buClrTx/>
              <a:buSzTx/>
              <a:buFontTx/>
            </a:pPr>
            <a:r>
              <a:rPr lang="zh-CN" altLang="en-US" sz="2800">
                <a:solidFill>
                  <a:schemeClr val="tx1"/>
                </a:solidFill>
                <a:sym typeface="+mn-ea"/>
              </a:rPr>
              <a:t>数据架构</a:t>
            </a:r>
            <a:r>
              <a:rPr lang="en-US" altLang="zh-CN" sz="2800">
                <a:solidFill>
                  <a:schemeClr val="tx1"/>
                </a:solidFill>
                <a:sym typeface="+mn-ea"/>
              </a:rPr>
              <a:t>– </a:t>
            </a:r>
            <a:r>
              <a:rPr lang="zh-CN" altLang="en-US" sz="2800">
                <a:solidFill>
                  <a:schemeClr val="tx1"/>
                </a:solidFill>
                <a:sym typeface="+mn-ea"/>
              </a:rPr>
              <a:t>数据资产目录</a:t>
            </a:r>
            <a:r>
              <a:rPr lang="en-US" altLang="zh-CN" sz="2800">
                <a:solidFill>
                  <a:schemeClr val="tx1"/>
                </a:solidFill>
                <a:sym typeface="+mn-ea"/>
              </a:rPr>
              <a:t>L1-L4</a:t>
            </a:r>
            <a:r>
              <a:rPr lang="zh-CN" altLang="en-US" sz="2800">
                <a:solidFill>
                  <a:schemeClr val="tx1"/>
                </a:solidFill>
                <a:sym typeface="+mn-ea"/>
              </a:rPr>
              <a:t>（</a:t>
            </a:r>
            <a:r>
              <a:rPr lang="en-US" altLang="zh-CN" sz="2800">
                <a:solidFill>
                  <a:schemeClr val="tx1"/>
                </a:solidFill>
                <a:sym typeface="+mn-ea"/>
              </a:rPr>
              <a:t>2</a:t>
            </a:r>
            <a:r>
              <a:rPr lang="en-US" altLang="zh-CN" sz="2800">
                <a:solidFill>
                  <a:schemeClr val="tx1"/>
                </a:solidFill>
                <a:sym typeface="+mn-ea"/>
              </a:rPr>
              <a:t>/2</a:t>
            </a:r>
            <a:r>
              <a:rPr lang="zh-CN" altLang="en-US" sz="2800">
                <a:solidFill>
                  <a:schemeClr val="tx1"/>
                </a:solidFill>
                <a:sym typeface="+mn-ea"/>
              </a:rPr>
              <a:t>）</a:t>
            </a:r>
            <a:endParaRPr lang="zh-CN" altLang="en-US" sz="2800">
              <a:solidFill>
                <a:schemeClr val="tx1"/>
              </a:solidFill>
              <a:latin typeface="+mn-ea"/>
              <a:ea typeface="+mn-ea"/>
              <a:sym typeface="+mn-ea"/>
            </a:endParaRPr>
          </a:p>
        </p:txBody>
      </p:sp>
      <p:sp>
        <p:nvSpPr>
          <p:cNvPr id="3" name="矩形 2"/>
          <p:cNvSpPr/>
          <p:nvPr/>
        </p:nvSpPr>
        <p:spPr>
          <a:xfrm>
            <a:off x="602872" y="1127531"/>
            <a:ext cx="11543181"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IPD</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37" name="矩形 36"/>
          <p:cNvSpPr/>
          <p:nvPr/>
        </p:nvSpPr>
        <p:spPr>
          <a:xfrm>
            <a:off x="602873" y="1654446"/>
            <a:ext cx="8922505"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工艺</a:t>
            </a: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评估管理</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38" name="矩形 37"/>
          <p:cNvSpPr/>
          <p:nvPr/>
        </p:nvSpPr>
        <p:spPr>
          <a:xfrm>
            <a:off x="602873" y="2153007"/>
            <a:ext cx="1585971"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39" name="文本框 38"/>
          <p:cNvSpPr txBox="1"/>
          <p:nvPr/>
        </p:nvSpPr>
        <p:spPr>
          <a:xfrm>
            <a:off x="856287" y="2166791"/>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研发需求信息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0" name="文本框 39"/>
          <p:cNvSpPr txBox="1"/>
          <p:nvPr/>
        </p:nvSpPr>
        <p:spPr>
          <a:xfrm>
            <a:off x="681853" y="2816536"/>
            <a:ext cx="1402847"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需求分派信息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1" name="文本框 40"/>
          <p:cNvSpPr txBox="1"/>
          <p:nvPr/>
        </p:nvSpPr>
        <p:spPr>
          <a:xfrm>
            <a:off x="856287" y="2477361"/>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2" name="矩形 41"/>
          <p:cNvSpPr/>
          <p:nvPr/>
        </p:nvSpPr>
        <p:spPr>
          <a:xfrm>
            <a:off x="4563487" y="2159968"/>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43" name="文本框 42"/>
          <p:cNvSpPr txBox="1"/>
          <p:nvPr/>
        </p:nvSpPr>
        <p:spPr>
          <a:xfrm>
            <a:off x="4612808" y="2211293"/>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买方</a:t>
            </a:r>
            <a:r>
              <a:rPr kumimoji="0" lang="zh-CN" altLang="en-US" sz="1100" b="0" i="0" u="none" strike="noStrike" kern="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1" name="矩形 50"/>
          <p:cNvSpPr/>
          <p:nvPr/>
        </p:nvSpPr>
        <p:spPr>
          <a:xfrm>
            <a:off x="2265725" y="2159968"/>
            <a:ext cx="2206803" cy="1391800"/>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2" name="矩形 51"/>
          <p:cNvSpPr/>
          <p:nvPr/>
        </p:nvSpPr>
        <p:spPr>
          <a:xfrm>
            <a:off x="5803781" y="2153933"/>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58" name="文本框 57"/>
          <p:cNvSpPr txBox="1"/>
          <p:nvPr/>
        </p:nvSpPr>
        <p:spPr>
          <a:xfrm>
            <a:off x="5820598" y="2094209"/>
            <a:ext cx="1067968" cy="430887"/>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卖方基本信息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67" name="矩形 66"/>
          <p:cNvSpPr/>
          <p:nvPr/>
        </p:nvSpPr>
        <p:spPr>
          <a:xfrm>
            <a:off x="7054474" y="2162558"/>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70" name="文本框 69"/>
          <p:cNvSpPr txBox="1"/>
          <p:nvPr/>
        </p:nvSpPr>
        <p:spPr>
          <a:xfrm>
            <a:off x="7103795" y="2213883"/>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产品</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98" name="矩形 97"/>
          <p:cNvSpPr/>
          <p:nvPr/>
        </p:nvSpPr>
        <p:spPr>
          <a:xfrm>
            <a:off x="10964712" y="2162558"/>
            <a:ext cx="1136478" cy="1265937"/>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0" name="文本框 99"/>
          <p:cNvSpPr txBox="1"/>
          <p:nvPr/>
        </p:nvSpPr>
        <p:spPr>
          <a:xfrm>
            <a:off x="10998044" y="226303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项目</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2" name="文本框 101"/>
          <p:cNvSpPr txBox="1"/>
          <p:nvPr/>
        </p:nvSpPr>
        <p:spPr>
          <a:xfrm>
            <a:off x="709105" y="3121933"/>
            <a:ext cx="1402847"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分析报告审批信息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3" name="文本框 102"/>
          <p:cNvSpPr txBox="1"/>
          <p:nvPr/>
        </p:nvSpPr>
        <p:spPr>
          <a:xfrm>
            <a:off x="2298309" y="3167661"/>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B</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nvGrpSpPr>
          <p:cNvPr id="104" name="组合 103"/>
          <p:cNvGrpSpPr/>
          <p:nvPr/>
        </p:nvGrpSpPr>
        <p:grpSpPr>
          <a:xfrm>
            <a:off x="2295366" y="2873633"/>
            <a:ext cx="2038404" cy="261610"/>
            <a:chOff x="2548799" y="3513169"/>
            <a:chExt cx="2038404" cy="261610"/>
          </a:xfrm>
        </p:grpSpPr>
        <p:sp>
          <p:nvSpPr>
            <p:cNvPr id="105" name="文本框 104"/>
            <p:cNvSpPr txBox="1"/>
            <p:nvPr/>
          </p:nvSpPr>
          <p:spPr>
            <a:xfrm>
              <a:off x="2548799"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披露口径信息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6" name="文本框 105"/>
            <p:cNvSpPr txBox="1"/>
            <p:nvPr/>
          </p:nvSpPr>
          <p:spPr>
            <a:xfrm>
              <a:off x="3519235" y="351316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类型</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A</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grpSp>
        <p:nvGrpSpPr>
          <p:cNvPr id="107" name="组合 106"/>
          <p:cNvGrpSpPr/>
          <p:nvPr/>
        </p:nvGrpSpPr>
        <p:grpSpPr>
          <a:xfrm>
            <a:off x="2301324" y="2225246"/>
            <a:ext cx="2072342" cy="292072"/>
            <a:chOff x="2554757" y="2826158"/>
            <a:chExt cx="2072342" cy="292072"/>
          </a:xfrm>
        </p:grpSpPr>
        <p:sp>
          <p:nvSpPr>
            <p:cNvPr id="108" name="文本框 107"/>
            <p:cNvSpPr txBox="1"/>
            <p:nvPr/>
          </p:nvSpPr>
          <p:spPr>
            <a:xfrm>
              <a:off x="3559131" y="2850683"/>
              <a:ext cx="1067968" cy="267547"/>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新旧客户信息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09" name="文本框 108"/>
            <p:cNvSpPr txBox="1"/>
            <p:nvPr/>
          </p:nvSpPr>
          <p:spPr>
            <a:xfrm>
              <a:off x="2554757" y="2826158"/>
              <a:ext cx="1053979"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需求状态</a:t>
              </a: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grpSp>
      <p:sp>
        <p:nvSpPr>
          <p:cNvPr id="110" name="文本框 109"/>
          <p:cNvSpPr txBox="1"/>
          <p:nvPr/>
        </p:nvSpPr>
        <p:spPr>
          <a:xfrm>
            <a:off x="3415990" y="2560389"/>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产品类型信息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1" name="文本框 110"/>
          <p:cNvSpPr txBox="1"/>
          <p:nvPr/>
        </p:nvSpPr>
        <p:spPr>
          <a:xfrm>
            <a:off x="2294329" y="2558955"/>
            <a:ext cx="1067968" cy="26161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是否</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ODM</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2" name="文本框 111"/>
          <p:cNvSpPr txBox="1"/>
          <p:nvPr/>
        </p:nvSpPr>
        <p:spPr>
          <a:xfrm>
            <a:off x="3152845" y="3187409"/>
            <a:ext cx="1292242" cy="243225"/>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全新</a:t>
            </a:r>
            <a:r>
              <a:rPr kumimoji="0" lang="en-US" altLang="zh-CN"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OR</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迭代信息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3" name="矩形 112"/>
          <p:cNvSpPr/>
          <p:nvPr/>
        </p:nvSpPr>
        <p:spPr>
          <a:xfrm>
            <a:off x="9603740" y="1650682"/>
            <a:ext cx="2542314" cy="432000"/>
          </a:xfrm>
          <a:prstGeom prst="rect">
            <a:avLst/>
          </a:prstGeom>
          <a:solidFill>
            <a:schemeClr val="accent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rPr>
              <a:t>研发项目管理</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sym typeface="Arial" panose="020B0604020202020204"/>
            </a:endParaRPr>
          </a:p>
        </p:txBody>
      </p:sp>
      <p:sp>
        <p:nvSpPr>
          <p:cNvPr id="114" name="矩形 113"/>
          <p:cNvSpPr/>
          <p:nvPr/>
        </p:nvSpPr>
        <p:spPr>
          <a:xfrm>
            <a:off x="9603740" y="2166791"/>
            <a:ext cx="1256064" cy="1268498"/>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5" name="文本框 114"/>
          <p:cNvSpPr txBox="1"/>
          <p:nvPr/>
        </p:nvSpPr>
        <p:spPr>
          <a:xfrm>
            <a:off x="9815288" y="2220508"/>
            <a:ext cx="831120"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项目</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计划</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6" name="文本框 115"/>
          <p:cNvSpPr txBox="1"/>
          <p:nvPr/>
        </p:nvSpPr>
        <p:spPr>
          <a:xfrm>
            <a:off x="9773732" y="2536395"/>
            <a:ext cx="914232"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交付物</a:t>
            </a:r>
            <a:r>
              <a:rPr lang="zh-CN" altLang="en-US" sz="1100" kern="1200" dirty="0">
                <a:solidFill>
                  <a:srgbClr val="274F31">
                    <a:lumMod val="50000"/>
                  </a:srgbClr>
                </a:solidFill>
                <a:uFillTx/>
                <a:latin typeface="Arial" panose="020B0604020202020204"/>
                <a:ea typeface="黑体" panose="02010609060101010101" pitchFamily="49" charset="-122"/>
                <a:cs typeface="Arial" panose="020B0604020202020204"/>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7" name="矩形 116"/>
          <p:cNvSpPr/>
          <p:nvPr/>
        </p:nvSpPr>
        <p:spPr>
          <a:xfrm>
            <a:off x="8269314" y="2172995"/>
            <a:ext cx="1256064" cy="1262294"/>
          </a:xfrm>
          <a:prstGeom prst="rect">
            <a:avLst/>
          </a:prstGeom>
          <a:noFill/>
          <a:ln w="1270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8" name="文本框 117"/>
          <p:cNvSpPr txBox="1"/>
          <p:nvPr/>
        </p:nvSpPr>
        <p:spPr>
          <a:xfrm>
            <a:off x="8227158" y="2236932"/>
            <a:ext cx="1338527" cy="291100"/>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新产品开发任务书</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19" name="矩形: 圆角 2"/>
          <p:cNvSpPr/>
          <p:nvPr/>
        </p:nvSpPr>
        <p:spPr>
          <a:xfrm>
            <a:off x="107366" y="2735218"/>
            <a:ext cx="332039" cy="350449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rPr>
              <a:t>基于设计原则审视与整合</a:t>
            </a:r>
            <a:endParaRPr kumimoji="0" lang="zh-CN" altLang="en-US" sz="11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mn-cs"/>
              <a:sym typeface="Arial" panose="020B0604020202020204"/>
            </a:endParaRPr>
          </a:p>
        </p:txBody>
      </p:sp>
      <p:sp>
        <p:nvSpPr>
          <p:cNvPr id="120" name="文本框 119"/>
          <p:cNvSpPr txBox="1"/>
          <p:nvPr/>
        </p:nvSpPr>
        <p:spPr>
          <a:xfrm>
            <a:off x="2234166" y="3924060"/>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卖方信息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
        <p:nvSpPr>
          <p:cNvPr id="121" name="文本框 120"/>
          <p:cNvSpPr txBox="1"/>
          <p:nvPr/>
        </p:nvSpPr>
        <p:spPr>
          <a:xfrm>
            <a:off x="2234166" y="3712367"/>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mn-cs"/>
                <a:sym typeface="Arial" panose="020B0604020202020204"/>
              </a:rPr>
              <a:t>需求</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基本信息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
        <p:nvSpPr>
          <p:cNvPr id="122" name="文本框 121"/>
          <p:cNvSpPr txBox="1"/>
          <p:nvPr/>
        </p:nvSpPr>
        <p:spPr>
          <a:xfrm>
            <a:off x="3629462" y="4053822"/>
            <a:ext cx="7286484" cy="313356"/>
          </a:xfrm>
          <a:prstGeom prst="rect">
            <a:avLst/>
          </a:prstGeom>
          <a:noFill/>
        </p:spPr>
        <p:txBody>
          <a:bodyPr wrap="square" rtlCol="0" anchor="b">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考虑支持表单页面灵活编排生成，对“研发需求信息”按最小业务特征拆分为四个逻辑实体</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
        <p:nvSpPr>
          <p:cNvPr id="123" name="右大括号 122"/>
          <p:cNvSpPr/>
          <p:nvPr/>
        </p:nvSpPr>
        <p:spPr>
          <a:xfrm>
            <a:off x="3415973" y="3870798"/>
            <a:ext cx="165129" cy="75188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sym typeface="Arial" panose="020B0604020202020204"/>
            </a:endParaRPr>
          </a:p>
        </p:txBody>
      </p:sp>
      <p:sp>
        <p:nvSpPr>
          <p:cNvPr id="124" name="文本框 123"/>
          <p:cNvSpPr txBox="1"/>
          <p:nvPr/>
        </p:nvSpPr>
        <p:spPr>
          <a:xfrm>
            <a:off x="2225476" y="4184474"/>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买方信息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
        <p:nvSpPr>
          <p:cNvPr id="125" name="文本框 124"/>
          <p:cNvSpPr txBox="1"/>
          <p:nvPr/>
        </p:nvSpPr>
        <p:spPr>
          <a:xfrm>
            <a:off x="2282074" y="4467342"/>
            <a:ext cx="958163" cy="258972"/>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1100" kern="1200" dirty="0">
                <a:solidFill>
                  <a:srgbClr val="274F31">
                    <a:lumMod val="50000"/>
                  </a:srgbClr>
                </a:solidFill>
                <a:uFillTx/>
                <a:latin typeface="Arial" panose="020B0604020202020204"/>
                <a:ea typeface="黑体" panose="02010609060101010101" pitchFamily="49" charset="-122"/>
                <a:cs typeface="+mn-cs"/>
                <a:sym typeface="Arial" panose="020B0604020202020204"/>
              </a:rPr>
              <a:t>产品</a:t>
            </a: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
        <p:nvSpPr>
          <p:cNvPr id="126" name="文本框 125"/>
          <p:cNvSpPr txBox="1"/>
          <p:nvPr/>
        </p:nvSpPr>
        <p:spPr>
          <a:xfrm>
            <a:off x="2234166" y="4756134"/>
            <a:ext cx="1053979"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需求审批信息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27" name="文本框 126"/>
          <p:cNvSpPr txBox="1"/>
          <p:nvPr/>
        </p:nvSpPr>
        <p:spPr>
          <a:xfrm>
            <a:off x="2084700" y="5028618"/>
            <a:ext cx="1402847" cy="313356"/>
          </a:xfrm>
          <a:prstGeom prst="rect">
            <a:avLst/>
          </a:prstGeom>
          <a:noFill/>
        </p:spPr>
        <p:txBody>
          <a:bodyPr wrap="square" rtlCol="0" anchor="b">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rPr>
              <a:t>分析报告审批信息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Arial" panose="020B0604020202020204"/>
              <a:sym typeface="Arial" panose="020B0604020202020204"/>
            </a:endParaRPr>
          </a:p>
        </p:txBody>
      </p:sp>
      <p:sp>
        <p:nvSpPr>
          <p:cNvPr id="128" name="右大括号 127"/>
          <p:cNvSpPr/>
          <p:nvPr/>
        </p:nvSpPr>
        <p:spPr>
          <a:xfrm>
            <a:off x="3420455" y="4901000"/>
            <a:ext cx="165129" cy="38583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sym typeface="Arial" panose="020B0604020202020204"/>
            </a:endParaRPr>
          </a:p>
        </p:txBody>
      </p:sp>
      <p:sp>
        <p:nvSpPr>
          <p:cNvPr id="129" name="文本框 128"/>
          <p:cNvSpPr txBox="1"/>
          <p:nvPr/>
        </p:nvSpPr>
        <p:spPr>
          <a:xfrm>
            <a:off x="3629462" y="4898975"/>
            <a:ext cx="7286484" cy="313356"/>
          </a:xfrm>
          <a:prstGeom prst="rect">
            <a:avLst/>
          </a:prstGeom>
          <a:noFill/>
        </p:spPr>
        <p:txBody>
          <a:bodyPr wrap="square" rtlCol="0" anchor="b">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rPr>
              <a:t>两个逻辑实体的属性都一致，整合为一个逻辑实体“审批信息”</a:t>
            </a:r>
            <a:endParaRPr kumimoji="0" lang="zh-CN" altLang="en-US" sz="1100" b="0" i="0" u="none" strike="noStrike" kern="1200" cap="none" spc="0" normalizeH="0" baseline="0" noProof="0" dirty="0">
              <a:ln>
                <a:noFill/>
              </a:ln>
              <a:solidFill>
                <a:srgbClr val="274F31">
                  <a:lumMod val="50000"/>
                </a:srgbClr>
              </a:solidFill>
              <a:effectLst/>
              <a:uLnTx/>
              <a:uFillTx/>
              <a:latin typeface="Arial" panose="020B0604020202020204"/>
              <a:ea typeface="黑体" panose="02010609060101010101" pitchFamily="49" charset="-122"/>
              <a:cs typeface="+mn-cs"/>
              <a:sym typeface="Arial" panose="020B0604020202020204"/>
            </a:endParaRPr>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80" y="349568"/>
            <a:ext cx="9387840" cy="524510"/>
          </a:xfrm>
        </p:spPr>
        <p:txBody>
          <a:bodyPr/>
          <a:lstStyle/>
          <a:p>
            <a:r>
              <a:rPr lang="zh-CN" altLang="en-US" sz="2800" dirty="0"/>
              <a:t>输入输出</a:t>
            </a:r>
            <a:r>
              <a:rPr lang="en-US" altLang="zh-CN" sz="2800" dirty="0"/>
              <a:t>BI——</a:t>
            </a:r>
            <a:r>
              <a:rPr lang="zh-CN" altLang="en-US" sz="2000" dirty="0"/>
              <a:t>接受技术工艺评估需求（</a:t>
            </a:r>
            <a:r>
              <a:rPr lang="en-US" altLang="zh-CN" sz="2000" dirty="0"/>
              <a:t>1/4</a:t>
            </a:r>
            <a:r>
              <a:rPr lang="zh-CN" altLang="en-US" sz="2000" dirty="0"/>
              <a:t>）</a:t>
            </a:r>
            <a:endParaRPr lang="zh-CN" altLang="en-US" sz="2000" dirty="0"/>
          </a:p>
        </p:txBody>
      </p:sp>
      <p:graphicFrame>
        <p:nvGraphicFramePr>
          <p:cNvPr id="5" name="表格 4"/>
          <p:cNvGraphicFramePr>
            <a:graphicFrameLocks noGrp="1"/>
          </p:cNvGraphicFramePr>
          <p:nvPr/>
        </p:nvGraphicFramePr>
        <p:xfrm>
          <a:off x="487680" y="1012825"/>
          <a:ext cx="11548745" cy="5544185"/>
        </p:xfrm>
        <a:graphic>
          <a:graphicData uri="http://schemas.openxmlformats.org/drawingml/2006/table">
            <a:tbl>
              <a:tblPr/>
              <a:tblGrid>
                <a:gridCol w="334645"/>
                <a:gridCol w="840740"/>
                <a:gridCol w="2131695"/>
                <a:gridCol w="1425575"/>
                <a:gridCol w="1003935"/>
                <a:gridCol w="3148965"/>
                <a:gridCol w="1410970"/>
                <a:gridCol w="1252220"/>
              </a:tblGrid>
              <a:tr h="708025">
                <a:tc>
                  <a:txBody>
                    <a:bodyPr/>
                    <a:p>
                      <a:pPr algn="ctr" fontAlgn="ctr">
                        <a:buNone/>
                      </a:pPr>
                      <a:r>
                        <a:rPr lang="en-US" altLang="zh-CN" sz="1400" b="1" i="0" u="none" strike="noStrike" dirty="0">
                          <a:solidFill>
                            <a:srgbClr val="FFFFFF"/>
                          </a:solidFill>
                          <a:effectLst/>
                          <a:latin typeface="微软雅黑" panose="020B0503020204020204" pitchFamily="34" charset="-122"/>
                          <a:ea typeface="微软雅黑" panose="020B0503020204020204" pitchFamily="34" charset="-122"/>
                        </a:rPr>
                        <a:t>#</a:t>
                      </a:r>
                      <a:endParaRPr lang="en-US" altLang="zh-CN"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活动</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名称</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活动描述</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任务名称</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责任人</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任务描述</a:t>
                      </a:r>
                      <a:endParaRPr lang="zh-CN" altLang="en-US"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输入</a:t>
                      </a:r>
                      <a:r>
                        <a:rPr 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输出</a:t>
                      </a:r>
                      <a:r>
                        <a:rPr 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4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1571625">
                <a:tc>
                  <a:txBody>
                    <a:bodyPr/>
                    <a:p>
                      <a:pPr algn="ctr" fontAlgn="ctr">
                        <a:buNone/>
                      </a:pPr>
                      <a:r>
                        <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a:t>
                      </a:r>
                      <a:endPar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创建技术工艺评估</a:t>
                      </a: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在系统中创建工艺评估需求单。</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该单需包含客户信息、产品类型、技术来源、预期用途等基础信息，并关联客户已提供的图纸和技术资料。</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收集需求基本信息；</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② 关联客户图纸与资料；</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③ 填写需求单并提交</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销售专员</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确认客户名称、产品型号、应用场景（</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LED/</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功率半导体/射频等）；</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整理并上传客户提供的技术资料（图纸、</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特殊要求清单等）；</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填写需求单中的关键字段：产品类型、技术来源、期望交付时间、特殊说明等；</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4. 提交需求单至工艺技术经理确认。</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客户询价/技术咨询函</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ct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客户图纸及</a:t>
                      </a:r>
                      <a:r>
                        <a:rPr lang="en-US" altLang="zh-CN"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资料</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ct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技术规格说明书</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ct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客户特殊要求清单</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ClrTx/>
                        <a:buSzTx/>
                        <a:buFont typeface="Arial" panose="020B0604020202020204" pitchFamily="34" charset="0"/>
                        <a:buChar char="•"/>
                      </a:pP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工艺评估需求单</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ctr">
                        <a:buClrTx/>
                        <a:buSzTx/>
                        <a:buFont typeface="Arial" panose="020B0604020202020204" pitchFamily="34" charset="0"/>
                        <a:buNone/>
                      </a:pP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（待确认）</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fontAlgn="ctr">
                        <a:buClrTx/>
                        <a:buSzTx/>
                        <a:buFont typeface="Arial" panose="020B0604020202020204" pitchFamily="34" charset="0"/>
                        <a:buChar char="•"/>
                      </a:pPr>
                      <a:r>
                        <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需求附件资料包</a:t>
                      </a:r>
                      <a:endParaRPr lang="zh-CN" altLang="en-US" sz="12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4775">
                <a:tc>
                  <a:txBody>
                    <a:bodyPr/>
                    <a:p>
                      <a:pPr lvl="0" algn="ctr" hangingPunct="0">
                        <a:spcBef>
                          <a:spcPts val="0"/>
                        </a:spcBef>
                        <a:spcAft>
                          <a:spcPts val="0"/>
                        </a:spcAft>
                        <a:buClrTx/>
                        <a:buSzTx/>
                        <a:buFontTx/>
                        <a:buNone/>
                      </a:pPr>
                      <a:r>
                        <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a:t>
                      </a:r>
                      <a:endPar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hangingPunct="0">
                        <a:spcBef>
                          <a:spcPts val="0"/>
                        </a:spcBef>
                        <a:spcAft>
                          <a:spcPts val="0"/>
                        </a:spcAft>
                        <a:buClrTx/>
                        <a:buSzTx/>
                        <a:buFontTx/>
                      </a:pPr>
                      <a:r>
                        <a:rPr lang="zh-CN" altLang="en-US" sz="12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确认技术工艺评估</a:t>
                      </a:r>
                      <a:r>
                        <a:rPr lang="zh-CN" altLang="en-US" sz="12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2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对提交的需求单进行初步审核，判断需求是否合理、资料是否齐全，确认后可进入下一环节；</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如资料不全或需求不清晰，则退回补充。</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需求完整性审查；</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② 技术可行性初步判断；</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③ 确认或退回需求</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a:solidFill>
                            <a:schemeClr val="tx1"/>
                          </a:solidFill>
                          <a:effectLst/>
                          <a:latin typeface="微软雅黑" panose="020B0503020204020204" pitchFamily="34" charset="-122"/>
                          <a:ea typeface="微软雅黑" panose="020B0503020204020204" pitchFamily="34" charset="-122"/>
                        </a:rPr>
                        <a:t>工艺技术</a:t>
                      </a:r>
                      <a:r>
                        <a:rPr lang="zh-CN" altLang="en-US" sz="1200" b="0" i="0" u="none">
                          <a:solidFill>
                            <a:schemeClr val="tx1"/>
                          </a:solidFill>
                          <a:effectLst/>
                          <a:latin typeface="微软雅黑" panose="020B0503020204020204" pitchFamily="34" charset="-122"/>
                          <a:ea typeface="微软雅黑" panose="020B0503020204020204" pitchFamily="34" charset="-122"/>
                        </a:rPr>
                        <a:t>经理</a:t>
                      </a:r>
                      <a:endParaRPr lang="zh-CN" altLang="en-US" sz="1200" b="0" i="0" u="non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核对需求单信息完整性，判断客户图纸、</a:t>
                      </a:r>
                      <a:r>
                        <a:rPr lang="en-US" altLang="zh-CN"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技术规格等资料是否齐全；</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初步判断该需求是否符合公司技术能力范围（如：材料体系覆盖、设备能力是否匹配等）；</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若资料齐全且技术可行，确认需求单并推送至工艺技术总监审核；若资料不全，退回销售专员补充。</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 工艺评估需求单（待确认）</a:t>
                      </a:r>
                      <a:endParaRPr lang="zh-CN" altLang="en-US" sz="1200" b="0" i="0">
                        <a:solidFill>
                          <a:srgbClr val="000000"/>
                        </a:solidFill>
                        <a:latin typeface="微软雅黑" panose="020B0503020204020204" pitchFamily="34" charset="-122"/>
                        <a:ea typeface="微软雅黑" panose="020B0503020204020204" pitchFamily="34" charset="-122"/>
                      </a:endParaRPr>
                    </a:p>
                    <a:p>
                      <a:pPr algn="l" fontAlgn="ctr"/>
                      <a:r>
                        <a:rPr lang="zh-CN" altLang="en-US" sz="1200" b="0" i="0">
                          <a:solidFill>
                            <a:srgbClr val="000000"/>
                          </a:solidFill>
                          <a:latin typeface="微软雅黑" panose="020B0503020204020204" pitchFamily="34" charset="-122"/>
                          <a:ea typeface="微软雅黑" panose="020B0503020204020204" pitchFamily="34" charset="-122"/>
                        </a:rPr>
                        <a:t>• 需求附件资料包</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工艺评估需求单（已确认）</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需求补充说明（如有退回）</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技术可行性初步判断记录</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1798955">
                <a:tc>
                  <a:txBody>
                    <a:bodyPr/>
                    <a:p>
                      <a:pPr algn="ctr" fontAlgn="ctr">
                        <a:buNone/>
                      </a:pPr>
                      <a:r>
                        <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3</a:t>
                      </a:r>
                      <a:endPar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审核技术工艺评估</a:t>
                      </a: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需求</a:t>
                      </a:r>
                      <a:endPar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对已确认的需求进行最终审核，从战略层面判断项目是否值得投入研发和工艺评估资源；</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批准后正式启动工艺拆解流程。</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项目价值评估；</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② 资源投入审批；</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③ 启动工艺拆解流程</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工艺技术</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总监</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评估订单的战略价值（客户重要性、潜在规模、技术协同效应等）；</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确认资源投入可行性（人员、设备、时间）；</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审批通过后，系统自动生成任务分派，通知对应专业工程师进入工艺拆解阶段。</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 工艺评估需求单（已确认）</a:t>
                      </a:r>
                      <a:endParaRPr lang="zh-CN" altLang="en-US" sz="1200">
                        <a:solidFill>
                          <a:srgbClr val="000000"/>
                        </a:solidFill>
                        <a:latin typeface="微软雅黑" panose="020B0503020204020204" pitchFamily="34" charset="-122"/>
                        <a:ea typeface="微软雅黑" panose="020B0503020204020204" pitchFamily="34" charset="-122"/>
                        <a:sym typeface="+mn-ea"/>
                      </a:endParaRPr>
                    </a:p>
                    <a:p>
                      <a:pPr algn="l" font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 技术可行性初步判断记录</a:t>
                      </a:r>
                      <a:endParaRPr lang="zh-CN" altLang="en-US" sz="1200">
                        <a:solidFill>
                          <a:srgbClr val="000000"/>
                        </a:solidFill>
                        <a:latin typeface="微软雅黑" panose="020B0503020204020204" pitchFamily="34" charset="-122"/>
                        <a:ea typeface="微软雅黑" panose="020B0503020204020204" pitchFamily="34" charset="-122"/>
                        <a:sym typeface="+mn-ea"/>
                      </a:endParaRPr>
                    </a:p>
                    <a:p>
                      <a:pPr algn="l" font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 客户背景及订单价值信息</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200">
                          <a:solidFill>
                            <a:srgbClr val="000000"/>
                          </a:solidFill>
                          <a:latin typeface="微软雅黑" panose="020B0503020204020204" pitchFamily="34" charset="-122"/>
                          <a:ea typeface="微软雅黑" panose="020B0503020204020204" pitchFamily="34" charset="-122"/>
                          <a:sym typeface="+mn-ea"/>
                        </a:rPr>
                        <a:t>• 工艺评估需求单（已批准）</a:t>
                      </a:r>
                      <a:endParaRPr lang="zh-CN" altLang="en-US" sz="1200">
                        <a:solidFill>
                          <a:srgbClr val="000000"/>
                        </a:solidFill>
                        <a:latin typeface="微软雅黑" panose="020B0503020204020204" pitchFamily="34" charset="-122"/>
                        <a:ea typeface="微软雅黑" panose="020B0503020204020204" pitchFamily="34" charset="-122"/>
                        <a:sym typeface="+mn-ea"/>
                      </a:endParaRPr>
                    </a:p>
                    <a:p>
                      <a:pPr algn="l" fontAlgn="ctr"/>
                      <a:r>
                        <a:rPr lang="zh-CN" altLang="en-US" sz="1200">
                          <a:solidFill>
                            <a:srgbClr val="000000"/>
                          </a:solidFill>
                          <a:latin typeface="微软雅黑" panose="020B0503020204020204" pitchFamily="34" charset="-122"/>
                          <a:ea typeface="微软雅黑" panose="020B0503020204020204" pitchFamily="34" charset="-122"/>
                          <a:sym typeface="+mn-ea"/>
                        </a:rPr>
                        <a:t>• 工艺拆解任务分派通知</a:t>
                      </a:r>
                      <a:endParaRPr lang="zh-CN" altLang="en-US" sz="1200">
                        <a:solidFill>
                          <a:srgbClr val="000000"/>
                        </a:solidFill>
                        <a:latin typeface="微软雅黑" panose="020B0503020204020204" pitchFamily="34" charset="-122"/>
                        <a:ea typeface="微软雅黑" panose="020B0503020204020204" pitchFamily="34" charset="-122"/>
                        <a:sym typeface="+mn-ea"/>
                      </a:endParaRPr>
                    </a:p>
                    <a:p>
                      <a:pPr algn="l" fontAlgn="ctr"/>
                      <a:r>
                        <a:rPr lang="zh-CN" altLang="en-US" sz="1200">
                          <a:solidFill>
                            <a:srgbClr val="000000"/>
                          </a:solidFill>
                          <a:latin typeface="微软雅黑" panose="020B0503020204020204" pitchFamily="34" charset="-122"/>
                          <a:ea typeface="微软雅黑" panose="020B0503020204020204" pitchFamily="34" charset="-122"/>
                          <a:sym typeface="+mn-ea"/>
                        </a:rPr>
                        <a:t>• 项目立项记录</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80" y="349568"/>
            <a:ext cx="9387840" cy="524510"/>
          </a:xfrm>
        </p:spPr>
        <p:txBody>
          <a:bodyPr/>
          <a:lstStyle/>
          <a:p>
            <a:r>
              <a:rPr lang="zh-CN" altLang="en-US" sz="2800" dirty="0"/>
              <a:t>输入输出</a:t>
            </a:r>
            <a:r>
              <a:rPr lang="en-US" altLang="zh-CN" sz="2800" dirty="0"/>
              <a:t>BI——</a:t>
            </a:r>
            <a:r>
              <a:rPr lang="zh-CN" altLang="en-US" sz="2000" dirty="0"/>
              <a:t>解析技术工艺（</a:t>
            </a:r>
            <a:r>
              <a:rPr lang="en-US" sz="2000">
                <a:sym typeface="+mn-ea"/>
              </a:rPr>
              <a:t>2</a:t>
            </a:r>
            <a:r>
              <a:rPr lang="en-US" altLang="zh-CN" sz="2000">
                <a:sym typeface="+mn-ea"/>
              </a:rPr>
              <a:t>/4</a:t>
            </a:r>
            <a:r>
              <a:rPr lang="zh-CN" altLang="en-US" sz="2000">
                <a:sym typeface="+mn-ea"/>
              </a:rPr>
              <a:t>）</a:t>
            </a:r>
            <a:endParaRPr lang="zh-CN" altLang="en-US" sz="2000" dirty="0"/>
          </a:p>
        </p:txBody>
      </p:sp>
      <p:graphicFrame>
        <p:nvGraphicFramePr>
          <p:cNvPr id="5" name="表格 4"/>
          <p:cNvGraphicFramePr>
            <a:graphicFrameLocks noGrp="1"/>
          </p:cNvGraphicFramePr>
          <p:nvPr/>
        </p:nvGraphicFramePr>
        <p:xfrm>
          <a:off x="393700" y="1012825"/>
          <a:ext cx="11642725" cy="5414010"/>
        </p:xfrm>
        <a:graphic>
          <a:graphicData uri="http://schemas.openxmlformats.org/drawingml/2006/table">
            <a:tbl>
              <a:tblPr/>
              <a:tblGrid>
                <a:gridCol w="273685"/>
                <a:gridCol w="911225"/>
                <a:gridCol w="2148840"/>
                <a:gridCol w="1503680"/>
                <a:gridCol w="1090295"/>
                <a:gridCol w="3189605"/>
                <a:gridCol w="1103630"/>
                <a:gridCol w="1421765"/>
              </a:tblGrid>
              <a:tr h="391160">
                <a:tc>
                  <a:txBody>
                    <a:bodyPr/>
                    <a:p>
                      <a:pPr algn="ctr" fontAlgn="ctr">
                        <a:buNone/>
                      </a:pP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任务名称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责任人</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任务描述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输入</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输出</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391160">
                <a:tc rowSpan="3">
                  <a:txBody>
                    <a:bodyPr/>
                    <a:p>
                      <a:pPr algn="ctr" fontAlgn="ctr">
                        <a:buNone/>
                      </a:pPr>
                      <a:r>
                        <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4</a:t>
                      </a:r>
                      <a:endPar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zh-CN" altLang="en-US"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图纸解析与设计工艺转化</a:t>
                      </a:r>
                      <a:endParaRPr lang="zh-CN" altLang="en-US" sz="10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、接收客户提供的2</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工程图、3</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CAD</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文件及</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装配图等输入物，将其转化为“工艺语言”</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、识别零部件的特殊参数（如表面凸点分布与高度、气体冷却通道微孔布局、内部电极层尺寸位置等）</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、解析图纸背后的深层工艺需求（如防电弧放电设计等）</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图纸接收与完整性检查</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工艺工程师</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接收并检查客户图纸及</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资料的完整性与版本有效性</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客户图纸</a:t>
                      </a:r>
                      <a:endParaRPr lang="zh-CN" altLang="en-US" sz="1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FF0000"/>
                          </a:solidFill>
                          <a:latin typeface="微软雅黑" panose="020B0503020204020204" pitchFamily="34" charset="-122"/>
                          <a:ea typeface="微软雅黑" panose="020B0503020204020204" pitchFamily="34" charset="-122"/>
                        </a:rPr>
                        <a:t>图纸解析报告</a:t>
                      </a:r>
                      <a:endParaRPr lang="zh-CN" altLang="en-US" sz="1000" b="0" i="0">
                        <a:solidFill>
                          <a:srgbClr val="FF0000"/>
                        </a:solidFill>
                        <a:latin typeface="微软雅黑" panose="020B0503020204020204" pitchFamily="34" charset="-122"/>
                        <a:ea typeface="微软雅黑" panose="020B0503020204020204" pitchFamily="34" charset="-122"/>
                      </a:endParaRPr>
                    </a:p>
                    <a:p>
                      <a:pPr algn="ctr" fontAlgn="ctr"/>
                      <a:r>
                        <a:rPr lang="zh-CN" altLang="en-US" sz="1000" b="0" i="0">
                          <a:solidFill>
                            <a:srgbClr val="FF0000"/>
                          </a:solidFill>
                          <a:latin typeface="微软雅黑" panose="020B0503020204020204" pitchFamily="34" charset="-122"/>
                          <a:ea typeface="微软雅黑" panose="020B0503020204020204" pitchFamily="34" charset="-122"/>
                        </a:rPr>
                        <a:t>（零部件拆解结果）</a:t>
                      </a:r>
                      <a:endParaRPr lang="zh-CN" altLang="en-US" sz="1000" b="0" i="0">
                        <a:solidFill>
                          <a:srgbClr val="FF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76835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关键参数提取与标注</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工艺工程师</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2. 利用</a:t>
                      </a:r>
                      <a:r>
                        <a:rPr lang="en-US" altLang="zh-CN"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CAD</a:t>
                      </a: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等软件提取静电吸盘的关键尺寸、公差、材料标注、表面处理要求等参数</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FF0000"/>
                          </a:solidFill>
                          <a:latin typeface="微软雅黑" panose="020B0503020204020204" pitchFamily="34" charset="-122"/>
                          <a:ea typeface="微软雅黑" panose="020B0503020204020204" pitchFamily="34" charset="-122"/>
                          <a:sym typeface="+mn-ea"/>
                        </a:rPr>
                        <a:t>支撑文件</a:t>
                      </a:r>
                      <a:endParaRPr lang="zh-CN" altLang="en-US" sz="1000">
                        <a:solidFill>
                          <a:srgbClr val="FF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FF0000"/>
                          </a:solidFill>
                          <a:latin typeface="微软雅黑" panose="020B0503020204020204" pitchFamily="34" charset="-122"/>
                          <a:ea typeface="微软雅黑" panose="020B0503020204020204" pitchFamily="34" charset="-122"/>
                          <a:sym typeface="+mn-ea"/>
                        </a:rPr>
                        <a:t>（技术规格说明书、</a:t>
                      </a:r>
                      <a:r>
                        <a:rPr lang="en-US" alt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BOM</a:t>
                      </a:r>
                      <a:r>
                        <a:rPr lang="zh-CN" altLang="en-US"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装配图、</a:t>
                      </a:r>
                      <a:r>
                        <a:rPr lang="zh-CN" altLang="en-US" sz="1000">
                          <a:solidFill>
                            <a:srgbClr val="FF0000"/>
                          </a:solidFill>
                          <a:latin typeface="微软雅黑" panose="020B0503020204020204" pitchFamily="34" charset="-122"/>
                          <a:ea typeface="微软雅黑" panose="020B0503020204020204" pitchFamily="34" charset="-122"/>
                          <a:sym typeface="+mn-ea"/>
                        </a:rPr>
                        <a:t>客户特殊要求清单）</a:t>
                      </a:r>
                      <a:endParaRPr lang="zh-CN" altLang="en-US" sz="1000" b="0" i="0">
                        <a:solidFill>
                          <a:srgbClr val="FF0000"/>
                        </a:solidFill>
                        <a:latin typeface="微软雅黑" panose="020B0503020204020204" pitchFamily="34" charset="-122"/>
                        <a:ea typeface="微软雅黑" panose="020B0503020204020204" pitchFamily="34" charset="-122"/>
                        <a:sym typeface="+mn-ea"/>
                      </a:endParaRPr>
                    </a:p>
                    <a:p>
                      <a:pPr algn="ctr" fontAlgn="ctr"/>
                      <a:endParaRPr lang="zh-CN" altLang="en-US" sz="1000" b="0" i="0">
                        <a:solidFill>
                          <a:srgbClr val="FF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FF0000"/>
                          </a:solidFill>
                          <a:latin typeface="微软雅黑" panose="020B0503020204020204" pitchFamily="34" charset="-122"/>
                          <a:ea typeface="微软雅黑" panose="020B0503020204020204" pitchFamily="34" charset="-122"/>
                          <a:sym typeface="+mn-ea"/>
                        </a:rPr>
                        <a:t>关键参数表、视图</a:t>
                      </a:r>
                      <a:endParaRPr lang="zh-CN" altLang="en-US" sz="1000">
                        <a:solidFill>
                          <a:srgbClr val="FF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FF0000"/>
                          </a:solidFill>
                          <a:latin typeface="微软雅黑" panose="020B0503020204020204" pitchFamily="34" charset="-122"/>
                          <a:ea typeface="微软雅黑" panose="020B0503020204020204" pitchFamily="34" charset="-122"/>
                          <a:sym typeface="+mn-ea"/>
                        </a:rPr>
                        <a:t>（</a:t>
                      </a:r>
                      <a:r>
                        <a:rPr lang="en-US" altLang="zh-CN" sz="1000">
                          <a:solidFill>
                            <a:srgbClr val="FF0000"/>
                          </a:solidFill>
                          <a:latin typeface="微软雅黑" panose="020B0503020204020204" pitchFamily="34" charset="-122"/>
                          <a:ea typeface="微软雅黑" panose="020B0503020204020204" pitchFamily="34" charset="-122"/>
                          <a:sym typeface="+mn-ea"/>
                        </a:rPr>
                        <a:t>3D</a:t>
                      </a:r>
                      <a:r>
                        <a:rPr lang="zh-CN" altLang="en-US" sz="1000">
                          <a:solidFill>
                            <a:srgbClr val="FF0000"/>
                          </a:solidFill>
                          <a:latin typeface="微软雅黑" panose="020B0503020204020204" pitchFamily="34" charset="-122"/>
                          <a:ea typeface="微软雅黑" panose="020B0503020204020204" pitchFamily="34" charset="-122"/>
                          <a:sym typeface="+mn-ea"/>
                        </a:rPr>
                        <a:t>、</a:t>
                      </a:r>
                      <a:r>
                        <a:rPr lang="en-US" altLang="zh-CN" sz="1000">
                          <a:solidFill>
                            <a:srgbClr val="FF0000"/>
                          </a:solidFill>
                          <a:latin typeface="微软雅黑" panose="020B0503020204020204" pitchFamily="34" charset="-122"/>
                          <a:ea typeface="微软雅黑" panose="020B0503020204020204" pitchFamily="34" charset="-122"/>
                          <a:sym typeface="+mn-ea"/>
                        </a:rPr>
                        <a:t>2D</a:t>
                      </a:r>
                      <a:r>
                        <a:rPr lang="zh-CN" altLang="en-US" sz="1000">
                          <a:solidFill>
                            <a:srgbClr val="FF0000"/>
                          </a:solidFill>
                          <a:latin typeface="微软雅黑" panose="020B0503020204020204" pitchFamily="34" charset="-122"/>
                          <a:ea typeface="微软雅黑" panose="020B0503020204020204" pitchFamily="34" charset="-122"/>
                          <a:sym typeface="+mn-ea"/>
                        </a:rPr>
                        <a:t>）</a:t>
                      </a:r>
                      <a:endParaRPr lang="zh-CN" altLang="en-US" sz="1000">
                        <a:solidFill>
                          <a:srgbClr val="FF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45974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设计意图与工艺需求解析，输出工艺转化初稿</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工艺工程师</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生产技术，解析图纸中的“隐形技术壁垒”和设计意图； 将客户设计意图转化为可执行的初步工艺方案</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FF0000"/>
                          </a:solidFill>
                          <a:latin typeface="微软雅黑" panose="020B0503020204020204" pitchFamily="34" charset="-122"/>
                          <a:ea typeface="微软雅黑" panose="020B0503020204020204" pitchFamily="34" charset="-122"/>
                        </a:rPr>
                        <a:t>补充文字说明</a:t>
                      </a:r>
                      <a:endParaRPr lang="zh-CN" altLang="en-US" sz="1000" b="0" i="0">
                        <a:solidFill>
                          <a:srgbClr val="FF0000"/>
                        </a:solidFill>
                        <a:latin typeface="微软雅黑" panose="020B0503020204020204" pitchFamily="34" charset="-122"/>
                        <a:ea typeface="微软雅黑" panose="020B0503020204020204" pitchFamily="34" charset="-122"/>
                      </a:endParaRPr>
                    </a:p>
                    <a:p>
                      <a:pPr algn="ctr" fontAlgn="ctr"/>
                      <a:r>
                        <a:rPr lang="zh-CN" altLang="en-US" sz="1000" b="0" i="0">
                          <a:solidFill>
                            <a:srgbClr val="FF0000"/>
                          </a:solidFill>
                          <a:latin typeface="微软雅黑" panose="020B0503020204020204" pitchFamily="34" charset="-122"/>
                          <a:ea typeface="微软雅黑" panose="020B0503020204020204" pitchFamily="34" charset="-122"/>
                        </a:rPr>
                        <a:t>（技术澄清记录）</a:t>
                      </a:r>
                      <a:endParaRPr lang="zh-CN" altLang="en-US" sz="1000" b="0" i="0">
                        <a:solidFill>
                          <a:srgbClr val="FF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FF0000"/>
                          </a:solidFill>
                          <a:latin typeface="微软雅黑" panose="020B0503020204020204" pitchFamily="34" charset="-122"/>
                          <a:ea typeface="微软雅黑" panose="020B0503020204020204" pitchFamily="34" charset="-122"/>
                          <a:sym typeface="+mn-ea"/>
                        </a:rPr>
                        <a:t>工艺</a:t>
                      </a:r>
                      <a:r>
                        <a:rPr lang="zh-CN" altLang="en-US" sz="1000">
                          <a:solidFill>
                            <a:srgbClr val="FF0000"/>
                          </a:solidFill>
                          <a:latin typeface="微软雅黑" panose="020B0503020204020204" pitchFamily="34" charset="-122"/>
                          <a:ea typeface="微软雅黑" panose="020B0503020204020204" pitchFamily="34" charset="-122"/>
                          <a:sym typeface="+mn-ea"/>
                        </a:rPr>
                        <a:t>拆解结果初稿</a:t>
                      </a:r>
                      <a:endParaRPr lang="zh-CN" altLang="en-US" sz="1000">
                        <a:solidFill>
                          <a:srgbClr val="FF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521335">
                <a:tc rowSpan="3">
                  <a:txBody>
                    <a:bodyPr/>
                    <a:p>
                      <a:pPr lvl="0" algn="ctr" hangingPunct="0">
                        <a:spcBef>
                          <a:spcPts val="0"/>
                        </a:spcBef>
                        <a:spcAft>
                          <a:spcPts val="0"/>
                        </a:spcAft>
                        <a:buClrTx/>
                        <a:buSzTx/>
                        <a:buFontTx/>
                        <a:buNone/>
                      </a:pPr>
                      <a:r>
                        <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5</a:t>
                      </a:r>
                      <a:endPar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lvl="0" algn="ctr" hangingPunct="0">
                        <a:spcBef>
                          <a:spcPts val="0"/>
                        </a:spcBef>
                        <a:spcAft>
                          <a:spcPts val="0"/>
                        </a:spcAft>
                        <a:buClrTx/>
                        <a:buSzTx/>
                        <a:buFontTx/>
                      </a:pPr>
                      <a:r>
                        <a:rPr lang="en-US" altLang="zh-CN"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材料定性与供应链拆解</a:t>
                      </a:r>
                      <a:endParaRPr lang="en-US" altLang="zh-CN" sz="10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、根据图纸要求，确定制造该型号静电吸盘所需的核心原材料种类、规格和纯度等级</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、评估现有供应链能否满足要求</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材料需求清单编制</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a:solidFill>
                            <a:schemeClr val="tx1"/>
                          </a:solidFill>
                          <a:effectLst/>
                          <a:latin typeface="微软雅黑" panose="020B0503020204020204" pitchFamily="34" charset="-122"/>
                          <a:ea typeface="微软雅黑" panose="020B0503020204020204" pitchFamily="34" charset="-122"/>
                        </a:rPr>
                        <a:t>工艺工程师（主）</a:t>
                      </a:r>
                      <a:endParaRPr lang="zh-CN" altLang="en-US" sz="1000" b="0" i="0" u="none">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a:solidFill>
                            <a:schemeClr val="tx1"/>
                          </a:solidFill>
                          <a:effectLst/>
                          <a:latin typeface="微软雅黑" panose="020B0503020204020204" pitchFamily="34" charset="-122"/>
                          <a:ea typeface="微软雅黑" panose="020B0503020204020204" pitchFamily="34" charset="-122"/>
                        </a:rPr>
                        <a:t>采购工程师（协）</a:t>
                      </a:r>
                      <a:endParaRPr lang="zh-CN" altLang="en-US" sz="1000" b="0" i="0" u="non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确认陶瓷主体材料是氧化铝还是氮化铝，确认电极浆料及金属化层成分</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图纸解析报告</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材料需求清单</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BOM</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初稿）</a:t>
                      </a:r>
                      <a:endPar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1214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供应来源确认与替代方案评估</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a:effectLst/>
                          <a:latin typeface="微软雅黑" panose="020B0503020204020204" pitchFamily="34" charset="-122"/>
                          <a:ea typeface="微软雅黑" panose="020B0503020204020204" pitchFamily="34" charset="-122"/>
                          <a:sym typeface="+mn-ea"/>
                        </a:rPr>
                        <a:t>采购工程师</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2. 评估现有合格供应商能否提供符合纯度与粒径要求的粉末</a:t>
                      </a:r>
                      <a:endPar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判断图纸要求的材料特性是否可在国内供应链实现，或需动用江丰电子自身的高纯材料技术储备</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关键参数提取表</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材料供应来源确认表</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替代材料评估报告</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586105">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材料成本初步估算</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a:effectLst/>
                          <a:latin typeface="微软雅黑" panose="020B0503020204020204" pitchFamily="34" charset="-122"/>
                          <a:ea typeface="微软雅黑" panose="020B0503020204020204" pitchFamily="34" charset="-122"/>
                          <a:sym typeface="+mn-ea"/>
                        </a:rPr>
                        <a:t>采购工程师</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4. 对于依赖进口的高纯氮化铝粉体等材料，评估采购周期和供应风险</a:t>
                      </a:r>
                      <a:endPar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 输出材料</a:t>
                      </a:r>
                      <a:r>
                        <a:rPr lang="en-US" altLang="zh-CN"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BOM</a:t>
                      </a: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初稿及供应来源建议</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合格供应商名录</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原材料价格表</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buNone/>
                      </a:pPr>
                      <a:endParaRPr lang="zh-CN" altLang="en-US" sz="1000" b="0" i="0" u="none" strike="sng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材料成本估算单</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64540">
                <a:tc rowSpan="3">
                  <a:txBody>
                    <a:bodyPr/>
                    <a:p>
                      <a:pPr algn="ctr" fontAlgn="ctr">
                        <a:buNone/>
                      </a:pPr>
                      <a:r>
                        <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6</a:t>
                      </a:r>
                      <a:endPar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zh-CN" altLang="en-US"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制造工艺路径规划和</a:t>
                      </a:r>
                      <a:r>
                        <a:rPr lang="en-US" altLang="zh-CN"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BOM</a:t>
                      </a:r>
                      <a:r>
                        <a:rPr lang="zh-CN" altLang="en-US"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编制</a:t>
                      </a:r>
                      <a:endParaRPr lang="zh-CN" altLang="en-US" sz="10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、规划从陶瓷生坯到精密部件的全流程工艺路线</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p>
                      <a:pPr algn="l" fontAlgn="ctr">
                        <a:buNone/>
                      </a:pP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、确定流延成型、电极印刷、高温共烧、精密研磨等核心工序的先后顺序及关键工艺参数</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工艺路线初步设计</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工艺工程师</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确定“生坯流延/成型→电极印刷与叠层→排胶→高温共烧→精密研磨”的核心路径</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针对共烧工艺，规划电极金属层与陶瓷基体在烧结过程中同步致密化的温度曲线和气氛控制方案，确保不产生分层或裂纹</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工艺转化初稿</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工艺路线图</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6355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关键工序参数确定</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dirty="0">
                          <a:solidFill>
                            <a:schemeClr val="tx1"/>
                          </a:solidFill>
                          <a:effectLst/>
                          <a:latin typeface="微软雅黑" panose="020B0503020204020204" pitchFamily="34" charset="-122"/>
                          <a:ea typeface="微软雅黑" panose="020B0503020204020204" pitchFamily="34" charset="-122"/>
                        </a:rPr>
                        <a:t>工艺工程师（主）</a:t>
                      </a:r>
                      <a:endParaRPr lang="zh-CN" altLang="en-US" sz="1000" b="0" i="0" u="none" dirty="0">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dirty="0">
                          <a:solidFill>
                            <a:schemeClr val="tx1"/>
                          </a:solidFill>
                          <a:effectLst/>
                          <a:latin typeface="微软雅黑" panose="020B0503020204020204" pitchFamily="34" charset="-122"/>
                          <a:ea typeface="微软雅黑" panose="020B0503020204020204" pitchFamily="34" charset="-122"/>
                        </a:rPr>
                        <a:t>制造工程师（协）</a:t>
                      </a:r>
                      <a:endParaRPr lang="zh-CN" altLang="en-US" sz="1000" b="0" i="0" u="non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针对图纸标注的平面度要求，规划采用环形抛光机进行研磨的工艺参数</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关键参数提取表</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材料需求清单</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BOM</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初稿）</a:t>
                      </a:r>
                      <a:endParaRPr lang="zh-CN" altLang="en-US" sz="10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关键工序参数表</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正式</a:t>
                      </a:r>
                      <a:r>
                        <a:rPr lang="en-US" altLang="zh-CN" sz="1000">
                          <a:solidFill>
                            <a:srgbClr val="000000"/>
                          </a:solidFill>
                          <a:latin typeface="微软雅黑" panose="020B0503020204020204" pitchFamily="34" charset="-122"/>
                          <a:ea typeface="微软雅黑" panose="020B0503020204020204" pitchFamily="34" charset="-122"/>
                          <a:sym typeface="+mn-ea"/>
                        </a:rPr>
                        <a:t>BOM</a:t>
                      </a:r>
                      <a:endParaRPr lang="en-US" altLang="zh-CN" sz="100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5593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工艺可行性评审</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000" b="0" i="0" u="none" dirty="0">
                          <a:solidFill>
                            <a:schemeClr val="tx1"/>
                          </a:solidFill>
                          <a:effectLst/>
                          <a:latin typeface="微软雅黑" panose="020B0503020204020204" pitchFamily="34" charset="-122"/>
                          <a:ea typeface="微软雅黑" panose="020B0503020204020204" pitchFamily="34" charset="-122"/>
                        </a:rPr>
                        <a:t>工艺工程师（主）</a:t>
                      </a:r>
                      <a:endParaRPr lang="zh-CN" altLang="en-US" sz="1000" b="0" i="0" u="none" dirty="0">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dirty="0">
                          <a:solidFill>
                            <a:schemeClr val="tx1"/>
                          </a:solidFill>
                          <a:effectLst/>
                          <a:latin typeface="微软雅黑" panose="020B0503020204020204" pitchFamily="34" charset="-122"/>
                          <a:ea typeface="微软雅黑" panose="020B0503020204020204" pitchFamily="34" charset="-122"/>
                        </a:rPr>
                        <a:t>制造工程师（协）</a:t>
                      </a:r>
                      <a:endParaRPr lang="zh-CN" altLang="en-US" sz="1000" b="0" i="0" u="non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4. 识别工艺瓶颈和风险点，组织跨部门工艺评审</a:t>
                      </a:r>
                      <a:endPar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 输出初步工艺路线图和关键工序控制计划</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设备台账</a:t>
                      </a:r>
                      <a:endParaRPr lang="zh-CN" altLang="en-US" sz="1000" b="0" i="0" u="none" strike="sngStrike" dirty="0">
                        <a:solidFill>
                          <a:srgbClr val="000000"/>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工艺可行性评审纪要</a:t>
                      </a:r>
                      <a:endPar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80" y="308928"/>
            <a:ext cx="9387840" cy="524510"/>
          </a:xfrm>
        </p:spPr>
        <p:txBody>
          <a:bodyPr/>
          <a:lstStyle/>
          <a:p>
            <a:r>
              <a:rPr lang="zh-CN" altLang="en-US" sz="2800">
                <a:sym typeface="+mn-ea"/>
              </a:rPr>
              <a:t>输入输出</a:t>
            </a:r>
            <a:r>
              <a:rPr lang="en-US" altLang="zh-CN" sz="2800">
                <a:sym typeface="+mn-ea"/>
              </a:rPr>
              <a:t>BI——</a:t>
            </a:r>
            <a:r>
              <a:rPr lang="zh-CN" altLang="en-US" sz="2000">
                <a:sym typeface="+mn-ea"/>
              </a:rPr>
              <a:t>解析技术工艺</a:t>
            </a:r>
            <a:r>
              <a:rPr lang="zh-CN" altLang="en-US" sz="2000">
                <a:sym typeface="+mn-ea"/>
              </a:rPr>
              <a:t>（</a:t>
            </a:r>
            <a:r>
              <a:rPr lang="en-US" sz="2000">
                <a:sym typeface="+mn-ea"/>
              </a:rPr>
              <a:t>3</a:t>
            </a:r>
            <a:r>
              <a:rPr lang="en-US" altLang="zh-CN" sz="2000">
                <a:sym typeface="+mn-ea"/>
              </a:rPr>
              <a:t>/4</a:t>
            </a:r>
            <a:r>
              <a:rPr lang="zh-CN" altLang="en-US" sz="2000">
                <a:sym typeface="+mn-ea"/>
              </a:rPr>
              <a:t>）</a:t>
            </a:r>
            <a:endParaRPr lang="zh-CN" altLang="en-US" sz="2000" dirty="0">
              <a:sym typeface="+mn-ea"/>
            </a:endParaRPr>
          </a:p>
        </p:txBody>
      </p:sp>
      <p:graphicFrame>
        <p:nvGraphicFramePr>
          <p:cNvPr id="5" name="表格 4"/>
          <p:cNvGraphicFramePr>
            <a:graphicFrameLocks noGrp="1"/>
          </p:cNvGraphicFramePr>
          <p:nvPr/>
        </p:nvGraphicFramePr>
        <p:xfrm>
          <a:off x="299085" y="1012825"/>
          <a:ext cx="11737340" cy="5419725"/>
        </p:xfrm>
        <a:graphic>
          <a:graphicData uri="http://schemas.openxmlformats.org/drawingml/2006/table">
            <a:tbl>
              <a:tblPr/>
              <a:tblGrid>
                <a:gridCol w="304165"/>
                <a:gridCol w="661515"/>
                <a:gridCol w="1500276"/>
                <a:gridCol w="1476529"/>
                <a:gridCol w="1257300"/>
                <a:gridCol w="4105697"/>
                <a:gridCol w="1093544"/>
                <a:gridCol w="1338314"/>
              </a:tblGrid>
              <a:tr h="381635">
                <a:tc>
                  <a:txBody>
                    <a:bodyPr/>
                    <a:p>
                      <a:pPr algn="ctr" fontAlgn="ctr">
                        <a:buNone/>
                      </a:pP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任务名称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责任人</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p>
                      <a:pPr algn="ctr" fontAlgn="ctr">
                        <a:buNone/>
                      </a:pPr>
                      <a:r>
                        <a:rPr lang="zh-CN" altLang="en-US" sz="1200" b="1" dirty="0">
                          <a:solidFill>
                            <a:srgbClr val="FFFFFF"/>
                          </a:solidFill>
                          <a:effectLst/>
                          <a:latin typeface="微软雅黑" panose="020B0503020204020204" pitchFamily="34" charset="-122"/>
                          <a:ea typeface="微软雅黑" panose="020B0503020204020204" pitchFamily="34" charset="-122"/>
                          <a:sym typeface="+mn-ea"/>
                        </a:rPr>
                        <a:t>任务描述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输入</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输出</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424815">
                <a:tc rowSpan="3">
                  <a:txBody>
                    <a:bodyPr/>
                    <a:p>
                      <a:pPr algn="ctr" fontAlgn="ctr">
                        <a:buNone/>
                      </a:pPr>
                      <a:r>
                        <a:rPr lang="en-US" altLang="zh-CN" sz="1200" b="1" i="0" u="none" strike="noStrike" kern="0" dirty="0">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7</a:t>
                      </a:r>
                      <a:endParaRPr lang="en-US" altLang="zh-CN" sz="1200" b="1" i="0" u="none" strike="noStrike" kern="0" dirty="0">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zh-CN" altLang="en-US" sz="10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清洗与洁净度管控方案制定</a:t>
                      </a:r>
                      <a:endParaRPr lang="zh-CN" altLang="en-US" sz="1000" b="0" i="0" u="none" strike="noStrike" kern="0" dirty="0">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、根据图纸标注的洁净度等级，定制化学清洗方案和高纯水终漂洗流程</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洁净度等级确认</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工艺工程师（主）</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质量工程师（协）</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根据图纸要求和行业标准，确认静电吸盘的洁净度等级（如表面颗粒计数、金属离子残留浓度等）</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工艺路线图</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000" b="0" i="0">
                          <a:solidFill>
                            <a:srgbClr val="000000"/>
                          </a:solidFill>
                          <a:latin typeface="微软雅黑" panose="020B0503020204020204" pitchFamily="34" charset="-122"/>
                          <a:ea typeface="微软雅黑" panose="020B0503020204020204" pitchFamily="34" charset="-122"/>
                        </a:rPr>
                        <a:t>关键工序参数表</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清洗工艺规范书</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000" b="0" i="0">
                          <a:solidFill>
                            <a:srgbClr val="000000"/>
                          </a:solidFill>
                          <a:latin typeface="微软雅黑" panose="020B0503020204020204" pitchFamily="34" charset="-122"/>
                          <a:ea typeface="微软雅黑" panose="020B0503020204020204" pitchFamily="34" charset="-122"/>
                        </a:rPr>
                        <a:t>洁净度管控方案</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70485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清洗工艺方案设计</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dirty="0">
                          <a:solidFill>
                            <a:schemeClr val="tx1"/>
                          </a:solidFill>
                          <a:effectLst/>
                          <a:latin typeface="微软雅黑" panose="020B0503020204020204" pitchFamily="34" charset="-122"/>
                          <a:ea typeface="微软雅黑" panose="020B0503020204020204" pitchFamily="34" charset="-122"/>
                          <a:sym typeface="+mn-ea"/>
                        </a:rPr>
                        <a:t>工艺工程师（主）</a:t>
                      </a:r>
                      <a:endParaRPr lang="zh-CN" altLang="en-US" sz="1000" dirty="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dirty="0">
                          <a:solidFill>
                            <a:schemeClr val="tx1"/>
                          </a:solidFill>
                          <a:effectLst/>
                          <a:latin typeface="微软雅黑" panose="020B0503020204020204" pitchFamily="34" charset="-122"/>
                          <a:ea typeface="微软雅黑" panose="020B0503020204020204" pitchFamily="34" charset="-122"/>
                          <a:sym typeface="+mn-ea"/>
                        </a:rPr>
                        <a:t>质量工程师（协）</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2. 设计化学清洗方案（如使用特定酸洗液去除表面金属污染物）和高纯水终漂洗流程；</a:t>
                      </a:r>
                      <a:endPar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en-US" altLang="zh-CN"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针对微小气孔（如</a:t>
                      </a:r>
                      <a:r>
                        <a:rPr lang="en-US" altLang="zh-CN"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He Hole）</a:t>
                      </a: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等易藏污纳垢的部位，开发特定的超声波清洗或高压喷淋工艺</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客户图纸</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（洁净度页）</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清洗检测标准清单</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47752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检测标准与方法确定</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dirty="0">
                          <a:solidFill>
                            <a:schemeClr val="tx1"/>
                          </a:solidFill>
                          <a:effectLst/>
                          <a:latin typeface="微软雅黑" panose="020B0503020204020204" pitchFamily="34" charset="-122"/>
                          <a:ea typeface="微软雅黑" panose="020B0503020204020204" pitchFamily="34" charset="-122"/>
                          <a:sym typeface="+mn-ea"/>
                        </a:rPr>
                        <a:t>工艺工程师（主</a:t>
                      </a:r>
                      <a:endParaRPr lang="zh-CN" altLang="en-US" sz="1000" dirty="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dirty="0">
                          <a:solidFill>
                            <a:schemeClr val="tx1"/>
                          </a:solidFill>
                          <a:effectLst/>
                          <a:latin typeface="微软雅黑" panose="020B0503020204020204" pitchFamily="34" charset="-122"/>
                          <a:ea typeface="微软雅黑" panose="020B0503020204020204" pitchFamily="34" charset="-122"/>
                          <a:sym typeface="+mn-ea"/>
                        </a:rPr>
                        <a:t>质量工程师（协）</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4. 确定清洗后的检测标准（如激光颗粒计数器检测、</a:t>
                      </a:r>
                      <a:r>
                        <a:rPr lang="en-US" altLang="zh-CN"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ICP-MS</a:t>
                      </a: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金属离子分析等）；</a:t>
                      </a:r>
                      <a:endPar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en-US" altLang="zh-CN"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 </a:t>
                      </a: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输出清洗工艺规范及洁净度检测方案。</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行业洁净度标准文件</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特殊部位清洗作业指导书</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564515">
                <a:tc rowSpan="3">
                  <a:txBody>
                    <a:bodyPr/>
                    <a:p>
                      <a:pPr algn="ctr" hangingPunct="0">
                        <a:spcBef>
                          <a:spcPts val="0"/>
                        </a:spcBef>
                        <a:spcAft>
                          <a:spcPts val="0"/>
                        </a:spcAft>
                        <a:buNone/>
                      </a:pP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8</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hangingPunct="0">
                        <a:spcBef>
                          <a:spcPts val="0"/>
                        </a:spcBef>
                        <a:spcAft>
                          <a:spcPts val="0"/>
                        </a:spcAft>
                      </a:pPr>
                      <a:r>
                        <a:rPr lang="zh-CN" altLang="en-US" sz="10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组装与检测</a:t>
                      </a:r>
                      <a:endParaRPr lang="zh-CN" altLang="en-US"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hangingPunct="0">
                        <a:spcBef>
                          <a:spcPts val="0"/>
                        </a:spcBef>
                        <a:spcAft>
                          <a:spcPts val="0"/>
                        </a:spcAft>
                      </a:pPr>
                      <a:r>
                        <a:rPr lang="zh-CN" altLang="en-US" sz="10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方案制定</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、规划成品组装流程并确定符合图纸验收标准的检测方案</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buNone/>
                      </a:pP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、包括陶瓷板与金属基座的封装工艺、电极引出方式，以及电性能、吸附力、气密性等关键指标的检测方法</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组装工艺流程设计</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rPr>
                        <a:t>测试工程师（主）</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rPr>
                        <a:t>质量工程师（协）</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endParaRPr>
                    </a:p>
                    <a:p>
                      <a:pPr algn="ctr"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rPr>
                        <a:t>设备工程师（协）</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规划将陶瓷板与铝基座进行粘接或焊接的工艺流程，包括胶层厚度控制、固化温度曲线等；</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规划电极引出与电气连接的工艺方案；</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工艺路线图</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组装作业指导书</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73710">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检测项目与标准确定</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chemeClr val="tx1"/>
                          </a:solidFill>
                          <a:effectLst/>
                          <a:latin typeface="微软雅黑" panose="020B0503020204020204" pitchFamily="34" charset="-122"/>
                          <a:ea typeface="微软雅黑" panose="020B0503020204020204" pitchFamily="34" charset="-122"/>
                          <a:sym typeface="+mn-ea"/>
                        </a:rPr>
                        <a:t>测试工程师（主）</a:t>
                      </a:r>
                      <a:endParaRPr lang="zh-CN" altLang="en-US" sz="100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chemeClr val="tx1"/>
                          </a:solidFill>
                          <a:effectLst/>
                          <a:latin typeface="微软雅黑" panose="020B0503020204020204" pitchFamily="34" charset="-122"/>
                          <a:ea typeface="微软雅黑" panose="020B0503020204020204" pitchFamily="34" charset="-122"/>
                          <a:sym typeface="+mn-ea"/>
                        </a:rPr>
                        <a:t>质量工程师（协）</a:t>
                      </a:r>
                      <a:endParaRPr lang="zh-CN" altLang="en-US" sz="100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chemeClr val="tx1"/>
                          </a:solidFill>
                          <a:effectLst/>
                          <a:latin typeface="微软雅黑" panose="020B0503020204020204" pitchFamily="34" charset="-122"/>
                          <a:ea typeface="微软雅黑" panose="020B0503020204020204" pitchFamily="34" charset="-122"/>
                          <a:sym typeface="+mn-ea"/>
                        </a:rPr>
                        <a:t>设备工程师（协）</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制定电性能测试（漏电流、击穿电压）、吸附力均匀性测试、氦气漏率测试等检测方案；</a:t>
                      </a:r>
                      <a:endParaRPr lang="zh-CN" altLang="en-US" sz="10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关键工序参数表</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客户图纸（组装页）</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组装工艺流程卡</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成品检测规范</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564515">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检测设备与工装确认</a:t>
                      </a:r>
                      <a:r>
                        <a:rPr lang="zh-CN" altLang="en-US" sz="10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解决方案专家</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effectLst/>
                          <a:latin typeface="微软雅黑" panose="020B0503020204020204" pitchFamily="34" charset="-122"/>
                          <a:ea typeface="微软雅黑" panose="020B0503020204020204" pitchFamily="34" charset="-122"/>
                          <a:sym typeface="+mn-ea"/>
                        </a:rPr>
                        <a:t>测试工程师（主）</a:t>
                      </a:r>
                      <a:endParaRPr lang="zh-CN" altLang="en-US" sz="100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a:effectLst/>
                          <a:latin typeface="微软雅黑" panose="020B0503020204020204" pitchFamily="34" charset="-122"/>
                          <a:ea typeface="微软雅黑" panose="020B0503020204020204" pitchFamily="34" charset="-122"/>
                          <a:sym typeface="+mn-ea"/>
                        </a:rPr>
                        <a:t>质量工程师（协）</a:t>
                      </a:r>
                      <a:endParaRPr lang="zh-CN" altLang="en-US" sz="1000">
                        <a:solidFill>
                          <a:schemeClr val="tx1"/>
                        </a:solidFill>
                        <a:effectLst/>
                        <a:latin typeface="微软雅黑" panose="020B0503020204020204" pitchFamily="34" charset="-122"/>
                        <a:ea typeface="微软雅黑" panose="020B0503020204020204" pitchFamily="34" charset="-122"/>
                        <a:sym typeface="+mn-ea"/>
                      </a:endParaRPr>
                    </a:p>
                    <a:p>
                      <a:pPr algn="ctr" fontAlgn="ctr">
                        <a:buNone/>
                      </a:pPr>
                      <a:r>
                        <a:rPr lang="zh-CN" altLang="en-US" sz="1000">
                          <a:effectLst/>
                          <a:latin typeface="微软雅黑" panose="020B0503020204020204" pitchFamily="34" charset="-122"/>
                          <a:ea typeface="微软雅黑" panose="020B0503020204020204" pitchFamily="34" charset="-122"/>
                          <a:sym typeface="+mn-ea"/>
                        </a:rPr>
                        <a:t>设备工程师（协）</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4. 对于图纸上标注的微米级平面度和表面粗糙度要求，规划使用高精度三坐标或激光干涉仪进行全检；</a:t>
                      </a:r>
                      <a:endPar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 输出组装作业指导书及成品检测规范。</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客户验收标准</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检测设备清单</a:t>
                      </a:r>
                      <a:endParaRPr lang="zh-CN" altLang="en-US" sz="1000" b="0" i="0">
                        <a:solidFill>
                          <a:srgbClr val="000000"/>
                        </a:solidFill>
                        <a:latin typeface="微软雅黑" panose="020B0503020204020204" pitchFamily="34" charset="-122"/>
                        <a:ea typeface="微软雅黑" panose="020B0503020204020204" pitchFamily="34" charset="-122"/>
                      </a:endParaRPr>
                    </a:p>
                    <a:p>
                      <a:pPr algn="ctr" fontAlgn="ctr">
                        <a:buNone/>
                      </a:pPr>
                      <a:endParaRPr lang="zh-CN" altLang="en-US" sz="1000" b="0" i="0" u="none" strike="sng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检测工装</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治具清单</a:t>
                      </a:r>
                      <a:endPar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73075">
                <a:tc rowSpan="3">
                  <a:txBody>
                    <a:bodyPr/>
                    <a:p>
                      <a:pPr algn="ctr" fontAlgn="ctr">
                        <a:buNone/>
                      </a:pP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9</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zh-CN" altLang="en-US" sz="1000" kern="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产线匹配与产能评估</a:t>
                      </a:r>
                      <a:endParaRPr lang="zh-CN" altLang="en-US" sz="10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algn="ctr" fontAlgn="ctr">
                        <a:buNone/>
                      </a:pP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、向将拆解出的工艺步骤与现有的（或即将采购的</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KSTE）</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生产线进行匹配，确认设备能力、计算生产节拍和产能</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、评估订单的经济可行性</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设备能力匹配分析</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生产计划工程师（</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主）</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成本工程师（协）</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确认产线上特定设备（如特定型号的烧结炉、环抛机、热等静压设备等）是否满足该图纸的加工尺寸和精度要求；</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工艺路线图</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关键工序参数表</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产线匹配报告</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产能</a:t>
                      </a:r>
                      <a:r>
                        <a:rPr lang="zh-CN" altLang="en-US" sz="1000">
                          <a:solidFill>
                            <a:srgbClr val="000000"/>
                          </a:solidFill>
                          <a:latin typeface="微软雅黑" panose="020B0503020204020204" pitchFamily="34" charset="-122"/>
                          <a:ea typeface="微软雅黑" panose="020B0503020204020204" pitchFamily="34" charset="-122"/>
                          <a:sym typeface="+mn-ea"/>
                        </a:rPr>
                        <a:t>测算表</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30555">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② 生产节拍与产能测算</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dirty="0">
                          <a:effectLst/>
                          <a:latin typeface="微软雅黑" panose="020B0503020204020204" pitchFamily="34" charset="-122"/>
                          <a:ea typeface="微软雅黑" panose="020B0503020204020204" pitchFamily="34" charset="-122"/>
                          <a:sym typeface="+mn-ea"/>
                        </a:rPr>
                        <a:t>生产计划工程师（主）</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dirty="0">
                          <a:effectLst/>
                          <a:latin typeface="微软雅黑" panose="020B0503020204020204" pitchFamily="34" charset="-122"/>
                          <a:ea typeface="微软雅黑" panose="020B0503020204020204" pitchFamily="34" charset="-122"/>
                          <a:sym typeface="+mn-ea"/>
                        </a:rPr>
                        <a:t>成本工程师（协）</a:t>
                      </a:r>
                      <a:endParaRPr lang="zh-CN" altLang="en-US" sz="1000" b="0" i="0" u="non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2. 对于“小批量”需求的静电吸盘，计算换产时间、模具成本与单件生产周期；</a:t>
                      </a:r>
                      <a:endPar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 评估是否存在产能瓶颈，如需外协加工则明确外协方案；</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设备台账</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产线布局图</a:t>
                      </a:r>
                      <a:endParaRPr lang="zh-CN" altLang="en-US" sz="1000" b="0" i="0" u="none" strike="sngStrike">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瓶颈设备分析表</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外协需求清单</a:t>
                      </a:r>
                      <a:endParaRPr lang="zh-CN" altLang="en-US" sz="10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24535">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③ 经济可行性评估</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dirty="0">
                          <a:effectLst/>
                          <a:latin typeface="微软雅黑" panose="020B0503020204020204" pitchFamily="34" charset="-122"/>
                          <a:ea typeface="微软雅黑" panose="020B0503020204020204" pitchFamily="34" charset="-122"/>
                          <a:sym typeface="+mn-ea"/>
                        </a:rPr>
                        <a:t>生产计划工程师（主）</a:t>
                      </a: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dirty="0">
                          <a:effectLst/>
                          <a:latin typeface="微软雅黑" panose="020B0503020204020204" pitchFamily="34" charset="-122"/>
                          <a:ea typeface="微软雅黑" panose="020B0503020204020204" pitchFamily="34" charset="-122"/>
                          <a:sym typeface="+mn-ea"/>
                        </a:rPr>
                        <a:t>成本工程师（协）</a:t>
                      </a:r>
                      <a:endParaRPr lang="zh-CN" altLang="en-US" sz="1000" b="0" i="0" u="non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4. 综合材料成本、制造成本、设备分摊成本，评估订单的经济可行性；</a:t>
                      </a:r>
                      <a:endPar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buNone/>
                      </a:pPr>
                      <a:r>
                        <a:rPr lang="zh-CN" altLang="en-US" sz="10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 输出产线匹配报告及产能评估结论，作为是否接单的决策依据。</a:t>
                      </a:r>
                      <a:endParaRPr lang="zh-CN" altLang="en-US" sz="1000" b="0" i="0" u="none" strike="sng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成本估算单</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font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历史工时数据库</a:t>
                      </a:r>
                      <a:endParaRPr lang="zh-CN" altLang="en-US" sz="1000" b="0" i="0" u="none" strike="sngStrike" dirty="0">
                        <a:solidFill>
                          <a:srgbClr val="000000"/>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a:solidFill>
                            <a:srgbClr val="000000"/>
                          </a:solidFill>
                          <a:latin typeface="微软雅黑" panose="020B0503020204020204" pitchFamily="34" charset="-122"/>
                          <a:ea typeface="微软雅黑" panose="020B0503020204020204" pitchFamily="34" charset="-122"/>
                          <a:sym typeface="+mn-ea"/>
                        </a:rPr>
                        <a:t>经济可行性评估报告</a:t>
                      </a:r>
                      <a:endParaRPr lang="zh-CN" altLang="en-US" sz="10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80" y="349568"/>
            <a:ext cx="9387840" cy="524510"/>
          </a:xfrm>
        </p:spPr>
        <p:txBody>
          <a:bodyPr/>
          <a:lstStyle/>
          <a:p>
            <a:r>
              <a:rPr lang="zh-CN" altLang="en-US" sz="2800" dirty="0"/>
              <a:t>输入输出</a:t>
            </a:r>
            <a:r>
              <a:rPr lang="en-US" altLang="zh-CN" sz="2800" dirty="0"/>
              <a:t>BI——</a:t>
            </a:r>
            <a:r>
              <a:rPr lang="zh-CN" altLang="en-US" sz="2000" kern="0">
                <a:solidFill>
                  <a:schemeClr val="tx1"/>
                </a:solidFill>
                <a:cs typeface="+mn-ea"/>
                <a:sym typeface="Arial" panose="020B0604020202020204"/>
              </a:rPr>
              <a:t>输出工艺评估结果</a:t>
            </a:r>
            <a:r>
              <a:rPr lang="zh-CN" altLang="en-US" sz="2000">
                <a:sym typeface="+mn-ea"/>
              </a:rPr>
              <a:t>（</a:t>
            </a:r>
            <a:r>
              <a:rPr lang="en-US" sz="2000">
                <a:sym typeface="+mn-ea"/>
              </a:rPr>
              <a:t>4</a:t>
            </a:r>
            <a:r>
              <a:rPr lang="en-US" altLang="zh-CN" sz="2000">
                <a:sym typeface="+mn-ea"/>
              </a:rPr>
              <a:t>/4</a:t>
            </a:r>
            <a:r>
              <a:rPr lang="zh-CN" altLang="en-US" sz="2000">
                <a:sym typeface="+mn-ea"/>
              </a:rPr>
              <a:t>）</a:t>
            </a:r>
            <a:endParaRPr lang="zh-CN" altLang="en-US" sz="2000" dirty="0"/>
          </a:p>
        </p:txBody>
      </p:sp>
      <p:graphicFrame>
        <p:nvGraphicFramePr>
          <p:cNvPr id="5" name="表格 4"/>
          <p:cNvGraphicFramePr>
            <a:graphicFrameLocks noGrp="1"/>
          </p:cNvGraphicFramePr>
          <p:nvPr/>
        </p:nvGraphicFramePr>
        <p:xfrm>
          <a:off x="350520" y="1012825"/>
          <a:ext cx="11548745" cy="5394325"/>
        </p:xfrm>
        <a:graphic>
          <a:graphicData uri="http://schemas.openxmlformats.org/drawingml/2006/table">
            <a:tbl>
              <a:tblPr/>
              <a:tblGrid>
                <a:gridCol w="355600"/>
                <a:gridCol w="819785"/>
                <a:gridCol w="2026920"/>
                <a:gridCol w="1627505"/>
                <a:gridCol w="996950"/>
                <a:gridCol w="3216910"/>
                <a:gridCol w="1094740"/>
                <a:gridCol w="1410335"/>
              </a:tblGrid>
              <a:tr h="485775">
                <a:tc>
                  <a:txBody>
                    <a:bodyPr/>
                    <a:p>
                      <a:pPr algn="ctr" fontAlgn="ctr">
                        <a:buNone/>
                      </a:pP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活动描述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任务名称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责任人</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任务描述</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输入</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输出</a:t>
                      </a:r>
                      <a:r>
                        <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rPr>
                        <a:t>BI</a:t>
                      </a:r>
                      <a:endParaRPr lang="en-US" sz="1200" b="1" i="0" u="none" strike="noStrike" dirty="0">
                        <a:solidFill>
                          <a:srgbClr val="FFFFFF"/>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r>
              <a:tr h="2094230">
                <a:tc>
                  <a:txBody>
                    <a:bodyPr/>
                    <a:p>
                      <a:pPr algn="ctr" fontAlgn="ctr">
                        <a:buNone/>
                      </a:pPr>
                      <a:r>
                        <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10</a:t>
                      </a:r>
                      <a:endPar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汇总技术工艺评估结果</a:t>
                      </a:r>
                      <a:endPar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收集并整合六个专业工程师的工艺拆解成果，汇总形成一份完整的工艺评估报告初稿，确保各环节之间逻辑一致、数据匹配。</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nSpc>
                          <a:spcPts val="1250"/>
                        </a:lnSpc>
                      </a:pPr>
                      <a:br>
                        <a:rPr lang="en-US" altLang="zh-CN"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① </a:t>
                      </a:r>
                      <a:r>
                        <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收集各专业输出物；</a:t>
                      </a:r>
                      <a:endPar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ts val="1250"/>
                        </a:lnSpc>
                      </a:pPr>
                      <a:r>
                        <a:rPr lang="en-US" altLang="zh-CN"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② </a:t>
                      </a:r>
                      <a:r>
                        <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交叉验证各环节一致性；</a:t>
                      </a:r>
                      <a:endPar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ts val="1250"/>
                        </a:lnSpc>
                      </a:pPr>
                      <a:r>
                        <a:rPr lang="en-US" altLang="zh-CN"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③ </a:t>
                      </a:r>
                      <a:r>
                        <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编制工艺评估报告初稿</a:t>
                      </a:r>
                      <a:endParaRPr lang="zh-CN" altLang="en-US" sz="12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1917" marR="0" marT="63817" marB="63817"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工艺技术经理</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汇总节点④至⑨的全部输出文件；</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交叉验证关键数据的逻辑一致性（如：材料</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与工艺路线是否匹配、检测标准是否覆盖图纸要求等）；</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将各模块内容整合为完整的工艺评估报告初稿，包含：工艺可行性结论、材料方案、工艺路线、质量管控方案、产能评估、成本预估等完整信息。</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节点</a:t>
                      </a: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4-9</a:t>
                      </a: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全部</a:t>
                      </a:r>
                      <a:endPar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buNone/>
                      </a:pP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输出文件</a:t>
                      </a:r>
                      <a:endPar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工艺评估报告</a:t>
                      </a:r>
                      <a:endPar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buNone/>
                      </a:pP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初稿</a:t>
                      </a: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13815">
                <a:tc>
                  <a:txBody>
                    <a:bodyPr/>
                    <a:p>
                      <a:pPr lvl="0" algn="ctr" hangingPunct="0">
                        <a:spcBef>
                          <a:spcPts val="0"/>
                        </a:spcBef>
                        <a:spcAft>
                          <a:spcPts val="0"/>
                        </a:spcAft>
                        <a:buClrTx/>
                        <a:buSzTx/>
                        <a:buFontTx/>
                        <a:buNone/>
                      </a:pPr>
                      <a:r>
                        <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11</a:t>
                      </a:r>
                      <a:endParaRPr lang="en-US" altLang="zh-CN" sz="1200" b="1"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hangingPunct="0">
                        <a:spcBef>
                          <a:spcPts val="0"/>
                        </a:spcBef>
                        <a:spcAft>
                          <a:spcPts val="0"/>
                        </a:spcAft>
                        <a:buClrTx/>
                        <a:buSzTx/>
                        <a:buFontTx/>
                      </a:pPr>
                      <a:r>
                        <a:rPr lang="zh-CN" altLang="en-US" sz="12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审核技术工艺评估报告</a:t>
                      </a:r>
                      <a:endParaRPr lang="zh-CN" altLang="en-US" sz="1200" b="0" i="0" u="none" strike="noStrike" kern="0" dirty="0">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、对工艺评估报告初稿进行全面审核，确认技术方案的科学性、经济可行性、风险可控性，审批通过后进入发布流程；</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、如需调整则退回修改。</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技术方案审核；</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② 经济可行性审核；</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③ 风险审核；</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④ 审批或退回</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a:solidFill>
                            <a:schemeClr val="tx1"/>
                          </a:solidFill>
                          <a:effectLst/>
                          <a:latin typeface="微软雅黑" panose="020B0503020204020204" pitchFamily="34" charset="-122"/>
                          <a:ea typeface="微软雅黑" panose="020B0503020204020204" pitchFamily="34" charset="-122"/>
                        </a:rPr>
                        <a:t>工艺技术总监</a:t>
                      </a:r>
                      <a:endParaRPr lang="zh-CN" altLang="en-US" sz="1200" b="0" i="0" u="none">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审核工艺路线的技术合理性和创新性；</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确认成本估算和产能评估数据准确；</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评估项目风险（技术风险、供应链风险、交付风险等）；</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4. 审核通过则签署确认，推送至发布环节；</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如有重大分歧则退回工艺技术经理修改。</a:t>
                      </a:r>
                      <a:endParaRPr lang="zh-CN" altLang="en-US" sz="1200" b="0" i="0" u="none" strike="noStrike">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200" b="0" i="0">
                          <a:solidFill>
                            <a:srgbClr val="000000"/>
                          </a:solidFill>
                          <a:latin typeface="微软雅黑" panose="020B0503020204020204" pitchFamily="34" charset="-122"/>
                          <a:ea typeface="微软雅黑" panose="020B0503020204020204" pitchFamily="34" charset="-122"/>
                        </a:rPr>
                        <a:t>工艺评估报告（初稿）、</a:t>
                      </a:r>
                      <a:endParaRPr lang="zh-CN" altLang="en-US" sz="1200" b="0" i="0">
                        <a:solidFill>
                          <a:srgbClr val="000000"/>
                        </a:solidFill>
                        <a:latin typeface="微软雅黑" panose="020B0503020204020204" pitchFamily="34" charset="-122"/>
                        <a:ea typeface="微软雅黑" panose="020B0503020204020204" pitchFamily="34" charset="-122"/>
                      </a:endParaRPr>
                    </a:p>
                    <a:p>
                      <a:pPr algn="ctr" fontAlgn="ctr">
                        <a:buNone/>
                      </a:pPr>
                      <a:r>
                        <a:rPr lang="zh-CN" altLang="en-US" sz="1200" b="0" i="0">
                          <a:solidFill>
                            <a:srgbClr val="000000"/>
                          </a:solidFill>
                          <a:latin typeface="微软雅黑" panose="020B0503020204020204" pitchFamily="34" charset="-122"/>
                          <a:ea typeface="微软雅黑" panose="020B0503020204020204" pitchFamily="34" charset="-122"/>
                        </a:rPr>
                        <a:t>验证记录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工艺评估报告</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buNone/>
                      </a:pP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（已审核）、</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buNone/>
                      </a:pP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审批记录</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1500505">
                <a:tc>
                  <a:txBody>
                    <a:bodyPr/>
                    <a:p>
                      <a:pPr algn="ctr" fontAlgn="ctr">
                        <a:buNone/>
                      </a:pPr>
                      <a:r>
                        <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12</a:t>
                      </a:r>
                      <a:endParaRPr lang="en-US" altLang="zh-CN" sz="1200" b="1"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发布技术工艺评估报告</a:t>
                      </a:r>
                      <a:endPar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将审核通过的工艺评估报告正式发布，分发给相关部门（销售、采购、生产、质量等），作为后续合同签订、生产准备、原材料采购等环节的纲领性文件。</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① 报告定稿；</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② 分发至相关部门；</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③ 归档至知识库</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p>
                      <a:pPr algn="ctr" fontAlgn="ctr">
                        <a:buNone/>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工艺技术总监</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 根据审核意见完成报告最终修订并定稿；</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 将报告通过系统推送至销售（报价依据）、采购（原材料采购计划）、生产（排产依据）、质量（质量管控依据）等相关部门；</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 将整套工艺评估资料归档至企业工艺知识库，供后续类似项目复用参考。</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工艺评估报告</a:t>
                      </a:r>
                      <a:endPar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fontAlgn="ctr">
                        <a:buNone/>
                      </a:pP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已审核</a:t>
                      </a: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2349" marR="2349" marT="23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工艺评估报告（正式版）、分发记录、归档记录</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江</a:t>
            </a:r>
            <a:r>
              <a:rPr lang="zh-CN" altLang="en-US" dirty="0" smtClean="0">
                <a:latin typeface="+mn-ea"/>
                <a:ea typeface="+mn-ea"/>
              </a:rPr>
              <a:t>丰电子智能工艺数据架构</a:t>
            </a:r>
            <a:r>
              <a:rPr lang="en-US" altLang="zh-CN" dirty="0" smtClean="0">
                <a:latin typeface="+mn-ea"/>
                <a:ea typeface="+mn-ea"/>
              </a:rPr>
              <a:t>-</a:t>
            </a:r>
            <a:r>
              <a:rPr lang="zh-CN" altLang="en-US" dirty="0" smtClean="0">
                <a:latin typeface="+mn-ea"/>
                <a:ea typeface="+mn-ea"/>
              </a:rPr>
              <a:t>概念模型设计</a:t>
            </a:r>
            <a:endParaRPr lang="zh-CN" altLang="en-US" dirty="0">
              <a:latin typeface="+mn-ea"/>
              <a:ea typeface="+mn-ea"/>
            </a:endParaRPr>
          </a:p>
        </p:txBody>
      </p:sp>
      <p:grpSp>
        <p:nvGrpSpPr>
          <p:cNvPr id="3" name="组合 2"/>
          <p:cNvGrpSpPr/>
          <p:nvPr/>
        </p:nvGrpSpPr>
        <p:grpSpPr>
          <a:xfrm>
            <a:off x="657987" y="1194768"/>
            <a:ext cx="10667238" cy="5180594"/>
            <a:chOff x="657987" y="1194768"/>
            <a:chExt cx="10667238" cy="5180594"/>
          </a:xfrm>
        </p:grpSpPr>
        <p:sp>
          <p:nvSpPr>
            <p:cNvPr id="86" name="椭圆 85"/>
            <p:cNvSpPr/>
            <p:nvPr/>
          </p:nvSpPr>
          <p:spPr>
            <a:xfrm>
              <a:off x="3037667" y="3991201"/>
              <a:ext cx="6096287" cy="2291322"/>
            </a:xfrm>
            <a:prstGeom prst="ellipse">
              <a:avLst/>
            </a:prstGeom>
            <a:solidFill>
              <a:schemeClr val="bg1"/>
            </a:solidFill>
            <a:ln w="19050">
              <a:solidFill>
                <a:schemeClr val="accent1"/>
              </a:solidFill>
              <a:prstDash val="lg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4" name="矩形 3"/>
            <p:cNvSpPr/>
            <p:nvPr/>
          </p:nvSpPr>
          <p:spPr>
            <a:xfrm>
              <a:off x="657987" y="2257425"/>
              <a:ext cx="1656000" cy="1318295"/>
            </a:xfrm>
            <a:prstGeom prst="rect">
              <a:avLst/>
            </a:prstGeom>
            <a:solidFill>
              <a:schemeClr val="accent4"/>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600" b="1" dirty="0" smtClean="0">
                  <a:latin typeface="+mn-ea"/>
                </a:rPr>
                <a:t>商机</a:t>
              </a:r>
              <a:endParaRPr lang="zh-CN" altLang="en-US" sz="1600" b="1" dirty="0">
                <a:latin typeface="+mn-ea"/>
              </a:endParaRPr>
            </a:p>
          </p:txBody>
        </p:sp>
        <p:sp>
          <p:nvSpPr>
            <p:cNvPr id="5" name="矩形 4"/>
            <p:cNvSpPr/>
            <p:nvPr/>
          </p:nvSpPr>
          <p:spPr>
            <a:xfrm>
              <a:off x="6809359" y="2257426"/>
              <a:ext cx="1656000" cy="1318294"/>
            </a:xfrm>
            <a:prstGeom prst="rect">
              <a:avLst/>
            </a:prstGeom>
            <a:solidFill>
              <a:schemeClr val="accent4"/>
            </a:solidFill>
            <a:ln w="15875">
              <a:solidFill>
                <a:schemeClr val="tx1"/>
              </a:solidFill>
            </a:ln>
          </p:spPr>
          <p:style>
            <a:lnRef idx="2">
              <a:schemeClr val="accent1"/>
            </a:lnRef>
            <a:fillRef idx="0">
              <a:srgbClr val="FFFFFF"/>
            </a:fillRef>
            <a:effectRef idx="0">
              <a:srgbClr val="FFFFFF"/>
            </a:effectRef>
            <a:fontRef idx="minor">
              <a:schemeClr val="tx1"/>
            </a:fontRef>
          </p:style>
          <p:txBody>
            <a:bodyPr tIns="144000" rtlCol="0" anchor="t" anchorCtr="0"/>
            <a:lstStyle/>
            <a:p>
              <a:pPr algn="ctr"/>
              <a:r>
                <a:rPr lang="zh-CN" altLang="en-US" sz="1600" b="1" dirty="0" smtClean="0">
                  <a:latin typeface="+mn-ea"/>
                </a:rPr>
                <a:t>工艺拆解特征项</a:t>
              </a:r>
              <a:endParaRPr lang="zh-CN" altLang="en-US" sz="1600" b="1" dirty="0">
                <a:latin typeface="+mn-ea"/>
              </a:endParaRPr>
            </a:p>
          </p:txBody>
        </p:sp>
        <p:sp>
          <p:nvSpPr>
            <p:cNvPr id="6" name="矩形 5"/>
            <p:cNvSpPr/>
            <p:nvPr/>
          </p:nvSpPr>
          <p:spPr>
            <a:xfrm>
              <a:off x="3733673" y="2257425"/>
              <a:ext cx="1656000" cy="1318293"/>
            </a:xfrm>
            <a:prstGeom prst="rect">
              <a:avLst/>
            </a:prstGeom>
            <a:solidFill>
              <a:schemeClr val="accent4"/>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t" anchorCtr="0"/>
            <a:lstStyle/>
            <a:p>
              <a:pPr algn="ctr"/>
              <a:r>
                <a:rPr lang="zh-CN" altLang="en-US" sz="1600" b="1" dirty="0" smtClean="0">
                  <a:latin typeface="+mn-ea"/>
                </a:rPr>
                <a:t>客户产品</a:t>
              </a:r>
              <a:endParaRPr lang="en-US" altLang="zh-CN" sz="1600" b="1" dirty="0" smtClean="0">
                <a:latin typeface="+mn-ea"/>
              </a:endParaRPr>
            </a:p>
            <a:p>
              <a:pPr algn="ctr"/>
              <a:r>
                <a:rPr lang="zh-CN" altLang="en-US" sz="1600" b="1" dirty="0" smtClean="0">
                  <a:latin typeface="+mn-ea"/>
                </a:rPr>
                <a:t>技术规格书</a:t>
              </a:r>
              <a:endParaRPr lang="zh-CN" altLang="en-US" sz="1600" b="1" dirty="0">
                <a:latin typeface="+mn-ea"/>
              </a:endParaRPr>
            </a:p>
          </p:txBody>
        </p:sp>
        <p:sp>
          <p:nvSpPr>
            <p:cNvPr id="7" name="矩形 6"/>
            <p:cNvSpPr/>
            <p:nvPr/>
          </p:nvSpPr>
          <p:spPr>
            <a:xfrm>
              <a:off x="9885045" y="2257425"/>
              <a:ext cx="1440180" cy="1318293"/>
            </a:xfrm>
            <a:prstGeom prst="rect">
              <a:avLst/>
            </a:prstGeom>
            <a:solidFill>
              <a:schemeClr val="accent4"/>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600" b="1" dirty="0" smtClean="0">
                  <a:latin typeface="+mn-ea"/>
                </a:rPr>
                <a:t>工艺评估记录</a:t>
              </a:r>
              <a:endParaRPr lang="zh-CN" altLang="en-US" sz="1600" b="1" dirty="0">
                <a:latin typeface="+mn-ea"/>
              </a:endParaRPr>
            </a:p>
          </p:txBody>
        </p:sp>
        <p:sp>
          <p:nvSpPr>
            <p:cNvPr id="8" name="矩形 7"/>
            <p:cNvSpPr/>
            <p:nvPr/>
          </p:nvSpPr>
          <p:spPr>
            <a:xfrm>
              <a:off x="3733673" y="5112838"/>
              <a:ext cx="1656000" cy="576000"/>
            </a:xfrm>
            <a:prstGeom prst="rect">
              <a:avLst/>
            </a:prstGeom>
            <a:solidFill>
              <a:schemeClr val="bg1">
                <a:lumMod val="85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600" b="1" dirty="0" smtClean="0">
                  <a:latin typeface="+mn-ea"/>
                </a:rPr>
                <a:t>标准工艺平台</a:t>
              </a:r>
              <a:endParaRPr lang="zh-CN" altLang="en-US" sz="1600" b="1" dirty="0">
                <a:latin typeface="+mn-ea"/>
              </a:endParaRPr>
            </a:p>
          </p:txBody>
        </p:sp>
        <p:sp>
          <p:nvSpPr>
            <p:cNvPr id="9" name="矩形 8"/>
            <p:cNvSpPr/>
            <p:nvPr/>
          </p:nvSpPr>
          <p:spPr>
            <a:xfrm>
              <a:off x="6827059" y="5118653"/>
              <a:ext cx="1656000" cy="576000"/>
            </a:xfrm>
            <a:prstGeom prst="rect">
              <a:avLst/>
            </a:prstGeom>
            <a:solidFill>
              <a:schemeClr val="bg1">
                <a:lumMod val="85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600" b="1" dirty="0" smtClean="0">
                  <a:latin typeface="+mn-ea"/>
                </a:rPr>
                <a:t>工艺平台</a:t>
              </a:r>
              <a:endParaRPr lang="en-US" altLang="zh-CN" sz="1600" b="1" dirty="0" smtClean="0">
                <a:latin typeface="+mn-ea"/>
              </a:endParaRPr>
            </a:p>
            <a:p>
              <a:pPr algn="ctr"/>
              <a:r>
                <a:rPr lang="zh-CN" altLang="en-US" sz="1600" b="1" dirty="0" smtClean="0">
                  <a:latin typeface="+mn-ea"/>
                </a:rPr>
                <a:t>能力档案</a:t>
              </a:r>
              <a:endParaRPr lang="zh-CN" altLang="en-US" sz="1600" b="1" dirty="0">
                <a:latin typeface="+mn-ea"/>
              </a:endParaRPr>
            </a:p>
          </p:txBody>
        </p:sp>
        <p:cxnSp>
          <p:nvCxnSpPr>
            <p:cNvPr id="11" name="直接箭头连接符 10"/>
            <p:cNvCxnSpPr>
              <a:stCxn id="4" idx="3"/>
              <a:endCxn id="6" idx="1"/>
            </p:cNvCxnSpPr>
            <p:nvPr/>
          </p:nvCxnSpPr>
          <p:spPr>
            <a:xfrm>
              <a:off x="2313987" y="2932549"/>
              <a:ext cx="1419686" cy="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6" idx="3"/>
              <a:endCxn id="5" idx="1"/>
            </p:cNvCxnSpPr>
            <p:nvPr/>
          </p:nvCxnSpPr>
          <p:spPr>
            <a:xfrm>
              <a:off x="5389673" y="2932549"/>
              <a:ext cx="1419686" cy="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5" idx="2"/>
              <a:endCxn id="9" idx="0"/>
            </p:cNvCxnSpPr>
            <p:nvPr/>
          </p:nvCxnSpPr>
          <p:spPr>
            <a:xfrm>
              <a:off x="7637359" y="3575720"/>
              <a:ext cx="17700" cy="1542933"/>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9" idx="1"/>
              <a:endCxn id="8" idx="3"/>
            </p:cNvCxnSpPr>
            <p:nvPr/>
          </p:nvCxnSpPr>
          <p:spPr>
            <a:xfrm flipH="1" flipV="1">
              <a:off x="5389673" y="5400838"/>
              <a:ext cx="1437386" cy="5815"/>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05632" y="5911860"/>
              <a:ext cx="486705" cy="153568"/>
            </a:xfrm>
            <a:prstGeom prst="rect">
              <a:avLst/>
            </a:prstGeom>
            <a:solidFill>
              <a:srgbClr val="EE822F"/>
            </a:solidFill>
            <a:ln w="19050" cap="flat" cmpd="sng" algn="ctr">
              <a:solidFill>
                <a:srgbClr val="4874CB">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black"/>
                </a:solidFill>
                <a:effectLst/>
                <a:uLnTx/>
                <a:uFillTx/>
                <a:latin typeface="+mn-ea"/>
                <a:cs typeface="+mn-ea"/>
              </a:endParaRPr>
            </a:p>
          </p:txBody>
        </p:sp>
        <p:sp>
          <p:nvSpPr>
            <p:cNvPr id="21" name="矩形 20"/>
            <p:cNvSpPr/>
            <p:nvPr/>
          </p:nvSpPr>
          <p:spPr>
            <a:xfrm>
              <a:off x="1005632" y="6179061"/>
              <a:ext cx="486705" cy="153568"/>
            </a:xfrm>
            <a:prstGeom prst="rect">
              <a:avLst/>
            </a:prstGeom>
            <a:solidFill>
              <a:schemeClr val="bg1">
                <a:lumMod val="85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latin typeface="+mn-ea"/>
              </a:endParaRPr>
            </a:p>
          </p:txBody>
        </p:sp>
        <p:sp>
          <p:nvSpPr>
            <p:cNvPr id="22" name="文本框 21"/>
            <p:cNvSpPr txBox="1"/>
            <p:nvPr/>
          </p:nvSpPr>
          <p:spPr>
            <a:xfrm>
              <a:off x="1606613" y="5884720"/>
              <a:ext cx="56662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mn-ea"/>
                  <a:cs typeface="+mn-ea"/>
                </a:rPr>
                <a:t>本域</a:t>
              </a:r>
              <a:endParaRPr kumimoji="0" lang="en-US" altLang="zh-CN" sz="1000" b="0" i="0" u="none" strike="noStrike" kern="0" cap="none" spc="0" normalizeH="0" baseline="0" noProof="0" dirty="0">
                <a:ln>
                  <a:noFill/>
                </a:ln>
                <a:solidFill>
                  <a:prstClr val="black"/>
                </a:solidFill>
                <a:effectLst/>
                <a:uLnTx/>
                <a:uFillTx/>
                <a:latin typeface="+mn-ea"/>
                <a:cs typeface="+mn-ea"/>
              </a:endParaRPr>
            </a:p>
          </p:txBody>
        </p:sp>
        <p:sp>
          <p:nvSpPr>
            <p:cNvPr id="23" name="文本框 22"/>
            <p:cNvSpPr txBox="1"/>
            <p:nvPr/>
          </p:nvSpPr>
          <p:spPr>
            <a:xfrm>
              <a:off x="1606613" y="6129141"/>
              <a:ext cx="56662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mn-ea"/>
                  <a:cs typeface="+mn-ea"/>
                </a:rPr>
                <a:t>其他域</a:t>
              </a:r>
              <a:endParaRPr kumimoji="0" lang="en-US" altLang="zh-CN" sz="1000" b="0" i="0" u="none" strike="noStrike" kern="0" cap="none" spc="0" normalizeH="0" baseline="0" noProof="0" dirty="0">
                <a:ln>
                  <a:noFill/>
                </a:ln>
                <a:solidFill>
                  <a:prstClr val="black"/>
                </a:solidFill>
                <a:effectLst/>
                <a:uLnTx/>
                <a:uFillTx/>
                <a:latin typeface="+mn-ea"/>
                <a:cs typeface="+mn-ea"/>
              </a:endParaRPr>
            </a:p>
          </p:txBody>
        </p:sp>
        <p:sp>
          <p:nvSpPr>
            <p:cNvPr id="24" name="文本框 23"/>
            <p:cNvSpPr txBox="1"/>
            <p:nvPr/>
          </p:nvSpPr>
          <p:spPr>
            <a:xfrm>
              <a:off x="2727114" y="2991121"/>
              <a:ext cx="615874" cy="328936"/>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a:latin typeface="+mn-ea"/>
                  <a:sym typeface="+mn-ea"/>
                </a:rPr>
                <a:t>N</a:t>
              </a:r>
              <a:endParaRPr lang="zh-CN" altLang="en-US" sz="1400" dirty="0">
                <a:latin typeface="+mn-ea"/>
                <a:sym typeface="+mn-ea"/>
              </a:endParaRPr>
            </a:p>
          </p:txBody>
        </p:sp>
        <p:sp>
          <p:nvSpPr>
            <p:cNvPr id="25" name="文本框 24"/>
            <p:cNvSpPr txBox="1"/>
            <p:nvPr/>
          </p:nvSpPr>
          <p:spPr>
            <a:xfrm>
              <a:off x="5774225" y="2985513"/>
              <a:ext cx="615874" cy="350865"/>
            </a:xfrm>
            <a:prstGeom prst="rect">
              <a:avLst/>
            </a:prstGeom>
            <a:noFill/>
          </p:spPr>
          <p:txBody>
            <a:bodyPr wrap="none" rtlCol="0" anchor="t">
              <a:spAutoFit/>
            </a:bodyPr>
            <a:lstStyle/>
            <a:p>
              <a:pPr fontAlgn="auto">
                <a:lnSpc>
                  <a:spcPct val="120000"/>
                </a:lnSpc>
                <a:spcBef>
                  <a:spcPts val="0"/>
                </a:spcBef>
              </a:pPr>
              <a:r>
                <a:rPr lang="en-US" altLang="zh-CN" sz="1400" dirty="0">
                  <a:latin typeface="+mn-ea"/>
                  <a:sym typeface="+mn-ea"/>
                </a:rPr>
                <a:t>1</a:t>
              </a:r>
              <a:r>
                <a:rPr lang="zh-CN" altLang="en-US" sz="1400" dirty="0" smtClean="0">
                  <a:latin typeface="+mn-ea"/>
                  <a:sym typeface="+mn-ea"/>
                </a:rPr>
                <a:t>：</a:t>
              </a:r>
              <a:r>
                <a:rPr lang="en-US" altLang="zh-CN" sz="1400" dirty="0" smtClean="0">
                  <a:latin typeface="+mn-ea"/>
                  <a:sym typeface="+mn-ea"/>
                </a:rPr>
                <a:t>N</a:t>
              </a:r>
              <a:endParaRPr lang="zh-CN" altLang="en-US" sz="1400" dirty="0">
                <a:latin typeface="+mn-ea"/>
                <a:sym typeface="+mn-ea"/>
              </a:endParaRPr>
            </a:p>
          </p:txBody>
        </p:sp>
        <p:cxnSp>
          <p:nvCxnSpPr>
            <p:cNvPr id="27" name="直接箭头连接符 26"/>
            <p:cNvCxnSpPr>
              <a:stCxn id="5" idx="3"/>
              <a:endCxn id="7" idx="1"/>
            </p:cNvCxnSpPr>
            <p:nvPr/>
          </p:nvCxnSpPr>
          <p:spPr>
            <a:xfrm flipV="1">
              <a:off x="8465359" y="2916572"/>
              <a:ext cx="1419686" cy="1"/>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3830537" y="2884924"/>
              <a:ext cx="655738" cy="252000"/>
            </a:xfrm>
            <a:prstGeom prst="rect">
              <a:avLst/>
            </a:prstGeom>
            <a:solidFill>
              <a:schemeClr val="accent4">
                <a:lumMod val="20000"/>
                <a:lumOff val="80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b="1" dirty="0" smtClean="0">
                  <a:latin typeface="+mn-ea"/>
                </a:rPr>
                <a:t>客户</a:t>
              </a:r>
              <a:r>
                <a:rPr lang="zh-CN" altLang="en-US" sz="1000" b="1" dirty="0">
                  <a:latin typeface="+mn-ea"/>
                </a:rPr>
                <a:t>图纸</a:t>
              </a:r>
              <a:endParaRPr lang="zh-CN" altLang="en-US" sz="1000" b="1" dirty="0">
                <a:latin typeface="+mn-ea"/>
              </a:endParaRPr>
            </a:p>
          </p:txBody>
        </p:sp>
        <p:sp>
          <p:nvSpPr>
            <p:cNvPr id="36" name="矩形 35"/>
            <p:cNvSpPr/>
            <p:nvPr/>
          </p:nvSpPr>
          <p:spPr>
            <a:xfrm>
              <a:off x="4646328" y="2884924"/>
              <a:ext cx="655738" cy="252000"/>
            </a:xfrm>
            <a:prstGeom prst="rect">
              <a:avLst/>
            </a:prstGeom>
            <a:solidFill>
              <a:schemeClr val="accent4">
                <a:lumMod val="20000"/>
                <a:lumOff val="80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b="1" dirty="0" smtClean="0">
                  <a:latin typeface="+mn-ea"/>
                </a:rPr>
                <a:t>支撑文件</a:t>
              </a:r>
              <a:endParaRPr lang="zh-CN" altLang="en-US" sz="1000" b="1" dirty="0">
                <a:latin typeface="+mn-ea"/>
              </a:endParaRPr>
            </a:p>
          </p:txBody>
        </p:sp>
        <p:sp>
          <p:nvSpPr>
            <p:cNvPr id="38" name="矩形 37"/>
            <p:cNvSpPr/>
            <p:nvPr/>
          </p:nvSpPr>
          <p:spPr>
            <a:xfrm>
              <a:off x="3830537" y="3237019"/>
              <a:ext cx="1476000" cy="252000"/>
            </a:xfrm>
            <a:prstGeom prst="rect">
              <a:avLst/>
            </a:prstGeom>
            <a:solidFill>
              <a:schemeClr val="accent4">
                <a:lumMod val="20000"/>
                <a:lumOff val="80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b="1" dirty="0" smtClean="0">
                  <a:latin typeface="+mn-ea"/>
                </a:rPr>
                <a:t>技术规格沟通记录</a:t>
              </a:r>
              <a:endParaRPr lang="zh-CN" altLang="en-US" sz="1000" b="1" dirty="0">
                <a:latin typeface="+mn-ea"/>
              </a:endParaRPr>
            </a:p>
          </p:txBody>
        </p:sp>
        <p:sp>
          <p:nvSpPr>
            <p:cNvPr id="44" name="矩形 43"/>
            <p:cNvSpPr/>
            <p:nvPr/>
          </p:nvSpPr>
          <p:spPr>
            <a:xfrm>
              <a:off x="6896966" y="2878600"/>
              <a:ext cx="1476000" cy="252000"/>
            </a:xfrm>
            <a:prstGeom prst="rect">
              <a:avLst/>
            </a:prstGeom>
            <a:solidFill>
              <a:schemeClr val="accent4">
                <a:lumMod val="20000"/>
                <a:lumOff val="80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b="1" dirty="0" smtClean="0">
                  <a:latin typeface="+mn-ea"/>
                </a:rPr>
                <a:t>零部件拆解结果</a:t>
              </a:r>
              <a:endParaRPr lang="zh-CN" altLang="en-US" sz="1000" b="1" dirty="0">
                <a:latin typeface="+mn-ea"/>
              </a:endParaRPr>
            </a:p>
          </p:txBody>
        </p:sp>
        <p:sp>
          <p:nvSpPr>
            <p:cNvPr id="45" name="矩形 44"/>
            <p:cNvSpPr/>
            <p:nvPr/>
          </p:nvSpPr>
          <p:spPr>
            <a:xfrm>
              <a:off x="6896966" y="3234032"/>
              <a:ext cx="1476000" cy="252000"/>
            </a:xfrm>
            <a:prstGeom prst="rect">
              <a:avLst/>
            </a:prstGeom>
            <a:solidFill>
              <a:schemeClr val="accent4">
                <a:lumMod val="20000"/>
                <a:lumOff val="80000"/>
              </a:schemeClr>
            </a:solidFill>
            <a:ln w="15875">
              <a:solidFill>
                <a:schemeClr val="tx1"/>
              </a:solidFill>
            </a:ln>
          </p:spPr>
          <p:style>
            <a:lnRef idx="2">
              <a:schemeClr val="accent1"/>
            </a:lnRef>
            <a:fillRef idx="0">
              <a:srgbClr val="FFFFFF"/>
            </a:fillRef>
            <a:effectRef idx="0">
              <a:srgbClr val="FFFFFF"/>
            </a:effectRef>
            <a:fontRef idx="minor">
              <a:schemeClr val="tx1"/>
            </a:fontRef>
          </p:style>
          <p:txBody>
            <a:bodyPr lIns="36000" rIns="36000" rtlCol="0" anchor="ctr"/>
            <a:lstStyle/>
            <a:p>
              <a:pPr algn="ctr"/>
              <a:r>
                <a:rPr lang="zh-CN" altLang="en-US" sz="1000" b="1" dirty="0">
                  <a:latin typeface="+mn-ea"/>
                </a:rPr>
                <a:t>拆</a:t>
              </a:r>
              <a:r>
                <a:rPr lang="zh-CN" altLang="en-US" sz="1000" b="1" dirty="0" smtClean="0">
                  <a:latin typeface="+mn-ea"/>
                </a:rPr>
                <a:t>解关键参数</a:t>
              </a:r>
              <a:endParaRPr lang="zh-CN" altLang="en-US" sz="1000" b="1" dirty="0">
                <a:latin typeface="+mn-ea"/>
              </a:endParaRPr>
            </a:p>
          </p:txBody>
        </p:sp>
        <p:sp>
          <p:nvSpPr>
            <p:cNvPr id="46" name="文本框 45"/>
            <p:cNvSpPr txBox="1"/>
            <p:nvPr/>
          </p:nvSpPr>
          <p:spPr>
            <a:xfrm>
              <a:off x="7720354" y="4290716"/>
              <a:ext cx="575799"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sp>
          <p:nvSpPr>
            <p:cNvPr id="47" name="文本框 46"/>
            <p:cNvSpPr txBox="1"/>
            <p:nvPr/>
          </p:nvSpPr>
          <p:spPr>
            <a:xfrm>
              <a:off x="5872097" y="5438605"/>
              <a:ext cx="615874"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N</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sp>
          <p:nvSpPr>
            <p:cNvPr id="66" name="矩形 65"/>
            <p:cNvSpPr/>
            <p:nvPr/>
          </p:nvSpPr>
          <p:spPr>
            <a:xfrm>
              <a:off x="5831220" y="5129801"/>
              <a:ext cx="697627" cy="246221"/>
            </a:xfrm>
            <a:prstGeom prst="rect">
              <a:avLst/>
            </a:prstGeom>
          </p:spPr>
          <p:txBody>
            <a:bodyPr wrap="none">
              <a:spAutoFit/>
            </a:bodyPr>
            <a:lstStyle/>
            <a:p>
              <a:r>
                <a:rPr lang="zh-CN" altLang="en-US" sz="1000" dirty="0">
                  <a:latin typeface="+mn-ea"/>
                  <a:sym typeface="+mn-ea"/>
                </a:rPr>
                <a:t>能力参数</a:t>
              </a:r>
              <a:endParaRPr lang="zh-CN" altLang="en-US" sz="1000" dirty="0"/>
            </a:p>
          </p:txBody>
        </p:sp>
        <p:sp>
          <p:nvSpPr>
            <p:cNvPr id="71" name="矩形 70"/>
            <p:cNvSpPr/>
            <p:nvPr/>
          </p:nvSpPr>
          <p:spPr>
            <a:xfrm>
              <a:off x="7101622" y="4188031"/>
              <a:ext cx="553437" cy="553998"/>
            </a:xfrm>
            <a:prstGeom prst="rect">
              <a:avLst/>
            </a:prstGeom>
          </p:spPr>
          <p:txBody>
            <a:bodyPr wrap="square">
              <a:spAutoFit/>
            </a:bodyPr>
            <a:lstStyle/>
            <a:p>
              <a:pPr algn="ctr"/>
              <a:r>
                <a:rPr lang="zh-CN" altLang="en-US" sz="1000" dirty="0" smtClean="0"/>
                <a:t>工艺匹配信息</a:t>
              </a:r>
              <a:endParaRPr lang="zh-CN" altLang="en-US" sz="1000" dirty="0"/>
            </a:p>
          </p:txBody>
        </p:sp>
        <p:sp>
          <p:nvSpPr>
            <p:cNvPr id="72" name="文本框 71"/>
            <p:cNvSpPr txBox="1"/>
            <p:nvPr/>
          </p:nvSpPr>
          <p:spPr>
            <a:xfrm>
              <a:off x="8896119" y="3004600"/>
              <a:ext cx="575799"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sp>
          <p:nvSpPr>
            <p:cNvPr id="73" name="矩形 72"/>
            <p:cNvSpPr/>
            <p:nvPr/>
          </p:nvSpPr>
          <p:spPr>
            <a:xfrm>
              <a:off x="8826388" y="2657372"/>
              <a:ext cx="697627" cy="246221"/>
            </a:xfrm>
            <a:prstGeom prst="rect">
              <a:avLst/>
            </a:prstGeom>
          </p:spPr>
          <p:txBody>
            <a:bodyPr wrap="none">
              <a:spAutoFit/>
            </a:bodyPr>
            <a:lstStyle/>
            <a:p>
              <a:r>
                <a:rPr lang="zh-CN" altLang="en-US" sz="1000" dirty="0" smtClean="0"/>
                <a:t>评估</a:t>
              </a:r>
              <a:r>
                <a:rPr lang="zh-CN" altLang="en-US" sz="1000" dirty="0"/>
                <a:t>结论</a:t>
              </a:r>
              <a:endParaRPr lang="zh-CN" altLang="en-US" sz="1000" dirty="0"/>
            </a:p>
          </p:txBody>
        </p:sp>
        <p:sp>
          <p:nvSpPr>
            <p:cNvPr id="74" name="矩形 73"/>
            <p:cNvSpPr/>
            <p:nvPr/>
          </p:nvSpPr>
          <p:spPr>
            <a:xfrm>
              <a:off x="2604138" y="2657372"/>
              <a:ext cx="954107" cy="246221"/>
            </a:xfrm>
            <a:prstGeom prst="rect">
              <a:avLst/>
            </a:prstGeom>
          </p:spPr>
          <p:txBody>
            <a:bodyPr wrap="none">
              <a:spAutoFit/>
            </a:bodyPr>
            <a:lstStyle/>
            <a:p>
              <a:r>
                <a:rPr lang="zh-CN" altLang="en-US" sz="1000" dirty="0"/>
                <a:t>产品</a:t>
              </a:r>
              <a:r>
                <a:rPr lang="zh-CN" altLang="en-US" sz="1000" dirty="0" smtClean="0"/>
                <a:t>技术规格</a:t>
              </a:r>
              <a:endParaRPr lang="zh-CN" altLang="en-US" sz="1000" dirty="0"/>
            </a:p>
          </p:txBody>
        </p:sp>
        <p:sp>
          <p:nvSpPr>
            <p:cNvPr id="75" name="矩形 74"/>
            <p:cNvSpPr/>
            <p:nvPr/>
          </p:nvSpPr>
          <p:spPr>
            <a:xfrm>
              <a:off x="5612841" y="2657372"/>
              <a:ext cx="954107" cy="246221"/>
            </a:xfrm>
            <a:prstGeom prst="rect">
              <a:avLst/>
            </a:prstGeom>
          </p:spPr>
          <p:txBody>
            <a:bodyPr wrap="none">
              <a:spAutoFit/>
            </a:bodyPr>
            <a:lstStyle/>
            <a:p>
              <a:r>
                <a:rPr lang="zh-CN" altLang="en-US" sz="1000" dirty="0" smtClean="0"/>
                <a:t>工艺评估标准</a:t>
              </a:r>
              <a:endParaRPr lang="zh-CN" altLang="en-US" sz="1000" dirty="0"/>
            </a:p>
          </p:txBody>
        </p:sp>
        <p:cxnSp>
          <p:nvCxnSpPr>
            <p:cNvPr id="76" name="直接箭头连接符 75"/>
            <p:cNvCxnSpPr>
              <a:stCxn id="6" idx="2"/>
              <a:endCxn id="8" idx="0"/>
            </p:cNvCxnSpPr>
            <p:nvPr/>
          </p:nvCxnSpPr>
          <p:spPr>
            <a:xfrm>
              <a:off x="4561673" y="3575718"/>
              <a:ext cx="0" cy="153712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944708" y="4303590"/>
              <a:ext cx="575799"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sp>
          <p:nvSpPr>
            <p:cNvPr id="80" name="矩形 79"/>
            <p:cNvSpPr/>
            <p:nvPr/>
          </p:nvSpPr>
          <p:spPr>
            <a:xfrm>
              <a:off x="4508361" y="4225660"/>
              <a:ext cx="553437" cy="553998"/>
            </a:xfrm>
            <a:prstGeom prst="rect">
              <a:avLst/>
            </a:prstGeom>
          </p:spPr>
          <p:txBody>
            <a:bodyPr wrap="square">
              <a:spAutoFit/>
            </a:bodyPr>
            <a:lstStyle/>
            <a:p>
              <a:pPr algn="ctr"/>
              <a:r>
                <a:rPr lang="zh-CN" altLang="en-US" sz="1000" dirty="0" smtClean="0"/>
                <a:t>工艺匹配信息</a:t>
              </a:r>
              <a:endParaRPr lang="zh-CN" altLang="en-US" sz="1000" dirty="0"/>
            </a:p>
          </p:txBody>
        </p:sp>
        <p:sp>
          <p:nvSpPr>
            <p:cNvPr id="89" name="文本框 88"/>
            <p:cNvSpPr txBox="1"/>
            <p:nvPr/>
          </p:nvSpPr>
          <p:spPr>
            <a:xfrm>
              <a:off x="8684455" y="4779658"/>
              <a:ext cx="941884" cy="328936"/>
            </a:xfrm>
            <a:prstGeom prst="rect">
              <a:avLst/>
            </a:prstGeom>
            <a:solidFill>
              <a:schemeClr val="bg1"/>
            </a:solidFill>
          </p:spPr>
          <p:txBody>
            <a:bodyPr wrap="square" rtlCol="0" anchor="t">
              <a:spAutoFit/>
            </a:bodyPr>
            <a:lstStyle/>
            <a:p>
              <a:pPr algn="ctr" fontAlgn="auto">
                <a:lnSpc>
                  <a:spcPct val="120000"/>
                </a:lnSpc>
                <a:spcBef>
                  <a:spcPts val="0"/>
                </a:spcBef>
              </a:pPr>
              <a:r>
                <a:rPr lang="zh-CN" altLang="en-US" sz="1400" b="1" dirty="0" smtClean="0">
                  <a:solidFill>
                    <a:schemeClr val="accent1"/>
                  </a:solidFill>
                  <a:latin typeface="+mn-ea"/>
                  <a:sym typeface="+mn-ea"/>
                </a:rPr>
                <a:t>工厂能力</a:t>
              </a:r>
              <a:endParaRPr lang="zh-CN" altLang="en-US" sz="1400" b="1" dirty="0">
                <a:solidFill>
                  <a:schemeClr val="accent1"/>
                </a:solidFill>
                <a:latin typeface="+mn-ea"/>
                <a:sym typeface="+mn-ea"/>
              </a:endParaRPr>
            </a:p>
          </p:txBody>
        </p:sp>
        <p:cxnSp>
          <p:nvCxnSpPr>
            <p:cNvPr id="94" name="肘形连接符 93"/>
            <p:cNvCxnSpPr>
              <a:stCxn id="48" idx="3"/>
              <a:endCxn id="4" idx="0"/>
            </p:cNvCxnSpPr>
            <p:nvPr/>
          </p:nvCxnSpPr>
          <p:spPr>
            <a:xfrm flipH="1" flipV="1">
              <a:off x="1485987" y="2257425"/>
              <a:ext cx="9839238" cy="2731490"/>
            </a:xfrm>
            <a:prstGeom prst="bentConnector4">
              <a:avLst>
                <a:gd name="adj1" fmla="val -5034"/>
                <a:gd name="adj2" fmla="val 128594"/>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5912172" y="1488493"/>
              <a:ext cx="575799"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sp>
          <p:nvSpPr>
            <p:cNvPr id="101" name="矩形 100"/>
            <p:cNvSpPr/>
            <p:nvPr/>
          </p:nvSpPr>
          <p:spPr>
            <a:xfrm>
              <a:off x="5741054" y="1194768"/>
              <a:ext cx="954107" cy="246221"/>
            </a:xfrm>
            <a:prstGeom prst="rect">
              <a:avLst/>
            </a:prstGeom>
          </p:spPr>
          <p:txBody>
            <a:bodyPr wrap="none">
              <a:spAutoFit/>
            </a:bodyPr>
            <a:lstStyle/>
            <a:p>
              <a:r>
                <a:rPr lang="zh-CN" altLang="en-US" sz="1000" dirty="0" smtClean="0"/>
                <a:t>产品匹配结论</a:t>
              </a:r>
              <a:endParaRPr lang="zh-CN" altLang="en-US" sz="1000" dirty="0"/>
            </a:p>
          </p:txBody>
        </p:sp>
        <p:sp>
          <p:nvSpPr>
            <p:cNvPr id="48" name="矩形 47"/>
            <p:cNvSpPr/>
            <p:nvPr/>
          </p:nvSpPr>
          <p:spPr>
            <a:xfrm>
              <a:off x="9885045" y="4330115"/>
              <a:ext cx="1440180" cy="1317600"/>
            </a:xfrm>
            <a:prstGeom prst="rect">
              <a:avLst/>
            </a:prstGeom>
            <a:solidFill>
              <a:schemeClr val="accent4"/>
            </a:solidFill>
            <a:ln w="1587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1600" b="1" dirty="0" smtClean="0">
                  <a:latin typeface="+mn-ea"/>
                </a:rPr>
                <a:t>工艺评估</a:t>
              </a:r>
              <a:endParaRPr lang="en-US" altLang="zh-CN" sz="1600" b="1" dirty="0" smtClean="0">
                <a:latin typeface="+mn-ea"/>
              </a:endParaRPr>
            </a:p>
            <a:p>
              <a:pPr algn="ctr"/>
              <a:r>
                <a:rPr lang="zh-CN" altLang="en-US" sz="1600" b="1" dirty="0" smtClean="0">
                  <a:latin typeface="+mn-ea"/>
                </a:rPr>
                <a:t>结论</a:t>
              </a:r>
              <a:r>
                <a:rPr lang="zh-CN" altLang="en-US" sz="1600" b="1" dirty="0">
                  <a:latin typeface="+mn-ea"/>
                </a:rPr>
                <a:t>单</a:t>
              </a:r>
              <a:endParaRPr lang="zh-CN" altLang="en-US" sz="1600" b="1" dirty="0">
                <a:latin typeface="+mn-ea"/>
              </a:endParaRPr>
            </a:p>
          </p:txBody>
        </p:sp>
        <p:sp>
          <p:nvSpPr>
            <p:cNvPr id="67" name="矩形 66"/>
            <p:cNvSpPr/>
            <p:nvPr/>
          </p:nvSpPr>
          <p:spPr>
            <a:xfrm>
              <a:off x="10128698" y="3799631"/>
              <a:ext cx="472838" cy="400110"/>
            </a:xfrm>
            <a:prstGeom prst="rect">
              <a:avLst/>
            </a:prstGeom>
          </p:spPr>
          <p:txBody>
            <a:bodyPr wrap="square">
              <a:spAutoFit/>
            </a:bodyPr>
            <a:lstStyle/>
            <a:p>
              <a:pPr algn="ctr"/>
              <a:r>
                <a:rPr lang="zh-CN" altLang="en-US" sz="1000" dirty="0"/>
                <a:t>分析</a:t>
              </a:r>
              <a:r>
                <a:rPr lang="zh-CN" altLang="en-US" sz="1000" dirty="0" smtClean="0"/>
                <a:t>结论</a:t>
              </a:r>
              <a:endParaRPr lang="zh-CN" altLang="en-US" sz="1000" dirty="0"/>
            </a:p>
          </p:txBody>
        </p:sp>
        <p:sp>
          <p:nvSpPr>
            <p:cNvPr id="68" name="文本框 67"/>
            <p:cNvSpPr txBox="1"/>
            <p:nvPr/>
          </p:nvSpPr>
          <p:spPr>
            <a:xfrm>
              <a:off x="10638240" y="3799631"/>
              <a:ext cx="615874" cy="350865"/>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N</a:t>
              </a:r>
              <a:r>
                <a:rPr lang="zh-CN" altLang="en-US" sz="1400" dirty="0" smtClean="0">
                  <a:latin typeface="+mn-ea"/>
                  <a:sym typeface="+mn-ea"/>
                </a:rPr>
                <a:t>：</a:t>
              </a:r>
              <a:r>
                <a:rPr lang="en-US" altLang="zh-CN" sz="1400" dirty="0">
                  <a:latin typeface="+mn-ea"/>
                  <a:sym typeface="+mn-ea"/>
                </a:rPr>
                <a:t>1</a:t>
              </a:r>
              <a:endParaRPr lang="zh-CN" altLang="en-US" sz="1400" dirty="0">
                <a:latin typeface="+mn-ea"/>
                <a:sym typeface="+mn-ea"/>
              </a:endParaRPr>
            </a:p>
          </p:txBody>
        </p:sp>
        <p:cxnSp>
          <p:nvCxnSpPr>
            <p:cNvPr id="59" name="直接箭头连接符 58"/>
            <p:cNvCxnSpPr>
              <a:stCxn id="7" idx="2"/>
              <a:endCxn id="48" idx="0"/>
            </p:cNvCxnSpPr>
            <p:nvPr/>
          </p:nvCxnSpPr>
          <p:spPr>
            <a:xfrm>
              <a:off x="10605135" y="3575718"/>
              <a:ext cx="0" cy="754397"/>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肘形连接符 63"/>
            <p:cNvCxnSpPr>
              <a:stCxn id="6" idx="0"/>
              <a:endCxn id="7" idx="0"/>
            </p:cNvCxnSpPr>
            <p:nvPr/>
          </p:nvCxnSpPr>
          <p:spPr>
            <a:xfrm rot="5400000" flipH="1" flipV="1">
              <a:off x="7583404" y="-764306"/>
              <a:ext cx="12700" cy="6043462"/>
            </a:xfrm>
            <a:prstGeom prst="bentConnector3">
              <a:avLst>
                <a:gd name="adj1" fmla="val 2625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7441271" y="1890903"/>
              <a:ext cx="615874" cy="328936"/>
            </a:xfrm>
            <a:prstGeom prst="rect">
              <a:avLst/>
            </a:prstGeom>
            <a:noFill/>
          </p:spPr>
          <p:txBody>
            <a:bodyPr wrap="none" rtlCol="0" anchor="t">
              <a:spAutoFit/>
            </a:bodyPr>
            <a:lstStyle/>
            <a:p>
              <a:pPr fontAlgn="auto">
                <a:lnSpc>
                  <a:spcPct val="120000"/>
                </a:lnSpc>
                <a:spcBef>
                  <a:spcPts val="0"/>
                </a:spcBef>
              </a:pPr>
              <a:r>
                <a:rPr lang="en-US" altLang="zh-CN" sz="1400" dirty="0" smtClean="0">
                  <a:latin typeface="+mn-ea"/>
                  <a:sym typeface="+mn-ea"/>
                </a:rPr>
                <a:t>1</a:t>
              </a:r>
              <a:r>
                <a:rPr lang="zh-CN" altLang="en-US" sz="1400" dirty="0" smtClean="0">
                  <a:latin typeface="+mn-ea"/>
                  <a:sym typeface="+mn-ea"/>
                </a:rPr>
                <a:t>：</a:t>
              </a:r>
              <a:r>
                <a:rPr lang="en-US" altLang="zh-CN" sz="1400" dirty="0" smtClean="0">
                  <a:latin typeface="+mn-ea"/>
                  <a:sym typeface="+mn-ea"/>
                </a:rPr>
                <a:t>N</a:t>
              </a:r>
              <a:endParaRPr lang="zh-CN" altLang="en-US" sz="1400" dirty="0">
                <a:latin typeface="+mn-ea"/>
                <a:sym typeface="+mn-ea"/>
              </a:endParaRPr>
            </a:p>
          </p:txBody>
        </p:sp>
        <p:sp>
          <p:nvSpPr>
            <p:cNvPr id="85" name="矩形 84"/>
            <p:cNvSpPr/>
            <p:nvPr/>
          </p:nvSpPr>
          <p:spPr>
            <a:xfrm>
              <a:off x="7371540" y="1668303"/>
              <a:ext cx="697627" cy="246221"/>
            </a:xfrm>
            <a:prstGeom prst="rect">
              <a:avLst/>
            </a:prstGeom>
          </p:spPr>
          <p:txBody>
            <a:bodyPr wrap="none">
              <a:spAutoFit/>
            </a:bodyPr>
            <a:lstStyle/>
            <a:p>
              <a:r>
                <a:rPr lang="zh-CN" altLang="en-US" sz="1000" dirty="0" smtClean="0"/>
                <a:t>评估</a:t>
              </a:r>
              <a:r>
                <a:rPr lang="zh-CN" altLang="en-US" sz="1000" dirty="0"/>
                <a:t>结论</a:t>
              </a:r>
              <a:endParaRPr lang="zh-CN" altLang="en-US" sz="1000" dirty="0"/>
            </a:p>
          </p:txBody>
        </p:sp>
      </p:gr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江</a:t>
            </a:r>
            <a:r>
              <a:rPr lang="zh-CN" altLang="en-US" smtClean="0"/>
              <a:t>丰电子能</a:t>
            </a:r>
            <a:r>
              <a:rPr lang="zh-CN" altLang="en-US" dirty="0"/>
              <a:t>工艺数据架构</a:t>
            </a:r>
            <a:r>
              <a:rPr lang="en-US" altLang="zh-CN" dirty="0" smtClean="0"/>
              <a:t>-</a:t>
            </a:r>
            <a:r>
              <a:rPr lang="zh-CN" altLang="en-US" dirty="0" smtClean="0"/>
              <a:t>逻辑模型设计</a:t>
            </a:r>
            <a:endParaRPr lang="zh-CN" altLang="en-US" dirty="0"/>
          </a:p>
        </p:txBody>
      </p:sp>
      <p:sp>
        <p:nvSpPr>
          <p:cNvPr id="5" name="椭圆 4"/>
          <p:cNvSpPr/>
          <p:nvPr/>
        </p:nvSpPr>
        <p:spPr>
          <a:xfrm>
            <a:off x="1971461" y="2414800"/>
            <a:ext cx="914595" cy="844837"/>
          </a:xfrm>
          <a:prstGeom prst="ellipse">
            <a:avLst/>
          </a:prstGeom>
          <a:solidFill>
            <a:srgbClr val="FFBA55">
              <a:lumMod val="75000"/>
            </a:srgbClr>
          </a:solidFill>
          <a:ln w="12700" cap="flat" cmpd="sng" algn="ctr">
            <a:solidFill>
              <a:srgbClr val="F87D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商机</a:t>
            </a:r>
            <a:endParaRPr kumimoji="0" lang="zh-CN" altLang="en-US" sz="1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sp>
        <p:nvSpPr>
          <p:cNvPr id="6" name="椭圆 5"/>
          <p:cNvSpPr/>
          <p:nvPr/>
        </p:nvSpPr>
        <p:spPr>
          <a:xfrm>
            <a:off x="5700591" y="2414800"/>
            <a:ext cx="914595" cy="844837"/>
          </a:xfrm>
          <a:prstGeom prst="ellipse">
            <a:avLst/>
          </a:prstGeom>
          <a:solidFill>
            <a:srgbClr val="FFBA55">
              <a:lumMod val="75000"/>
            </a:srgbClr>
          </a:solidFill>
          <a:ln w="12700" cap="flat" cmpd="sng" algn="ctr">
            <a:solidFill>
              <a:srgbClr val="F87D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客户</a:t>
            </a:r>
            <a:endParaRPr kumimoji="0" lang="en-US" altLang="zh-CN"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200" kern="0" dirty="0" smtClean="0">
                <a:solidFill>
                  <a:srgbClr val="000000"/>
                </a:solidFill>
                <a:latin typeface="Arial" panose="020B0604020202020204"/>
                <a:ea typeface="微软雅黑" panose="020B0503020204020204" pitchFamily="34" charset="-122"/>
                <a:cs typeface="等线" panose="02010600030101010101" pitchFamily="2" charset="-122"/>
              </a:rPr>
              <a:t>产品技术规格书</a:t>
            </a:r>
            <a:endParaRPr kumimoji="0" lang="zh-CN" altLang="en-US" sz="1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sp>
        <p:nvSpPr>
          <p:cNvPr id="7" name="椭圆 6"/>
          <p:cNvSpPr/>
          <p:nvPr/>
        </p:nvSpPr>
        <p:spPr>
          <a:xfrm>
            <a:off x="6843590" y="4045528"/>
            <a:ext cx="914595" cy="844837"/>
          </a:xfrm>
          <a:prstGeom prst="ellipse">
            <a:avLst/>
          </a:prstGeom>
          <a:solidFill>
            <a:srgbClr val="FFBA55">
              <a:lumMod val="75000"/>
            </a:srgbClr>
          </a:solidFill>
          <a:ln w="12700" cap="flat" cmpd="sng" algn="ctr">
            <a:solidFill>
              <a:srgbClr val="F87D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工艺拆解特征项</a:t>
            </a:r>
            <a:endParaRPr kumimoji="0" lang="en-US" altLang="zh-CN"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sp>
        <p:nvSpPr>
          <p:cNvPr id="8" name="椭圆 7"/>
          <p:cNvSpPr/>
          <p:nvPr/>
        </p:nvSpPr>
        <p:spPr>
          <a:xfrm>
            <a:off x="3351961" y="5058002"/>
            <a:ext cx="914595" cy="844837"/>
          </a:xfrm>
          <a:prstGeom prst="ellipse">
            <a:avLst/>
          </a:prstGeom>
          <a:solidFill>
            <a:srgbClr val="FFBA55">
              <a:lumMod val="75000"/>
            </a:srgbClr>
          </a:solidFill>
          <a:ln w="12700" cap="flat" cmpd="sng" algn="ctr">
            <a:solidFill>
              <a:srgbClr val="F87D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工艺评估记录</a:t>
            </a:r>
            <a:endParaRPr kumimoji="0" lang="zh-CN" altLang="en-US" sz="1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sp>
        <p:nvSpPr>
          <p:cNvPr id="9" name="矩形 8"/>
          <p:cNvSpPr/>
          <p:nvPr/>
        </p:nvSpPr>
        <p:spPr>
          <a:xfrm>
            <a:off x="858012" y="2051008"/>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商机基本信息</a:t>
            </a:r>
            <a:endParaRPr lang="zh-CN" altLang="en-US" sz="1000" dirty="0">
              <a:solidFill>
                <a:schemeClr val="tx1"/>
              </a:solidFill>
            </a:endParaRPr>
          </a:p>
        </p:txBody>
      </p:sp>
      <p:sp>
        <p:nvSpPr>
          <p:cNvPr id="10" name="矩形 9"/>
          <p:cNvSpPr/>
          <p:nvPr/>
        </p:nvSpPr>
        <p:spPr>
          <a:xfrm>
            <a:off x="858012" y="2574322"/>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客户</a:t>
            </a:r>
            <a:r>
              <a:rPr lang="zh-CN" altLang="en-US" sz="1000" dirty="0" smtClean="0">
                <a:solidFill>
                  <a:schemeClr val="tx1"/>
                </a:solidFill>
              </a:rPr>
              <a:t>基本信息</a:t>
            </a:r>
            <a:endParaRPr lang="zh-CN" altLang="en-US" sz="1000" dirty="0">
              <a:solidFill>
                <a:schemeClr val="tx1"/>
              </a:solidFill>
            </a:endParaRPr>
          </a:p>
        </p:txBody>
      </p:sp>
      <p:sp>
        <p:nvSpPr>
          <p:cNvPr id="11" name="矩形 10"/>
          <p:cNvSpPr/>
          <p:nvPr/>
        </p:nvSpPr>
        <p:spPr>
          <a:xfrm>
            <a:off x="858012" y="3097636"/>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产品需求</a:t>
            </a:r>
            <a:r>
              <a:rPr lang="zh-CN" altLang="en-US" sz="1000" dirty="0" smtClean="0">
                <a:solidFill>
                  <a:schemeClr val="tx1"/>
                </a:solidFill>
              </a:rPr>
              <a:t>信息</a:t>
            </a:r>
            <a:endParaRPr lang="zh-CN" altLang="en-US" sz="1000" dirty="0">
              <a:solidFill>
                <a:schemeClr val="tx1"/>
              </a:solidFill>
            </a:endParaRPr>
          </a:p>
        </p:txBody>
      </p:sp>
      <p:cxnSp>
        <p:nvCxnSpPr>
          <p:cNvPr id="14" name="曲线连接符 13"/>
          <p:cNvCxnSpPr>
            <a:stCxn id="5" idx="2"/>
            <a:endCxn id="9" idx="3"/>
          </p:cNvCxnSpPr>
          <p:nvPr/>
        </p:nvCxnSpPr>
        <p:spPr>
          <a:xfrm rot="10800000">
            <a:off x="1607821" y="2213009"/>
            <a:ext cx="363641" cy="624211"/>
          </a:xfrm>
          <a:prstGeom prst="curvedConnector3">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5" idx="2"/>
            <a:endCxn id="10" idx="3"/>
          </p:cNvCxnSpPr>
          <p:nvPr/>
        </p:nvCxnSpPr>
        <p:spPr>
          <a:xfrm rot="10800000">
            <a:off x="1607821" y="2736323"/>
            <a:ext cx="363641" cy="100897"/>
          </a:xfrm>
          <a:prstGeom prst="curvedConnector3">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曲线连接符 17"/>
          <p:cNvCxnSpPr>
            <a:stCxn id="5" idx="2"/>
            <a:endCxn id="11" idx="3"/>
          </p:cNvCxnSpPr>
          <p:nvPr/>
        </p:nvCxnSpPr>
        <p:spPr>
          <a:xfrm rot="10800000" flipV="1">
            <a:off x="1607821" y="2837218"/>
            <a:ext cx="363641" cy="422417"/>
          </a:xfrm>
          <a:prstGeom prst="curvedConnector3">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0" name="曲线连接符 19"/>
          <p:cNvCxnSpPr>
            <a:stCxn id="5" idx="6"/>
            <a:endCxn id="6" idx="2"/>
          </p:cNvCxnSpPr>
          <p:nvPr/>
        </p:nvCxnSpPr>
        <p:spPr>
          <a:xfrm>
            <a:off x="2886056" y="2837219"/>
            <a:ext cx="2814535" cy="12700"/>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曲线连接符 23"/>
          <p:cNvCxnSpPr>
            <a:stCxn id="6" idx="3"/>
            <a:endCxn id="8" idx="6"/>
          </p:cNvCxnSpPr>
          <p:nvPr/>
        </p:nvCxnSpPr>
        <p:spPr>
          <a:xfrm rot="5400000">
            <a:off x="3878289" y="3524180"/>
            <a:ext cx="2344508" cy="1567974"/>
          </a:xfrm>
          <a:prstGeom prst="curvedConnector2">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3913882" y="2523286"/>
            <a:ext cx="534121" cy="294824"/>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N</a:t>
            </a:r>
            <a:endParaRPr lang="zh-CN" altLang="en-US" sz="1200" dirty="0">
              <a:sym typeface="+mn-ea"/>
            </a:endParaRPr>
          </a:p>
        </p:txBody>
      </p:sp>
      <p:sp>
        <p:nvSpPr>
          <p:cNvPr id="27" name="文本框 26"/>
          <p:cNvSpPr txBox="1"/>
          <p:nvPr/>
        </p:nvSpPr>
        <p:spPr>
          <a:xfrm>
            <a:off x="3962886" y="4595073"/>
            <a:ext cx="534121"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N</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28" name="矩形 27"/>
          <p:cNvSpPr/>
          <p:nvPr/>
        </p:nvSpPr>
        <p:spPr>
          <a:xfrm>
            <a:off x="4879467" y="1674693"/>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商机基本信息</a:t>
            </a:r>
            <a:endParaRPr lang="zh-CN" altLang="en-US" sz="1000" dirty="0">
              <a:solidFill>
                <a:schemeClr val="tx1"/>
              </a:solidFill>
            </a:endParaRPr>
          </a:p>
        </p:txBody>
      </p:sp>
      <p:sp>
        <p:nvSpPr>
          <p:cNvPr id="29" name="矩形 28"/>
          <p:cNvSpPr/>
          <p:nvPr/>
        </p:nvSpPr>
        <p:spPr>
          <a:xfrm>
            <a:off x="5882128" y="1674693"/>
            <a:ext cx="749808" cy="324000"/>
          </a:xfrm>
          <a:prstGeom prst="rect">
            <a:avLst/>
          </a:prstGeom>
          <a:solidFill>
            <a:schemeClr val="accent4">
              <a:lumMod val="20000"/>
              <a:lumOff val="80000"/>
            </a:schemeClr>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客户图纸</a:t>
            </a:r>
            <a:endParaRPr lang="zh-CN" altLang="en-US" sz="1000" dirty="0">
              <a:solidFill>
                <a:schemeClr val="tx1"/>
              </a:solidFill>
            </a:endParaRPr>
          </a:p>
        </p:txBody>
      </p:sp>
      <p:sp>
        <p:nvSpPr>
          <p:cNvPr id="30" name="矩形 29"/>
          <p:cNvSpPr/>
          <p:nvPr/>
        </p:nvSpPr>
        <p:spPr>
          <a:xfrm>
            <a:off x="6884789" y="1674693"/>
            <a:ext cx="749808" cy="324000"/>
          </a:xfrm>
          <a:prstGeom prst="rect">
            <a:avLst/>
          </a:prstGeom>
          <a:solidFill>
            <a:schemeClr val="accent4">
              <a:lumMod val="20000"/>
              <a:lumOff val="80000"/>
            </a:schemeClr>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支撑文件</a:t>
            </a:r>
            <a:endParaRPr lang="zh-CN" altLang="en-US" sz="1000" dirty="0">
              <a:solidFill>
                <a:schemeClr val="tx1"/>
              </a:solidFill>
            </a:endParaRPr>
          </a:p>
        </p:txBody>
      </p:sp>
      <p:sp>
        <p:nvSpPr>
          <p:cNvPr id="31" name="矩形 30"/>
          <p:cNvSpPr/>
          <p:nvPr/>
        </p:nvSpPr>
        <p:spPr>
          <a:xfrm>
            <a:off x="7873472" y="1674693"/>
            <a:ext cx="749808" cy="324000"/>
          </a:xfrm>
          <a:prstGeom prst="rect">
            <a:avLst/>
          </a:prstGeom>
          <a:solidFill>
            <a:schemeClr val="accent4">
              <a:lumMod val="20000"/>
              <a:lumOff val="80000"/>
            </a:schemeClr>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技术规格沟通记录</a:t>
            </a:r>
            <a:endParaRPr lang="zh-CN" altLang="en-US" sz="1000" dirty="0">
              <a:solidFill>
                <a:schemeClr val="tx1"/>
              </a:solidFill>
            </a:endParaRPr>
          </a:p>
        </p:txBody>
      </p:sp>
      <p:cxnSp>
        <p:nvCxnSpPr>
          <p:cNvPr id="32" name="曲线连接符 31"/>
          <p:cNvCxnSpPr>
            <a:stCxn id="6" idx="0"/>
            <a:endCxn id="28" idx="2"/>
          </p:cNvCxnSpPr>
          <p:nvPr/>
        </p:nvCxnSpPr>
        <p:spPr>
          <a:xfrm rot="16200000" flipV="1">
            <a:off x="5498077" y="1754988"/>
            <a:ext cx="416107" cy="903518"/>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曲线连接符 34"/>
          <p:cNvCxnSpPr>
            <a:stCxn id="6" idx="0"/>
            <a:endCxn id="29" idx="2"/>
          </p:cNvCxnSpPr>
          <p:nvPr/>
        </p:nvCxnSpPr>
        <p:spPr>
          <a:xfrm rot="5400000" flipH="1" flipV="1">
            <a:off x="5999407" y="2157176"/>
            <a:ext cx="416107" cy="99143"/>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 name="曲线连接符 38"/>
          <p:cNvCxnSpPr>
            <a:stCxn id="6" idx="0"/>
            <a:endCxn id="30" idx="2"/>
          </p:cNvCxnSpPr>
          <p:nvPr/>
        </p:nvCxnSpPr>
        <p:spPr>
          <a:xfrm rot="5400000" flipH="1" flipV="1">
            <a:off x="6500738" y="1655845"/>
            <a:ext cx="416107" cy="1101804"/>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2" name="曲线连接符 41"/>
          <p:cNvCxnSpPr>
            <a:stCxn id="6" idx="0"/>
            <a:endCxn id="31" idx="2"/>
          </p:cNvCxnSpPr>
          <p:nvPr/>
        </p:nvCxnSpPr>
        <p:spPr>
          <a:xfrm rot="5400000" flipH="1" flipV="1">
            <a:off x="6995079" y="1161504"/>
            <a:ext cx="416107" cy="2090487"/>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曲线连接符 45"/>
          <p:cNvCxnSpPr>
            <a:stCxn id="9" idx="0"/>
            <a:endCxn id="28" idx="0"/>
          </p:cNvCxnSpPr>
          <p:nvPr/>
        </p:nvCxnSpPr>
        <p:spPr>
          <a:xfrm rot="5400000" flipH="1" flipV="1">
            <a:off x="3055486" y="-147876"/>
            <a:ext cx="376315" cy="4021455"/>
          </a:xfrm>
          <a:prstGeom prst="curvedConnector3">
            <a:avLst>
              <a:gd name="adj1" fmla="val 160747"/>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2886056" y="1490607"/>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48" name="矩形 47"/>
          <p:cNvSpPr/>
          <p:nvPr/>
        </p:nvSpPr>
        <p:spPr>
          <a:xfrm>
            <a:off x="5598118" y="5264740"/>
            <a:ext cx="749808" cy="324000"/>
          </a:xfrm>
          <a:prstGeom prst="rect">
            <a:avLst/>
          </a:prstGeom>
          <a:solidFill>
            <a:schemeClr val="accent4">
              <a:lumMod val="20000"/>
              <a:lumOff val="80000"/>
            </a:schemeClr>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零部件拆解结果</a:t>
            </a:r>
            <a:endParaRPr lang="zh-CN" altLang="en-US" sz="1000" dirty="0">
              <a:solidFill>
                <a:schemeClr val="tx1"/>
              </a:solidFill>
            </a:endParaRPr>
          </a:p>
        </p:txBody>
      </p:sp>
      <p:sp>
        <p:nvSpPr>
          <p:cNvPr id="49" name="矩形 48"/>
          <p:cNvSpPr/>
          <p:nvPr/>
        </p:nvSpPr>
        <p:spPr>
          <a:xfrm>
            <a:off x="7382770" y="5117836"/>
            <a:ext cx="749808" cy="324000"/>
          </a:xfrm>
          <a:prstGeom prst="rect">
            <a:avLst/>
          </a:prstGeom>
          <a:solidFill>
            <a:schemeClr val="accent4">
              <a:lumMod val="20000"/>
              <a:lumOff val="80000"/>
            </a:schemeClr>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拆</a:t>
            </a:r>
            <a:r>
              <a:rPr lang="zh-CN" altLang="en-US" sz="1000" dirty="0" smtClean="0"/>
              <a:t>解关键参数</a:t>
            </a:r>
            <a:endParaRPr lang="zh-CN" altLang="en-US" sz="1000" dirty="0">
              <a:solidFill>
                <a:schemeClr val="tx1"/>
              </a:solidFill>
            </a:endParaRPr>
          </a:p>
        </p:txBody>
      </p:sp>
      <p:cxnSp>
        <p:nvCxnSpPr>
          <p:cNvPr id="50" name="曲线连接符 49"/>
          <p:cNvCxnSpPr>
            <a:stCxn id="7" idx="4"/>
            <a:endCxn id="48" idx="0"/>
          </p:cNvCxnSpPr>
          <p:nvPr/>
        </p:nvCxnSpPr>
        <p:spPr>
          <a:xfrm rot="5400000">
            <a:off x="6449768" y="4413619"/>
            <a:ext cx="374375" cy="1327866"/>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 name="曲线连接符 52"/>
          <p:cNvCxnSpPr>
            <a:stCxn id="7" idx="4"/>
            <a:endCxn id="49" idx="0"/>
          </p:cNvCxnSpPr>
          <p:nvPr/>
        </p:nvCxnSpPr>
        <p:spPr>
          <a:xfrm rot="16200000" flipH="1">
            <a:off x="7415546" y="4775707"/>
            <a:ext cx="227471" cy="456786"/>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9582120" y="2414800"/>
            <a:ext cx="914595" cy="844837"/>
          </a:xfrm>
          <a:prstGeom prst="ellipse">
            <a:avLst/>
          </a:prstGeom>
          <a:solidFill>
            <a:schemeClr val="bg1">
              <a:lumMod val="6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200" kern="0" noProof="0" dirty="0" smtClean="0">
                <a:solidFill>
                  <a:srgbClr val="000000"/>
                </a:solidFill>
                <a:latin typeface="Arial" panose="020B0604020202020204"/>
                <a:ea typeface="微软雅黑" panose="020B0503020204020204" pitchFamily="34" charset="-122"/>
                <a:cs typeface="等线" panose="02010600030101010101" pitchFamily="2" charset="-122"/>
              </a:rPr>
              <a:t>标准工艺平台</a:t>
            </a:r>
            <a:endParaRPr kumimoji="0" lang="en-US" altLang="zh-CN"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sp>
        <p:nvSpPr>
          <p:cNvPr id="57" name="椭圆 56"/>
          <p:cNvSpPr/>
          <p:nvPr/>
        </p:nvSpPr>
        <p:spPr>
          <a:xfrm>
            <a:off x="9582119" y="4540828"/>
            <a:ext cx="914595" cy="844837"/>
          </a:xfrm>
          <a:prstGeom prst="ellipse">
            <a:avLst/>
          </a:prstGeom>
          <a:solidFill>
            <a:schemeClr val="bg1">
              <a:lumMod val="6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工艺平台能力档案</a:t>
            </a:r>
            <a:endParaRPr kumimoji="0" lang="en-US" altLang="zh-CN"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cxnSp>
        <p:nvCxnSpPr>
          <p:cNvPr id="59" name="直接箭头连接符 58"/>
          <p:cNvCxnSpPr>
            <a:stCxn id="57" idx="0"/>
            <a:endCxn id="56" idx="4"/>
          </p:cNvCxnSpPr>
          <p:nvPr/>
        </p:nvCxnSpPr>
        <p:spPr>
          <a:xfrm flipV="1">
            <a:off x="10039417" y="3259637"/>
            <a:ext cx="1" cy="1281191"/>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10154616" y="3838545"/>
            <a:ext cx="534121" cy="294824"/>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N</a:t>
            </a:r>
            <a:r>
              <a:rPr lang="zh-CN" altLang="en-US" sz="1200" dirty="0" smtClean="0">
                <a:sym typeface="+mn-ea"/>
              </a:rPr>
              <a:t>：</a:t>
            </a:r>
            <a:r>
              <a:rPr lang="en-US" altLang="zh-CN" sz="1200" dirty="0" smtClean="0">
                <a:sym typeface="+mn-ea"/>
              </a:rPr>
              <a:t>1</a:t>
            </a:r>
            <a:endParaRPr lang="zh-CN" altLang="en-US" sz="1200" dirty="0">
              <a:sym typeface="+mn-ea"/>
            </a:endParaRPr>
          </a:p>
        </p:txBody>
      </p:sp>
      <p:cxnSp>
        <p:nvCxnSpPr>
          <p:cNvPr id="62" name="直接箭头连接符 61"/>
          <p:cNvCxnSpPr>
            <a:stCxn id="6" idx="6"/>
            <a:endCxn id="56" idx="2"/>
          </p:cNvCxnSpPr>
          <p:nvPr/>
        </p:nvCxnSpPr>
        <p:spPr>
          <a:xfrm>
            <a:off x="6615186" y="2837219"/>
            <a:ext cx="2966934" cy="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7950797" y="2574322"/>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69" name="文本框 68"/>
          <p:cNvSpPr txBox="1"/>
          <p:nvPr/>
        </p:nvSpPr>
        <p:spPr>
          <a:xfrm>
            <a:off x="8539963" y="4313358"/>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70" name="矩形 69"/>
          <p:cNvSpPr/>
          <p:nvPr/>
        </p:nvSpPr>
        <p:spPr>
          <a:xfrm>
            <a:off x="2217294" y="4955836"/>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技术规格信息</a:t>
            </a:r>
            <a:endParaRPr lang="zh-CN" altLang="en-US" sz="1000" dirty="0">
              <a:solidFill>
                <a:schemeClr val="tx1"/>
              </a:solidFill>
            </a:endParaRPr>
          </a:p>
        </p:txBody>
      </p:sp>
      <p:sp>
        <p:nvSpPr>
          <p:cNvPr id="71" name="矩形 70"/>
          <p:cNvSpPr/>
          <p:nvPr/>
        </p:nvSpPr>
        <p:spPr>
          <a:xfrm>
            <a:off x="2226812" y="5883542"/>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评估记录</a:t>
            </a:r>
            <a:endParaRPr lang="en-US" altLang="zh-CN" sz="1000" dirty="0" smtClean="0"/>
          </a:p>
        </p:txBody>
      </p:sp>
      <p:cxnSp>
        <p:nvCxnSpPr>
          <p:cNvPr id="74" name="曲线连接符 73"/>
          <p:cNvCxnSpPr>
            <a:stCxn id="8" idx="2"/>
            <a:endCxn id="70" idx="3"/>
          </p:cNvCxnSpPr>
          <p:nvPr/>
        </p:nvCxnSpPr>
        <p:spPr>
          <a:xfrm rot="10800000">
            <a:off x="2967103" y="5117837"/>
            <a:ext cx="384859" cy="362585"/>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6" name="曲线连接符 75"/>
          <p:cNvCxnSpPr>
            <a:stCxn id="8" idx="2"/>
            <a:endCxn id="71" idx="0"/>
          </p:cNvCxnSpPr>
          <p:nvPr/>
        </p:nvCxnSpPr>
        <p:spPr>
          <a:xfrm rot="10800000" flipV="1">
            <a:off x="2601717" y="5480420"/>
            <a:ext cx="750245" cy="403121"/>
          </a:xfrm>
          <a:prstGeom prst="curvedConnector2">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8" name="曲线连接符 77"/>
          <p:cNvCxnSpPr>
            <a:stCxn id="99" idx="2"/>
            <a:endCxn id="71" idx="2"/>
          </p:cNvCxnSpPr>
          <p:nvPr/>
        </p:nvCxnSpPr>
        <p:spPr>
          <a:xfrm rot="5400000" flipH="1">
            <a:off x="4021507" y="4787752"/>
            <a:ext cx="259293" cy="3098875"/>
          </a:xfrm>
          <a:prstGeom prst="curvedConnector3">
            <a:avLst>
              <a:gd name="adj1" fmla="val -8816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1622562" y="3469019"/>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82" name="矩形 81"/>
          <p:cNvSpPr/>
          <p:nvPr/>
        </p:nvSpPr>
        <p:spPr>
          <a:xfrm>
            <a:off x="9427466" y="564298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实际</a:t>
            </a:r>
            <a:r>
              <a:rPr lang="zh-CN" altLang="en-US" sz="1000" dirty="0" smtClean="0"/>
              <a:t>拆解参数</a:t>
            </a:r>
            <a:endParaRPr lang="zh-CN" altLang="en-US" sz="1000" dirty="0">
              <a:solidFill>
                <a:schemeClr val="tx1"/>
              </a:solidFill>
            </a:endParaRPr>
          </a:p>
        </p:txBody>
      </p:sp>
      <p:sp>
        <p:nvSpPr>
          <p:cNvPr id="83" name="矩形 82"/>
          <p:cNvSpPr/>
          <p:nvPr/>
        </p:nvSpPr>
        <p:spPr>
          <a:xfrm>
            <a:off x="10421676" y="564298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工艺模块</a:t>
            </a:r>
            <a:endParaRPr lang="zh-CN" altLang="en-US" sz="1000" dirty="0">
              <a:solidFill>
                <a:schemeClr val="tx1"/>
              </a:solidFill>
            </a:endParaRPr>
          </a:p>
        </p:txBody>
      </p:sp>
      <p:cxnSp>
        <p:nvCxnSpPr>
          <p:cNvPr id="85" name="曲线连接符 84"/>
          <p:cNvCxnSpPr>
            <a:stCxn id="82" idx="1"/>
            <a:endCxn id="49" idx="3"/>
          </p:cNvCxnSpPr>
          <p:nvPr/>
        </p:nvCxnSpPr>
        <p:spPr>
          <a:xfrm rot="10800000">
            <a:off x="8132578" y="5279836"/>
            <a:ext cx="1294888" cy="525148"/>
          </a:xfrm>
          <a:prstGeom prst="curvedConnector3">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8131961" y="5537817"/>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cxnSp>
        <p:nvCxnSpPr>
          <p:cNvPr id="87" name="曲线连接符 86"/>
          <p:cNvCxnSpPr>
            <a:stCxn id="82" idx="0"/>
            <a:endCxn id="57" idx="4"/>
          </p:cNvCxnSpPr>
          <p:nvPr/>
        </p:nvCxnSpPr>
        <p:spPr>
          <a:xfrm rot="5400000" flipH="1" flipV="1">
            <a:off x="9792234" y="5395802"/>
            <a:ext cx="257319" cy="237047"/>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0" name="曲线连接符 89"/>
          <p:cNvCxnSpPr>
            <a:stCxn id="83" idx="0"/>
            <a:endCxn id="57" idx="4"/>
          </p:cNvCxnSpPr>
          <p:nvPr/>
        </p:nvCxnSpPr>
        <p:spPr>
          <a:xfrm rot="16200000" flipV="1">
            <a:off x="10289340" y="5135743"/>
            <a:ext cx="257319" cy="757163"/>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2549905" y="3715901"/>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商机信息</a:t>
            </a:r>
            <a:endParaRPr lang="zh-CN" altLang="en-US" sz="1000" dirty="0">
              <a:solidFill>
                <a:schemeClr val="tx1"/>
              </a:solidFill>
            </a:endParaRPr>
          </a:p>
        </p:txBody>
      </p:sp>
      <p:cxnSp>
        <p:nvCxnSpPr>
          <p:cNvPr id="95" name="曲线连接符 94"/>
          <p:cNvCxnSpPr>
            <a:stCxn id="7" idx="2"/>
            <a:endCxn id="8" idx="6"/>
          </p:cNvCxnSpPr>
          <p:nvPr/>
        </p:nvCxnSpPr>
        <p:spPr>
          <a:xfrm rot="10800000" flipV="1">
            <a:off x="4266556" y="4467947"/>
            <a:ext cx="2577034" cy="1012474"/>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矩形 98"/>
          <p:cNvSpPr/>
          <p:nvPr/>
        </p:nvSpPr>
        <p:spPr>
          <a:xfrm>
            <a:off x="5325687" y="6142835"/>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拆解评估结果</a:t>
            </a:r>
            <a:endParaRPr lang="zh-CN" altLang="en-US" sz="1000" dirty="0">
              <a:solidFill>
                <a:schemeClr val="tx1"/>
              </a:solidFill>
            </a:endParaRPr>
          </a:p>
        </p:txBody>
      </p:sp>
      <p:sp>
        <p:nvSpPr>
          <p:cNvPr id="101" name="矩形 100"/>
          <p:cNvSpPr/>
          <p:nvPr/>
        </p:nvSpPr>
        <p:spPr>
          <a:xfrm>
            <a:off x="7164959" y="5883542"/>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工艺模块</a:t>
            </a:r>
            <a:endParaRPr lang="zh-CN" altLang="en-US" sz="1000" dirty="0">
              <a:solidFill>
                <a:schemeClr val="tx1"/>
              </a:solidFill>
            </a:endParaRPr>
          </a:p>
        </p:txBody>
      </p:sp>
      <p:sp>
        <p:nvSpPr>
          <p:cNvPr id="102" name="矩形 101"/>
          <p:cNvSpPr/>
          <p:nvPr/>
        </p:nvSpPr>
        <p:spPr>
          <a:xfrm>
            <a:off x="7987122" y="5882983"/>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拆解参数</a:t>
            </a:r>
            <a:endParaRPr lang="zh-CN" altLang="en-US" sz="1000" dirty="0">
              <a:solidFill>
                <a:schemeClr val="tx1"/>
              </a:solidFill>
            </a:endParaRPr>
          </a:p>
        </p:txBody>
      </p:sp>
      <p:cxnSp>
        <p:nvCxnSpPr>
          <p:cNvPr id="103" name="曲线连接符 102"/>
          <p:cNvCxnSpPr>
            <a:stCxn id="101" idx="0"/>
            <a:endCxn id="49" idx="2"/>
          </p:cNvCxnSpPr>
          <p:nvPr/>
        </p:nvCxnSpPr>
        <p:spPr>
          <a:xfrm rot="5400000" flipH="1" flipV="1">
            <a:off x="7427915" y="5553784"/>
            <a:ext cx="441706" cy="217811"/>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06" name="曲线连接符 105"/>
          <p:cNvCxnSpPr>
            <a:stCxn id="102" idx="0"/>
            <a:endCxn id="49" idx="2"/>
          </p:cNvCxnSpPr>
          <p:nvPr/>
        </p:nvCxnSpPr>
        <p:spPr>
          <a:xfrm rot="16200000" flipV="1">
            <a:off x="7839277" y="5360234"/>
            <a:ext cx="441147" cy="604352"/>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0" name="曲线连接符 109"/>
          <p:cNvCxnSpPr>
            <a:stCxn id="83" idx="2"/>
            <a:endCxn id="101" idx="2"/>
          </p:cNvCxnSpPr>
          <p:nvPr/>
        </p:nvCxnSpPr>
        <p:spPr>
          <a:xfrm rot="5400000">
            <a:off x="9047943" y="4458905"/>
            <a:ext cx="240558" cy="3256717"/>
          </a:xfrm>
          <a:prstGeom prst="curvedConnector3">
            <a:avLst>
              <a:gd name="adj1" fmla="val 195029"/>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曲线连接符 111"/>
          <p:cNvCxnSpPr>
            <a:stCxn id="82" idx="2"/>
            <a:endCxn id="102" idx="3"/>
          </p:cNvCxnSpPr>
          <p:nvPr/>
        </p:nvCxnSpPr>
        <p:spPr>
          <a:xfrm rot="5400000">
            <a:off x="9230651" y="5473263"/>
            <a:ext cx="77999" cy="1065440"/>
          </a:xfrm>
          <a:prstGeom prst="curvedConnector2">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文本框 115"/>
          <p:cNvSpPr txBox="1"/>
          <p:nvPr/>
        </p:nvSpPr>
        <p:spPr>
          <a:xfrm>
            <a:off x="9541153" y="6134739"/>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117" name="文本框 116"/>
          <p:cNvSpPr txBox="1"/>
          <p:nvPr/>
        </p:nvSpPr>
        <p:spPr>
          <a:xfrm>
            <a:off x="8794200" y="5815052"/>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118" name="矩形 117"/>
          <p:cNvSpPr/>
          <p:nvPr/>
        </p:nvSpPr>
        <p:spPr>
          <a:xfrm>
            <a:off x="4407814" y="6132767"/>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零部件</a:t>
            </a:r>
            <a:endParaRPr lang="en-US" altLang="zh-CN" sz="1000" dirty="0" smtClean="0"/>
          </a:p>
          <a:p>
            <a:pPr algn="ctr"/>
            <a:r>
              <a:rPr lang="zh-CN" altLang="en-US" sz="1000" dirty="0" smtClean="0"/>
              <a:t>结构</a:t>
            </a:r>
            <a:endParaRPr lang="zh-CN" altLang="en-US" sz="1000" dirty="0">
              <a:solidFill>
                <a:schemeClr val="tx1"/>
              </a:solidFill>
            </a:endParaRPr>
          </a:p>
        </p:txBody>
      </p:sp>
      <p:sp>
        <p:nvSpPr>
          <p:cNvPr id="119" name="矩形 118"/>
          <p:cNvSpPr/>
          <p:nvPr/>
        </p:nvSpPr>
        <p:spPr>
          <a:xfrm>
            <a:off x="10821726" y="1674693"/>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工艺平台类型</a:t>
            </a:r>
            <a:endParaRPr lang="zh-CN" altLang="en-US" sz="1000" dirty="0">
              <a:solidFill>
                <a:schemeClr val="tx1"/>
              </a:solidFill>
            </a:endParaRPr>
          </a:p>
        </p:txBody>
      </p:sp>
      <p:sp>
        <p:nvSpPr>
          <p:cNvPr id="120" name="矩形 119"/>
          <p:cNvSpPr/>
          <p:nvPr/>
        </p:nvSpPr>
        <p:spPr>
          <a:xfrm>
            <a:off x="10821726" y="2090800"/>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工艺结构</a:t>
            </a:r>
            <a:endParaRPr lang="zh-CN" altLang="en-US" sz="1000" dirty="0">
              <a:solidFill>
                <a:schemeClr val="tx1"/>
              </a:solidFill>
            </a:endParaRPr>
          </a:p>
        </p:txBody>
      </p:sp>
      <p:sp>
        <p:nvSpPr>
          <p:cNvPr id="121" name="矩形 120"/>
          <p:cNvSpPr/>
          <p:nvPr/>
        </p:nvSpPr>
        <p:spPr>
          <a:xfrm>
            <a:off x="10821726" y="2499748"/>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工艺能力</a:t>
            </a:r>
            <a:endParaRPr lang="zh-CN" altLang="en-US" sz="1000" dirty="0">
              <a:solidFill>
                <a:schemeClr val="tx1"/>
              </a:solidFill>
            </a:endParaRPr>
          </a:p>
        </p:txBody>
      </p:sp>
      <p:sp>
        <p:nvSpPr>
          <p:cNvPr id="122" name="矩形 121"/>
          <p:cNvSpPr/>
          <p:nvPr/>
        </p:nvSpPr>
        <p:spPr>
          <a:xfrm>
            <a:off x="10821726" y="2928937"/>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产能水平</a:t>
            </a:r>
            <a:endParaRPr lang="zh-CN" altLang="en-US" sz="1000" dirty="0">
              <a:solidFill>
                <a:schemeClr val="tx1"/>
              </a:solidFill>
            </a:endParaRPr>
          </a:p>
        </p:txBody>
      </p:sp>
      <p:sp>
        <p:nvSpPr>
          <p:cNvPr id="123" name="矩形 122"/>
          <p:cNvSpPr/>
          <p:nvPr/>
        </p:nvSpPr>
        <p:spPr>
          <a:xfrm>
            <a:off x="4879467"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图纸</a:t>
            </a:r>
            <a:r>
              <a:rPr lang="zh-CN" altLang="en-US" sz="1000" dirty="0"/>
              <a:t>编号</a:t>
            </a:r>
            <a:endParaRPr lang="zh-CN" altLang="en-US" sz="1000" dirty="0">
              <a:solidFill>
                <a:schemeClr val="tx1"/>
              </a:solidFill>
            </a:endParaRPr>
          </a:p>
        </p:txBody>
      </p:sp>
      <p:sp>
        <p:nvSpPr>
          <p:cNvPr id="124" name="矩形 123"/>
          <p:cNvSpPr/>
          <p:nvPr/>
        </p:nvSpPr>
        <p:spPr>
          <a:xfrm>
            <a:off x="5672578"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solidFill>
                  <a:schemeClr val="tx1"/>
                </a:solidFill>
              </a:rPr>
              <a:t>图纸类型</a:t>
            </a:r>
            <a:endParaRPr lang="zh-CN" altLang="en-US" sz="1000" dirty="0">
              <a:solidFill>
                <a:schemeClr val="tx1"/>
              </a:solidFill>
            </a:endParaRPr>
          </a:p>
        </p:txBody>
      </p:sp>
      <p:sp>
        <p:nvSpPr>
          <p:cNvPr id="125" name="矩形 124"/>
          <p:cNvSpPr/>
          <p:nvPr/>
        </p:nvSpPr>
        <p:spPr>
          <a:xfrm>
            <a:off x="6470761"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图纸接收时间</a:t>
            </a:r>
            <a:endParaRPr lang="zh-CN" altLang="en-US" sz="1000" dirty="0">
              <a:solidFill>
                <a:schemeClr val="tx1"/>
              </a:solidFill>
            </a:endParaRPr>
          </a:p>
        </p:txBody>
      </p:sp>
      <p:sp>
        <p:nvSpPr>
          <p:cNvPr id="126" name="矩形 125"/>
          <p:cNvSpPr/>
          <p:nvPr/>
        </p:nvSpPr>
        <p:spPr>
          <a:xfrm>
            <a:off x="7421734"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文件</a:t>
            </a:r>
            <a:r>
              <a:rPr lang="zh-CN" altLang="en-US" sz="1000" dirty="0" smtClean="0"/>
              <a:t>编号</a:t>
            </a:r>
            <a:endParaRPr lang="zh-CN" altLang="en-US" sz="1000" dirty="0">
              <a:solidFill>
                <a:schemeClr val="tx1"/>
              </a:solidFill>
            </a:endParaRPr>
          </a:p>
        </p:txBody>
      </p:sp>
      <p:sp>
        <p:nvSpPr>
          <p:cNvPr id="127" name="矩形 126"/>
          <p:cNvSpPr/>
          <p:nvPr/>
        </p:nvSpPr>
        <p:spPr>
          <a:xfrm>
            <a:off x="8214845"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文件</a:t>
            </a:r>
            <a:r>
              <a:rPr lang="zh-CN" altLang="en-US" sz="1000" dirty="0" smtClean="0">
                <a:solidFill>
                  <a:schemeClr val="tx1"/>
                </a:solidFill>
              </a:rPr>
              <a:t>类型</a:t>
            </a:r>
            <a:endParaRPr lang="zh-CN" altLang="en-US" sz="1000" dirty="0">
              <a:solidFill>
                <a:schemeClr val="tx1"/>
              </a:solidFill>
            </a:endParaRPr>
          </a:p>
        </p:txBody>
      </p:sp>
      <p:sp>
        <p:nvSpPr>
          <p:cNvPr id="128" name="矩形 127"/>
          <p:cNvSpPr/>
          <p:nvPr/>
        </p:nvSpPr>
        <p:spPr>
          <a:xfrm>
            <a:off x="9013028" y="1064864"/>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文件</a:t>
            </a:r>
            <a:r>
              <a:rPr lang="zh-CN" altLang="en-US" sz="1000" dirty="0" smtClean="0"/>
              <a:t>接收时间</a:t>
            </a:r>
            <a:endParaRPr lang="zh-CN" altLang="en-US" sz="1000" dirty="0">
              <a:solidFill>
                <a:schemeClr val="tx1"/>
              </a:solidFill>
            </a:endParaRPr>
          </a:p>
        </p:txBody>
      </p:sp>
      <p:cxnSp>
        <p:nvCxnSpPr>
          <p:cNvPr id="129" name="曲线连接符 128"/>
          <p:cNvCxnSpPr>
            <a:stCxn id="29" idx="0"/>
            <a:endCxn id="123" idx="2"/>
          </p:cNvCxnSpPr>
          <p:nvPr/>
        </p:nvCxnSpPr>
        <p:spPr>
          <a:xfrm rot="16200000" flipV="1">
            <a:off x="5612788" y="1030448"/>
            <a:ext cx="285829" cy="1002661"/>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2" name="曲线连接符 131"/>
          <p:cNvCxnSpPr>
            <a:stCxn id="29" idx="0"/>
            <a:endCxn id="124" idx="2"/>
          </p:cNvCxnSpPr>
          <p:nvPr/>
        </p:nvCxnSpPr>
        <p:spPr>
          <a:xfrm rot="16200000" flipV="1">
            <a:off x="6009343" y="1427004"/>
            <a:ext cx="285829" cy="209550"/>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5" name="曲线连接符 134"/>
          <p:cNvCxnSpPr>
            <a:stCxn id="29" idx="0"/>
            <a:endCxn id="125" idx="2"/>
          </p:cNvCxnSpPr>
          <p:nvPr/>
        </p:nvCxnSpPr>
        <p:spPr>
          <a:xfrm rot="5400000" flipH="1" flipV="1">
            <a:off x="6408434" y="1237463"/>
            <a:ext cx="285829" cy="588633"/>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8" name="曲线连接符 137"/>
          <p:cNvCxnSpPr>
            <a:stCxn id="30" idx="0"/>
            <a:endCxn id="126" idx="2"/>
          </p:cNvCxnSpPr>
          <p:nvPr/>
        </p:nvCxnSpPr>
        <p:spPr>
          <a:xfrm rot="5400000" flipH="1" flipV="1">
            <a:off x="7385251" y="1263307"/>
            <a:ext cx="285829" cy="536945"/>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1" name="曲线连接符 140"/>
          <p:cNvCxnSpPr>
            <a:stCxn id="30" idx="0"/>
            <a:endCxn id="127" idx="2"/>
          </p:cNvCxnSpPr>
          <p:nvPr/>
        </p:nvCxnSpPr>
        <p:spPr>
          <a:xfrm rot="5400000" flipH="1" flipV="1">
            <a:off x="7781807" y="866751"/>
            <a:ext cx="285829" cy="1330056"/>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4" name="曲线连接符 143"/>
          <p:cNvCxnSpPr>
            <a:stCxn id="30" idx="0"/>
            <a:endCxn id="128" idx="2"/>
          </p:cNvCxnSpPr>
          <p:nvPr/>
        </p:nvCxnSpPr>
        <p:spPr>
          <a:xfrm rot="5400000" flipH="1" flipV="1">
            <a:off x="8180898" y="467660"/>
            <a:ext cx="285829" cy="2128239"/>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sp>
        <p:nvSpPr>
          <p:cNvPr id="147" name="椭圆 146"/>
          <p:cNvSpPr/>
          <p:nvPr/>
        </p:nvSpPr>
        <p:spPr>
          <a:xfrm>
            <a:off x="3469486" y="3430361"/>
            <a:ext cx="914595" cy="844837"/>
          </a:xfrm>
          <a:prstGeom prst="ellipse">
            <a:avLst/>
          </a:prstGeom>
          <a:solidFill>
            <a:srgbClr val="FFBA55">
              <a:lumMod val="75000"/>
            </a:srgbClr>
          </a:solidFill>
          <a:ln w="12700" cap="flat" cmpd="sng" algn="ctr">
            <a:solidFill>
              <a:srgbClr val="F87D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rPr>
              <a:t>工艺评估</a:t>
            </a:r>
            <a:r>
              <a:rPr lang="zh-CN" altLang="en-US" sz="1200" kern="0" dirty="0" smtClean="0">
                <a:solidFill>
                  <a:srgbClr val="000000"/>
                </a:solidFill>
                <a:latin typeface="Arial" panose="020B0604020202020204"/>
                <a:ea typeface="微软雅黑" panose="020B0503020204020204" pitchFamily="34" charset="-122"/>
                <a:cs typeface="等线" panose="02010600030101010101" pitchFamily="2" charset="-122"/>
              </a:rPr>
              <a:t>结论单</a:t>
            </a:r>
            <a:endParaRPr kumimoji="0" lang="zh-CN" altLang="en-US" sz="1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等线" panose="02010600030101010101" pitchFamily="2" charset="-122"/>
            </a:endParaRPr>
          </a:p>
        </p:txBody>
      </p:sp>
      <p:cxnSp>
        <p:nvCxnSpPr>
          <p:cNvPr id="149" name="直接箭头连接符 148"/>
          <p:cNvCxnSpPr>
            <a:stCxn id="8" idx="0"/>
            <a:endCxn id="147" idx="4"/>
          </p:cNvCxnSpPr>
          <p:nvPr/>
        </p:nvCxnSpPr>
        <p:spPr>
          <a:xfrm flipV="1">
            <a:off x="3809259" y="4275198"/>
            <a:ext cx="117525" cy="782804"/>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曲线连接符 151"/>
          <p:cNvCxnSpPr>
            <a:stCxn id="147" idx="2"/>
            <a:endCxn id="93" idx="3"/>
          </p:cNvCxnSpPr>
          <p:nvPr/>
        </p:nvCxnSpPr>
        <p:spPr>
          <a:xfrm rot="10800000" flipV="1">
            <a:off x="3299714" y="3852779"/>
            <a:ext cx="169773" cy="25121"/>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2549792" y="4133369"/>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smtClean="0"/>
              <a:t>评估结论</a:t>
            </a:r>
            <a:endParaRPr lang="zh-CN" altLang="en-US" sz="1000" dirty="0">
              <a:solidFill>
                <a:schemeClr val="tx1"/>
              </a:solidFill>
            </a:endParaRPr>
          </a:p>
        </p:txBody>
      </p:sp>
      <p:cxnSp>
        <p:nvCxnSpPr>
          <p:cNvPr id="154" name="曲线连接符 153"/>
          <p:cNvCxnSpPr>
            <a:stCxn id="147" idx="2"/>
            <a:endCxn id="153" idx="3"/>
          </p:cNvCxnSpPr>
          <p:nvPr/>
        </p:nvCxnSpPr>
        <p:spPr>
          <a:xfrm rot="10800000" flipV="1">
            <a:off x="3299600" y="3852779"/>
            <a:ext cx="169886" cy="442589"/>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a:stCxn id="147" idx="1"/>
            <a:endCxn id="5" idx="5"/>
          </p:cNvCxnSpPr>
          <p:nvPr/>
        </p:nvCxnSpPr>
        <p:spPr>
          <a:xfrm flipH="1" flipV="1">
            <a:off x="2752117" y="3135913"/>
            <a:ext cx="851308" cy="418172"/>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0" name="文本框 159"/>
          <p:cNvSpPr txBox="1"/>
          <p:nvPr/>
        </p:nvSpPr>
        <p:spPr>
          <a:xfrm>
            <a:off x="3134018" y="3052036"/>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cxnSp>
        <p:nvCxnSpPr>
          <p:cNvPr id="162" name="曲线连接符 161"/>
          <p:cNvCxnSpPr>
            <a:stCxn id="9" idx="1"/>
            <a:endCxn id="93" idx="1"/>
          </p:cNvCxnSpPr>
          <p:nvPr/>
        </p:nvCxnSpPr>
        <p:spPr>
          <a:xfrm rot="10800000" flipH="1" flipV="1">
            <a:off x="858011" y="2213007"/>
            <a:ext cx="1691893" cy="1664893"/>
          </a:xfrm>
          <a:prstGeom prst="curvedConnector3">
            <a:avLst>
              <a:gd name="adj1" fmla="val -28148"/>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曲线连接符 162"/>
          <p:cNvCxnSpPr>
            <a:stCxn id="56" idx="6"/>
            <a:endCxn id="119" idx="1"/>
          </p:cNvCxnSpPr>
          <p:nvPr/>
        </p:nvCxnSpPr>
        <p:spPr>
          <a:xfrm flipV="1">
            <a:off x="10496715" y="1836693"/>
            <a:ext cx="325011" cy="1000526"/>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6" name="曲线连接符 165"/>
          <p:cNvCxnSpPr>
            <a:stCxn id="56" idx="6"/>
            <a:endCxn id="120" idx="1"/>
          </p:cNvCxnSpPr>
          <p:nvPr/>
        </p:nvCxnSpPr>
        <p:spPr>
          <a:xfrm flipV="1">
            <a:off x="10496715" y="2252800"/>
            <a:ext cx="325011" cy="584419"/>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9" name="曲线连接符 168"/>
          <p:cNvCxnSpPr>
            <a:stCxn id="56" idx="6"/>
            <a:endCxn id="121" idx="1"/>
          </p:cNvCxnSpPr>
          <p:nvPr/>
        </p:nvCxnSpPr>
        <p:spPr>
          <a:xfrm flipV="1">
            <a:off x="10496715" y="2661748"/>
            <a:ext cx="325011" cy="175471"/>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2" name="曲线连接符 171"/>
          <p:cNvCxnSpPr>
            <a:stCxn id="56" idx="6"/>
            <a:endCxn id="122" idx="1"/>
          </p:cNvCxnSpPr>
          <p:nvPr/>
        </p:nvCxnSpPr>
        <p:spPr>
          <a:xfrm>
            <a:off x="10496715" y="2837219"/>
            <a:ext cx="325011" cy="253718"/>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5" name="曲线连接符 174"/>
          <p:cNvCxnSpPr>
            <a:stCxn id="6" idx="4"/>
            <a:endCxn id="7" idx="0"/>
          </p:cNvCxnSpPr>
          <p:nvPr/>
        </p:nvCxnSpPr>
        <p:spPr>
          <a:xfrm rot="16200000" flipH="1">
            <a:off x="6336443" y="3081082"/>
            <a:ext cx="785891" cy="1142999"/>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154080" y="3776704"/>
            <a:ext cx="534121" cy="294824"/>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N</a:t>
            </a:r>
            <a:endParaRPr lang="zh-CN" altLang="en-US" sz="1200" dirty="0">
              <a:sym typeface="+mn-ea"/>
            </a:endParaRPr>
          </a:p>
        </p:txBody>
      </p:sp>
      <p:cxnSp>
        <p:nvCxnSpPr>
          <p:cNvPr id="181" name="曲线连接符 180"/>
          <p:cNvCxnSpPr>
            <a:stCxn id="7" idx="6"/>
            <a:endCxn id="57" idx="2"/>
          </p:cNvCxnSpPr>
          <p:nvPr/>
        </p:nvCxnSpPr>
        <p:spPr>
          <a:xfrm>
            <a:off x="7758185" y="4467947"/>
            <a:ext cx="1823934" cy="495300"/>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曲线连接符 215"/>
          <p:cNvCxnSpPr>
            <a:stCxn id="48" idx="2"/>
            <a:endCxn id="118" idx="0"/>
          </p:cNvCxnSpPr>
          <p:nvPr/>
        </p:nvCxnSpPr>
        <p:spPr>
          <a:xfrm rot="5400000">
            <a:off x="5105857" y="5265601"/>
            <a:ext cx="544027" cy="1190304"/>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9" name="曲线连接符 218"/>
          <p:cNvCxnSpPr>
            <a:stCxn id="48" idx="2"/>
            <a:endCxn id="99" idx="0"/>
          </p:cNvCxnSpPr>
          <p:nvPr/>
        </p:nvCxnSpPr>
        <p:spPr>
          <a:xfrm rot="5400000">
            <a:off x="5559760" y="5729572"/>
            <a:ext cx="554095" cy="272431"/>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sp>
        <p:nvSpPr>
          <p:cNvPr id="224" name="文本框 223"/>
          <p:cNvSpPr txBox="1"/>
          <p:nvPr/>
        </p:nvSpPr>
        <p:spPr>
          <a:xfrm>
            <a:off x="5113669" y="3932918"/>
            <a:ext cx="534121" cy="294824"/>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N</a:t>
            </a:r>
            <a:endParaRPr lang="zh-CN" altLang="en-US" sz="1200" dirty="0">
              <a:sym typeface="+mn-ea"/>
            </a:endParaRPr>
          </a:p>
        </p:txBody>
      </p:sp>
      <p:sp>
        <p:nvSpPr>
          <p:cNvPr id="227" name="文本框 226"/>
          <p:cNvSpPr txBox="1"/>
          <p:nvPr/>
        </p:nvSpPr>
        <p:spPr>
          <a:xfrm>
            <a:off x="5935773" y="4613297"/>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233" name="文本框 232"/>
          <p:cNvSpPr txBox="1"/>
          <p:nvPr/>
        </p:nvSpPr>
        <p:spPr>
          <a:xfrm>
            <a:off x="2283119" y="6448671"/>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
        <p:nvSpPr>
          <p:cNvPr id="234" name="矩形 233"/>
          <p:cNvSpPr/>
          <p:nvPr/>
        </p:nvSpPr>
        <p:spPr>
          <a:xfrm>
            <a:off x="6357881" y="5877889"/>
            <a:ext cx="749808" cy="324000"/>
          </a:xfrm>
          <a:prstGeom prst="rect">
            <a:avLst/>
          </a:prstGeom>
          <a:solidFill>
            <a:schemeClr val="bg1"/>
          </a:solidFill>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txBody>
          <a:bodyPr tIns="36000" bIns="36000" rtlCol="0" anchor="ctr"/>
          <a:lstStyle/>
          <a:p>
            <a:pPr algn="ctr"/>
            <a:r>
              <a:rPr lang="zh-CN" altLang="en-US" sz="1000" dirty="0"/>
              <a:t>评估结论</a:t>
            </a:r>
            <a:endParaRPr lang="zh-CN" altLang="en-US" sz="1000" dirty="0">
              <a:solidFill>
                <a:schemeClr val="tx1"/>
              </a:solidFill>
            </a:endParaRPr>
          </a:p>
        </p:txBody>
      </p:sp>
      <p:cxnSp>
        <p:nvCxnSpPr>
          <p:cNvPr id="239" name="曲线连接符 238"/>
          <p:cNvCxnSpPr>
            <a:stCxn id="234" idx="0"/>
            <a:endCxn id="49" idx="2"/>
          </p:cNvCxnSpPr>
          <p:nvPr/>
        </p:nvCxnSpPr>
        <p:spPr>
          <a:xfrm rot="5400000" flipH="1" flipV="1">
            <a:off x="7027203" y="5147419"/>
            <a:ext cx="436053" cy="1024889"/>
          </a:xfrm>
          <a:prstGeom prst="curvedConnector3">
            <a:avLst>
              <a:gd name="adj1" fmla="val 50000"/>
            </a:avLst>
          </a:prstGeom>
          <a:ln>
            <a:solidFill>
              <a:schemeClr val="tx1">
                <a:lumMod val="65000"/>
                <a:lumOff val="3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9" name="曲线连接符 258"/>
          <p:cNvCxnSpPr>
            <a:stCxn id="234" idx="1"/>
            <a:endCxn id="71" idx="3"/>
          </p:cNvCxnSpPr>
          <p:nvPr/>
        </p:nvCxnSpPr>
        <p:spPr>
          <a:xfrm rot="10800000" flipV="1">
            <a:off x="2976621" y="6039888"/>
            <a:ext cx="3381261" cy="5653"/>
          </a:xfrm>
          <a:prstGeom prst="curvedConnector3">
            <a:avLst>
              <a:gd name="adj1" fmla="val 50000"/>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4" name="文本框 273"/>
          <p:cNvSpPr txBox="1"/>
          <p:nvPr/>
        </p:nvSpPr>
        <p:spPr>
          <a:xfrm>
            <a:off x="3406622" y="6119212"/>
            <a:ext cx="508473" cy="313932"/>
          </a:xfrm>
          <a:prstGeom prst="rect">
            <a:avLst/>
          </a:prstGeom>
          <a:noFill/>
        </p:spPr>
        <p:txBody>
          <a:bodyPr wrap="none" rtlCol="0" anchor="t">
            <a:spAutoFit/>
          </a:bodyPr>
          <a:lstStyle/>
          <a:p>
            <a:pPr fontAlgn="auto">
              <a:lnSpc>
                <a:spcPct val="120000"/>
              </a:lnSpc>
              <a:spcBef>
                <a:spcPts val="0"/>
              </a:spcBef>
            </a:pPr>
            <a:r>
              <a:rPr lang="en-US" altLang="zh-CN" sz="1200" dirty="0" smtClean="0">
                <a:sym typeface="+mn-ea"/>
              </a:rPr>
              <a:t>1</a:t>
            </a:r>
            <a:r>
              <a:rPr lang="zh-CN" altLang="en-US" sz="1200" dirty="0" smtClean="0">
                <a:sym typeface="+mn-ea"/>
              </a:rPr>
              <a:t>：</a:t>
            </a:r>
            <a:r>
              <a:rPr lang="en-US" altLang="zh-CN" sz="1200" dirty="0" smtClean="0">
                <a:sym typeface="+mn-ea"/>
              </a:rPr>
              <a:t>1</a:t>
            </a:r>
            <a:endParaRPr lang="zh-CN" altLang="en-US" sz="1200" dirty="0">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4190" y="288291"/>
            <a:ext cx="9265285" cy="586105"/>
          </a:xfrm>
        </p:spPr>
        <p:txBody>
          <a:bodyPr wrap="square"/>
          <a:lstStyle/>
          <a:p>
            <a:r>
              <a:rPr lang="zh-CN" altLang="en-US"/>
              <a:t>目录</a:t>
            </a:r>
            <a:endParaRPr lang="zh-CN" altLang="en-US"/>
          </a:p>
        </p:txBody>
      </p:sp>
      <p:sp>
        <p:nvSpPr>
          <p:cNvPr id="5" name="圆角矩形 5"/>
          <p:cNvSpPr/>
          <p:nvPr/>
        </p:nvSpPr>
        <p:spPr>
          <a:xfrm>
            <a:off x="2318772" y="2114991"/>
            <a:ext cx="7014210"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b="1" dirty="0">
                <a:solidFill>
                  <a:schemeClr val="bg1"/>
                </a:solidFill>
                <a:latin typeface="微软雅黑" panose="020B0503020204020204" pitchFamily="34" charset="-122"/>
                <a:ea typeface="微软雅黑" panose="020B0503020204020204" pitchFamily="34" charset="-122"/>
                <a:sym typeface="+mn-ea"/>
              </a:rPr>
              <a:t>详细方案</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9" name="圆角矩形 9"/>
          <p:cNvSpPr/>
          <p:nvPr/>
        </p:nvSpPr>
        <p:spPr>
          <a:xfrm>
            <a:off x="1542167" y="2114991"/>
            <a:ext cx="607695"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dirty="0">
                <a:latin typeface="微软雅黑" panose="020B0503020204020204" pitchFamily="34" charset="-122"/>
                <a:ea typeface="微软雅黑" panose="020B0503020204020204" pitchFamily="34" charset="-122"/>
                <a:sym typeface="+mn-ea"/>
              </a:rPr>
              <a:t>2</a:t>
            </a:r>
            <a:endParaRPr lang="en-US" altLang="zh-CN" sz="2400" b="1" dirty="0">
              <a:latin typeface="微软雅黑" panose="020B0503020204020204" pitchFamily="34" charset="-122"/>
              <a:ea typeface="微软雅黑" panose="020B0503020204020204" pitchFamily="34" charset="-122"/>
              <a:sym typeface="+mn-ea"/>
            </a:endParaRPr>
          </a:p>
        </p:txBody>
      </p:sp>
      <p:sp>
        <p:nvSpPr>
          <p:cNvPr id="10" name="圆角矩形 2"/>
          <p:cNvSpPr/>
          <p:nvPr/>
        </p:nvSpPr>
        <p:spPr>
          <a:xfrm>
            <a:off x="2323852" y="4096191"/>
            <a:ext cx="7014210" cy="510540"/>
          </a:xfrm>
          <a:prstGeom prst="roundRect">
            <a:avLst>
              <a:gd name="adj" fmla="val 899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indent="357505" algn="l">
              <a:buClrTx/>
              <a:buSzTx/>
              <a:buFontTx/>
            </a:pP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rPr>
              <a:t>原型图</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1" name="圆角矩形 4"/>
          <p:cNvSpPr/>
          <p:nvPr/>
        </p:nvSpPr>
        <p:spPr>
          <a:xfrm>
            <a:off x="1547247" y="409619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chemeClr val="bg1">
                    <a:lumMod val="50000"/>
                  </a:schemeClr>
                </a:solidFill>
                <a:latin typeface="微软雅黑" panose="020B0503020204020204" pitchFamily="34" charset="-122"/>
                <a:ea typeface="微软雅黑" panose="020B0503020204020204" pitchFamily="34" charset="-122"/>
              </a:rPr>
              <a:t>3</a:t>
            </a:r>
            <a:endParaRPr lang="en-US" altLang="zh-CN" sz="2400" b="1">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圆角矩形 7"/>
          <p:cNvSpPr/>
          <p:nvPr/>
        </p:nvSpPr>
        <p:spPr>
          <a:xfrm>
            <a:off x="2716282" y="2716336"/>
            <a:ext cx="661670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业务设计详细方案</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14" name="圆角矩形 8"/>
          <p:cNvSpPr/>
          <p:nvPr/>
        </p:nvSpPr>
        <p:spPr>
          <a:xfrm>
            <a:off x="1939677" y="2716336"/>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solidFill>
                  <a:schemeClr val="tx1"/>
                </a:solidFill>
                <a:latin typeface="微软雅黑" panose="020B0503020204020204" pitchFamily="34" charset="-122"/>
                <a:ea typeface="微软雅黑" panose="020B0503020204020204" pitchFamily="34" charset="-122"/>
                <a:sym typeface="+mn-ea"/>
              </a:rPr>
              <a:t>2.1</a:t>
            </a:r>
            <a:endParaRPr lang="en-US" altLang="zh-CN" sz="2000">
              <a:solidFill>
                <a:schemeClr val="tx1"/>
              </a:solidFill>
              <a:latin typeface="微软雅黑" panose="020B0503020204020204" pitchFamily="34" charset="-122"/>
              <a:ea typeface="微软雅黑" panose="020B0503020204020204" pitchFamily="34" charset="-122"/>
              <a:sym typeface="+mn-ea"/>
            </a:endParaRPr>
          </a:p>
        </p:txBody>
      </p:sp>
      <p:sp>
        <p:nvSpPr>
          <p:cNvPr id="15" name="圆角矩形 14"/>
          <p:cNvSpPr/>
          <p:nvPr/>
        </p:nvSpPr>
        <p:spPr>
          <a:xfrm>
            <a:off x="2716282" y="3349431"/>
            <a:ext cx="6616700" cy="510540"/>
          </a:xfrm>
          <a:prstGeom prst="roundRect">
            <a:avLst>
              <a:gd name="adj" fmla="val 899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rPr>
              <a:t>产品设计详细方案</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6" name="圆角矩形 15"/>
          <p:cNvSpPr/>
          <p:nvPr/>
        </p:nvSpPr>
        <p:spPr>
          <a:xfrm>
            <a:off x="1939677" y="334943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solidFill>
                  <a:schemeClr val="bg1">
                    <a:lumMod val="50000"/>
                  </a:schemeClr>
                </a:solidFill>
                <a:latin typeface="微软雅黑" panose="020B0503020204020204" pitchFamily="34" charset="-122"/>
                <a:ea typeface="微软雅黑" panose="020B0503020204020204" pitchFamily="34" charset="-122"/>
                <a:sym typeface="+mn-ea"/>
              </a:rPr>
              <a:t>2.2</a:t>
            </a:r>
            <a:endParaRPr lang="en-US" altLang="zh-CN" sz="20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17" name="圆角矩形 5"/>
          <p:cNvSpPr/>
          <p:nvPr/>
        </p:nvSpPr>
        <p:spPr>
          <a:xfrm>
            <a:off x="2318772" y="1347323"/>
            <a:ext cx="701421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架构设计</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18" name="圆角矩形 9"/>
          <p:cNvSpPr/>
          <p:nvPr/>
        </p:nvSpPr>
        <p:spPr>
          <a:xfrm>
            <a:off x="1542167" y="1347323"/>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rPr>
              <a:t>1</a:t>
            </a:r>
            <a:endPar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zh-CN" sz="2800">
                <a:solidFill>
                  <a:schemeClr val="tx1"/>
                </a:solidFill>
                <a:latin typeface="+mn-ea"/>
                <a:ea typeface="+mn-ea"/>
                <a:sym typeface="+mn-ea"/>
              </a:rPr>
              <a:t>技术</a:t>
            </a:r>
            <a:r>
              <a:rPr sz="2800">
                <a:solidFill>
                  <a:schemeClr val="tx1"/>
                </a:solidFill>
                <a:latin typeface="+mn-ea"/>
                <a:ea typeface="+mn-ea"/>
                <a:sym typeface="+mn-ea"/>
              </a:rPr>
              <a:t>工艺</a:t>
            </a:r>
            <a:r>
              <a:rPr lang="zh-CN" sz="2800">
                <a:solidFill>
                  <a:schemeClr val="tx1"/>
                </a:solidFill>
                <a:latin typeface="+mn-ea"/>
                <a:ea typeface="+mn-ea"/>
                <a:sym typeface="+mn-ea"/>
              </a:rPr>
              <a:t>评估业务</a:t>
            </a:r>
            <a:r>
              <a:rPr lang="zh-CN" sz="2800">
                <a:solidFill>
                  <a:schemeClr val="tx1"/>
                </a:solidFill>
                <a:latin typeface="+mn-ea"/>
                <a:ea typeface="+mn-ea"/>
                <a:sym typeface="+mn-ea"/>
              </a:rPr>
              <a:t>流程</a:t>
            </a:r>
            <a:endParaRPr lang="zh-CN" sz="2800">
              <a:solidFill>
                <a:schemeClr val="tx1"/>
              </a:solidFill>
              <a:latin typeface="+mn-ea"/>
              <a:ea typeface="+mn-ea"/>
              <a:sym typeface="+mn-ea"/>
            </a:endParaRPr>
          </a:p>
        </p:txBody>
      </p:sp>
      <p:sp>
        <p:nvSpPr>
          <p:cNvPr id="5" name="文本框 4"/>
          <p:cNvSpPr txBox="1"/>
          <p:nvPr/>
        </p:nvSpPr>
        <p:spPr>
          <a:xfrm>
            <a:off x="9312696" y="1012877"/>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需求草稿</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8" name="文本框 47"/>
          <p:cNvSpPr txBox="1"/>
          <p:nvPr/>
        </p:nvSpPr>
        <p:spPr>
          <a:xfrm>
            <a:off x="9312696" y="1799265"/>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需求审核</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1" name="文本框 50"/>
          <p:cNvSpPr txBox="1"/>
          <p:nvPr/>
        </p:nvSpPr>
        <p:spPr>
          <a:xfrm>
            <a:off x="9312696" y="1977400"/>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需求驳回</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3" name="文本框 52"/>
          <p:cNvSpPr txBox="1"/>
          <p:nvPr/>
        </p:nvSpPr>
        <p:spPr>
          <a:xfrm>
            <a:off x="9312696" y="2634797"/>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需求分派</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4" name="文本框 53"/>
          <p:cNvSpPr txBox="1"/>
          <p:nvPr/>
        </p:nvSpPr>
        <p:spPr>
          <a:xfrm>
            <a:off x="9312696" y="5042122"/>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报告草稿</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6" name="文本框 55"/>
          <p:cNvSpPr txBox="1"/>
          <p:nvPr/>
        </p:nvSpPr>
        <p:spPr>
          <a:xfrm>
            <a:off x="9312696" y="5390177"/>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报告审核</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8" name="文本框 57"/>
          <p:cNvSpPr txBox="1"/>
          <p:nvPr/>
        </p:nvSpPr>
        <p:spPr>
          <a:xfrm>
            <a:off x="9312696" y="5582585"/>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更新报告</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9" name="文本框 58"/>
          <p:cNvSpPr txBox="1"/>
          <p:nvPr/>
        </p:nvSpPr>
        <p:spPr>
          <a:xfrm>
            <a:off x="10418810" y="5042171"/>
            <a:ext cx="533400" cy="16129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05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报告提交</a:t>
            </a:r>
            <a:endParaRPr kumimoji="0" lang="zh-CN" altLang="en-US" sz="105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3" name="文本框 62"/>
          <p:cNvSpPr txBox="1"/>
          <p:nvPr/>
        </p:nvSpPr>
        <p:spPr>
          <a:xfrm>
            <a:off x="9312696" y="6283041"/>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确认</a:t>
            </a: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开发</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4" name="文本框 63"/>
          <p:cNvSpPr txBox="1"/>
          <p:nvPr/>
        </p:nvSpPr>
        <p:spPr>
          <a:xfrm>
            <a:off x="10155868" y="1974319"/>
            <a:ext cx="856754"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    </a:t>
            </a: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需求终止</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5" name="文本框 64"/>
          <p:cNvSpPr txBox="1"/>
          <p:nvPr/>
        </p:nvSpPr>
        <p:spPr>
          <a:xfrm>
            <a:off x="10155868" y="5575458"/>
            <a:ext cx="856754"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    </a:t>
            </a: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需求终止</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6" name="文本框 65"/>
          <p:cNvSpPr txBox="1"/>
          <p:nvPr/>
        </p:nvSpPr>
        <p:spPr>
          <a:xfrm>
            <a:off x="10155868" y="6253636"/>
            <a:ext cx="856754"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    </a:t>
            </a: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需求终止</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7" name="文本框 66"/>
          <p:cNvSpPr txBox="1"/>
          <p:nvPr/>
        </p:nvSpPr>
        <p:spPr>
          <a:xfrm>
            <a:off x="9312696" y="6022578"/>
            <a:ext cx="609600" cy="1841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更新</a:t>
            </a: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报告</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2" name="文本框 71"/>
          <p:cNvSpPr txBox="1"/>
          <p:nvPr/>
        </p:nvSpPr>
        <p:spPr>
          <a:xfrm>
            <a:off x="9312696" y="1395671"/>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需求确认</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5" name="文本框 114"/>
          <p:cNvSpPr txBox="1"/>
          <p:nvPr/>
        </p:nvSpPr>
        <p:spPr>
          <a:xfrm>
            <a:off x="9312696" y="3076184"/>
            <a:ext cx="609600" cy="1841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专业评估</a:t>
            </a:r>
            <a:endPar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6" name="文本框 115"/>
          <p:cNvSpPr txBox="1"/>
          <p:nvPr/>
        </p:nvSpPr>
        <p:spPr>
          <a:xfrm>
            <a:off x="9312696" y="3517571"/>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专业审核</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3" name="文本框 192"/>
          <p:cNvSpPr txBox="1"/>
          <p:nvPr/>
        </p:nvSpPr>
        <p:spPr>
          <a:xfrm>
            <a:off x="9312696" y="3717623"/>
            <a:ext cx="615553" cy="18466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2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专业更新</a:t>
            </a:r>
            <a:endParaRPr kumimoji="0" lang="zh-CN" altLang="en-US" sz="12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5" name="文本框 94"/>
          <p:cNvSpPr txBox="1"/>
          <p:nvPr/>
        </p:nvSpPr>
        <p:spPr>
          <a:xfrm>
            <a:off x="7627578" y="5457614"/>
            <a:ext cx="1357427" cy="36278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11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3" name="文本框 72"/>
          <p:cNvSpPr txBox="1"/>
          <p:nvPr/>
        </p:nvSpPr>
        <p:spPr>
          <a:xfrm>
            <a:off x="7627578" y="1731247"/>
            <a:ext cx="1357427" cy="36278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11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4" name="文本框 73"/>
          <p:cNvSpPr txBox="1"/>
          <p:nvPr/>
        </p:nvSpPr>
        <p:spPr>
          <a:xfrm>
            <a:off x="7627578" y="6045422"/>
            <a:ext cx="1357427" cy="36278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并返回给客户</a:t>
            </a:r>
            <a:endParaRPr kumimoji="0" lang="zh-CN" altLang="en-US" sz="1100" b="0" i="0"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5" name="矩形 74"/>
          <p:cNvSpPr/>
          <p:nvPr/>
        </p:nvSpPr>
        <p:spPr>
          <a:xfrm>
            <a:off x="7568711" y="2619964"/>
            <a:ext cx="1512000" cy="216000"/>
          </a:xfrm>
          <a:prstGeom prst="rect">
            <a:avLst/>
          </a:prstGeom>
          <a:solidFill>
            <a:srgbClr val="FFFFFF"/>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50" i="1" kern="0" dirty="0">
                <a:solidFill>
                  <a:schemeClr val="tx1"/>
                </a:solidFill>
                <a:uFillTx/>
                <a:latin typeface="微软雅黑" panose="020B0503020204020204" pitchFamily="34" charset="-122"/>
                <a:ea typeface="微软雅黑" panose="020B0503020204020204" pitchFamily="34" charset="-122"/>
                <a:cs typeface="Arial" panose="020B0604020202020204"/>
                <a:sym typeface="Arial" panose="020B0604020202020204"/>
              </a:rPr>
              <a:t>需求分派各专业工程师</a:t>
            </a:r>
            <a:endParaRPr kumimoji="0" lang="zh-CN" altLang="en-US" sz="1050" b="0" i="1"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6" name="矩形 75"/>
          <p:cNvSpPr/>
          <p:nvPr/>
        </p:nvSpPr>
        <p:spPr>
          <a:xfrm>
            <a:off x="7568711" y="3087914"/>
            <a:ext cx="1512000" cy="216000"/>
          </a:xfrm>
          <a:prstGeom prst="rect">
            <a:avLst/>
          </a:prstGeom>
          <a:solidFill>
            <a:srgbClr val="FFFFFF"/>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050" b="0" i="1"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按专业上载可行性报告</a:t>
            </a:r>
            <a:endParaRPr kumimoji="0" lang="zh-CN" altLang="en-US" sz="1050" b="0" i="1"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3" name="矩形 122"/>
          <p:cNvSpPr/>
          <p:nvPr/>
        </p:nvSpPr>
        <p:spPr>
          <a:xfrm>
            <a:off x="7568711" y="3577462"/>
            <a:ext cx="1512000" cy="216000"/>
          </a:xfrm>
          <a:prstGeom prst="rect">
            <a:avLst/>
          </a:prstGeom>
          <a:solidFill>
            <a:srgbClr val="FFFFFF"/>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050" b="0" i="1"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按专业审核可行性报告</a:t>
            </a:r>
            <a:endParaRPr kumimoji="0" lang="zh-CN" altLang="en-US" sz="1050" b="0" i="1" u="none" strike="noStrike" kern="0"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6" name="组合 5"/>
          <p:cNvGrpSpPr/>
          <p:nvPr/>
        </p:nvGrpSpPr>
        <p:grpSpPr>
          <a:xfrm>
            <a:off x="226060" y="1014095"/>
            <a:ext cx="7324090" cy="5561965"/>
            <a:chOff x="6987" y="1605"/>
            <a:chExt cx="11534" cy="8759"/>
          </a:xfrm>
        </p:grpSpPr>
        <p:sp>
          <p:nvSpPr>
            <p:cNvPr id="9" name="矩形 8"/>
            <p:cNvSpPr/>
            <p:nvPr/>
          </p:nvSpPr>
          <p:spPr>
            <a:xfrm>
              <a:off x="6989" y="8498"/>
              <a:ext cx="11532" cy="1866"/>
            </a:xfrm>
            <a:prstGeom prst="rect">
              <a:avLst/>
            </a:prstGeom>
            <a:solidFill>
              <a:schemeClr val="accent3">
                <a:lumMod val="20000"/>
                <a:lumOff val="8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dirty="0">
                <a:uFillTx/>
                <a:latin typeface="微软雅黑" panose="020B0503020204020204" pitchFamily="34" charset="-122"/>
                <a:ea typeface="微软雅黑" panose="020B0503020204020204" pitchFamily="34" charset="-122"/>
                <a:sym typeface="Arial" panose="020B0604020202020204"/>
              </a:endParaRPr>
            </a:p>
          </p:txBody>
        </p:sp>
        <p:sp>
          <p:nvSpPr>
            <p:cNvPr id="10" name="矩形 9"/>
            <p:cNvSpPr/>
            <p:nvPr/>
          </p:nvSpPr>
          <p:spPr>
            <a:xfrm>
              <a:off x="6987" y="1605"/>
              <a:ext cx="11535" cy="6580"/>
            </a:xfrm>
            <a:prstGeom prst="rect">
              <a:avLst/>
            </a:prstGeom>
            <a:solidFill>
              <a:schemeClr val="bg1">
                <a:lumMod val="9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dirty="0">
                <a:uFillTx/>
                <a:latin typeface="微软雅黑" panose="020B0503020204020204" pitchFamily="34" charset="-122"/>
                <a:ea typeface="微软雅黑" panose="020B0503020204020204" pitchFamily="34" charset="-122"/>
                <a:sym typeface="Arial" panose="020B0604020202020204"/>
              </a:endParaRPr>
            </a:p>
          </p:txBody>
        </p:sp>
        <p:sp>
          <p:nvSpPr>
            <p:cNvPr id="11" name="矩形 10"/>
            <p:cNvSpPr/>
            <p:nvPr/>
          </p:nvSpPr>
          <p:spPr>
            <a:xfrm>
              <a:off x="8785" y="3950"/>
              <a:ext cx="8090" cy="2041"/>
            </a:xfrm>
            <a:prstGeom prst="rect">
              <a:avLst/>
            </a:prstGeom>
            <a:solidFill>
              <a:schemeClr val="accent1">
                <a:lumMod val="40000"/>
                <a:lumOff val="60000"/>
              </a:scheme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sp>
          <p:nvSpPr>
            <p:cNvPr id="12" name="矩形 11"/>
            <p:cNvSpPr/>
            <p:nvPr/>
          </p:nvSpPr>
          <p:spPr>
            <a:xfrm>
              <a:off x="10952" y="1636"/>
              <a:ext cx="2608" cy="34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创建需求</a:t>
              </a:r>
              <a:endPar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3" name="流程图: 决策 12"/>
            <p:cNvSpPr/>
            <p:nvPr/>
          </p:nvSpPr>
          <p:spPr>
            <a:xfrm>
              <a:off x="10952" y="2931"/>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审核需求</a:t>
              </a:r>
              <a:endParaRPr kumimoji="0" lang="zh-CN" altLang="en-US"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 name="流程图: 终止 13"/>
            <p:cNvSpPr/>
            <p:nvPr/>
          </p:nvSpPr>
          <p:spPr>
            <a:xfrm>
              <a:off x="17036" y="3045"/>
              <a:ext cx="907" cy="340"/>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END</a:t>
              </a:r>
              <a:endPar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5" name="直接箭头连接符 14"/>
            <p:cNvCxnSpPr>
              <a:stCxn id="13" idx="3"/>
              <a:endCxn id="14" idx="1"/>
            </p:cNvCxnSpPr>
            <p:nvPr/>
          </p:nvCxnSpPr>
          <p:spPr>
            <a:xfrm>
              <a:off x="13560" y="3215"/>
              <a:ext cx="3476" cy="0"/>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6" name="文本框 15"/>
            <p:cNvSpPr txBox="1"/>
            <p:nvPr/>
          </p:nvSpPr>
          <p:spPr>
            <a:xfrm>
              <a:off x="7486" y="1673"/>
              <a:ext cx="72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销售</a:t>
              </a: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7" name="文本框 16"/>
            <p:cNvSpPr txBox="1"/>
            <p:nvPr/>
          </p:nvSpPr>
          <p:spPr>
            <a:xfrm>
              <a:off x="7486" y="3059"/>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工艺</a:t>
              </a: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技术总监</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18" name="直接箭头连接符 17"/>
            <p:cNvCxnSpPr>
              <a:stCxn id="12" idx="2"/>
              <a:endCxn id="113" idx="0"/>
            </p:cNvCxnSpPr>
            <p:nvPr/>
          </p:nvCxnSpPr>
          <p:spPr>
            <a:xfrm>
              <a:off x="12256" y="1976"/>
              <a:ext cx="0" cy="27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9" name="文本框 18"/>
            <p:cNvSpPr txBox="1"/>
            <p:nvPr/>
          </p:nvSpPr>
          <p:spPr>
            <a:xfrm>
              <a:off x="13763" y="3268"/>
              <a:ext cx="485" cy="2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N</a:t>
              </a:r>
              <a:endPar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1" name="文本框 20"/>
            <p:cNvSpPr txBox="1"/>
            <p:nvPr/>
          </p:nvSpPr>
          <p:spPr>
            <a:xfrm>
              <a:off x="12413" y="3511"/>
              <a:ext cx="242" cy="2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Y</a:t>
              </a:r>
              <a:endParaRPr kumimoji="0" lang="en-US" altLang="zh-CN"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5" name="文本框 24"/>
            <p:cNvSpPr txBox="1"/>
            <p:nvPr/>
          </p:nvSpPr>
          <p:spPr>
            <a:xfrm>
              <a:off x="7070" y="4117"/>
              <a:ext cx="1691"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测试、供应经理</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6" name="矩形 25"/>
            <p:cNvSpPr/>
            <p:nvPr/>
          </p:nvSpPr>
          <p:spPr>
            <a:xfrm>
              <a:off x="10952" y="6553"/>
              <a:ext cx="2608" cy="567"/>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汇总并上载</a:t>
              </a:r>
              <a:r>
                <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技术工艺</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r>
                <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kumimoji="0" lang="en-US" altLang="zh-CN"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8" name="文本框 27"/>
            <p:cNvSpPr txBox="1"/>
            <p:nvPr/>
          </p:nvSpPr>
          <p:spPr>
            <a:xfrm>
              <a:off x="7486" y="6748"/>
              <a:ext cx="909"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产品工程师</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7" name="文本框 36"/>
            <p:cNvSpPr txBox="1"/>
            <p:nvPr/>
          </p:nvSpPr>
          <p:spPr>
            <a:xfrm>
              <a:off x="7486" y="7796"/>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工艺技术</a:t>
              </a:r>
              <a:r>
                <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总监</a:t>
              </a:r>
              <a:endParaRPr lang="zh-CN" altLang="en-US" sz="9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43" name="流程图: 决策 42"/>
            <p:cNvSpPr/>
            <p:nvPr/>
          </p:nvSpPr>
          <p:spPr>
            <a:xfrm>
              <a:off x="10952" y="7616"/>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审核汇总的工艺</a:t>
              </a: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评估报告</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0" name="流程图: 终止 59"/>
            <p:cNvSpPr/>
            <p:nvPr/>
          </p:nvSpPr>
          <p:spPr>
            <a:xfrm>
              <a:off x="17212" y="7697"/>
              <a:ext cx="907" cy="448"/>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发布评</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ctr"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估报告</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61" name="直接箭头连接符 60"/>
            <p:cNvCxnSpPr>
              <a:stCxn id="43" idx="3"/>
              <a:endCxn id="60" idx="1"/>
            </p:cNvCxnSpPr>
            <p:nvPr/>
          </p:nvCxnSpPr>
          <p:spPr>
            <a:xfrm>
              <a:off x="13560" y="7900"/>
              <a:ext cx="3652" cy="2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71" name="文本框 70"/>
            <p:cNvSpPr txBox="1"/>
            <p:nvPr/>
          </p:nvSpPr>
          <p:spPr>
            <a:xfrm>
              <a:off x="13612" y="7959"/>
              <a:ext cx="70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solidFill>
                    <a:srgbClr val="000000"/>
                  </a:solidFill>
                  <a:uFillTx/>
                  <a:cs typeface="Arial" panose="020B0604020202020204"/>
                  <a:sym typeface="Arial" panose="020B0604020202020204"/>
                </a:rPr>
                <a:t>不通过</a:t>
              </a:r>
              <a:endParaRPr lang="zh-CN" altLang="en-US" sz="900" kern="0" dirty="0">
                <a:solidFill>
                  <a:srgbClr val="000000"/>
                </a:solidFill>
                <a:uFillTx/>
                <a:cs typeface="Arial" panose="020B0604020202020204"/>
                <a:sym typeface="Arial" panose="020B0604020202020204"/>
              </a:endParaRPr>
            </a:p>
          </p:txBody>
        </p:sp>
        <p:cxnSp>
          <p:nvCxnSpPr>
            <p:cNvPr id="77" name="直接箭头连接符 76"/>
            <p:cNvCxnSpPr>
              <a:stCxn id="26" idx="2"/>
              <a:endCxn id="43" idx="0"/>
            </p:cNvCxnSpPr>
            <p:nvPr/>
          </p:nvCxnSpPr>
          <p:spPr>
            <a:xfrm>
              <a:off x="12256" y="7120"/>
              <a:ext cx="0" cy="496"/>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79" name="文本框 78"/>
            <p:cNvSpPr txBox="1"/>
            <p:nvPr/>
          </p:nvSpPr>
          <p:spPr>
            <a:xfrm>
              <a:off x="7486" y="8663"/>
              <a:ext cx="727"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80" name="直接箭头连接符 79"/>
            <p:cNvCxnSpPr>
              <a:stCxn id="43" idx="2"/>
              <a:endCxn id="82" idx="0"/>
            </p:cNvCxnSpPr>
            <p:nvPr/>
          </p:nvCxnSpPr>
          <p:spPr>
            <a:xfrm>
              <a:off x="12256" y="8183"/>
              <a:ext cx="0" cy="34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82" name="流程图: 决策 81"/>
            <p:cNvSpPr/>
            <p:nvPr/>
          </p:nvSpPr>
          <p:spPr>
            <a:xfrm>
              <a:off x="10952" y="8530"/>
              <a:ext cx="2608" cy="567"/>
            </a:xfrm>
            <a:prstGeom prst="flowChartDecision">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确认是</a:t>
              </a:r>
              <a:endParaRPr kumimoji="0" lang="en-US" altLang="zh-CN"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否开发</a:t>
              </a:r>
              <a:endParaRPr kumimoji="0" lang="zh-CN" altLang="en-US" sz="10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6" name="流程图: 终止 85"/>
            <p:cNvSpPr/>
            <p:nvPr/>
          </p:nvSpPr>
          <p:spPr>
            <a:xfrm>
              <a:off x="17388" y="8644"/>
              <a:ext cx="907" cy="340"/>
            </a:xfrm>
            <a:prstGeom prst="flowChartTerminator">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END</a:t>
              </a:r>
              <a:endParaRPr kumimoji="0" lang="en-US" altLang="zh-CN" sz="12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89" name="直接箭头连接符 88"/>
            <p:cNvCxnSpPr>
              <a:stCxn id="82" idx="3"/>
              <a:endCxn id="86" idx="1"/>
            </p:cNvCxnSpPr>
            <p:nvPr/>
          </p:nvCxnSpPr>
          <p:spPr>
            <a:xfrm>
              <a:off x="13560" y="8814"/>
              <a:ext cx="3828" cy="0"/>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90" name="文本框 89"/>
            <p:cNvSpPr txBox="1"/>
            <p:nvPr/>
          </p:nvSpPr>
          <p:spPr>
            <a:xfrm>
              <a:off x="13551" y="8890"/>
              <a:ext cx="62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不开发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1" name="文本框 90"/>
            <p:cNvSpPr txBox="1"/>
            <p:nvPr/>
          </p:nvSpPr>
          <p:spPr>
            <a:xfrm>
              <a:off x="12413" y="9183"/>
              <a:ext cx="624"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开发</a:t>
              </a:r>
              <a:endParaRPr kumimoji="0" lang="zh-CN" altLang="en-US" sz="9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92" name="文本框 91"/>
            <p:cNvSpPr txBox="1"/>
            <p:nvPr/>
          </p:nvSpPr>
          <p:spPr>
            <a:xfrm>
              <a:off x="12648" y="8177"/>
              <a:ext cx="397" cy="22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solidFill>
                    <a:srgbClr val="000000"/>
                  </a:solidFill>
                  <a:uFillTx/>
                  <a:cs typeface="Arial" panose="020B0604020202020204"/>
                  <a:sym typeface="Arial" panose="020B0604020202020204"/>
                </a:rPr>
                <a:t>通过</a:t>
              </a:r>
              <a:endParaRPr lang="zh-CN" altLang="en-US" sz="900" kern="0" dirty="0">
                <a:solidFill>
                  <a:srgbClr val="000000"/>
                </a:solidFill>
                <a:uFillTx/>
                <a:cs typeface="Arial" panose="020B0604020202020204"/>
                <a:sym typeface="Arial" panose="020B0604020202020204"/>
              </a:endParaRPr>
            </a:p>
          </p:txBody>
        </p:sp>
        <p:cxnSp>
          <p:nvCxnSpPr>
            <p:cNvPr id="93" name="直接箭头连接符 92"/>
            <p:cNvCxnSpPr>
              <a:stCxn id="82" idx="2"/>
              <a:endCxn id="103" idx="0"/>
            </p:cNvCxnSpPr>
            <p:nvPr/>
          </p:nvCxnSpPr>
          <p:spPr>
            <a:xfrm>
              <a:off x="12256" y="9097"/>
              <a:ext cx="10" cy="569"/>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02" name="文本框 101"/>
            <p:cNvSpPr txBox="1"/>
            <p:nvPr/>
          </p:nvSpPr>
          <p:spPr>
            <a:xfrm>
              <a:off x="7486" y="9817"/>
              <a:ext cx="727"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accent1">
                      <a:lumMod val="75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销售专员</a:t>
              </a:r>
              <a:endParaRPr kumimoji="0" lang="zh-CN" altLang="en-US" sz="900" b="0" i="0" u="none" strike="noStrike" kern="0" cap="none" spc="0" normalizeH="0" baseline="0" dirty="0">
                <a:ln>
                  <a:noFill/>
                </a:ln>
                <a:solidFill>
                  <a:schemeClr val="accent1">
                    <a:lumMod val="75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03" name="箭头: 五边形 45"/>
            <p:cNvSpPr/>
            <p:nvPr/>
          </p:nvSpPr>
          <p:spPr>
            <a:xfrm>
              <a:off x="10995" y="9666"/>
              <a:ext cx="2825" cy="567"/>
            </a:xfrm>
            <a:prstGeom prst="homePlate">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algn="ctr" hangingPunct="0">
                <a:spcBef>
                  <a:spcPts val="0"/>
                </a:spcBef>
                <a:spcAft>
                  <a:spcPts val="0"/>
                </a:spcAft>
              </a:pP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发起</a:t>
              </a:r>
              <a:endPar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algn="ctr" hangingPunct="0">
                <a:spcBef>
                  <a:spcPts val="0"/>
                </a:spcBef>
                <a:spcAft>
                  <a:spcPts val="0"/>
                </a:spcAft>
              </a:pP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新产品开发任务书</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06" name="直接连接符 105"/>
            <p:cNvCxnSpPr/>
            <p:nvPr/>
          </p:nvCxnSpPr>
          <p:spPr>
            <a:xfrm>
              <a:off x="7523" y="8325"/>
              <a:ext cx="10375" cy="0"/>
            </a:xfrm>
            <a:prstGeom prst="line">
              <a:avLst/>
            </a:prstGeom>
            <a:noFill/>
            <a:ln w="19050" cap="flat">
              <a:solidFill>
                <a:schemeClr val="bg1">
                  <a:lumMod val="65000"/>
                </a:schemeClr>
              </a:solidFill>
              <a:prstDash val="dash"/>
              <a:miter lim="800000"/>
            </a:ln>
          </p:spPr>
          <p:style>
            <a:lnRef idx="0">
              <a:srgbClr val="FFFFFF"/>
            </a:lnRef>
            <a:fillRef idx="0">
              <a:srgbClr val="FFFFFF"/>
            </a:fillRef>
            <a:effectRef idx="0">
              <a:srgbClr val="FFFFFF"/>
            </a:effectRef>
            <a:fontRef idx="none"/>
          </p:style>
        </p:cxnSp>
        <p:cxnSp>
          <p:nvCxnSpPr>
            <p:cNvPr id="107" name="连接符: 肘形 47"/>
            <p:cNvCxnSpPr>
              <a:stCxn id="43" idx="3"/>
              <a:endCxn id="26" idx="3"/>
            </p:cNvCxnSpPr>
            <p:nvPr/>
          </p:nvCxnSpPr>
          <p:spPr>
            <a:xfrm flipV="1">
              <a:off x="13560" y="6837"/>
              <a:ext cx="20" cy="1063"/>
            </a:xfrm>
            <a:prstGeom prst="bentConnector3">
              <a:avLst>
                <a:gd name="adj1" fmla="val 180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08" name="文本框 107"/>
            <p:cNvSpPr txBox="1"/>
            <p:nvPr/>
          </p:nvSpPr>
          <p:spPr>
            <a:xfrm>
              <a:off x="14000" y="7021"/>
              <a:ext cx="1304"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solidFill>
                    <a:schemeClr val="tx1"/>
                  </a:solidFill>
                  <a:uFillTx/>
                  <a:cs typeface="Arial" panose="020B0604020202020204"/>
                  <a:sym typeface="Arial" panose="020B0604020202020204"/>
                </a:rPr>
                <a:t>返回修改汇总的</a:t>
              </a:r>
              <a:r>
                <a:rPr lang="zh-CN" altLang="en-US" kern="0" dirty="0">
                  <a:solidFill>
                    <a:schemeClr val="tx1"/>
                  </a:solidFill>
                  <a:uFillTx/>
                  <a:cs typeface="Arial" panose="020B0604020202020204"/>
                  <a:sym typeface="Arial" panose="020B0604020202020204"/>
                </a:rPr>
                <a:t>工艺评估报告</a:t>
              </a:r>
              <a:endParaRPr lang="zh-CN" altLang="en-US" kern="0" dirty="0">
                <a:solidFill>
                  <a:schemeClr val="tx1"/>
                </a:solidFill>
                <a:uFillTx/>
                <a:cs typeface="Arial" panose="020B0604020202020204"/>
                <a:sym typeface="Arial" panose="020B0604020202020204"/>
              </a:endParaRPr>
            </a:p>
          </p:txBody>
        </p:sp>
        <p:sp>
          <p:nvSpPr>
            <p:cNvPr id="109" name="文本框 108"/>
            <p:cNvSpPr txBox="1"/>
            <p:nvPr/>
          </p:nvSpPr>
          <p:spPr>
            <a:xfrm>
              <a:off x="15945" y="8987"/>
              <a:ext cx="2138" cy="57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11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11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0" name="文本框 109"/>
            <p:cNvSpPr txBox="1"/>
            <p:nvPr/>
          </p:nvSpPr>
          <p:spPr>
            <a:xfrm>
              <a:off x="15304" y="3277"/>
              <a:ext cx="1713" cy="3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记录终止原因</a:t>
              </a:r>
              <a:endParaRPr lang="en-US" altLang="zh-CN"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返回终止状态给销售</a:t>
              </a:r>
              <a:endParaRPr kumimoji="0" lang="zh-CN" altLang="en-US" sz="800" b="0" i="0" u="none" strike="noStrike" kern="0"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1" name="连接符: 肘形 62"/>
            <p:cNvCxnSpPr>
              <a:stCxn id="13" idx="3"/>
              <a:endCxn id="12" idx="3"/>
            </p:cNvCxnSpPr>
            <p:nvPr/>
          </p:nvCxnSpPr>
          <p:spPr>
            <a:xfrm flipV="1">
              <a:off x="13560" y="1806"/>
              <a:ext cx="20" cy="1409"/>
            </a:xfrm>
            <a:prstGeom prst="bentConnector3">
              <a:avLst>
                <a:gd name="adj1" fmla="val 180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112" name="文本框 111"/>
            <p:cNvSpPr txBox="1"/>
            <p:nvPr/>
          </p:nvSpPr>
          <p:spPr>
            <a:xfrm>
              <a:off x="14316" y="1701"/>
              <a:ext cx="1311"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rgbClr val="FF0000"/>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返回修改需求单</a:t>
              </a:r>
              <a:endParaRPr lang="zh-CN" altLang="en-US" kern="0" dirty="0">
                <a:uFillTx/>
                <a:cs typeface="Arial" panose="020B0604020202020204"/>
                <a:sym typeface="Arial" panose="020B0604020202020204"/>
              </a:endParaRPr>
            </a:p>
          </p:txBody>
        </p:sp>
        <p:sp>
          <p:nvSpPr>
            <p:cNvPr id="113" name="矩形 112"/>
            <p:cNvSpPr/>
            <p:nvPr/>
          </p:nvSpPr>
          <p:spPr>
            <a:xfrm>
              <a:off x="10952" y="2254"/>
              <a:ext cx="2608" cy="34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2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确认</a:t>
              </a:r>
              <a:r>
                <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需求</a:t>
              </a:r>
              <a:endParaRPr kumimoji="0" lang="zh-CN" altLang="en-US" sz="12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14" name="文本框 113"/>
            <p:cNvSpPr txBox="1"/>
            <p:nvPr/>
          </p:nvSpPr>
          <p:spPr>
            <a:xfrm>
              <a:off x="7486" y="2308"/>
              <a:ext cx="1080"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a:t>
              </a: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技术经理</a:t>
              </a:r>
              <a:endPar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117" name="连接符: 肘形 73"/>
            <p:cNvCxnSpPr>
              <a:endCxn id="11" idx="3"/>
            </p:cNvCxnSpPr>
            <p:nvPr/>
          </p:nvCxnSpPr>
          <p:spPr>
            <a:xfrm rot="16200000">
              <a:off x="13359" y="5299"/>
              <a:ext cx="3843" cy="3187"/>
            </a:xfrm>
            <a:prstGeom prst="bentConnector4">
              <a:avLst>
                <a:gd name="adj1" fmla="val -364"/>
                <a:gd name="adj2" fmla="val 104486"/>
              </a:avLst>
            </a:prstGeom>
            <a:noFill/>
            <a:ln w="12700" cap="flat">
              <a:solidFill>
                <a:srgbClr val="FF0000"/>
              </a:solidFill>
              <a:prstDash val="solid"/>
              <a:miter lim="800000"/>
              <a:tailEnd type="triangle"/>
            </a:ln>
          </p:spPr>
          <p:style>
            <a:lnRef idx="0">
              <a:srgbClr val="FFFFFF"/>
            </a:lnRef>
            <a:fillRef idx="0">
              <a:srgbClr val="FFFFFF"/>
            </a:fillRef>
            <a:effectRef idx="0">
              <a:srgbClr val="FFFFFF"/>
            </a:effectRef>
            <a:fontRef idx="none"/>
          </p:style>
        </p:cxnSp>
        <p:sp>
          <p:nvSpPr>
            <p:cNvPr id="118" name="文本框 117"/>
            <p:cNvSpPr txBox="1"/>
            <p:nvPr/>
          </p:nvSpPr>
          <p:spPr>
            <a:xfrm>
              <a:off x="14444" y="8117"/>
              <a:ext cx="2430"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100">
                  <a:solidFill>
                    <a:srgbClr val="FF0000"/>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uFillTx/>
                  <a:cs typeface="Arial" panose="020B0604020202020204"/>
                  <a:sym typeface="Arial" panose="020B0604020202020204"/>
                </a:rPr>
                <a:t>销售专员返回各专业工程师重新提交报价可行性分析</a:t>
              </a:r>
              <a:endParaRPr lang="zh-CN" altLang="en-US" sz="900" kern="0" dirty="0">
                <a:uFillTx/>
                <a:cs typeface="Arial" panose="020B0604020202020204"/>
                <a:sym typeface="Arial" panose="020B0604020202020204"/>
              </a:endParaRPr>
            </a:p>
          </p:txBody>
        </p:sp>
        <p:cxnSp>
          <p:nvCxnSpPr>
            <p:cNvPr id="119" name="直接箭头连接符 118"/>
            <p:cNvCxnSpPr>
              <a:stCxn id="113" idx="2"/>
              <a:endCxn id="13" idx="0"/>
            </p:cNvCxnSpPr>
            <p:nvPr/>
          </p:nvCxnSpPr>
          <p:spPr>
            <a:xfrm>
              <a:off x="12256" y="2594"/>
              <a:ext cx="0" cy="337"/>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20" name="连接符: 肘形 78"/>
            <p:cNvCxnSpPr/>
            <p:nvPr/>
          </p:nvCxnSpPr>
          <p:spPr>
            <a:xfrm flipV="1">
              <a:off x="13565" y="1907"/>
              <a:ext cx="20" cy="510"/>
            </a:xfrm>
            <a:prstGeom prst="bentConnector3">
              <a:avLst>
                <a:gd name="adj1" fmla="val 2582614"/>
              </a:avLst>
            </a:prstGeom>
            <a:noFill/>
            <a:ln w="12700" cap="flat">
              <a:solidFill>
                <a:srgbClr val="FF0000"/>
              </a:solidFill>
              <a:prstDash val="solid"/>
              <a:miter lim="800000"/>
              <a:tailEnd type="triangle"/>
            </a:ln>
          </p:spPr>
          <p:style>
            <a:lnRef idx="0">
              <a:srgbClr val="FFFFFF"/>
            </a:lnRef>
            <a:fillRef idx="0">
              <a:srgbClr val="FFFFFF"/>
            </a:fillRef>
            <a:effectRef idx="0">
              <a:srgbClr val="FFFFFF"/>
            </a:effectRef>
            <a:fontRef idx="none"/>
          </p:style>
        </p:cxnSp>
        <p:sp>
          <p:nvSpPr>
            <p:cNvPr id="121" name="文本框 120"/>
            <p:cNvSpPr txBox="1"/>
            <p:nvPr/>
          </p:nvSpPr>
          <p:spPr>
            <a:xfrm>
              <a:off x="14897" y="2119"/>
              <a:ext cx="2499" cy="65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工艺技术经理确认需求，确认不通过则返回工艺工程师对接销售</a:t>
              </a:r>
              <a:r>
                <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专员修改</a:t>
              </a:r>
              <a:endParaRPr kumimoji="0" lang="zh-CN" altLang="en-US" sz="9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2" name="文本框 121"/>
            <p:cNvSpPr txBox="1"/>
            <p:nvPr/>
          </p:nvSpPr>
          <p:spPr>
            <a:xfrm>
              <a:off x="12413" y="2630"/>
              <a:ext cx="404" cy="24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000" b="1"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通过</a:t>
              </a:r>
              <a:endParaRPr kumimoji="0" lang="zh-CN" altLang="en-US" sz="1000" b="1"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24" name="文本框 123"/>
            <p:cNvSpPr txBox="1"/>
            <p:nvPr/>
          </p:nvSpPr>
          <p:spPr>
            <a:xfrm>
              <a:off x="14200" y="2323"/>
              <a:ext cx="545" cy="2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90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125" name="组合 124"/>
            <p:cNvGrpSpPr/>
            <p:nvPr/>
          </p:nvGrpSpPr>
          <p:grpSpPr>
            <a:xfrm rot="0">
              <a:off x="17204" y="4756"/>
              <a:ext cx="907" cy="3742"/>
              <a:chOff x="6587264" y="3008512"/>
              <a:chExt cx="576000" cy="2376000"/>
            </a:xfrm>
          </p:grpSpPr>
          <p:sp>
            <p:nvSpPr>
              <p:cNvPr id="126" name="文本框 125"/>
              <p:cNvSpPr txBox="1"/>
              <p:nvPr/>
            </p:nvSpPr>
            <p:spPr>
              <a:xfrm>
                <a:off x="6756102" y="3860828"/>
                <a:ext cx="252000" cy="83052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多轮</a:t>
                </a:r>
                <a:r>
                  <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评估可行性分析循环</a:t>
                </a:r>
                <a:endParaRPr kumimoji="0" lang="zh-CN" altLang="en-US" sz="9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127" name="组合 126"/>
              <p:cNvGrpSpPr/>
              <p:nvPr/>
            </p:nvGrpSpPr>
            <p:grpSpPr>
              <a:xfrm>
                <a:off x="6587264" y="3008512"/>
                <a:ext cx="576000" cy="2376000"/>
                <a:chOff x="4866209" y="3700280"/>
                <a:chExt cx="672753" cy="1988610"/>
              </a:xfrm>
            </p:grpSpPr>
            <p:sp>
              <p:nvSpPr>
                <p:cNvPr id="128" name="弧形 127"/>
                <p:cNvSpPr/>
                <p:nvPr/>
              </p:nvSpPr>
              <p:spPr>
                <a:xfrm>
                  <a:off x="4923409" y="3700280"/>
                  <a:ext cx="615553" cy="1980000"/>
                </a:xfrm>
                <a:prstGeom prst="arc">
                  <a:avLst>
                    <a:gd name="adj1" fmla="val 16133719"/>
                    <a:gd name="adj2" fmla="val 5371759"/>
                  </a:avLst>
                </a:prstGeom>
                <a:noFill/>
                <a:ln w="15875">
                  <a:solidFill>
                    <a:schemeClr val="bg2">
                      <a:lumMod val="50000"/>
                    </a:schemeClr>
                  </a:soli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sp>
              <p:nvSpPr>
                <p:cNvPr id="129" name="弧形 128"/>
                <p:cNvSpPr/>
                <p:nvPr/>
              </p:nvSpPr>
              <p:spPr>
                <a:xfrm rot="10800000">
                  <a:off x="4866209" y="3708890"/>
                  <a:ext cx="615553" cy="1980000"/>
                </a:xfrm>
                <a:prstGeom prst="arc">
                  <a:avLst>
                    <a:gd name="adj1" fmla="val 16133719"/>
                    <a:gd name="adj2" fmla="val 5371759"/>
                  </a:avLst>
                </a:prstGeom>
                <a:noFill/>
                <a:ln w="15875">
                  <a:solidFill>
                    <a:schemeClr val="bg2">
                      <a:lumMod val="50000"/>
                    </a:schemeClr>
                  </a:soli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endParaRPr lang="zh-CN" altLang="en-US" kern="0">
                    <a:uFillTx/>
                    <a:latin typeface="微软雅黑" panose="020B0503020204020204" pitchFamily="34" charset="-122"/>
                    <a:ea typeface="微软雅黑" panose="020B0503020204020204" pitchFamily="34" charset="-122"/>
                    <a:sym typeface="Arial" panose="020B0604020202020204"/>
                  </a:endParaRPr>
                </a:p>
              </p:txBody>
            </p:sp>
          </p:grpSp>
        </p:grpSp>
        <p:cxnSp>
          <p:nvCxnSpPr>
            <p:cNvPr id="130" name="直接箭头连接符 129"/>
            <p:cNvCxnSpPr>
              <a:stCxn id="195" idx="2"/>
              <a:endCxn id="209" idx="0"/>
            </p:cNvCxnSpPr>
            <p:nvPr/>
          </p:nvCxnSpPr>
          <p:spPr>
            <a:xfrm>
              <a:off x="10802"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131" name="连接符: 肘形 93"/>
            <p:cNvCxnSpPr>
              <a:stCxn id="216" idx="3"/>
              <a:endCxn id="208" idx="3"/>
            </p:cNvCxnSpPr>
            <p:nvPr/>
          </p:nvCxnSpPr>
          <p:spPr>
            <a:xfrm flipV="1">
              <a:off x="10062" y="5023"/>
              <a:ext cx="20" cy="695"/>
            </a:xfrm>
            <a:prstGeom prst="bentConnector3">
              <a:avLst>
                <a:gd name="adj1" fmla="val 93912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sp>
          <p:nvSpPr>
            <p:cNvPr id="141" name="文本框 140"/>
            <p:cNvSpPr txBox="1"/>
            <p:nvPr/>
          </p:nvSpPr>
          <p:spPr>
            <a:xfrm>
              <a:off x="9827"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142" name="文本框 141"/>
            <p:cNvSpPr txBox="1"/>
            <p:nvPr/>
          </p:nvSpPr>
          <p:spPr>
            <a:xfrm>
              <a:off x="9998"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44" name="文本框 143"/>
            <p:cNvSpPr txBox="1"/>
            <p:nvPr/>
          </p:nvSpPr>
          <p:spPr>
            <a:xfrm>
              <a:off x="15490" y="5253"/>
              <a:ext cx="1474" cy="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900" kern="0" dirty="0">
                  <a:uFillTx/>
                  <a:cs typeface="Arial" panose="020B0604020202020204"/>
                  <a:sym typeface="Arial" panose="020B0604020202020204"/>
                </a:rPr>
                <a:t>返回各专业工程师修改可行性报告</a:t>
              </a:r>
              <a:endParaRPr lang="zh-CN" altLang="en-US" sz="900" kern="0" dirty="0">
                <a:uFillTx/>
                <a:cs typeface="Arial" panose="020B0604020202020204"/>
                <a:sym typeface="Arial" panose="020B0604020202020204"/>
              </a:endParaRPr>
            </a:p>
          </p:txBody>
        </p:sp>
        <p:sp>
          <p:nvSpPr>
            <p:cNvPr id="191" name="矩形 190"/>
            <p:cNvSpPr/>
            <p:nvPr/>
          </p:nvSpPr>
          <p:spPr>
            <a:xfrm>
              <a:off x="8929"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195" name="矩形 194"/>
            <p:cNvSpPr/>
            <p:nvPr/>
          </p:nvSpPr>
          <p:spPr>
            <a:xfrm>
              <a:off x="10235"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材料专业工程师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02" name="矩形 201"/>
            <p:cNvSpPr/>
            <p:nvPr/>
          </p:nvSpPr>
          <p:spPr>
            <a:xfrm>
              <a:off x="11542"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分派采购专业工程师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03" name="矩形 202"/>
            <p:cNvSpPr/>
            <p:nvPr/>
          </p:nvSpPr>
          <p:spPr>
            <a:xfrm>
              <a:off x="13057" y="410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分派质量专业工程师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04" name="连接符: 肘形 109"/>
            <p:cNvCxnSpPr>
              <a:stCxn id="13" idx="2"/>
              <a:endCxn id="195" idx="0"/>
            </p:cNvCxnSpPr>
            <p:nvPr/>
          </p:nvCxnSpPr>
          <p:spPr>
            <a:xfrm rot="5400000">
              <a:off x="11228" y="3073"/>
              <a:ext cx="603" cy="145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05" name="连接符: 肘形 110"/>
            <p:cNvCxnSpPr>
              <a:stCxn id="13" idx="2"/>
              <a:endCxn id="191" idx="0"/>
            </p:cNvCxnSpPr>
            <p:nvPr/>
          </p:nvCxnSpPr>
          <p:spPr>
            <a:xfrm rot="5400000">
              <a:off x="10575" y="2420"/>
              <a:ext cx="603" cy="2760"/>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06" name="连接符: 肘形 111"/>
            <p:cNvCxnSpPr>
              <a:stCxn id="13" idx="2"/>
              <a:endCxn id="202" idx="0"/>
            </p:cNvCxnSpPr>
            <p:nvPr/>
          </p:nvCxnSpPr>
          <p:spPr>
            <a:xfrm rot="5400000">
              <a:off x="11881" y="3726"/>
              <a:ext cx="603" cy="147"/>
            </a:xfrm>
            <a:prstGeom prst="bentConnector3">
              <a:avLst>
                <a:gd name="adj1" fmla="val 50083"/>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07" name="连接符: 肘形 112"/>
            <p:cNvCxnSpPr>
              <a:stCxn id="13" idx="2"/>
              <a:endCxn id="203" idx="0"/>
            </p:cNvCxnSpPr>
            <p:nvPr/>
          </p:nvCxnSpPr>
          <p:spPr>
            <a:xfrm rot="5400000" flipV="1">
              <a:off x="12639" y="3116"/>
              <a:ext cx="603" cy="1368"/>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08" name="矩形 207"/>
            <p:cNvSpPr/>
            <p:nvPr/>
          </p:nvSpPr>
          <p:spPr>
            <a:xfrm>
              <a:off x="8929"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研发</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09" name="矩形 208"/>
            <p:cNvSpPr/>
            <p:nvPr/>
          </p:nvSpPr>
          <p:spPr>
            <a:xfrm>
              <a:off x="10235"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工程</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10" name="矩形 209"/>
            <p:cNvSpPr/>
            <p:nvPr/>
          </p:nvSpPr>
          <p:spPr>
            <a:xfrm>
              <a:off x="11542"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采购</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11" name="矩形 210"/>
            <p:cNvSpPr/>
            <p:nvPr/>
          </p:nvSpPr>
          <p:spPr>
            <a:xfrm>
              <a:off x="13057" y="4796"/>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质量</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212" name="直接箭头连接符 211"/>
            <p:cNvCxnSpPr>
              <a:stCxn id="191" idx="2"/>
              <a:endCxn id="208" idx="0"/>
            </p:cNvCxnSpPr>
            <p:nvPr/>
          </p:nvCxnSpPr>
          <p:spPr>
            <a:xfrm>
              <a:off x="9496"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13" name="直接箭头连接符 212"/>
            <p:cNvCxnSpPr>
              <a:stCxn id="202" idx="2"/>
              <a:endCxn id="210" idx="0"/>
            </p:cNvCxnSpPr>
            <p:nvPr/>
          </p:nvCxnSpPr>
          <p:spPr>
            <a:xfrm>
              <a:off x="12109"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14" name="直接箭头连接符 213"/>
            <p:cNvCxnSpPr>
              <a:stCxn id="203" idx="2"/>
              <a:endCxn id="211" idx="0"/>
            </p:cNvCxnSpPr>
            <p:nvPr/>
          </p:nvCxnSpPr>
          <p:spPr>
            <a:xfrm>
              <a:off x="13624" y="4555"/>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15" name="直接箭头连接符 214"/>
            <p:cNvCxnSpPr>
              <a:stCxn id="209" idx="2"/>
              <a:endCxn id="217" idx="0"/>
            </p:cNvCxnSpPr>
            <p:nvPr/>
          </p:nvCxnSpPr>
          <p:spPr>
            <a:xfrm>
              <a:off x="10802"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16" name="矩形 215"/>
            <p:cNvSpPr/>
            <p:nvPr/>
          </p:nvSpPr>
          <p:spPr>
            <a:xfrm>
              <a:off x="8929"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研发</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17" name="矩形 216"/>
            <p:cNvSpPr/>
            <p:nvPr/>
          </p:nvSpPr>
          <p:spPr>
            <a:xfrm>
              <a:off x="10235"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工程</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18" name="矩形 217"/>
            <p:cNvSpPr/>
            <p:nvPr/>
          </p:nvSpPr>
          <p:spPr>
            <a:xfrm>
              <a:off x="11542"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采购</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sp>
          <p:nvSpPr>
            <p:cNvPr id="219" name="矩形 218"/>
            <p:cNvSpPr/>
            <p:nvPr/>
          </p:nvSpPr>
          <p:spPr>
            <a:xfrm>
              <a:off x="13057" y="5491"/>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质量</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p:txBody>
        </p:sp>
        <p:cxnSp>
          <p:nvCxnSpPr>
            <p:cNvPr id="220" name="直接箭头连接符 219"/>
            <p:cNvCxnSpPr>
              <a:stCxn id="208" idx="2"/>
              <a:endCxn id="216" idx="0"/>
            </p:cNvCxnSpPr>
            <p:nvPr/>
          </p:nvCxnSpPr>
          <p:spPr>
            <a:xfrm>
              <a:off x="9496"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1" name="直接箭头连接符 220"/>
            <p:cNvCxnSpPr>
              <a:stCxn id="210" idx="2"/>
              <a:endCxn id="218" idx="0"/>
            </p:cNvCxnSpPr>
            <p:nvPr/>
          </p:nvCxnSpPr>
          <p:spPr>
            <a:xfrm>
              <a:off x="12109"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2" name="直接箭头连接符 221"/>
            <p:cNvCxnSpPr>
              <a:stCxn id="211" idx="2"/>
              <a:endCxn id="219" idx="0"/>
            </p:cNvCxnSpPr>
            <p:nvPr/>
          </p:nvCxnSpPr>
          <p:spPr>
            <a:xfrm>
              <a:off x="13624" y="5250"/>
              <a:ext cx="0" cy="242"/>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3" name="连接符: 肘形 131"/>
            <p:cNvCxnSpPr>
              <a:stCxn id="216" idx="2"/>
              <a:endCxn id="26" idx="0"/>
            </p:cNvCxnSpPr>
            <p:nvPr/>
          </p:nvCxnSpPr>
          <p:spPr>
            <a:xfrm rot="5400000" flipV="1">
              <a:off x="10572" y="4869"/>
              <a:ext cx="608" cy="2760"/>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4" name="连接符: 肘形 132"/>
            <p:cNvCxnSpPr>
              <a:stCxn id="217" idx="2"/>
              <a:endCxn id="26" idx="0"/>
            </p:cNvCxnSpPr>
            <p:nvPr/>
          </p:nvCxnSpPr>
          <p:spPr>
            <a:xfrm rot="5400000" flipV="1">
              <a:off x="11225" y="5522"/>
              <a:ext cx="608" cy="145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5" name="连接符: 肘形 133"/>
            <p:cNvCxnSpPr>
              <a:stCxn id="218" idx="2"/>
              <a:endCxn id="26" idx="0"/>
            </p:cNvCxnSpPr>
            <p:nvPr/>
          </p:nvCxnSpPr>
          <p:spPr>
            <a:xfrm rot="5400000" flipV="1">
              <a:off x="11879" y="6176"/>
              <a:ext cx="608" cy="147"/>
            </a:xfrm>
            <a:prstGeom prst="bentConnector3">
              <a:avLst>
                <a:gd name="adj1" fmla="val 49918"/>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26" name="连接符: 肘形 134"/>
            <p:cNvCxnSpPr>
              <a:stCxn id="219" idx="2"/>
              <a:endCxn id="26" idx="0"/>
            </p:cNvCxnSpPr>
            <p:nvPr/>
          </p:nvCxnSpPr>
          <p:spPr>
            <a:xfrm rot="5400000">
              <a:off x="12636" y="5565"/>
              <a:ext cx="608" cy="1368"/>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27" name="文本框 226"/>
            <p:cNvSpPr txBox="1"/>
            <p:nvPr/>
          </p:nvSpPr>
          <p:spPr>
            <a:xfrm>
              <a:off x="11309"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28" name="文本框 227"/>
            <p:cNvSpPr txBox="1"/>
            <p:nvPr/>
          </p:nvSpPr>
          <p:spPr>
            <a:xfrm>
              <a:off x="12806"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29" name="文本框 228"/>
            <p:cNvSpPr txBox="1"/>
            <p:nvPr/>
          </p:nvSpPr>
          <p:spPr>
            <a:xfrm>
              <a:off x="14369" y="6026"/>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30" name="文本框 229"/>
            <p:cNvSpPr txBox="1"/>
            <p:nvPr/>
          </p:nvSpPr>
          <p:spPr>
            <a:xfrm>
              <a:off x="11334"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231" name="文本框 230"/>
            <p:cNvSpPr txBox="1"/>
            <p:nvPr/>
          </p:nvSpPr>
          <p:spPr>
            <a:xfrm>
              <a:off x="12840"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sp>
          <p:nvSpPr>
            <p:cNvPr id="232" name="文本框 231"/>
            <p:cNvSpPr txBox="1"/>
            <p:nvPr/>
          </p:nvSpPr>
          <p:spPr>
            <a:xfrm>
              <a:off x="14345" y="6280"/>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233" name="连接符: 肘形 141"/>
            <p:cNvCxnSpPr>
              <a:stCxn id="217" idx="3"/>
              <a:endCxn id="209" idx="3"/>
            </p:cNvCxnSpPr>
            <p:nvPr/>
          </p:nvCxnSpPr>
          <p:spPr>
            <a:xfrm flipV="1">
              <a:off x="11369" y="5023"/>
              <a:ext cx="20" cy="695"/>
            </a:xfrm>
            <a:prstGeom prst="bentConnector3">
              <a:avLst>
                <a:gd name="adj1" fmla="val 1017394"/>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234" name="连接符: 肘形 142"/>
            <p:cNvCxnSpPr>
              <a:stCxn id="218" idx="3"/>
              <a:endCxn id="210" idx="3"/>
            </p:cNvCxnSpPr>
            <p:nvPr/>
          </p:nvCxnSpPr>
          <p:spPr>
            <a:xfrm flipV="1">
              <a:off x="12676" y="5023"/>
              <a:ext cx="20" cy="695"/>
            </a:xfrm>
            <a:prstGeom prst="bentConnector3">
              <a:avLst>
                <a:gd name="adj1" fmla="val 101738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235" name="连接符: 肘形 143"/>
            <p:cNvCxnSpPr>
              <a:stCxn id="219" idx="3"/>
              <a:endCxn id="211" idx="3"/>
            </p:cNvCxnSpPr>
            <p:nvPr/>
          </p:nvCxnSpPr>
          <p:spPr>
            <a:xfrm flipV="1">
              <a:off x="14190" y="5023"/>
              <a:ext cx="20" cy="695"/>
            </a:xfrm>
            <a:prstGeom prst="bentConnector3">
              <a:avLst>
                <a:gd name="adj1" fmla="val 1800000"/>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236" name="连接符: 肘形 51"/>
            <p:cNvCxnSpPr/>
            <p:nvPr/>
          </p:nvCxnSpPr>
          <p:spPr>
            <a:xfrm flipV="1">
              <a:off x="10023" y="4207"/>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37" name="文本框 236"/>
            <p:cNvSpPr txBox="1"/>
            <p:nvPr/>
          </p:nvSpPr>
          <p:spPr>
            <a:xfrm>
              <a:off x="10052" y="4459"/>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38" name="连接符: 肘形 55"/>
            <p:cNvCxnSpPr/>
            <p:nvPr/>
          </p:nvCxnSpPr>
          <p:spPr>
            <a:xfrm flipV="1">
              <a:off x="11322" y="4217"/>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39" name="文本框 238"/>
            <p:cNvSpPr txBox="1"/>
            <p:nvPr/>
          </p:nvSpPr>
          <p:spPr>
            <a:xfrm>
              <a:off x="11351" y="4468"/>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40" name="连接符: 肘形 57"/>
            <p:cNvCxnSpPr/>
            <p:nvPr/>
          </p:nvCxnSpPr>
          <p:spPr>
            <a:xfrm flipV="1">
              <a:off x="12669" y="420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41" name="文本框 240"/>
            <p:cNvSpPr txBox="1"/>
            <p:nvPr/>
          </p:nvSpPr>
          <p:spPr>
            <a:xfrm>
              <a:off x="12698" y="4454"/>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42" name="连接符: 肘形 61"/>
            <p:cNvCxnSpPr/>
            <p:nvPr/>
          </p:nvCxnSpPr>
          <p:spPr>
            <a:xfrm flipV="1">
              <a:off x="14176" y="421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43" name="文本框 242"/>
            <p:cNvSpPr txBox="1"/>
            <p:nvPr/>
          </p:nvSpPr>
          <p:spPr>
            <a:xfrm>
              <a:off x="14205" y="4464"/>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44" name="文本框 243"/>
            <p:cNvSpPr txBox="1"/>
            <p:nvPr/>
          </p:nvSpPr>
          <p:spPr>
            <a:xfrm>
              <a:off x="7083" y="4753"/>
              <a:ext cx="1721"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、采购、质量、测试、供应</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工程师</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45" name="文本框 244"/>
            <p:cNvSpPr txBox="1"/>
            <p:nvPr/>
          </p:nvSpPr>
          <p:spPr>
            <a:xfrm>
              <a:off x="7086" y="5458"/>
              <a:ext cx="1685" cy="3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工艺、材料</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、采购、质量、</a:t>
              </a:r>
              <a:r>
                <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测试、供应经理</a:t>
              </a:r>
              <a:endParaRPr kumimoji="0" lang="zh-CN" altLang="en-US" sz="8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46" name="矩形 245"/>
            <p:cNvSpPr/>
            <p:nvPr/>
          </p:nvSpPr>
          <p:spPr>
            <a:xfrm>
              <a:off x="14321" y="409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47" name="矩形 246"/>
            <p:cNvSpPr/>
            <p:nvPr/>
          </p:nvSpPr>
          <p:spPr>
            <a:xfrm>
              <a:off x="14321" y="4794"/>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48" name="直接箭头连接符 247"/>
            <p:cNvCxnSpPr>
              <a:stCxn id="246" idx="2"/>
              <a:endCxn id="247" idx="0"/>
            </p:cNvCxnSpPr>
            <p:nvPr/>
          </p:nvCxnSpPr>
          <p:spPr>
            <a:xfrm>
              <a:off x="14888" y="4553"/>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49" name="矩形 248"/>
            <p:cNvSpPr/>
            <p:nvPr/>
          </p:nvSpPr>
          <p:spPr>
            <a:xfrm>
              <a:off x="14321" y="548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测试</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50" name="连接符: 肘形 112"/>
            <p:cNvCxnSpPr>
              <a:stCxn id="13" idx="2"/>
              <a:endCxn id="246" idx="0"/>
            </p:cNvCxnSpPr>
            <p:nvPr/>
          </p:nvCxnSpPr>
          <p:spPr>
            <a:xfrm rot="5400000" flipV="1">
              <a:off x="13272" y="2483"/>
              <a:ext cx="601" cy="2632"/>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51" name="连接符: 肘形 134"/>
            <p:cNvCxnSpPr>
              <a:stCxn id="249" idx="2"/>
              <a:endCxn id="26" idx="0"/>
            </p:cNvCxnSpPr>
            <p:nvPr/>
          </p:nvCxnSpPr>
          <p:spPr>
            <a:xfrm rot="5400000">
              <a:off x="13267" y="4932"/>
              <a:ext cx="610" cy="2632"/>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52" name="文本框 251"/>
            <p:cNvSpPr txBox="1"/>
            <p:nvPr/>
          </p:nvSpPr>
          <p:spPr>
            <a:xfrm>
              <a:off x="15321" y="6034"/>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53" name="文本框 252"/>
            <p:cNvSpPr txBox="1"/>
            <p:nvPr/>
          </p:nvSpPr>
          <p:spPr>
            <a:xfrm>
              <a:off x="15249" y="6256"/>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254" name="连接符: 肘形 93"/>
            <p:cNvCxnSpPr/>
            <p:nvPr/>
          </p:nvCxnSpPr>
          <p:spPr>
            <a:xfrm flipV="1">
              <a:off x="15417" y="5087"/>
              <a:ext cx="20" cy="695"/>
            </a:xfrm>
            <a:prstGeom prst="bentConnector3">
              <a:avLst>
                <a:gd name="adj1" fmla="val 939126"/>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255" name="连接符: 肘形 143"/>
            <p:cNvCxnSpPr/>
            <p:nvPr/>
          </p:nvCxnSpPr>
          <p:spPr>
            <a:xfrm flipV="1">
              <a:off x="16606" y="5023"/>
              <a:ext cx="20" cy="695"/>
            </a:xfrm>
            <a:prstGeom prst="bentConnector3">
              <a:avLst>
                <a:gd name="adj1" fmla="val 890000"/>
              </a:avLst>
            </a:prstGeom>
            <a:noFill/>
            <a:ln w="12700" cap="flat">
              <a:solidFill>
                <a:srgbClr val="0000FF"/>
              </a:solidFill>
              <a:prstDash val="solid"/>
              <a:miter lim="800000"/>
              <a:tailEnd type="triangle"/>
            </a:ln>
          </p:spPr>
          <p:style>
            <a:lnRef idx="0">
              <a:srgbClr val="FFFFFF"/>
            </a:lnRef>
            <a:fillRef idx="0">
              <a:srgbClr val="FFFFFF"/>
            </a:fillRef>
            <a:effectRef idx="0">
              <a:srgbClr val="FFFFFF"/>
            </a:effectRef>
            <a:fontRef idx="none"/>
          </p:style>
        </p:cxnSp>
        <p:cxnSp>
          <p:nvCxnSpPr>
            <p:cNvPr id="256" name="连接符: 肘形 61"/>
            <p:cNvCxnSpPr/>
            <p:nvPr/>
          </p:nvCxnSpPr>
          <p:spPr>
            <a:xfrm flipV="1">
              <a:off x="16592" y="4212"/>
              <a:ext cx="20" cy="695"/>
            </a:xfrm>
            <a:prstGeom prst="bentConnector3">
              <a:avLst>
                <a:gd name="adj1" fmla="val 939126"/>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57" name="文本框 256"/>
            <p:cNvSpPr txBox="1"/>
            <p:nvPr/>
          </p:nvSpPr>
          <p:spPr>
            <a:xfrm>
              <a:off x="16541" y="4400"/>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58" name="矩形 257"/>
            <p:cNvSpPr/>
            <p:nvPr/>
          </p:nvSpPr>
          <p:spPr>
            <a:xfrm>
              <a:off x="15553" y="409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分派</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制造专业工程师</a:t>
              </a:r>
              <a:endParaRPr kumimoji="0" lang="zh-CN" altLang="en-US" sz="1000" b="0" i="0" u="none" strike="noStrike" kern="0"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59" name="矩形 258"/>
            <p:cNvSpPr/>
            <p:nvPr/>
          </p:nvSpPr>
          <p:spPr>
            <a:xfrm>
              <a:off x="15553" y="4794"/>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60" name="直接箭头连接符 259"/>
            <p:cNvCxnSpPr/>
            <p:nvPr/>
          </p:nvCxnSpPr>
          <p:spPr>
            <a:xfrm>
              <a:off x="16105" y="4528"/>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61" name="矩形 260"/>
            <p:cNvSpPr/>
            <p:nvPr/>
          </p:nvSpPr>
          <p:spPr>
            <a:xfrm>
              <a:off x="15553" y="5489"/>
              <a:ext cx="1134" cy="454"/>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0" rIns="36000" bIns="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审核可行性报告</a:t>
              </a:r>
              <a:r>
                <a:rPr lang="en-US" altLang="zh-CN"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制造</a:t>
              </a:r>
              <a:endParaRPr lang="zh-CN" altLang="en-US" sz="1000" kern="0" dirty="0">
                <a:solidFill>
                  <a:srgbClr val="FF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62" name="文本框 261"/>
            <p:cNvSpPr txBox="1"/>
            <p:nvPr/>
          </p:nvSpPr>
          <p:spPr>
            <a:xfrm>
              <a:off x="16297" y="6034"/>
              <a:ext cx="485"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rPr>
                <a:t>不通过</a:t>
              </a:r>
              <a:endParaRPr kumimoji="0" lang="zh-CN" altLang="en-US" sz="800" i="0" u="none" strike="noStrike" kern="0" cap="none" spc="0" normalizeH="0" baseline="0" dirty="0">
                <a:ln>
                  <a:noFill/>
                </a:ln>
                <a:solidFill>
                  <a:srgbClr val="0000FF"/>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263" name="文本框 262"/>
            <p:cNvSpPr txBox="1"/>
            <p:nvPr/>
          </p:nvSpPr>
          <p:spPr>
            <a:xfrm>
              <a:off x="16017" y="6256"/>
              <a:ext cx="323" cy="19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800">
                  <a:solidFill>
                    <a:srgbClr val="0000FF"/>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uFillTx/>
                  <a:cs typeface="Arial" panose="020B0604020202020204"/>
                  <a:sym typeface="Arial" panose="020B0604020202020204"/>
                </a:rPr>
                <a:t>通过</a:t>
              </a:r>
              <a:endParaRPr lang="zh-CN" altLang="en-US" kern="0" dirty="0">
                <a:uFillTx/>
                <a:cs typeface="Arial" panose="020B0604020202020204"/>
                <a:sym typeface="Arial" panose="020B0604020202020204"/>
              </a:endParaRPr>
            </a:p>
          </p:txBody>
        </p:sp>
        <p:cxnSp>
          <p:nvCxnSpPr>
            <p:cNvPr id="264" name="直接箭头连接符 263"/>
            <p:cNvCxnSpPr/>
            <p:nvPr/>
          </p:nvCxnSpPr>
          <p:spPr>
            <a:xfrm>
              <a:off x="16104" y="5214"/>
              <a:ext cx="0" cy="241"/>
            </a:xfrm>
            <a:prstGeom prst="straightConnector1">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cxnSp>
          <p:nvCxnSpPr>
            <p:cNvPr id="265" name="连接符: 肘形 112"/>
            <p:cNvCxnSpPr>
              <a:stCxn id="13" idx="2"/>
              <a:endCxn id="258" idx="0"/>
            </p:cNvCxnSpPr>
            <p:nvPr/>
          </p:nvCxnSpPr>
          <p:spPr>
            <a:xfrm rot="5400000" flipV="1">
              <a:off x="13888" y="1866"/>
              <a:ext cx="601" cy="3864"/>
            </a:xfrm>
            <a:prstGeom prst="bentConnector3">
              <a:avLst>
                <a:gd name="adj1" fmla="val 50000"/>
              </a:avLst>
            </a:prstGeom>
            <a:noFill/>
            <a:ln w="12700" cap="flat">
              <a:solidFill>
                <a:schemeClr val="accent1"/>
              </a:solidFill>
              <a:prstDash val="solid"/>
              <a:miter lim="800000"/>
              <a:tailEnd type="triangle"/>
            </a:ln>
          </p:spPr>
          <p:style>
            <a:lnRef idx="0">
              <a:srgbClr val="FFFFFF"/>
            </a:lnRef>
            <a:fillRef idx="0">
              <a:srgbClr val="FFFFFF"/>
            </a:fillRef>
            <a:effectRef idx="0">
              <a:srgbClr val="FFFFFF"/>
            </a:effectRef>
            <a:fontRef idx="none"/>
          </p:style>
        </p:cxnSp>
        <p:sp>
          <p:nvSpPr>
            <p:cNvPr id="266" name="文本框 265"/>
            <p:cNvSpPr txBox="1"/>
            <p:nvPr/>
          </p:nvSpPr>
          <p:spPr>
            <a:xfrm>
              <a:off x="15301" y="4440"/>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重新指定</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cxnSp>
          <p:nvCxnSpPr>
            <p:cNvPr id="267" name="连接符: 肘形 53"/>
            <p:cNvCxnSpPr/>
            <p:nvPr/>
          </p:nvCxnSpPr>
          <p:spPr>
            <a:xfrm flipV="1">
              <a:off x="13648" y="4598"/>
              <a:ext cx="3228" cy="2083"/>
            </a:xfrm>
            <a:prstGeom prst="bentConnector3">
              <a:avLst>
                <a:gd name="adj1" fmla="val 108054"/>
              </a:avLst>
            </a:prstGeom>
            <a:noFill/>
            <a:ln w="12700" cap="flat">
              <a:solidFill>
                <a:schemeClr val="bg1">
                  <a:lumMod val="50000"/>
                </a:schemeClr>
              </a:solidFill>
              <a:prstDash val="solid"/>
              <a:miter lim="800000"/>
              <a:tailEnd type="triangle"/>
            </a:ln>
          </p:spPr>
          <p:style>
            <a:lnRef idx="0">
              <a:srgbClr val="FFFFFF"/>
            </a:lnRef>
            <a:fillRef idx="0">
              <a:srgbClr val="FFFFFF"/>
            </a:fillRef>
            <a:effectRef idx="0">
              <a:srgbClr val="FFFFFF"/>
            </a:effectRef>
            <a:fontRef idx="none"/>
          </p:style>
        </p:cxnSp>
        <p:sp>
          <p:nvSpPr>
            <p:cNvPr id="268" name="文本框 267"/>
            <p:cNvSpPr txBox="1"/>
            <p:nvPr/>
          </p:nvSpPr>
          <p:spPr>
            <a:xfrm>
              <a:off x="17023" y="4228"/>
              <a:ext cx="397" cy="3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修改报告</a:t>
              </a:r>
              <a:endParaRPr kumimoji="0" lang="zh-CN" altLang="en-US" sz="80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zh-CN" altLang="en-US" sz="2800">
                <a:solidFill>
                  <a:schemeClr val="tx1"/>
                </a:solidFill>
                <a:sym typeface="+mn-ea"/>
              </a:rPr>
              <a:t>技术工艺</a:t>
            </a:r>
            <a:r>
              <a:rPr lang="zh-CN" altLang="en-US" sz="2800">
                <a:solidFill>
                  <a:schemeClr val="tx1"/>
                </a:solidFill>
                <a:sym typeface="+mn-ea"/>
              </a:rPr>
              <a:t>评估管理流程活动简述</a:t>
            </a:r>
            <a:endParaRPr lang="zh-CN" altLang="en-US" sz="2800">
              <a:solidFill>
                <a:schemeClr val="tx1"/>
              </a:solidFill>
              <a:sym typeface="+mn-ea"/>
            </a:endParaRPr>
          </a:p>
        </p:txBody>
      </p:sp>
      <p:graphicFrame>
        <p:nvGraphicFramePr>
          <p:cNvPr id="11" name="表格 10"/>
          <p:cNvGraphicFramePr/>
          <p:nvPr>
            <p:custDataLst>
              <p:tags r:id="rId2"/>
            </p:custDataLst>
          </p:nvPr>
        </p:nvGraphicFramePr>
        <p:xfrm>
          <a:off x="525780" y="1009650"/>
          <a:ext cx="11438255" cy="4345940"/>
        </p:xfrm>
        <a:graphic>
          <a:graphicData uri="http://schemas.openxmlformats.org/drawingml/2006/table">
            <a:tbl>
              <a:tblPr firstRow="1" bandRow="1">
                <a:tableStyleId>{5C22544A-7EE6-4342-B048-85BDC9FD1C3A}</a:tableStyleId>
              </a:tblPr>
              <a:tblGrid>
                <a:gridCol w="622935"/>
                <a:gridCol w="2188845"/>
                <a:gridCol w="8626475"/>
              </a:tblGrid>
              <a:tr h="190346">
                <a:tc>
                  <a:txBody>
                    <a:bodyPr/>
                    <a:lstStyle/>
                    <a:p>
                      <a:pPr algn="ctr">
                        <a:buNone/>
                      </a:pPr>
                      <a:r>
                        <a:rPr lang="zh-CN" altLang="en-US" sz="1400"/>
                        <a:t>步骤</a:t>
                      </a:r>
                      <a:endParaRPr lang="zh-CN" altLang="en-US" sz="1400"/>
                    </a:p>
                  </a:txBody>
                  <a:tcPr anchor="ctr"/>
                </a:tc>
                <a:tc>
                  <a:txBody>
                    <a:bodyPr/>
                    <a:lstStyle/>
                    <a:p>
                      <a:pPr algn="ctr">
                        <a:buNone/>
                      </a:pPr>
                      <a:r>
                        <a:rPr lang="zh-CN" altLang="en-US" sz="1400"/>
                        <a:t>活动</a:t>
                      </a:r>
                      <a:endParaRPr lang="zh-CN" altLang="en-US" sz="1400"/>
                    </a:p>
                  </a:txBody>
                  <a:tcPr anchor="ctr"/>
                </a:tc>
                <a:tc>
                  <a:txBody>
                    <a:bodyPr/>
                    <a:lstStyle/>
                    <a:p>
                      <a:pPr algn="ctr">
                        <a:buNone/>
                      </a:pPr>
                      <a:r>
                        <a:rPr lang="zh-CN" altLang="en-US" sz="1400" dirty="0"/>
                        <a:t>简述</a:t>
                      </a:r>
                      <a:endParaRPr lang="zh-CN" altLang="en-US" sz="1400" dirty="0"/>
                    </a:p>
                  </a:txBody>
                  <a:tcPr anchor="ctr"/>
                </a:tc>
              </a:tr>
              <a:tr h="251422">
                <a:tc>
                  <a:txBody>
                    <a:bodyPr/>
                    <a:lstStyle/>
                    <a:p>
                      <a:pPr algn="ctr">
                        <a:buNone/>
                      </a:pPr>
                      <a:r>
                        <a:rPr lang="zh-CN" altLang="en-US" sz="1200" dirty="0">
                          <a:latin typeface="微软雅黑" panose="020B0503020204020204" pitchFamily="34" charset="-122"/>
                          <a:ea typeface="微软雅黑" panose="020B0503020204020204" pitchFamily="34" charset="-122"/>
                        </a:rPr>
                        <a:t>①</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创建工艺评估需求</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创建工艺评估需求单。该单需包含客户信息、产品类型、技术来源、预期用途等基础信息，并关联客户已提供的图纸和技术资料</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r>
              <a:tr h="251422">
                <a:tc>
                  <a:txBody>
                    <a:bodyPr/>
                    <a:lstStyle/>
                    <a:p>
                      <a:pPr algn="ctr">
                        <a:buNone/>
                      </a:pPr>
                      <a:r>
                        <a:rPr lang="zh-CN" altLang="en-US" sz="1200" dirty="0">
                          <a:latin typeface="微软雅黑" panose="020B0503020204020204" pitchFamily="34" charset="-122"/>
                          <a:ea typeface="微软雅黑" panose="020B0503020204020204" pitchFamily="34" charset="-122"/>
                        </a:rPr>
                        <a:t>②</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确认工艺评估需求</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对销售专员提交的需求单进行初步审核，判断需求是否合理、资料是否齐全，确认后可进入下一环节。如资料不全或需求不清晰，则退回补充</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r>
              <a:tr h="251422">
                <a:tc>
                  <a:txBody>
                    <a:bodyPr/>
                    <a:lstStyle/>
                    <a:p>
                      <a:pPr algn="ctr">
                        <a:buNone/>
                      </a:pPr>
                      <a:r>
                        <a:rPr lang="zh-CN" altLang="en-US" sz="1200" dirty="0">
                          <a:latin typeface="微软雅黑" panose="020B0503020204020204" pitchFamily="34" charset="-122"/>
                          <a:ea typeface="微软雅黑" panose="020B0503020204020204" pitchFamily="34" charset="-122"/>
                        </a:rPr>
                        <a:t>③</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审核工艺评估需求</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已确认的需求进行最终审核，从战略层面判断项目是否值得投入研发和工艺评估资源，批准后正式启动工艺拆解流程</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r>
              <a:tr h="236005">
                <a:tc>
                  <a:txBody>
                    <a:bodyPr/>
                    <a:lstStyle/>
                    <a:p>
                      <a:pPr algn="ctr">
                        <a:buNone/>
                      </a:pPr>
                      <a:r>
                        <a:rPr lang="zh-CN" altLang="en-US" sz="1200" dirty="0">
                          <a:latin typeface="微软雅黑" panose="020B0503020204020204" pitchFamily="34" charset="-122"/>
                          <a:ea typeface="微软雅黑" panose="020B0503020204020204" pitchFamily="34" charset="-122"/>
                        </a:rPr>
                        <a:t>④</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图纸解析与设计工艺转化</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接收客户提供的2</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工程图、3</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CAD</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文件及</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装配图等输入物，将其转化为公司内部的“工艺语言”</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r>
              <a:tr h="235709">
                <a:tc>
                  <a:txBody>
                    <a:bodyPr/>
                    <a:lstStyle/>
                    <a:p>
                      <a:pPr algn="ctr">
                        <a:buNone/>
                      </a:pPr>
                      <a:r>
                        <a:rPr lang="zh-CN" altLang="en-US" sz="1200" dirty="0">
                          <a:latin typeface="微软雅黑" panose="020B0503020204020204" pitchFamily="34" charset="-122"/>
                          <a:ea typeface="微软雅黑" panose="020B0503020204020204" pitchFamily="34" charset="-122"/>
                        </a:rPr>
                        <a:t>⑤</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材料定性与供应链拆解</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根据图纸要求，确定制造该型号静电吸盘所需的核心原材料种类、规格和纯度等级，并评估现有供应链能否满足要求</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r>
              <a:tr h="235709">
                <a:tc>
                  <a:txBody>
                    <a:bodyPr/>
                    <a:lstStyle/>
                    <a:p>
                      <a:pPr algn="ctr">
                        <a:buNone/>
                      </a:pPr>
                      <a:r>
                        <a:rPr lang="zh-CN" altLang="en-US" sz="1200" dirty="0">
                          <a:latin typeface="微软雅黑" panose="020B0503020204020204" pitchFamily="34" charset="-122"/>
                          <a:ea typeface="微软雅黑" panose="020B0503020204020204" pitchFamily="34" charset="-122"/>
                        </a:rPr>
                        <a:t>⑥</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制造工艺路径规划和</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编制</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规划从陶瓷生坯到精密部件的全流程工艺路线，确定流延成型、电极印刷、高温共烧、精密研磨等核心工序的先后顺序及关键工艺参数。同时完成正式</a:t>
                      </a:r>
                      <a:r>
                        <a:rPr lang="en-US" altLang="zh-CN"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BOM</a:t>
                      </a:r>
                      <a:r>
                        <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编制，为后续采购与生产提供依据</a:t>
                      </a:r>
                      <a:endParaRPr lang="zh-CN" altLang="en-US" sz="12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tc>
              </a:tr>
              <a:tr h="235709">
                <a:tc>
                  <a:txBody>
                    <a:bodyPr/>
                    <a:lstStyle/>
                    <a:p>
                      <a:pPr algn="ctr">
                        <a:buNone/>
                      </a:pPr>
                      <a:r>
                        <a:rPr lang="zh-CN" altLang="en-US" sz="1200" dirty="0">
                          <a:latin typeface="微软雅黑" panose="020B0503020204020204" pitchFamily="34" charset="-122"/>
                          <a:ea typeface="微软雅黑" panose="020B0503020204020204" pitchFamily="34" charset="-122"/>
                        </a:rPr>
                        <a:t>⑦</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清洗与洁净度管控方案制定</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000000"/>
                          </a:solidFill>
                          <a:latin typeface="微软雅黑" panose="020B0503020204020204" pitchFamily="34" charset="-122"/>
                          <a:ea typeface="微软雅黑" panose="020B0503020204020204" pitchFamily="34" charset="-122"/>
                        </a:rPr>
                        <a:t>根据图纸标注的洁净度等级，定制化学清洗方案和高纯水终漂洗流程</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r>
              <a:tr h="235709">
                <a:tc>
                  <a:txBody>
                    <a:bodyPr/>
                    <a:lstStyle/>
                    <a:p>
                      <a:pPr algn="ctr">
                        <a:buNone/>
                      </a:pPr>
                      <a:r>
                        <a:rPr lang="zh-CN" altLang="en-US" sz="1200" dirty="0">
                          <a:latin typeface="微软雅黑" panose="020B0503020204020204" pitchFamily="34" charset="-122"/>
                          <a:ea typeface="微软雅黑" panose="020B0503020204020204" pitchFamily="34" charset="-122"/>
                        </a:rPr>
                        <a:t>⑧</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组装与检测方案制定</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规划成品组装流程并确定符合图纸验收标准的检测方案，包括陶瓷板与金属基座的封装工艺、电极引出方式，以及电性能、吸附力、气密性等关键指标的检测方法</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r>
              <a:tr h="235709">
                <a:tc>
                  <a:txBody>
                    <a:bodyPr/>
                    <a:lstStyle/>
                    <a:p>
                      <a:pPr algn="ctr">
                        <a:buNone/>
                      </a:pPr>
                      <a:r>
                        <a:rPr lang="zh-CN" altLang="en-US" sz="1200" dirty="0">
                          <a:latin typeface="微软雅黑" panose="020B0503020204020204" pitchFamily="34" charset="-122"/>
                          <a:ea typeface="微软雅黑" panose="020B0503020204020204" pitchFamily="34" charset="-122"/>
                        </a:rPr>
                        <a:t>⑨</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产线匹配与产能评估</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buNone/>
                      </a:pPr>
                      <a:r>
                        <a:rPr lang="zh-CN" altLang="en-US" sz="1200" b="0" dirty="0">
                          <a:solidFill>
                            <a:srgbClr val="000000"/>
                          </a:solidFill>
                          <a:latin typeface="微软雅黑" panose="020B0503020204020204" pitchFamily="34" charset="-122"/>
                          <a:ea typeface="微软雅黑" panose="020B0503020204020204" pitchFamily="34" charset="-122"/>
                        </a:rPr>
                        <a:t>将拆解出的工艺步骤与公司现有的生产线进行匹配，确认设备能力、计算生产节拍和产能，评估订单的经济可行性</a:t>
                      </a:r>
                      <a:endParaRPr lang="zh-CN" altLang="en-US" sz="12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tc>
              </a:tr>
              <a:tr h="235709">
                <a:tc>
                  <a:txBody>
                    <a:bodyPr/>
                    <a:lstStyle/>
                    <a:p>
                      <a:pPr algn="ctr">
                        <a:buNone/>
                      </a:pPr>
                      <a:r>
                        <a:rPr lang="zh-CN" altLang="en-US" sz="1200" dirty="0">
                          <a:solidFill>
                            <a:schemeClr val="tx1"/>
                          </a:solidFill>
                          <a:latin typeface="微软雅黑" panose="020B0503020204020204" pitchFamily="34" charset="-122"/>
                          <a:ea typeface="微软雅黑" panose="020B0503020204020204" pitchFamily="34" charset="-122"/>
                        </a:rPr>
                        <a:t>⑩</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indent="0">
                        <a:buNone/>
                      </a:pPr>
                      <a:r>
                        <a:rPr lang="zh-CN" altLang="en-US" sz="1200" b="0" dirty="0">
                          <a:solidFill>
                            <a:schemeClr val="tx1"/>
                          </a:solidFill>
                          <a:latin typeface="微软雅黑" panose="020B0503020204020204" pitchFamily="34" charset="-122"/>
                          <a:ea typeface="微软雅黑" panose="020B0503020204020204" pitchFamily="34" charset="-122"/>
                        </a:rPr>
                        <a:t>汇总</a:t>
                      </a:r>
                      <a:r>
                        <a:rPr lang="zh-CN" altLang="en-US" sz="1200" dirty="0">
                          <a:solidFill>
                            <a:schemeClr val="tx1"/>
                          </a:solidFill>
                          <a:latin typeface="微软雅黑" panose="020B0503020204020204" pitchFamily="34" charset="-122"/>
                          <a:ea typeface="微软雅黑" panose="020B0503020204020204" pitchFamily="34" charset="-122"/>
                          <a:sym typeface="+mn-ea"/>
                        </a:rPr>
                        <a:t>工艺</a:t>
                      </a:r>
                      <a:r>
                        <a:rPr lang="zh-CN" altLang="en-US" sz="1200" b="0" dirty="0">
                          <a:solidFill>
                            <a:schemeClr val="tx1"/>
                          </a:solidFill>
                          <a:latin typeface="微软雅黑" panose="020B0503020204020204" pitchFamily="34" charset="-122"/>
                          <a:ea typeface="微软雅黑" panose="020B0503020204020204" pitchFamily="34" charset="-122"/>
                        </a:rPr>
                        <a:t>评估报告</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12700" marR="12700" marT="12700" anchor="ctr"/>
                </a:tc>
                <a:tc>
                  <a:txBody>
                    <a:bodyPr/>
                    <a:lstStyle/>
                    <a:p>
                      <a:pPr indent="0">
                        <a:buNone/>
                      </a:pPr>
                      <a:r>
                        <a:rPr lang="zh-CN" altLang="en-US" sz="1200" b="0" dirty="0">
                          <a:solidFill>
                            <a:schemeClr val="tx1"/>
                          </a:solidFill>
                          <a:latin typeface="微软雅黑" panose="020B0503020204020204" pitchFamily="34" charset="-122"/>
                          <a:ea typeface="微软雅黑" panose="020B0503020204020204" pitchFamily="34" charset="-122"/>
                          <a:sym typeface="+mn-ea"/>
                        </a:rPr>
                        <a:t>收集并整合六个专业工程师的工艺拆解成果，汇总形成一份完整的工艺评估报告初稿，确保各环节之间逻辑一致、数据匹配</a:t>
                      </a:r>
                      <a:endParaRPr lang="zh-CN" altLang="en-US" sz="1200" b="0" dirty="0">
                        <a:solidFill>
                          <a:schemeClr val="tx1"/>
                        </a:solidFill>
                        <a:latin typeface="微软雅黑" panose="020B0503020204020204" pitchFamily="34" charset="-122"/>
                        <a:ea typeface="微软雅黑" panose="020B0503020204020204" pitchFamily="34" charset="-122"/>
                        <a:sym typeface="+mn-ea"/>
                      </a:endParaRPr>
                    </a:p>
                  </a:txBody>
                  <a:tcPr marL="12700" marR="12700" marT="12700" anchor="ctr"/>
                </a:tc>
              </a:tr>
              <a:tr h="235709">
                <a:tc>
                  <a:txBody>
                    <a:bodyPr/>
                    <a:p>
                      <a:pPr algn="ctr">
                        <a:buNone/>
                      </a:pPr>
                      <a:r>
                        <a:rPr lang="en-US" altLang="zh-CN" sz="1200" dirty="0">
                          <a:solidFill>
                            <a:schemeClr val="tx1"/>
                          </a:solidFill>
                          <a:latin typeface="微软雅黑" panose="020B0503020204020204" pitchFamily="34" charset="-122"/>
                          <a:ea typeface="微软雅黑" panose="020B0503020204020204" pitchFamily="34" charset="-122"/>
                        </a:rPr>
                        <a:t>11</a:t>
                      </a:r>
                      <a:endParaRPr lang="en-US" altLang="zh-CN" sz="1200" dirty="0">
                        <a:solidFill>
                          <a:schemeClr val="tx1"/>
                        </a:solidFill>
                        <a:latin typeface="微软雅黑" panose="020B0503020204020204" pitchFamily="34" charset="-122"/>
                        <a:ea typeface="微软雅黑" panose="020B0503020204020204" pitchFamily="34" charset="-122"/>
                      </a:endParaRPr>
                    </a:p>
                  </a:txBody>
                  <a:tcPr anchor="ctr"/>
                </a:tc>
                <a:tc>
                  <a:txBody>
                    <a:bodyPr/>
                    <a:p>
                      <a:pPr indent="0">
                        <a:buNone/>
                      </a:pPr>
                      <a:r>
                        <a:rPr lang="zh-CN" altLang="en-US" sz="1200" b="0" dirty="0">
                          <a:solidFill>
                            <a:schemeClr val="tx1"/>
                          </a:solidFill>
                          <a:latin typeface="微软雅黑" panose="020B0503020204020204" pitchFamily="34" charset="-122"/>
                          <a:ea typeface="微软雅黑" panose="020B0503020204020204" pitchFamily="34" charset="-122"/>
                        </a:rPr>
                        <a:t>审核</a:t>
                      </a:r>
                      <a:r>
                        <a:rPr lang="zh-CN" altLang="en-US" sz="1200" dirty="0">
                          <a:solidFill>
                            <a:schemeClr val="tx1"/>
                          </a:solidFill>
                          <a:latin typeface="微软雅黑" panose="020B0503020204020204" pitchFamily="34" charset="-122"/>
                          <a:ea typeface="微软雅黑" panose="020B0503020204020204" pitchFamily="34" charset="-122"/>
                          <a:sym typeface="+mn-ea"/>
                        </a:rPr>
                        <a:t>工艺</a:t>
                      </a:r>
                      <a:r>
                        <a:rPr lang="zh-CN" altLang="en-US" sz="1200" b="0" dirty="0">
                          <a:solidFill>
                            <a:schemeClr val="tx1"/>
                          </a:solidFill>
                          <a:latin typeface="微软雅黑" panose="020B0503020204020204" pitchFamily="34" charset="-122"/>
                          <a:ea typeface="微软雅黑" panose="020B0503020204020204" pitchFamily="34" charset="-122"/>
                        </a:rPr>
                        <a:t>评估报告</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12700" marR="12700" marT="12700" anchor="ctr"/>
                </a:tc>
                <a:tc>
                  <a:txBody>
                    <a:bodyPr/>
                    <a:p>
                      <a:pPr indent="0">
                        <a:buNone/>
                      </a:pPr>
                      <a:r>
                        <a:rPr lang="zh-CN" altLang="en-US" sz="1200" b="0" dirty="0">
                          <a:solidFill>
                            <a:schemeClr val="tx1"/>
                          </a:solidFill>
                          <a:latin typeface="微软雅黑" panose="020B0503020204020204" pitchFamily="34" charset="-122"/>
                          <a:ea typeface="微软雅黑" panose="020B0503020204020204" pitchFamily="34" charset="-122"/>
                          <a:sym typeface="+mn-ea"/>
                        </a:rPr>
                        <a:t>对工艺评估报告初稿进行全面审核，确认技术方案的科学性、经济可行性、风险可控性，审批通过后进入发布流程。如需调整则退回修改</a:t>
                      </a:r>
                      <a:endParaRPr lang="zh-CN" altLang="en-US" sz="1200" b="0" dirty="0">
                        <a:solidFill>
                          <a:schemeClr val="tx1"/>
                        </a:solidFill>
                        <a:latin typeface="微软雅黑" panose="020B0503020204020204" pitchFamily="34" charset="-122"/>
                        <a:ea typeface="微软雅黑" panose="020B0503020204020204" pitchFamily="34" charset="-122"/>
                        <a:sym typeface="+mn-ea"/>
                      </a:endParaRPr>
                    </a:p>
                  </a:txBody>
                  <a:tcPr marL="12700" marR="12700" marT="12700" anchor="ctr"/>
                </a:tc>
              </a:tr>
              <a:tr h="235709">
                <a:tc>
                  <a:txBody>
                    <a:bodyPr/>
                    <a:p>
                      <a:pPr algn="ctr">
                        <a:buNone/>
                      </a:pPr>
                      <a:r>
                        <a:rPr lang="en-US" altLang="zh-CN" sz="1200" dirty="0">
                          <a:solidFill>
                            <a:schemeClr val="tx1"/>
                          </a:solidFill>
                          <a:latin typeface="微软雅黑" panose="020B0503020204020204" pitchFamily="34" charset="-122"/>
                          <a:ea typeface="微软雅黑" panose="020B0503020204020204" pitchFamily="34" charset="-122"/>
                        </a:rPr>
                        <a:t>12</a:t>
                      </a:r>
                      <a:endParaRPr lang="en-US" altLang="zh-CN" sz="1200" dirty="0">
                        <a:solidFill>
                          <a:schemeClr val="tx1"/>
                        </a:solidFill>
                        <a:latin typeface="微软雅黑" panose="020B0503020204020204" pitchFamily="34" charset="-122"/>
                        <a:ea typeface="微软雅黑" panose="020B0503020204020204" pitchFamily="34" charset="-122"/>
                      </a:endParaRPr>
                    </a:p>
                  </a:txBody>
                  <a:tcPr anchor="ctr"/>
                </a:tc>
                <a:tc>
                  <a:txBody>
                    <a:bodyPr/>
                    <a:p>
                      <a:pPr indent="0">
                        <a:buNone/>
                      </a:pPr>
                      <a:r>
                        <a:rPr lang="zh-CN" altLang="en-US" sz="1200" b="0" dirty="0">
                          <a:solidFill>
                            <a:schemeClr val="tx1"/>
                          </a:solidFill>
                          <a:latin typeface="微软雅黑" panose="020B0503020204020204" pitchFamily="34" charset="-122"/>
                          <a:ea typeface="微软雅黑" panose="020B0503020204020204" pitchFamily="34" charset="-122"/>
                        </a:rPr>
                        <a:t>发布</a:t>
                      </a:r>
                      <a:r>
                        <a:rPr lang="zh-CN" altLang="en-US" sz="1200" dirty="0">
                          <a:solidFill>
                            <a:schemeClr val="tx1"/>
                          </a:solidFill>
                          <a:latin typeface="微软雅黑" panose="020B0503020204020204" pitchFamily="34" charset="-122"/>
                          <a:ea typeface="微软雅黑" panose="020B0503020204020204" pitchFamily="34" charset="-122"/>
                          <a:sym typeface="+mn-ea"/>
                        </a:rPr>
                        <a:t>工艺</a:t>
                      </a:r>
                      <a:r>
                        <a:rPr lang="zh-CN" altLang="en-US" sz="1200" b="0" dirty="0">
                          <a:solidFill>
                            <a:schemeClr val="tx1"/>
                          </a:solidFill>
                          <a:latin typeface="微软雅黑" panose="020B0503020204020204" pitchFamily="34" charset="-122"/>
                          <a:ea typeface="微软雅黑" panose="020B0503020204020204" pitchFamily="34" charset="-122"/>
                        </a:rPr>
                        <a:t>评估报告</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12700" marR="12700" marT="12700" anchor="ctr"/>
                </a:tc>
                <a:tc>
                  <a:txBody>
                    <a:bodyPr/>
                    <a:p>
                      <a:pPr indent="0">
                        <a:buNone/>
                      </a:pPr>
                      <a:r>
                        <a:rPr lang="zh-CN" altLang="en-US" sz="1200" b="0" dirty="0">
                          <a:solidFill>
                            <a:schemeClr val="tx1"/>
                          </a:solidFill>
                          <a:latin typeface="微软雅黑" panose="020B0503020204020204" pitchFamily="34" charset="-122"/>
                          <a:ea typeface="微软雅黑" panose="020B0503020204020204" pitchFamily="34" charset="-122"/>
                          <a:sym typeface="+mn-ea"/>
                        </a:rPr>
                        <a:t>将审核通过的工艺评估报告正式发布，分发给相关部门（销售、采购、生产、质量等），作为后续合同签订、生产准备、原材料采购等环节的纲领性文件</a:t>
                      </a:r>
                      <a:endParaRPr lang="zh-CN" altLang="en-US" sz="1200" b="0" dirty="0">
                        <a:solidFill>
                          <a:schemeClr val="tx1"/>
                        </a:solidFill>
                        <a:latin typeface="微软雅黑" panose="020B0503020204020204" pitchFamily="34" charset="-122"/>
                        <a:ea typeface="微软雅黑" panose="020B0503020204020204" pitchFamily="34" charset="-122"/>
                        <a:sym typeface="+mn-ea"/>
                      </a:endParaRPr>
                    </a:p>
                  </a:txBody>
                  <a:tcPr marL="12700" marR="12700" marT="12700" anchor="ctr"/>
                </a:tc>
              </a:tr>
            </a:tbl>
          </a:graphicData>
        </a:graphic>
      </p:graphicFrame>
      <p:sp>
        <p:nvSpPr>
          <p:cNvPr id="6" name="文本框 5"/>
          <p:cNvSpPr txBox="1"/>
          <p:nvPr/>
        </p:nvSpPr>
        <p:spPr>
          <a:xfrm>
            <a:off x="525780" y="5307330"/>
            <a:ext cx="11438255" cy="1214755"/>
          </a:xfrm>
          <a:prstGeom prst="rect">
            <a:avLst/>
          </a:prstGeom>
          <a:noFill/>
        </p:spPr>
        <p:txBody>
          <a:bodyPr wrap="square" rtlCol="0">
            <a:noAutofit/>
          </a:bodyPr>
          <a:lstStyle/>
          <a:p>
            <a:pPr hangingPunct="0">
              <a:lnSpc>
                <a:spcPct val="150000"/>
              </a:lnSpc>
              <a:spcBef>
                <a:spcPts val="0"/>
              </a:spcBef>
              <a:spcAft>
                <a:spcPts val="0"/>
              </a:spcAft>
            </a:pP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配置规则：</a:t>
            </a:r>
            <a:endPar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hangingPunct="0">
              <a:lnSpc>
                <a:spcPct val="150000"/>
              </a:lnSpc>
              <a:spcBef>
                <a:spcPts val="0"/>
              </a:spcBef>
              <a:spcAft>
                <a:spcPts val="0"/>
              </a:spcAft>
            </a:pP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1</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、任务开始前发送提醒，两次提醒，第一次提前</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天，第二次提前</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5</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天（按项目日历来）</a:t>
            </a:r>
            <a:endPar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hangingPunct="0">
              <a:lnSpc>
                <a:spcPct val="150000"/>
              </a:lnSpc>
              <a:spcBef>
                <a:spcPts val="0"/>
              </a:spcBef>
              <a:spcAft>
                <a:spcPts val="0"/>
              </a:spcAft>
            </a:pP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2</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、开始到结束前，临期定义为活动计划周期（活动周期的</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1/3</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取整进行临期提醒）</a:t>
            </a:r>
            <a:endPar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hangingPunct="0">
              <a:lnSpc>
                <a:spcPct val="150000"/>
              </a:lnSpc>
              <a:spcBef>
                <a:spcPts val="0"/>
              </a:spcBef>
              <a:spcAft>
                <a:spcPts val="0"/>
              </a:spcAft>
            </a:pP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、逾期红色，逾期</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天深红，逾期</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10</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天深红紫（颜色逐步加深）</a:t>
            </a:r>
            <a:endPar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hangingPunct="0">
              <a:lnSpc>
                <a:spcPct val="150000"/>
              </a:lnSpc>
              <a:spcBef>
                <a:spcPts val="0"/>
              </a:spcBef>
              <a:spcAft>
                <a:spcPts val="0"/>
              </a:spcAft>
            </a:pP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4</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、任务开始时生成待办，任务令完成关闭并从任务表消失（任务令管理在现有</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7</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个活动下增加活动）大部分</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级，小部分</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4-5</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级；</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200</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任务项，少部分</a:t>
            </a:r>
            <a:r>
              <a:rPr lang="en-US" altLang="zh-CN"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300</a:t>
            </a:r>
            <a:r>
              <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任务项</a:t>
            </a:r>
            <a:endParaRPr lang="zh-CN" altLang="en-US" sz="1000" kern="0" dirty="0">
              <a:solidFill>
                <a:srgbClr val="C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0 </a:t>
            </a:r>
            <a:r>
              <a:rPr lang="zh-CN" altLang="en-US" sz="2800">
                <a:solidFill>
                  <a:schemeClr val="tx1"/>
                </a:solidFill>
                <a:cs typeface="微软雅黑" panose="020B0503020204020204" pitchFamily="34" charset="-122"/>
                <a:sym typeface="+mn-ea"/>
              </a:rPr>
              <a:t>技术工艺</a:t>
            </a:r>
            <a:r>
              <a:rPr lang="zh-CN" altLang="en-US" sz="2800">
                <a:solidFill>
                  <a:schemeClr val="tx1"/>
                </a:solidFill>
                <a:cs typeface="微软雅黑" panose="020B0503020204020204" pitchFamily="34" charset="-122"/>
                <a:sym typeface="+mn-ea"/>
              </a:rPr>
              <a:t>评估需求单列表</a:t>
            </a:r>
            <a:endParaRPr lang="zh-CN" altLang="en-US" sz="2800">
              <a:solidFill>
                <a:schemeClr val="tx1"/>
              </a:solidFill>
              <a:cs typeface="微软雅黑" panose="020B0503020204020204" pitchFamily="34" charset="-122"/>
              <a:sym typeface="+mn-ea"/>
            </a:endParaRPr>
          </a:p>
        </p:txBody>
      </p:sp>
      <p:graphicFrame>
        <p:nvGraphicFramePr>
          <p:cNvPr id="3" name="表格 2"/>
          <p:cNvGraphicFramePr/>
          <p:nvPr>
            <p:custDataLst>
              <p:tags r:id="rId2"/>
            </p:custDataLst>
          </p:nvPr>
        </p:nvGraphicFramePr>
        <p:xfrm>
          <a:off x="617855" y="965835"/>
          <a:ext cx="11155680" cy="2316480"/>
        </p:xfrm>
        <a:graphic>
          <a:graphicData uri="http://schemas.openxmlformats.org/drawingml/2006/table">
            <a:tbl>
              <a:tblPr firstRow="1" bandRow="1">
                <a:tableStyleId>{5C22544A-7EE6-4342-B048-85BDC9FD1C3A}</a:tableStyleId>
              </a:tblPr>
              <a:tblGrid>
                <a:gridCol w="1359535"/>
                <a:gridCol w="9796145"/>
              </a:tblGrid>
              <a:tr h="264191">
                <a:tc>
                  <a:txBody>
                    <a:bodyPr/>
                    <a:lstStyle/>
                    <a:p>
                      <a:pPr algn="ctr">
                        <a:buNone/>
                      </a:pPr>
                      <a:r>
                        <a:rPr lang="zh-CN" altLang="en-US" sz="1400" dirty="0"/>
                        <a:t>步骤</a:t>
                      </a:r>
                      <a:r>
                        <a:rPr lang="en-US" altLang="zh-CN" sz="1400" dirty="0"/>
                        <a:t> </a:t>
                      </a:r>
                      <a:endParaRPr lang="en-US" altLang="zh-CN" sz="1400" dirty="0"/>
                    </a:p>
                  </a:txBody>
                  <a:tcPr/>
                </a:tc>
                <a:tc>
                  <a:txBody>
                    <a:bodyPr/>
                    <a:lstStyle/>
                    <a:p>
                      <a:pPr algn="ctr">
                        <a:buNone/>
                      </a:pPr>
                      <a:r>
                        <a:rPr lang="en-US" altLang="zh-CN" sz="1400" dirty="0">
                          <a:sym typeface="+mn-ea"/>
                        </a:rPr>
                        <a:t>Step 0  </a:t>
                      </a:r>
                      <a:r>
                        <a:rPr lang="zh-CN" altLang="en-US" sz="1400" dirty="0">
                          <a:sym typeface="+mn-ea"/>
                        </a:rPr>
                        <a:t>技术工艺</a:t>
                      </a:r>
                      <a:r>
                        <a:rPr lang="zh-CN" altLang="en-US" sz="1400" dirty="0">
                          <a:sym typeface="+mn-ea"/>
                        </a:rPr>
                        <a:t>评估需求单列表</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在需求单列表搜索</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工艺</a:t>
                      </a:r>
                      <a:r>
                        <a:rPr lang="zh-CN" altLang="en-US" sz="1200" dirty="0">
                          <a:sym typeface="+mn-ea"/>
                        </a:rPr>
                        <a:t>工程师</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搜索条件：需求单名称、需求单号、交易客户名称、</a:t>
                      </a:r>
                      <a:r>
                        <a:rPr lang="zh-CN" altLang="en-US" sz="1200" dirty="0"/>
                        <a:t>需求创建人</a:t>
                      </a:r>
                      <a:endParaRPr lang="zh-CN" altLang="en-US" sz="1200" dirty="0"/>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dirty="0">
                          <a:sym typeface="+mn-ea"/>
                        </a:rPr>
                        <a:t>搜索条件对应的需求单</a:t>
                      </a:r>
                      <a:endParaRPr lang="zh-CN" altLang="en-US" sz="1200" dirty="0">
                        <a:sym typeface="+mn-ea"/>
                      </a:endParaRPr>
                    </a:p>
                  </a:txBody>
                  <a:tcPr/>
                </a:tc>
              </a:tr>
              <a:tr h="381742">
                <a:tc>
                  <a:txBody>
                    <a:bodyPr/>
                    <a:lstStyle/>
                    <a:p>
                      <a:pPr algn="l">
                        <a:buClrTx/>
                        <a:buSzTx/>
                        <a:buFontTx/>
                        <a:buNone/>
                      </a:pPr>
                      <a:r>
                        <a:rPr lang="zh-CN" altLang="en-US" sz="1200"/>
                        <a:t>主要功能</a:t>
                      </a:r>
                      <a:endParaRPr lang="zh-CN" altLang="en-US" sz="1200"/>
                    </a:p>
                  </a:txBody>
                  <a:tcPr anchor="ctr" anchorCtr="0"/>
                </a:tc>
                <a:tc>
                  <a:txBody>
                    <a:bodyPr/>
                    <a:lstStyle/>
                    <a:p>
                      <a:pPr indent="0">
                        <a:buFont typeface="+mj-lt"/>
                        <a:buNone/>
                      </a:pPr>
                      <a:r>
                        <a:rPr lang="en-US" altLang="zh-CN" sz="1200" dirty="0"/>
                        <a:t>1</a:t>
                      </a:r>
                      <a:r>
                        <a:rPr lang="zh-CN" altLang="en-US" sz="1200" dirty="0"/>
                        <a:t>、按条件搜索需求单</a:t>
                      </a:r>
                      <a:endParaRPr lang="en-US" altLang="zh-CN" sz="1200" dirty="0"/>
                    </a:p>
                    <a:p>
                      <a:pPr indent="0">
                        <a:buFont typeface="+mj-lt"/>
                        <a:buNone/>
                      </a:pPr>
                      <a:r>
                        <a:rPr lang="en-US" altLang="zh-CN" sz="1200" kern="1200" dirty="0">
                          <a:solidFill>
                            <a:schemeClr val="dk1"/>
                          </a:solidFill>
                          <a:latin typeface="+mn-lt"/>
                          <a:ea typeface="+mn-ea"/>
                          <a:cs typeface="+mn-cs"/>
                        </a:rPr>
                        <a:t>2</a:t>
                      </a:r>
                      <a:r>
                        <a:rPr lang="zh-CN" altLang="en-US" sz="1200" kern="1200" dirty="0">
                          <a:solidFill>
                            <a:schemeClr val="dk1"/>
                          </a:solidFill>
                          <a:latin typeface="+mn-lt"/>
                          <a:ea typeface="+mn-ea"/>
                          <a:cs typeface="+mn-cs"/>
                        </a:rPr>
                        <a:t>、导出需求单</a:t>
                      </a:r>
                      <a:endParaRPr lang="zh-CN" altLang="en-US" sz="1200" kern="1200" dirty="0">
                        <a:solidFill>
                          <a:schemeClr val="dk1"/>
                        </a:solidFill>
                        <a:latin typeface="+mn-lt"/>
                        <a:ea typeface="+mn-ea"/>
                        <a:cs typeface="+mn-cs"/>
                      </a:endParaRPr>
                    </a:p>
                  </a:txBody>
                  <a:tcPr/>
                </a:tc>
              </a:tr>
              <a:tr h="343449">
                <a:tc>
                  <a:txBody>
                    <a:bodyPr/>
                    <a:lstStyle/>
                    <a:p>
                      <a:pPr algn="l">
                        <a:buClrTx/>
                        <a:buSzTx/>
                        <a:buFontTx/>
                        <a:buNone/>
                      </a:pPr>
                      <a:r>
                        <a:rPr lang="zh-CN" altLang="en-US" sz="1200">
                          <a:sym typeface="+mn-ea"/>
                        </a:rPr>
                        <a:t>关键业务逻辑</a:t>
                      </a:r>
                      <a:endParaRPr lang="zh-CN" altLang="en-US" sz="1200"/>
                    </a:p>
                  </a:txBody>
                  <a:tcPr anchor="ctr" anchorCtr="0"/>
                </a:tc>
                <a:tc>
                  <a:txBody>
                    <a:bodyPr/>
                    <a:lstStyle/>
                    <a:p>
                      <a:pPr indent="0">
                        <a:buFont typeface="+mj-lt"/>
                        <a:buNone/>
                      </a:pPr>
                      <a:r>
                        <a:rPr lang="en-US" altLang="zh-CN" sz="1200" dirty="0"/>
                        <a:t>1</a:t>
                      </a:r>
                      <a:r>
                        <a:rPr lang="zh-CN" altLang="en-US" sz="1200" dirty="0"/>
                        <a:t>、按条件搜索需求单</a:t>
                      </a:r>
                      <a:endParaRPr lang="en-US" altLang="zh-CN" sz="1200" dirty="0"/>
                    </a:p>
                    <a:p>
                      <a:pPr indent="0">
                        <a:buFont typeface="+mj-lt"/>
                        <a:buNone/>
                      </a:pPr>
                      <a:r>
                        <a:rPr lang="en-US" altLang="zh-CN" sz="1200" kern="1200" dirty="0">
                          <a:solidFill>
                            <a:schemeClr val="dk1"/>
                          </a:solidFill>
                          <a:latin typeface="+mn-lt"/>
                          <a:ea typeface="+mn-ea"/>
                          <a:cs typeface="+mn-cs"/>
                        </a:rPr>
                        <a:t>2</a:t>
                      </a:r>
                      <a:r>
                        <a:rPr lang="zh-CN" altLang="en-US" sz="1200" kern="1200" dirty="0">
                          <a:solidFill>
                            <a:schemeClr val="dk1"/>
                          </a:solidFill>
                          <a:latin typeface="+mn-lt"/>
                          <a:ea typeface="+mn-ea"/>
                          <a:cs typeface="+mn-cs"/>
                        </a:rPr>
                        <a:t>、导出需求单，支持单选、复选</a:t>
                      </a:r>
                      <a:endParaRPr lang="zh-CN" altLang="en-US" sz="1200" kern="1200" dirty="0">
                        <a:solidFill>
                          <a:schemeClr val="dk1"/>
                        </a:solidFill>
                        <a:latin typeface="+mn-lt"/>
                        <a:ea typeface="+mn-ea"/>
                        <a:cs typeface="+mn-cs"/>
                      </a:endParaRPr>
                    </a:p>
                  </a:txBody>
                  <a:tcPr/>
                </a:tc>
              </a:tr>
            </a:tbl>
          </a:graphicData>
        </a:graphic>
      </p:graphicFrame>
      <p:graphicFrame>
        <p:nvGraphicFramePr>
          <p:cNvPr id="4" name="表格 3"/>
          <p:cNvGraphicFramePr>
            <a:graphicFrameLocks noGrp="1"/>
          </p:cNvGraphicFramePr>
          <p:nvPr>
            <p:custDataLst>
              <p:tags r:id="rId3"/>
            </p:custDataLst>
          </p:nvPr>
        </p:nvGraphicFramePr>
        <p:xfrm>
          <a:off x="617855" y="4459605"/>
          <a:ext cx="11155680" cy="960120"/>
        </p:xfrm>
        <a:graphic>
          <a:graphicData uri="http://schemas.openxmlformats.org/drawingml/2006/table">
            <a:tbl>
              <a:tblPr>
                <a:tableStyleId>{5C22544A-7EE6-4342-B048-85BDC9FD1C3A}</a:tableStyleId>
              </a:tblPr>
              <a:tblGrid>
                <a:gridCol w="303530"/>
                <a:gridCol w="418465"/>
                <a:gridCol w="1349375"/>
                <a:gridCol w="1788160"/>
                <a:gridCol w="1033780"/>
                <a:gridCol w="722630"/>
                <a:gridCol w="716280"/>
                <a:gridCol w="434975"/>
                <a:gridCol w="780415"/>
                <a:gridCol w="1216025"/>
                <a:gridCol w="1195705"/>
                <a:gridCol w="722630"/>
                <a:gridCol w="473710"/>
              </a:tblGrid>
              <a:tr h="255270">
                <a:tc>
                  <a:txBody>
                    <a:bodyPr/>
                    <a:lstStyle/>
                    <a:p>
                      <a:pPr algn="ctr" fontAlgn="ct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序号</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需求单名称</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需求单号</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i="0" u="none" strike="noStrike" dirty="0">
                          <a:solidFill>
                            <a:srgbClr val="000000"/>
                          </a:solidFill>
                          <a:effectLst/>
                          <a:latin typeface="+mn-ea"/>
                          <a:ea typeface="+mn-ea"/>
                        </a:rPr>
                        <a:t>交易客户名称</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项目名称</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i="0" u="none" strike="noStrike" dirty="0">
                          <a:solidFill>
                            <a:srgbClr val="000000"/>
                          </a:solidFill>
                          <a:effectLst/>
                          <a:latin typeface="+mn-ea"/>
                          <a:ea typeface="+mn-ea"/>
                        </a:rPr>
                        <a:t>项目编码</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状态</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创建人</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创建时间</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更新时间</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操作</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200" b="1" u="none" strike="noStrike" dirty="0">
                          <a:effectLst/>
                          <a:latin typeface="+mn-ea"/>
                          <a:ea typeface="+mn-ea"/>
                        </a:rPr>
                        <a:t>备注</a:t>
                      </a:r>
                      <a:endParaRPr lang="zh-CN" altLang="en-US" sz="1200" b="1" i="0" u="none" strike="noStrike" dirty="0">
                        <a:solidFill>
                          <a:srgbClr val="000000"/>
                        </a:solidFill>
                        <a:effectLst/>
                        <a:latin typeface="+mn-ea"/>
                        <a:ea typeface="+mn-ea"/>
                      </a:endParaRPr>
                    </a:p>
                  </a:txBody>
                  <a:tcPr marL="36000" marR="36000" marT="36000" marB="36000" anchor="ctr"/>
                </a:tc>
              </a:tr>
              <a:tr h="240030">
                <a:tc>
                  <a:txBody>
                    <a:bodyPr/>
                    <a:lstStyle/>
                    <a:p>
                      <a:pPr algn="ctr" fontAlgn="ctr"/>
                      <a:r>
                        <a:rPr lang="zh-CN" altLang="en-US" sz="1100" b="0" i="0" u="none" strike="noStrike" dirty="0">
                          <a:solidFill>
                            <a:srgbClr val="000000"/>
                          </a:solidFill>
                          <a:effectLst/>
                          <a:latin typeface="+mn-ea"/>
                          <a:ea typeface="+mn-ea"/>
                        </a:rPr>
                        <a:t>口</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ctr" fontAlgn="ctr"/>
                      <a:r>
                        <a:rPr lang="en-US" altLang="zh-CN" sz="1100" u="none" strike="noStrike" dirty="0">
                          <a:effectLst/>
                          <a:latin typeface="+mn-ea"/>
                          <a:ea typeface="+mn-ea"/>
                        </a:rPr>
                        <a:t>1</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PVDXXX</a:t>
                      </a:r>
                      <a:r>
                        <a:rPr lang="zh-CN" altLang="en-US" sz="1100" u="none" strike="noStrike" dirty="0">
                          <a:effectLst/>
                          <a:latin typeface="+mn-ea"/>
                          <a:ea typeface="+mn-ea"/>
                        </a:rPr>
                        <a:t>静电吸盘</a:t>
                      </a:r>
                      <a:endParaRPr lang="zh-CN" altLang="en-US" sz="1100" u="none" strike="noStrike" dirty="0">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REQ</a:t>
                      </a:r>
                      <a:r>
                        <a:rPr lang="en-US" sz="1100" u="none" strike="noStrike" dirty="0">
                          <a:effectLst/>
                          <a:latin typeface="+mn-ea"/>
                          <a:ea typeface="+mn-ea"/>
                        </a:rPr>
                        <a:t>12345620240909001</a:t>
                      </a:r>
                      <a:endParaRPr 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100" b="0" i="0" u="none" strike="noStrike" dirty="0">
                          <a:solidFill>
                            <a:srgbClr val="000000"/>
                          </a:solidFill>
                          <a:effectLst/>
                          <a:latin typeface="+mn-ea"/>
                          <a:ea typeface="+mn-ea"/>
                        </a:rPr>
                        <a:t>草稿</a:t>
                      </a: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sz="1100" u="none" strike="noStrike" dirty="0" err="1">
                          <a:effectLst/>
                          <a:latin typeface="+mn-ea"/>
                          <a:ea typeface="+mn-ea"/>
                        </a:rPr>
                        <a:t>zhoujielun</a:t>
                      </a:r>
                      <a:endParaRPr lang="en-US"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2026/4/18 14:01</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a:effectLst/>
                          <a:latin typeface="+mn-ea"/>
                          <a:ea typeface="+mn-ea"/>
                        </a:rPr>
                        <a:t>2026/4/19 14:11</a:t>
                      </a:r>
                      <a:endParaRPr lang="en-US" altLang="zh-CN" sz="1100" b="0" i="0" u="none" strike="noStrike">
                        <a:solidFill>
                          <a:srgbClr val="000000"/>
                        </a:solidFill>
                        <a:effectLst/>
                        <a:latin typeface="+mn-ea"/>
                        <a:ea typeface="+mn-ea"/>
                      </a:endParaRPr>
                    </a:p>
                  </a:txBody>
                  <a:tcPr marL="36000" marR="36000" marT="36000" marB="36000" anchor="ctr"/>
                </a:tc>
                <a:tc>
                  <a:txBody>
                    <a:bodyPr/>
                    <a:lstStyle/>
                    <a:p>
                      <a:pPr algn="ctr" fontAlgn="ctr"/>
                      <a:r>
                        <a:rPr lang="zh-CN" altLang="en-US" sz="1100" u="none" strike="noStrike" dirty="0">
                          <a:effectLst/>
                          <a:latin typeface="+mn-ea"/>
                          <a:ea typeface="+mn-ea"/>
                        </a:rPr>
                        <a:t>编辑 删除</a:t>
                      </a:r>
                      <a:endParaRPr lang="zh-CN" altLang="en-US" sz="1100" b="1" i="0" u="none" strike="noStrike" dirty="0">
                        <a:solidFill>
                          <a:srgbClr val="0000FF"/>
                        </a:solidFill>
                        <a:effectLst/>
                        <a:latin typeface="+mn-ea"/>
                        <a:ea typeface="+mn-ea"/>
                      </a:endParaRPr>
                    </a:p>
                  </a:txBody>
                  <a:tcPr marL="36000" marR="36000" marT="36000" marB="36000" anchor="ctr"/>
                </a:tc>
                <a:tc>
                  <a:txBody>
                    <a:bodyPr/>
                    <a:lstStyle/>
                    <a:p>
                      <a:pPr algn="l" fontAlgn="ctr"/>
                      <a:r>
                        <a:rPr lang="zh-CN" altLang="en-US" sz="1100" u="none" strike="noStrike" dirty="0">
                          <a:effectLst/>
                          <a:latin typeface="+mn-ea"/>
                          <a:ea typeface="+mn-ea"/>
                        </a:rPr>
                        <a:t>　</a:t>
                      </a:r>
                      <a:endParaRPr lang="zh-CN" altLang="en-US" sz="1100" b="0" i="0" u="none" strike="noStrike" dirty="0">
                        <a:solidFill>
                          <a:srgbClr val="000000"/>
                        </a:solidFill>
                        <a:effectLst/>
                        <a:latin typeface="+mn-ea"/>
                        <a:ea typeface="+mn-ea"/>
                      </a:endParaRPr>
                    </a:p>
                  </a:txBody>
                  <a:tcPr marL="36000" marR="36000" marT="36000" marB="36000" anchor="ctr"/>
                </a:tc>
              </a:tr>
              <a:tr h="240030">
                <a:tc>
                  <a:txBody>
                    <a:bodyPr/>
                    <a:lstStyle/>
                    <a:p>
                      <a:pPr algn="ctr" fontAlgn="ctr"/>
                      <a:r>
                        <a:rPr lang="zh-CN" altLang="en-US" sz="1100" b="0" i="0" u="none" strike="noStrike" dirty="0">
                          <a:solidFill>
                            <a:srgbClr val="000000"/>
                          </a:solidFill>
                          <a:effectLst/>
                          <a:latin typeface="+mn-ea"/>
                          <a:ea typeface="+mn-ea"/>
                        </a:rPr>
                        <a:t>口</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ctr" fontAlgn="ctr"/>
                      <a:r>
                        <a:rPr lang="en-US" altLang="zh-CN" sz="1100" u="none" strike="noStrike" dirty="0">
                          <a:effectLst/>
                          <a:latin typeface="+mn-ea"/>
                          <a:ea typeface="+mn-ea"/>
                        </a:rPr>
                        <a:t>2</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CVD Shower Head</a:t>
                      </a:r>
                      <a:endParaRPr lang="en-US" altLang="zh-CN" sz="1100" u="none" strike="noStrike" dirty="0">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REQ12345620240909002</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100" b="0" i="0" u="none" strike="noStrike" dirty="0">
                          <a:solidFill>
                            <a:srgbClr val="000000"/>
                          </a:solidFill>
                          <a:effectLst/>
                          <a:latin typeface="+mn-ea"/>
                          <a:ea typeface="+mn-ea"/>
                        </a:rPr>
                        <a:t>完成</a:t>
                      </a: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sz="1100" b="0" i="0" u="none" strike="noStrike">
                          <a:solidFill>
                            <a:srgbClr val="000000"/>
                          </a:solidFill>
                          <a:effectLst/>
                          <a:latin typeface="+mn-ea"/>
                          <a:ea typeface="+mn-ea"/>
                        </a:rPr>
                        <a:t>L</a:t>
                      </a:r>
                      <a:r>
                        <a:rPr lang="en-US" sz="1100" b="0" i="0" u="none" strike="noStrike">
                          <a:solidFill>
                            <a:srgbClr val="000000"/>
                          </a:solidFill>
                          <a:effectLst/>
                          <a:latin typeface="+mn-ea"/>
                          <a:ea typeface="+mn-ea"/>
                        </a:rPr>
                        <a:t>izhuang</a:t>
                      </a:r>
                      <a:endParaRPr lang="en-US" sz="1100" b="0" i="0" u="none" strike="noStrike">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2026/6/20 13:01</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l" fontAlgn="ctr"/>
                      <a:r>
                        <a:rPr lang="en-US" altLang="zh-CN" sz="1100" u="none" strike="noStrike" dirty="0">
                          <a:effectLst/>
                          <a:latin typeface="+mn-ea"/>
                          <a:ea typeface="+mn-ea"/>
                        </a:rPr>
                        <a:t>2026/6/21 15:11</a:t>
                      </a:r>
                      <a:endParaRPr lang="en-US" altLang="zh-CN" sz="1100" b="0"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100" u="none" strike="noStrike" dirty="0">
                          <a:effectLst/>
                          <a:latin typeface="+mn-ea"/>
                          <a:ea typeface="+mn-ea"/>
                        </a:rPr>
                        <a:t>编辑 删除</a:t>
                      </a:r>
                      <a:endParaRPr lang="zh-CN" altLang="en-US" sz="1100" b="1" i="0" u="none" strike="noStrike" dirty="0">
                        <a:solidFill>
                          <a:srgbClr val="0000FF"/>
                        </a:solidFill>
                        <a:effectLst/>
                        <a:latin typeface="+mn-ea"/>
                        <a:ea typeface="+mn-ea"/>
                      </a:endParaRPr>
                    </a:p>
                  </a:txBody>
                  <a:tcPr marL="36000" marR="36000" marT="36000" marB="36000" anchor="ctr"/>
                </a:tc>
                <a:tc>
                  <a:txBody>
                    <a:bodyPr/>
                    <a:lstStyle/>
                    <a:p>
                      <a:pPr algn="l" fontAlgn="ctr"/>
                      <a:r>
                        <a:rPr lang="zh-CN" altLang="en-US" sz="1100" u="none" strike="noStrike" dirty="0">
                          <a:effectLst/>
                          <a:latin typeface="+mn-ea"/>
                          <a:ea typeface="+mn-ea"/>
                        </a:rPr>
                        <a:t>　</a:t>
                      </a:r>
                      <a:endParaRPr lang="zh-CN" altLang="en-US" sz="1100" b="0" i="0" u="none" strike="noStrike" dirty="0">
                        <a:solidFill>
                          <a:srgbClr val="000000"/>
                        </a:solidFill>
                        <a:effectLst/>
                        <a:latin typeface="+mn-ea"/>
                        <a:ea typeface="+mn-ea"/>
                      </a:endParaRPr>
                    </a:p>
                  </a:txBody>
                  <a:tcPr marL="36000" marR="36000" marT="36000" marB="36000" anchor="ctr"/>
                </a:tc>
              </a:tr>
              <a:tr h="224790">
                <a:tc>
                  <a:txBody>
                    <a:bodyPr/>
                    <a:lstStyle/>
                    <a:p>
                      <a:pPr algn="ctr" fontAlgn="ct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ctr"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36000" marR="36000" marT="36000" marB="36000" anchor="ct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36000" marR="36000" marT="36000" marB="36000" anchor="ctr"/>
                </a:tc>
              </a:tr>
            </a:tbl>
          </a:graphicData>
        </a:graphic>
      </p:graphicFrame>
      <p:graphicFrame>
        <p:nvGraphicFramePr>
          <p:cNvPr id="5" name="表格 4"/>
          <p:cNvGraphicFramePr>
            <a:graphicFrameLocks noGrp="1"/>
          </p:cNvGraphicFramePr>
          <p:nvPr>
            <p:custDataLst>
              <p:tags r:id="rId4"/>
            </p:custDataLst>
          </p:nvPr>
        </p:nvGraphicFramePr>
        <p:xfrm>
          <a:off x="617855" y="3350260"/>
          <a:ext cx="11155045" cy="735330"/>
        </p:xfrm>
        <a:graphic>
          <a:graphicData uri="http://schemas.openxmlformats.org/drawingml/2006/table">
            <a:tbl>
              <a:tblPr>
                <a:tableStyleId>{5C22544A-7EE6-4342-B048-85BDC9FD1C3A}</a:tableStyleId>
              </a:tblPr>
              <a:tblGrid>
                <a:gridCol w="1424940"/>
                <a:gridCol w="4137025"/>
                <a:gridCol w="1272540"/>
                <a:gridCol w="4320540"/>
              </a:tblGrid>
              <a:tr h="126140">
                <a:tc>
                  <a:txBody>
                    <a:bodyPr/>
                    <a:lstStyle/>
                    <a:p>
                      <a:pPr algn="l" fontAlgn="ctr"/>
                      <a:r>
                        <a:rPr lang="zh-CN" altLang="en-US" sz="1200" b="1" u="none" strike="noStrike" dirty="0">
                          <a:effectLst/>
                          <a:latin typeface="+mn-ea"/>
                          <a:ea typeface="+mn-ea"/>
                        </a:rPr>
                        <a:t>需求单名称</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l" fontAlgn="ctr"/>
                      <a:r>
                        <a:rPr lang="zh-CN" altLang="en-US" sz="1200" b="1" i="0" u="none" strike="noStrike" dirty="0">
                          <a:solidFill>
                            <a:srgbClr val="000000"/>
                          </a:solidFill>
                          <a:effectLst/>
                          <a:latin typeface="+mn-ea"/>
                          <a:ea typeface="+mn-ea"/>
                        </a:rPr>
                        <a:t>交易客户名称</a:t>
                      </a:r>
                      <a:endParaRPr lang="zh-CN" altLang="en-US" sz="1200" b="1" i="0" u="none" strike="noStrike" dirty="0">
                        <a:solidFill>
                          <a:srgbClr val="000000"/>
                        </a:solidFill>
                        <a:effectLst/>
                        <a:latin typeface="+mn-ea"/>
                        <a:ea typeface="+mn-ea"/>
                      </a:endParaRPr>
                    </a:p>
                  </a:txBody>
                  <a:tcPr marL="36000" marR="36000" marT="36000" marB="36000" anchor="ctr"/>
                </a:tc>
                <a:tc>
                  <a:txBody>
                    <a:bodyPr/>
                    <a:lstStyle/>
                    <a:p>
                      <a:pPr algn="ctr" fontAlgn="ctr"/>
                      <a:endParaRPr lang="zh-CN" altLang="en-US" sz="1200" b="1" i="0" u="none" strike="noStrike" dirty="0">
                        <a:solidFill>
                          <a:srgbClr val="000000"/>
                        </a:solidFill>
                        <a:effectLst/>
                        <a:latin typeface="+mn-ea"/>
                        <a:ea typeface="+mn-ea"/>
                      </a:endParaRPr>
                    </a:p>
                  </a:txBody>
                  <a:tcPr marL="36000" marR="36000" marT="36000" marB="36000" anchor="ctr"/>
                </a:tc>
              </a:tr>
              <a:tr h="201563">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1" u="none" strike="noStrike" dirty="0">
                          <a:effectLst/>
                          <a:latin typeface="+mn-ea"/>
                          <a:ea typeface="+mn-ea"/>
                        </a:rPr>
                        <a:t>需求单号</a:t>
                      </a:r>
                      <a:endParaRPr lang="zh-CN" altLang="en-US" sz="1100" b="0" i="0" u="none" strike="noStrike" dirty="0">
                        <a:solidFill>
                          <a:srgbClr val="000000"/>
                        </a:solidFill>
                        <a:effectLst/>
                        <a:latin typeface="+mn-ea"/>
                        <a:ea typeface="+mn-ea"/>
                      </a:endParaRPr>
                    </a:p>
                  </a:txBody>
                  <a:tcPr marL="36000" marR="36000" marT="36000" marB="36000" anchor="ctr"/>
                </a:tc>
                <a:tc>
                  <a:txBody>
                    <a:bodyPr/>
                    <a:lstStyle/>
                    <a:p>
                      <a:pPr algn="l" fontAlgn="ctr"/>
                      <a:endParaRPr lang="en-US" sz="1100" b="0" i="0" u="none" strike="noStrike" dirty="0">
                        <a:solidFill>
                          <a:srgbClr val="000000"/>
                        </a:solidFill>
                        <a:effectLst/>
                        <a:latin typeface="+mn-ea"/>
                        <a:ea typeface="+mn-ea"/>
                      </a:endParaRPr>
                    </a:p>
                  </a:txBody>
                  <a:tcPr marL="36000" marR="36000" marT="36000" marB="3600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1" u="none" strike="noStrike" dirty="0">
                          <a:effectLst/>
                          <a:latin typeface="+mn-ea"/>
                          <a:ea typeface="+mn-ea"/>
                        </a:rPr>
                        <a:t>需求创建人</a:t>
                      </a:r>
                      <a:endParaRPr lang="zh-CN" altLang="en-US" sz="1100" b="1"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r>
              <a:tr h="201563">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000000"/>
                          </a:solidFill>
                          <a:effectLst/>
                          <a:latin typeface="+mn-ea"/>
                          <a:ea typeface="+mn-ea"/>
                        </a:rPr>
                        <a:t>项目编码</a:t>
                      </a:r>
                      <a:endParaRPr lang="zh-CN" altLang="en-US" sz="1100" b="1" i="0" u="none" strike="noStrike" dirty="0">
                        <a:solidFill>
                          <a:srgbClr val="000000"/>
                        </a:solidFill>
                        <a:effectLst/>
                        <a:latin typeface="+mn-ea"/>
                        <a:ea typeface="+mn-ea"/>
                      </a:endParaRPr>
                    </a:p>
                  </a:txBody>
                  <a:tcPr marL="36000" marR="36000" marT="36000" marB="36000" anchor="ctr"/>
                </a:tc>
                <a:tc>
                  <a:txBody>
                    <a:bodyPr/>
                    <a:lstStyle/>
                    <a:p>
                      <a:pPr algn="l" fontAlgn="ctr"/>
                      <a:endParaRPr lang="en-US" sz="1100" b="0" i="0" u="none" strike="noStrike" dirty="0">
                        <a:solidFill>
                          <a:srgbClr val="000000"/>
                        </a:solidFill>
                        <a:effectLst/>
                        <a:latin typeface="+mn-ea"/>
                        <a:ea typeface="+mn-ea"/>
                      </a:endParaRPr>
                    </a:p>
                  </a:txBody>
                  <a:tcPr marL="36000" marR="36000" marT="36000" marB="3600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000000"/>
                          </a:solidFill>
                          <a:effectLst/>
                          <a:latin typeface="+mn-ea"/>
                          <a:ea typeface="+mn-ea"/>
                        </a:rPr>
                        <a:t>需求创建</a:t>
                      </a:r>
                      <a:r>
                        <a:rPr lang="zh-CN" altLang="en-US" sz="1100" b="1" i="0" u="none" strike="noStrike" dirty="0">
                          <a:solidFill>
                            <a:srgbClr val="000000"/>
                          </a:solidFill>
                          <a:effectLst/>
                          <a:latin typeface="+mn-ea"/>
                          <a:ea typeface="+mn-ea"/>
                        </a:rPr>
                        <a:t>日期</a:t>
                      </a:r>
                      <a:endParaRPr lang="zh-CN" altLang="en-US" sz="1100" b="1" i="0" u="none" strike="noStrike" dirty="0">
                        <a:solidFill>
                          <a:srgbClr val="000000"/>
                        </a:solidFill>
                        <a:effectLst/>
                        <a:latin typeface="+mn-ea"/>
                        <a:ea typeface="+mn-ea"/>
                      </a:endParaRPr>
                    </a:p>
                  </a:txBody>
                  <a:tcPr marL="36000" marR="36000" marT="36000" marB="36000" anchor="ctr"/>
                </a:tc>
                <a:tc>
                  <a:txBody>
                    <a:bodyPr/>
                    <a:lstStyle/>
                    <a:p>
                      <a:pPr algn="l" fontAlgn="ctr"/>
                      <a:endParaRPr lang="zh-CN" altLang="en-US" sz="1100" b="0" i="0" u="none" strike="noStrike" dirty="0">
                        <a:solidFill>
                          <a:srgbClr val="000000"/>
                        </a:solidFill>
                        <a:effectLst/>
                        <a:latin typeface="+mn-ea"/>
                        <a:ea typeface="+mn-ea"/>
                      </a:endParaRPr>
                    </a:p>
                  </a:txBody>
                  <a:tcPr marL="36000" marR="36000" marT="36000" marB="36000" anchor="ctr"/>
                </a:tc>
              </a:tr>
            </a:tbl>
          </a:graphicData>
        </a:graphic>
      </p:graphicFrame>
      <p:sp>
        <p:nvSpPr>
          <p:cNvPr id="6" name="矩形: 圆角 5"/>
          <p:cNvSpPr/>
          <p:nvPr/>
        </p:nvSpPr>
        <p:spPr>
          <a:xfrm>
            <a:off x="9448800" y="4137609"/>
            <a:ext cx="533400" cy="228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r>
              <a:rPr lang="zh-CN" altLang="en-US" sz="1100" kern="0" dirty="0">
                <a:solidFill>
                  <a:schemeClr val="tx1"/>
                </a:solidFill>
                <a:uFillTx/>
                <a:sym typeface="Arial" panose="020B0604020202020204"/>
              </a:rPr>
              <a:t>重置</a:t>
            </a:r>
            <a:endParaRPr lang="zh-CN" altLang="en-US" sz="1100" kern="0" dirty="0">
              <a:solidFill>
                <a:schemeClr val="tx1"/>
              </a:solidFill>
              <a:uFillTx/>
              <a:sym typeface="Arial" panose="020B0604020202020204"/>
            </a:endParaRPr>
          </a:p>
        </p:txBody>
      </p:sp>
      <p:sp>
        <p:nvSpPr>
          <p:cNvPr id="7" name="矩形: 圆角 6"/>
          <p:cNvSpPr/>
          <p:nvPr/>
        </p:nvSpPr>
        <p:spPr>
          <a:xfrm>
            <a:off x="10287000" y="4137609"/>
            <a:ext cx="533400" cy="228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r>
              <a:rPr lang="zh-CN" altLang="en-US" sz="1100" kern="0" dirty="0">
                <a:uFillTx/>
                <a:sym typeface="Arial" panose="020B0604020202020204"/>
              </a:rPr>
              <a:t>搜索</a:t>
            </a:r>
            <a:endParaRPr lang="zh-CN" altLang="en-US" sz="1100" kern="0" dirty="0">
              <a:uFillTx/>
              <a:sym typeface="Arial" panose="020B0604020202020204"/>
            </a:endParaRPr>
          </a:p>
        </p:txBody>
      </p:sp>
      <p:sp>
        <p:nvSpPr>
          <p:cNvPr id="8" name="矩形: 圆角 7"/>
          <p:cNvSpPr/>
          <p:nvPr/>
        </p:nvSpPr>
        <p:spPr>
          <a:xfrm>
            <a:off x="1458177" y="4137609"/>
            <a:ext cx="533400" cy="228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r>
              <a:rPr lang="zh-CN" altLang="en-US" sz="1100" kern="0" dirty="0">
                <a:uFillTx/>
                <a:sym typeface="Arial" panose="020B0604020202020204"/>
              </a:rPr>
              <a:t>导出</a:t>
            </a:r>
            <a:endParaRPr lang="zh-CN" altLang="en-US" sz="1100" kern="0" dirty="0">
              <a:uFillTx/>
              <a:sym typeface="Arial" panose="020B0604020202020204"/>
            </a:endParaRPr>
          </a:p>
        </p:txBody>
      </p:sp>
      <p:sp>
        <p:nvSpPr>
          <p:cNvPr id="9" name="矩形: 圆角 8"/>
          <p:cNvSpPr/>
          <p:nvPr/>
        </p:nvSpPr>
        <p:spPr>
          <a:xfrm>
            <a:off x="864906" y="4137609"/>
            <a:ext cx="533400" cy="228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spcBef>
                <a:spcPts val="0"/>
              </a:spcBef>
              <a:spcAft>
                <a:spcPts val="0"/>
              </a:spcAft>
            </a:pPr>
            <a:r>
              <a:rPr lang="zh-CN" altLang="en-US" sz="1100" kern="0" dirty="0">
                <a:uFillTx/>
                <a:sym typeface="Arial" panose="020B0604020202020204"/>
              </a:rPr>
              <a:t>创建</a:t>
            </a:r>
            <a:endParaRPr lang="zh-CN" altLang="en-US" sz="1100" kern="0" dirty="0">
              <a:uFillTx/>
              <a:sym typeface="Arial" panose="020B0604020202020204"/>
            </a:endParaRPr>
          </a:p>
        </p:txBody>
      </p:sp>
      <p:graphicFrame>
        <p:nvGraphicFramePr>
          <p:cNvPr id="10" name="表格 9"/>
          <p:cNvGraphicFramePr/>
          <p:nvPr>
            <p:custDataLst>
              <p:tags r:id="rId5"/>
            </p:custDataLst>
          </p:nvPr>
        </p:nvGraphicFramePr>
        <p:xfrm>
          <a:off x="617855" y="5513070"/>
          <a:ext cx="11060430" cy="1043940"/>
        </p:xfrm>
        <a:graphic>
          <a:graphicData uri="http://schemas.openxmlformats.org/drawingml/2006/table">
            <a:tbl>
              <a:tblPr firstRow="1" bandRow="1">
                <a:tableStyleId>{5C22544A-7EE6-4342-B048-85BDC9FD1C3A}</a:tableStyleId>
              </a:tblPr>
              <a:tblGrid>
                <a:gridCol w="710565"/>
                <a:gridCol w="1845310"/>
                <a:gridCol w="8504555"/>
              </a:tblGrid>
              <a:tr h="260985">
                <a:tc>
                  <a:txBody>
                    <a:bodyPr/>
                    <a:p>
                      <a:pPr algn="l">
                        <a:buClrTx/>
                        <a:buSzTx/>
                        <a:buFontTx/>
                        <a:buNone/>
                      </a:pPr>
                      <a:r>
                        <a:rPr lang="zh-CN" altLang="en-US" sz="800" b="0">
                          <a:solidFill>
                            <a:schemeClr val="dk1"/>
                          </a:solidFill>
                          <a:latin typeface="微软雅黑" panose="020B0503020204020204" pitchFamily="34" charset="-122"/>
                          <a:ea typeface="微软雅黑" panose="020B0503020204020204" pitchFamily="34" charset="-122"/>
                        </a:rPr>
                        <a:t>1</a:t>
                      </a:r>
                      <a:endParaRPr lang="zh-CN" altLang="en-US" sz="800" b="0">
                        <a:solidFill>
                          <a:schemeClr val="dk1"/>
                        </a:solidFill>
                        <a:latin typeface="微软雅黑" panose="020B0503020204020204" pitchFamily="34" charset="-122"/>
                        <a:ea typeface="微软雅黑" panose="020B0503020204020204" pitchFamily="34" charset="-122"/>
                      </a:endParaRPr>
                    </a:p>
                  </a:txBody>
                  <a:tcPr anchor="ctr" anchorCtr="1">
                    <a:solidFill>
                      <a:schemeClr val="accent1">
                        <a:lumMod val="20000"/>
                        <a:lumOff val="80000"/>
                      </a:schemeClr>
                    </a:solidFill>
                  </a:tcPr>
                </a:tc>
                <a:tc>
                  <a:txBody>
                    <a:bodyPr/>
                    <a:p>
                      <a:pPr algn="l">
                        <a:buClrTx/>
                        <a:buSzTx/>
                        <a:buFontTx/>
                      </a:pPr>
                      <a:r>
                        <a:rPr lang="zh-CN" altLang="en-US" sz="800" b="0">
                          <a:solidFill>
                            <a:schemeClr val="dk1"/>
                          </a:solidFill>
                          <a:latin typeface="微软雅黑" panose="020B0503020204020204" pitchFamily="34" charset="-122"/>
                          <a:ea typeface="微软雅黑" panose="020B0503020204020204" pitchFamily="34" charset="-122"/>
                          <a:sym typeface="+mn-ea"/>
                        </a:rPr>
                        <a:t> 客户询价/技术咨询函</a:t>
                      </a:r>
                      <a:endParaRPr lang="zh-CN" altLang="en-US" sz="800" b="0">
                        <a:solidFill>
                          <a:schemeClr val="dk1"/>
                        </a:solidFill>
                        <a:latin typeface="微软雅黑" panose="020B0503020204020204" pitchFamily="34" charset="-122"/>
                        <a:ea typeface="微软雅黑" panose="020B0503020204020204" pitchFamily="34" charset="-122"/>
                        <a:sym typeface="+mn-ea"/>
                      </a:endParaRPr>
                    </a:p>
                  </a:txBody>
                  <a:tcPr anchor="ctr" anchorCtr="1">
                    <a:solidFill>
                      <a:schemeClr val="accent1">
                        <a:lumMod val="20000"/>
                        <a:lumOff val="80000"/>
                      </a:schemeClr>
                    </a:solidFill>
                  </a:tcPr>
                </a:tc>
                <a:tc>
                  <a:txBody>
                    <a:bodyPr/>
                    <a:p>
                      <a:pPr algn="l">
                        <a:buClrTx/>
                        <a:buSzTx/>
                        <a:buFontTx/>
                        <a:buNone/>
                      </a:pPr>
                      <a:r>
                        <a:rPr lang="zh-CN" altLang="en-US" sz="800" b="0">
                          <a:solidFill>
                            <a:schemeClr val="dk1"/>
                          </a:solidFill>
                          <a:latin typeface="微软雅黑" panose="020B0503020204020204" pitchFamily="34" charset="-122"/>
                          <a:ea typeface="微软雅黑" panose="020B0503020204020204" pitchFamily="34" charset="-122"/>
                        </a:rPr>
                        <a:t>询价</a:t>
                      </a:r>
                      <a:r>
                        <a:rPr lang="zh-CN" altLang="en-US" sz="800" b="0">
                          <a:solidFill>
                            <a:schemeClr val="dk1"/>
                          </a:solidFill>
                          <a:latin typeface="微软雅黑" panose="020B0503020204020204" pitchFamily="34" charset="-122"/>
                          <a:ea typeface="微软雅黑" panose="020B0503020204020204" pitchFamily="34" charset="-122"/>
                        </a:rPr>
                        <a:t>单</a:t>
                      </a:r>
                      <a:endParaRPr lang="zh-CN" altLang="en-US" sz="800" b="0">
                        <a:solidFill>
                          <a:schemeClr val="dk1"/>
                        </a:solidFill>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r>
              <a:tr h="260985">
                <a:tc>
                  <a:txBody>
                    <a:bodyPr/>
                    <a:p>
                      <a:pPr>
                        <a:buNone/>
                      </a:pPr>
                      <a:r>
                        <a:rPr lang="en-US" altLang="zh-CN" sz="1000">
                          <a:latin typeface="微软雅黑" panose="020B0503020204020204" pitchFamily="34" charset="-122"/>
                          <a:ea typeface="微软雅黑" panose="020B0503020204020204" pitchFamily="34" charset="-122"/>
                        </a:rPr>
                        <a:t>2</a:t>
                      </a:r>
                      <a:endParaRPr lang="en-US" altLang="zh-CN" sz="1000">
                        <a:latin typeface="微软雅黑" panose="020B0503020204020204" pitchFamily="34" charset="-122"/>
                        <a:ea typeface="微软雅黑" panose="020B0503020204020204" pitchFamily="34" charset="-122"/>
                      </a:endParaRPr>
                    </a:p>
                  </a:txBody>
                  <a:tcPr anchor="ctr" anchorCtr="1"/>
                </a:tc>
                <a:tc>
                  <a:txBody>
                    <a:bodyPr/>
                    <a:p>
                      <a:pPr algn="l" font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客户图纸及</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BOM</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资料</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1"/>
                </a:tc>
                <a:tc>
                  <a:txBody>
                    <a:bodyPr/>
                    <a:p>
                      <a:pPr>
                        <a:buNone/>
                      </a:pPr>
                      <a:r>
                        <a:rPr lang="en-US" altLang="zh-CN" sz="800">
                          <a:latin typeface="微软雅黑" panose="020B0503020204020204" pitchFamily="34" charset="-122"/>
                          <a:ea typeface="微软雅黑" panose="020B0503020204020204" pitchFamily="34" charset="-122"/>
                        </a:rPr>
                        <a:t>2D</a:t>
                      </a:r>
                      <a:r>
                        <a:rPr lang="zh-CN" altLang="en-US" sz="800">
                          <a:latin typeface="微软雅黑" panose="020B0503020204020204" pitchFamily="34" charset="-122"/>
                          <a:ea typeface="微软雅黑" panose="020B0503020204020204" pitchFamily="34" charset="-122"/>
                        </a:rPr>
                        <a:t>工程图（</a:t>
                      </a:r>
                      <a:r>
                        <a:rPr lang="en-US" altLang="zh-CN" sz="800">
                          <a:latin typeface="微软雅黑" panose="020B0503020204020204" pitchFamily="34" charset="-122"/>
                          <a:ea typeface="微软雅黑" panose="020B0503020204020204" pitchFamily="34" charset="-122"/>
                        </a:rPr>
                        <a:t>DWG/PDF</a:t>
                      </a:r>
                      <a:r>
                        <a:rPr lang="zh-CN" altLang="en-US" sz="800">
                          <a:latin typeface="微软雅黑" panose="020B0503020204020204" pitchFamily="34" charset="-122"/>
                          <a:ea typeface="微软雅黑" panose="020B0503020204020204" pitchFamily="34" charset="-122"/>
                        </a:rPr>
                        <a:t>格式</a:t>
                      </a:r>
                      <a:r>
                        <a:rPr lang="zh-CN" altLang="en-US" sz="800">
                          <a:latin typeface="微软雅黑" panose="020B0503020204020204" pitchFamily="34" charset="-122"/>
                          <a:ea typeface="微软雅黑" panose="020B0503020204020204" pitchFamily="34" charset="-122"/>
                        </a:rPr>
                        <a:t>）、</a:t>
                      </a:r>
                      <a:r>
                        <a:rPr lang="en-US" altLang="zh-CN" sz="800">
                          <a:latin typeface="微软雅黑" panose="020B0503020204020204" pitchFamily="34" charset="-122"/>
                          <a:ea typeface="微软雅黑" panose="020B0503020204020204" pitchFamily="34" charset="-122"/>
                        </a:rPr>
                        <a:t>3D</a:t>
                      </a:r>
                      <a:r>
                        <a:rPr lang="zh-CN" altLang="en-US" sz="800">
                          <a:latin typeface="微软雅黑" panose="020B0503020204020204" pitchFamily="34" charset="-122"/>
                          <a:ea typeface="微软雅黑" panose="020B0503020204020204" pitchFamily="34" charset="-122"/>
                        </a:rPr>
                        <a:t>模型（</a:t>
                      </a:r>
                      <a:r>
                        <a:rPr lang="en-US" altLang="zh-CN" sz="800">
                          <a:latin typeface="微软雅黑" panose="020B0503020204020204" pitchFamily="34" charset="-122"/>
                          <a:ea typeface="微软雅黑" panose="020B0503020204020204" pitchFamily="34" charset="-122"/>
                        </a:rPr>
                        <a:t>STEP/IGES/SLDPRT</a:t>
                      </a:r>
                      <a:r>
                        <a:rPr lang="zh-CN" altLang="en-US" sz="800">
                          <a:latin typeface="微软雅黑" panose="020B0503020204020204" pitchFamily="34" charset="-122"/>
                          <a:ea typeface="微软雅黑" panose="020B0503020204020204" pitchFamily="34" charset="-122"/>
                        </a:rPr>
                        <a:t>格式</a:t>
                      </a:r>
                      <a:r>
                        <a:rPr lang="zh-CN" altLang="en-US" sz="800">
                          <a:latin typeface="微软雅黑" panose="020B0503020204020204" pitchFamily="34" charset="-122"/>
                          <a:ea typeface="微软雅黑" panose="020B0503020204020204" pitchFamily="34" charset="-122"/>
                        </a:rPr>
                        <a:t>）、</a:t>
                      </a:r>
                      <a:r>
                        <a:rPr lang="en-US" altLang="zh-CN" sz="800">
                          <a:latin typeface="微软雅黑" panose="020B0503020204020204" pitchFamily="34" charset="-122"/>
                          <a:ea typeface="微软雅黑" panose="020B0503020204020204" pitchFamily="34" charset="-122"/>
                        </a:rPr>
                        <a:t>CAD</a:t>
                      </a:r>
                      <a:r>
                        <a:rPr lang="zh-CN" altLang="en-US" sz="800">
                          <a:latin typeface="微软雅黑" panose="020B0503020204020204" pitchFamily="34" charset="-122"/>
                          <a:ea typeface="微软雅黑" panose="020B0503020204020204" pitchFamily="34" charset="-122"/>
                        </a:rPr>
                        <a:t>图纸（</a:t>
                      </a:r>
                      <a:r>
                        <a:rPr lang="en-US" altLang="zh-CN" sz="800">
                          <a:latin typeface="微软雅黑" panose="020B0503020204020204" pitchFamily="34" charset="-122"/>
                          <a:ea typeface="微软雅黑" panose="020B0503020204020204" pitchFamily="34" charset="-122"/>
                        </a:rPr>
                        <a:t>DWG/DXF</a:t>
                      </a:r>
                      <a:r>
                        <a:rPr lang="zh-CN" altLang="en-US" sz="800">
                          <a:latin typeface="微软雅黑" panose="020B0503020204020204" pitchFamily="34" charset="-122"/>
                          <a:ea typeface="微软雅黑" panose="020B0503020204020204" pitchFamily="34" charset="-122"/>
                        </a:rPr>
                        <a:t>格式</a:t>
                      </a:r>
                      <a:r>
                        <a:rPr lang="zh-CN" altLang="en-US" sz="800">
                          <a:latin typeface="微软雅黑" panose="020B0503020204020204" pitchFamily="34" charset="-122"/>
                          <a:ea typeface="微软雅黑" panose="020B0503020204020204" pitchFamily="34" charset="-122"/>
                        </a:rPr>
                        <a:t>）、</a:t>
                      </a:r>
                      <a:r>
                        <a:rPr lang="en-US" altLang="zh-CN" sz="800">
                          <a:latin typeface="微软雅黑" panose="020B0503020204020204" pitchFamily="34" charset="-122"/>
                          <a:ea typeface="微软雅黑" panose="020B0503020204020204" pitchFamily="34" charset="-122"/>
                        </a:rPr>
                        <a:t>BOM</a:t>
                      </a:r>
                      <a:r>
                        <a:rPr lang="zh-CN" altLang="en-US" sz="800">
                          <a:latin typeface="微软雅黑" panose="020B0503020204020204" pitchFamily="34" charset="-122"/>
                          <a:ea typeface="微软雅黑" panose="020B0503020204020204" pitchFamily="34" charset="-122"/>
                        </a:rPr>
                        <a:t>装配图</a:t>
                      </a:r>
                      <a:endParaRPr lang="zh-CN" altLang="en-US" sz="800">
                        <a:latin typeface="微软雅黑" panose="020B0503020204020204" pitchFamily="34" charset="-122"/>
                        <a:ea typeface="微软雅黑" panose="020B0503020204020204" pitchFamily="34" charset="-122"/>
                      </a:endParaRPr>
                    </a:p>
                  </a:txBody>
                  <a:tcPr/>
                </a:tc>
              </a:tr>
              <a:tr h="260985">
                <a:tc>
                  <a:txBody>
                    <a:bodyPr/>
                    <a:p>
                      <a:pPr>
                        <a:buNone/>
                      </a:pPr>
                      <a:r>
                        <a:rPr lang="en-US" altLang="zh-CN" sz="1000">
                          <a:latin typeface="微软雅黑" panose="020B0503020204020204" pitchFamily="34" charset="-122"/>
                          <a:ea typeface="微软雅黑" panose="020B0503020204020204" pitchFamily="34" charset="-122"/>
                        </a:rPr>
                        <a:t>3</a:t>
                      </a:r>
                      <a:endParaRPr lang="en-US" altLang="zh-CN" sz="1000">
                        <a:latin typeface="微软雅黑" panose="020B0503020204020204" pitchFamily="34" charset="-122"/>
                        <a:ea typeface="微软雅黑" panose="020B0503020204020204" pitchFamily="34" charset="-122"/>
                      </a:endParaRPr>
                    </a:p>
                  </a:txBody>
                  <a:tcPr anchor="ctr" anchorCtr="1"/>
                </a:tc>
                <a:tc>
                  <a:txBody>
                    <a:bodyPr/>
                    <a:p>
                      <a:pPr algn="l" font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技术规格说明书</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1"/>
                </a:tc>
                <a:tc>
                  <a:txBody>
                    <a:bodyPr/>
                    <a:p>
                      <a:pPr>
                        <a:buNone/>
                      </a:pPr>
                      <a:r>
                        <a:rPr lang="zh-CN" altLang="en-US" sz="800">
                          <a:latin typeface="微软雅黑" panose="020B0503020204020204" pitchFamily="34" charset="-122"/>
                          <a:ea typeface="微软雅黑" panose="020B0503020204020204" pitchFamily="34" charset="-122"/>
                          <a:sym typeface="+mn-ea"/>
                        </a:rPr>
                        <a:t>产品</a:t>
                      </a:r>
                      <a:r>
                        <a:rPr lang="zh-CN" altLang="en-US" sz="800">
                          <a:latin typeface="微软雅黑" panose="020B0503020204020204" pitchFamily="34" charset="-122"/>
                          <a:ea typeface="微软雅黑" panose="020B0503020204020204" pitchFamily="34" charset="-122"/>
                          <a:sym typeface="+mn-ea"/>
                        </a:rPr>
                        <a:t>说明书、客户验收标准</a:t>
                      </a:r>
                      <a:endParaRPr lang="zh-CN" altLang="en-US" sz="800">
                        <a:latin typeface="微软雅黑" panose="020B0503020204020204" pitchFamily="34" charset="-122"/>
                        <a:ea typeface="微软雅黑" panose="020B0503020204020204" pitchFamily="34" charset="-122"/>
                      </a:endParaRPr>
                    </a:p>
                  </a:txBody>
                  <a:tcPr/>
                </a:tc>
              </a:tr>
              <a:tr h="260985">
                <a:tc>
                  <a:txBody>
                    <a:bodyPr/>
                    <a:p>
                      <a:pPr>
                        <a:buNone/>
                      </a:pPr>
                      <a:r>
                        <a:rPr lang="en-US" altLang="zh-CN" sz="1000">
                          <a:latin typeface="微软雅黑" panose="020B0503020204020204" pitchFamily="34" charset="-122"/>
                          <a:ea typeface="微软雅黑" panose="020B0503020204020204" pitchFamily="34" charset="-122"/>
                        </a:rPr>
                        <a:t>4</a:t>
                      </a:r>
                      <a:endParaRPr lang="en-US" altLang="zh-CN" sz="1000">
                        <a:latin typeface="微软雅黑" panose="020B0503020204020204" pitchFamily="34" charset="-122"/>
                        <a:ea typeface="微软雅黑" panose="020B0503020204020204" pitchFamily="34" charset="-122"/>
                      </a:endParaRPr>
                    </a:p>
                  </a:txBody>
                  <a:tcPr anchor="ctr" anchorCtr="1"/>
                </a:tc>
                <a:tc>
                  <a:txBody>
                    <a:bodyPr/>
                    <a:p>
                      <a:pPr algn="l" fontAlgn="ctr">
                        <a:buNone/>
                      </a:pP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客户特殊要求清单</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1"/>
                </a:tc>
                <a:tc>
                  <a:txBody>
                    <a:bodyPr/>
                    <a:p>
                      <a:pPr>
                        <a:buNone/>
                      </a:pPr>
                      <a:r>
                        <a:rPr lang="zh-CN" altLang="en-US" sz="800">
                          <a:latin typeface="微软雅黑" panose="020B0503020204020204" pitchFamily="34" charset="-122"/>
                          <a:ea typeface="微软雅黑" panose="020B0503020204020204" pitchFamily="34" charset="-122"/>
                        </a:rPr>
                        <a:t>保密协议，对话补充</a:t>
                      </a:r>
                      <a:r>
                        <a:rPr lang="zh-CN" altLang="en-US" sz="800">
                          <a:latin typeface="微软雅黑" panose="020B0503020204020204" pitchFamily="34" charset="-122"/>
                          <a:ea typeface="微软雅黑" panose="020B0503020204020204" pitchFamily="34" charset="-122"/>
                        </a:rPr>
                        <a:t>说明</a:t>
                      </a:r>
                      <a:endParaRPr lang="zh-CN" altLang="en-US" sz="800">
                        <a:latin typeface="微软雅黑" panose="020B0503020204020204" pitchFamily="34" charset="-122"/>
                        <a:ea typeface="微软雅黑" panose="020B0503020204020204" pitchFamily="34" charset="-122"/>
                      </a:endParaRPr>
                    </a:p>
                  </a:txBody>
                  <a:tcPr/>
                </a:tc>
              </a:tr>
            </a:tbl>
          </a:graphicData>
        </a:graphic>
      </p:graphicFrame>
    </p:spTree>
    <p:custDataLst>
      <p:tags r:id="rId6"/>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sz="2800">
                <a:solidFill>
                  <a:schemeClr val="tx1"/>
                </a:solidFill>
                <a:latin typeface="+mn-ea"/>
                <a:ea typeface="+mn-ea"/>
                <a:sym typeface="+mn-ea"/>
              </a:rPr>
              <a:t>1 </a:t>
            </a:r>
            <a:r>
              <a:rPr lang="zh-CN" altLang="en-US" sz="2800">
                <a:solidFill>
                  <a:schemeClr val="tx1"/>
                </a:solidFill>
                <a:latin typeface="+mn-ea"/>
                <a:ea typeface="+mn-ea"/>
                <a:sym typeface="+mn-ea"/>
              </a:rPr>
              <a:t>创建工艺评估需求</a:t>
            </a:r>
            <a:r>
              <a:rPr lang="en-US" altLang="zh-CN" sz="2800">
                <a:solidFill>
                  <a:schemeClr val="tx1"/>
                </a:solidFill>
                <a:latin typeface="+mn-ea"/>
                <a:ea typeface="+mn-ea"/>
                <a:sym typeface="+mn-ea"/>
              </a:rPr>
              <a:t>-</a:t>
            </a:r>
            <a:r>
              <a:rPr lang="zh-CN" altLang="en-US" sz="2800">
                <a:solidFill>
                  <a:schemeClr val="tx1"/>
                </a:solidFill>
                <a:latin typeface="+mn-ea"/>
                <a:ea typeface="+mn-ea"/>
                <a:sym typeface="+mn-ea"/>
              </a:rPr>
              <a:t>对应步骤</a:t>
            </a:r>
            <a:r>
              <a:rPr lang="en-US" altLang="zh-CN" sz="2800">
                <a:solidFill>
                  <a:schemeClr val="tx1"/>
                </a:solidFill>
                <a:latin typeface="+mn-ea"/>
                <a:ea typeface="+mn-ea"/>
                <a:sym typeface="+mn-ea"/>
              </a:rPr>
              <a:t>1</a:t>
            </a:r>
            <a:endParaRPr lang="en-US" altLang="zh-CN" sz="2800">
              <a:solidFill>
                <a:schemeClr val="tx1"/>
              </a:solidFill>
              <a:latin typeface="+mn-ea"/>
              <a:ea typeface="+mn-ea"/>
              <a:sym typeface="+mn-ea"/>
            </a:endParaRPr>
          </a:p>
        </p:txBody>
      </p:sp>
      <p:graphicFrame>
        <p:nvGraphicFramePr>
          <p:cNvPr id="3" name="表格 2"/>
          <p:cNvGraphicFramePr/>
          <p:nvPr>
            <p:custDataLst>
              <p:tags r:id="rId2"/>
            </p:custDataLst>
          </p:nvPr>
        </p:nvGraphicFramePr>
        <p:xfrm>
          <a:off x="522605" y="965835"/>
          <a:ext cx="10646410" cy="2682240"/>
        </p:xfrm>
        <a:graphic>
          <a:graphicData uri="http://schemas.openxmlformats.org/drawingml/2006/table">
            <a:tbl>
              <a:tblPr firstRow="1" bandRow="1">
                <a:tableStyleId>{5C22544A-7EE6-4342-B048-85BDC9FD1C3A}</a:tableStyleId>
              </a:tblPr>
              <a:tblGrid>
                <a:gridCol w="1297305"/>
                <a:gridCol w="9349105"/>
              </a:tblGrid>
              <a:tr h="264191">
                <a:tc>
                  <a:txBody>
                    <a:bodyPr/>
                    <a:lstStyle/>
                    <a:p>
                      <a:pPr algn="ctr">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步骤</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lstStyle/>
                    <a:p>
                      <a:pPr algn="ctr">
                        <a:buNone/>
                      </a:pP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Step 1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创建需求</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r>
              <a:tr h="237772">
                <a:tc>
                  <a:txBody>
                    <a:bodyPr/>
                    <a:lstStyle/>
                    <a:p>
                      <a:pPr>
                        <a:buNone/>
                      </a:pPr>
                      <a:r>
                        <a:rPr lang="zh-CN" altLang="en-US" sz="1200">
                          <a:latin typeface="微软雅黑" panose="020B0503020204020204" pitchFamily="34" charset="-122"/>
                          <a:ea typeface="微软雅黑" panose="020B0503020204020204" pitchFamily="34" charset="-122"/>
                        </a:rPr>
                        <a:t>做什么</a:t>
                      </a:r>
                      <a:endParaRPr lang="zh-CN" altLang="en-US" sz="1200">
                        <a:latin typeface="微软雅黑" panose="020B0503020204020204" pitchFamily="34" charset="-122"/>
                        <a:ea typeface="微软雅黑" panose="020B0503020204020204" pitchFamily="34" charset="-122"/>
                      </a:endParaRPr>
                    </a:p>
                  </a:txBody>
                  <a:tcPr/>
                </a:tc>
                <a:tc>
                  <a:txBody>
                    <a:bodyPr/>
                    <a:lstStyle/>
                    <a:p>
                      <a:pPr>
                        <a:buNone/>
                      </a:pPr>
                      <a:r>
                        <a:rPr lang="zh-CN" altLang="en-US" sz="1200" dirty="0">
                          <a:latin typeface="微软雅黑" panose="020B0503020204020204" pitchFamily="34" charset="-122"/>
                          <a:ea typeface="微软雅黑" panose="020B0503020204020204" pitchFamily="34" charset="-122"/>
                          <a:sym typeface="+mn-ea"/>
                        </a:rPr>
                        <a:t>在系统创建工艺评估需求单</a:t>
                      </a:r>
                      <a:endParaRPr lang="zh-CN" altLang="en-US" sz="1200" dirty="0">
                        <a:latin typeface="微软雅黑" panose="020B0503020204020204" pitchFamily="34" charset="-122"/>
                        <a:ea typeface="微软雅黑" panose="020B0503020204020204" pitchFamily="34" charset="-122"/>
                        <a:sym typeface="+mn-ea"/>
                      </a:endParaRPr>
                    </a:p>
                  </a:txBody>
                  <a:tcPr/>
                </a:tc>
              </a:tr>
              <a:tr h="237772">
                <a:tc>
                  <a:txBody>
                    <a:bodyPr/>
                    <a:lstStyle/>
                    <a:p>
                      <a:pPr>
                        <a:buNone/>
                      </a:pPr>
                      <a:r>
                        <a:rPr lang="zh-CN" altLang="en-US" sz="1200">
                          <a:latin typeface="微软雅黑" panose="020B0503020204020204" pitchFamily="34" charset="-122"/>
                          <a:ea typeface="微软雅黑" panose="020B0503020204020204" pitchFamily="34" charset="-122"/>
                        </a:rPr>
                        <a:t>谁来做</a:t>
                      </a:r>
                      <a:endParaRPr lang="zh-CN" altLang="en-US" sz="1200">
                        <a:latin typeface="微软雅黑" panose="020B0503020204020204" pitchFamily="34" charset="-122"/>
                        <a:ea typeface="微软雅黑" panose="020B0503020204020204" pitchFamily="34" charset="-122"/>
                      </a:endParaRPr>
                    </a:p>
                  </a:txBody>
                  <a:tcPr/>
                </a:tc>
                <a:tc>
                  <a:txBody>
                    <a:bodyPr/>
                    <a:lstStyle/>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销售专员（</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上载并解析填写对应</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字段）</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r>
              <a:tr h="237772">
                <a:tc>
                  <a:txBody>
                    <a:bodyPr/>
                    <a:lstStyle/>
                    <a:p>
                      <a:pPr>
                        <a:buNone/>
                      </a:pPr>
                      <a:r>
                        <a:rPr lang="zh-CN" altLang="en-US" sz="1200">
                          <a:latin typeface="微软雅黑" panose="020B0503020204020204" pitchFamily="34" charset="-122"/>
                          <a:ea typeface="微软雅黑" panose="020B0503020204020204" pitchFamily="34" charset="-122"/>
                        </a:rPr>
                        <a:t>输入</a:t>
                      </a:r>
                      <a:endParaRPr lang="zh-CN" altLang="en-US" sz="1200">
                        <a:latin typeface="微软雅黑" panose="020B0503020204020204" pitchFamily="34" charset="-122"/>
                        <a:ea typeface="微软雅黑" panose="020B0503020204020204" pitchFamily="34" charset="-122"/>
                      </a:endParaRPr>
                    </a:p>
                  </a:txBody>
                  <a:tcPr/>
                </a:tc>
                <a:tc>
                  <a:txBody>
                    <a:bodyPr/>
                    <a:lstStyle/>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客户技术工艺需求信息</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或上载客户技术工艺需求资料，通过</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解析生成</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tc>
              </a:tr>
              <a:tr h="237772">
                <a:tc>
                  <a:txBody>
                    <a:bodyPr/>
                    <a:lstStyle/>
                    <a:p>
                      <a:pPr>
                        <a:buNone/>
                      </a:pPr>
                      <a:r>
                        <a:rPr lang="zh-CN" altLang="en-US" sz="1200">
                          <a:latin typeface="微软雅黑" panose="020B0503020204020204" pitchFamily="34" charset="-122"/>
                          <a:ea typeface="微软雅黑" panose="020B0503020204020204" pitchFamily="34" charset="-122"/>
                        </a:rPr>
                        <a:t>输出</a:t>
                      </a:r>
                      <a:endParaRPr lang="zh-CN" altLang="en-US" sz="1200">
                        <a:latin typeface="微软雅黑" panose="020B0503020204020204" pitchFamily="34" charset="-122"/>
                        <a:ea typeface="微软雅黑" panose="020B0503020204020204" pitchFamily="34" charset="-122"/>
                      </a:endParaRPr>
                    </a:p>
                  </a:txBody>
                  <a:tcPr/>
                </a:tc>
                <a:tc>
                  <a:txBody>
                    <a:bodyPr/>
                    <a:lstStyle/>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工艺评估需求单（</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自动生成）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r>
              <a:tr h="381742">
                <a:tc>
                  <a:txBody>
                    <a:bodyPr/>
                    <a:lstStyle/>
                    <a:p>
                      <a:pPr>
                        <a:buNone/>
                      </a:pPr>
                      <a:r>
                        <a:rPr lang="zh-CN" altLang="en-US" sz="1200" dirty="0">
                          <a:latin typeface="微软雅黑" panose="020B0503020204020204" pitchFamily="34" charset="-122"/>
                          <a:ea typeface="微软雅黑" panose="020B0503020204020204" pitchFamily="34" charset="-122"/>
                        </a:rPr>
                        <a:t>主要功能</a:t>
                      </a:r>
                      <a:endParaRPr lang="zh-CN" altLang="en-US" sz="1200" dirty="0">
                        <a:latin typeface="微软雅黑" panose="020B0503020204020204" pitchFamily="34" charset="-122"/>
                        <a:ea typeface="微软雅黑" panose="020B0503020204020204" pitchFamily="34" charset="-122"/>
                      </a:endParaRPr>
                    </a:p>
                  </a:txBody>
                  <a:tcPr/>
                </a:tc>
                <a:tc>
                  <a:txBody>
                    <a:bodyPr/>
                    <a:lstStyle/>
                    <a:p>
                      <a:pPr indent="0">
                        <a:buFont typeface="+mj-lt"/>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、记录需求：基本信息、产品工艺要素、客户要素</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、需求单状态：</a:t>
                      </a:r>
                      <a:r>
                        <a:rPr lang="zh-CN" altLang="en-US" sz="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需求</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cs typeface="微软雅黑" panose="020B0503020204020204" pitchFamily="34" charset="-122"/>
                        </a:rPr>
                        <a:t>草稿</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cs typeface="微软雅黑" panose="020B0503020204020204" pitchFamily="34" charset="-122"/>
                        </a:rPr>
                        <a:t>需求提交</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需求确认</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需求审核</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需求驳回</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需求终止</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、提交需求</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tc>
              </a:tr>
              <a:tr h="343449">
                <a:tc>
                  <a:txBody>
                    <a:bodyPr/>
                    <a:lstStyle/>
                    <a:p>
                      <a:pPr>
                        <a:buNone/>
                      </a:pPr>
                      <a:r>
                        <a:rPr lang="zh-CN" altLang="en-US" sz="1200">
                          <a:latin typeface="微软雅黑" panose="020B0503020204020204" pitchFamily="34" charset="-122"/>
                          <a:ea typeface="微软雅黑" panose="020B0503020204020204" pitchFamily="34" charset="-122"/>
                          <a:sym typeface="+mn-ea"/>
                        </a:rPr>
                        <a:t>关键业务逻辑</a:t>
                      </a:r>
                      <a:endParaRPr lang="zh-CN" altLang="en-US" sz="1200">
                        <a:latin typeface="微软雅黑" panose="020B0503020204020204" pitchFamily="34" charset="-122"/>
                        <a:ea typeface="微软雅黑" panose="020B0503020204020204" pitchFamily="34" charset="-122"/>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销售专员编辑需求单在提交前需求单状态是需求草稿，提交后需求单状态是待确认</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、注释为空的为非必填，有注释的为必填</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、必填字段系统需校验，必填字段为空时提醒用户填写完成后提交</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tc>
              </a:tr>
            </a:tbl>
          </a:graphicData>
        </a:graphic>
      </p:graphicFrame>
      <p:sp>
        <p:nvSpPr>
          <p:cNvPr id="88" name="文本框 87"/>
          <p:cNvSpPr txBox="1"/>
          <p:nvPr/>
        </p:nvSpPr>
        <p:spPr>
          <a:xfrm>
            <a:off x="718639" y="3675735"/>
            <a:ext cx="2100235" cy="646331"/>
          </a:xfrm>
          <a:prstGeom prst="rect">
            <a:avLst/>
          </a:prstGeom>
          <a:noFill/>
        </p:spPr>
        <p:txBody>
          <a:bodyPr wrap="square" rtlCol="0">
            <a:spAutoFit/>
          </a:bodyPr>
          <a:lstStyle/>
          <a:p>
            <a:pPr hangingPunct="0">
              <a:spcBef>
                <a:spcPts val="0"/>
              </a:spcBef>
              <a:spcAft>
                <a:spcPts val="0"/>
              </a:spcAft>
            </a:pPr>
            <a:r>
              <a:rPr lang="zh-CN" altLang="en-US" sz="1200" b="1"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需求单编码规则：</a:t>
            </a:r>
            <a:endParaRPr lang="en-US" altLang="zh-CN" sz="1200" b="1"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a:p>
            <a:pPr hangingPunct="0">
              <a:spcBef>
                <a:spcPts val="0"/>
              </a:spcBef>
              <a:spcAft>
                <a:spcPts val="0"/>
              </a:spcAft>
            </a:pP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REQ+</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员工</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ID(6</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位</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年月日</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(8</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位</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流水号</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(3</a:t>
            </a:r>
            <a:r>
              <a:rPr lang="zh-CN" altLang="en-US"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位</a:t>
            </a:r>
            <a:r>
              <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a:t>
            </a:r>
            <a:endParaRPr lang="en-US" altLang="zh-CN" sz="1200"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9" name="文本框 88"/>
          <p:cNvSpPr txBox="1"/>
          <p:nvPr/>
        </p:nvSpPr>
        <p:spPr>
          <a:xfrm>
            <a:off x="614045" y="4499610"/>
            <a:ext cx="2597150" cy="1568450"/>
          </a:xfrm>
          <a:prstGeom prst="rect">
            <a:avLst/>
          </a:prstGeom>
          <a:noFill/>
        </p:spPr>
        <p:txBody>
          <a:bodyPr wrap="square"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b="1">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solidFill>
                  <a:srgbClr val="000000"/>
                </a:solidFill>
                <a:uFillTx/>
                <a:cs typeface="Arial" panose="020B0604020202020204"/>
                <a:sym typeface="Arial" panose="020B0604020202020204"/>
              </a:rPr>
              <a:t>备注：</a:t>
            </a:r>
            <a:endParaRPr lang="en-US" altLang="zh-CN"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1</a:t>
            </a:r>
            <a:r>
              <a:rPr lang="zh-CN" altLang="en-US" b="0" kern="0" dirty="0">
                <a:solidFill>
                  <a:srgbClr val="000000"/>
                </a:solidFill>
                <a:uFillTx/>
                <a:cs typeface="Arial" panose="020B0604020202020204"/>
                <a:sym typeface="Arial" panose="020B0604020202020204"/>
              </a:rPr>
              <a:t>、披露口径、类型</a:t>
            </a:r>
            <a:r>
              <a:rPr lang="en-US" altLang="zh-CN" b="0" kern="0" dirty="0">
                <a:solidFill>
                  <a:srgbClr val="000000"/>
                </a:solidFill>
                <a:uFillTx/>
                <a:cs typeface="Arial" panose="020B0604020202020204"/>
                <a:sym typeface="Arial" panose="020B0604020202020204"/>
              </a:rPr>
              <a:t>A</a:t>
            </a:r>
            <a:r>
              <a:rPr lang="zh-CN" altLang="en-US" b="0" kern="0" dirty="0">
                <a:solidFill>
                  <a:srgbClr val="000000"/>
                </a:solidFill>
                <a:uFillTx/>
                <a:cs typeface="Arial" panose="020B0604020202020204"/>
                <a:sym typeface="Arial" panose="020B0604020202020204"/>
              </a:rPr>
              <a:t>、类型</a:t>
            </a:r>
            <a:r>
              <a:rPr lang="en-US" altLang="zh-CN" b="0" kern="0" dirty="0">
                <a:solidFill>
                  <a:srgbClr val="000000"/>
                </a:solidFill>
                <a:uFillTx/>
                <a:cs typeface="Arial" panose="020B0604020202020204"/>
                <a:sym typeface="Arial" panose="020B0604020202020204"/>
              </a:rPr>
              <a:t>B</a:t>
            </a:r>
            <a:r>
              <a:rPr lang="zh-CN" altLang="en-US" b="0" kern="0" dirty="0">
                <a:solidFill>
                  <a:srgbClr val="000000"/>
                </a:solidFill>
                <a:uFillTx/>
                <a:cs typeface="Arial" panose="020B0604020202020204"/>
                <a:sym typeface="Arial" panose="020B0604020202020204"/>
              </a:rPr>
              <a:t>待提供标准值（销售</a:t>
            </a:r>
            <a:r>
              <a:rPr lang="zh-CN" altLang="en-US" b="0" kern="0" dirty="0">
                <a:solidFill>
                  <a:srgbClr val="000000"/>
                </a:solidFill>
                <a:uFillTx/>
                <a:cs typeface="Arial" panose="020B0604020202020204"/>
                <a:sym typeface="Arial" panose="020B0604020202020204"/>
              </a:rPr>
              <a:t>部门提供）</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2</a:t>
            </a:r>
            <a:r>
              <a:rPr lang="zh-CN" altLang="en-US" b="0" kern="0" dirty="0">
                <a:solidFill>
                  <a:srgbClr val="000000"/>
                </a:solidFill>
                <a:uFillTx/>
                <a:cs typeface="Arial" panose="020B0604020202020204"/>
                <a:sym typeface="Arial" panose="020B0604020202020204"/>
              </a:rPr>
              <a:t>、产品类型待提供标准值、产品规格特征模版（研发项目</a:t>
            </a:r>
            <a:r>
              <a:rPr lang="zh-CN" altLang="en-US" b="0" kern="0" dirty="0">
                <a:solidFill>
                  <a:srgbClr val="000000"/>
                </a:solidFill>
                <a:uFillTx/>
                <a:cs typeface="Arial" panose="020B0604020202020204"/>
                <a:sym typeface="Arial" panose="020B0604020202020204"/>
              </a:rPr>
              <a:t>部门提供）</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3</a:t>
            </a:r>
            <a:r>
              <a:rPr lang="zh-CN" altLang="en-US" b="0" kern="0" dirty="0">
                <a:solidFill>
                  <a:srgbClr val="000000"/>
                </a:solidFill>
                <a:uFillTx/>
                <a:cs typeface="Arial" panose="020B0604020202020204"/>
                <a:sym typeface="Arial" panose="020B0604020202020204"/>
              </a:rPr>
              <a:t>、需求清单支持导出</a:t>
            </a:r>
            <a:r>
              <a:rPr lang="en-US" altLang="zh-CN" b="0" kern="0" dirty="0">
                <a:solidFill>
                  <a:srgbClr val="000000"/>
                </a:solidFill>
                <a:uFillTx/>
                <a:cs typeface="Arial" panose="020B0604020202020204"/>
                <a:sym typeface="Arial" panose="020B0604020202020204"/>
              </a:rPr>
              <a:t>Excel</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4</a:t>
            </a:r>
            <a:r>
              <a:rPr lang="zh-CN" altLang="en-US" b="0" kern="0" dirty="0">
                <a:solidFill>
                  <a:srgbClr val="000000"/>
                </a:solidFill>
                <a:uFillTx/>
                <a:cs typeface="Arial" panose="020B0604020202020204"/>
                <a:sym typeface="Arial" panose="020B0604020202020204"/>
              </a:rPr>
              <a:t>、销售专员一次最多录入</a:t>
            </a:r>
            <a:r>
              <a:rPr lang="en-US" altLang="zh-CN" b="0" kern="0" dirty="0">
                <a:solidFill>
                  <a:srgbClr val="000000"/>
                </a:solidFill>
                <a:uFillTx/>
                <a:cs typeface="Arial" panose="020B0604020202020204"/>
                <a:sym typeface="Arial" panose="020B0604020202020204"/>
              </a:rPr>
              <a:t>3</a:t>
            </a:r>
            <a:r>
              <a:rPr lang="zh-CN" altLang="en-US" b="0" kern="0" dirty="0">
                <a:solidFill>
                  <a:srgbClr val="000000"/>
                </a:solidFill>
                <a:uFillTx/>
                <a:cs typeface="Arial" panose="020B0604020202020204"/>
                <a:sym typeface="Arial" panose="020B0604020202020204"/>
              </a:rPr>
              <a:t>条需求，暂不</a:t>
            </a:r>
            <a:r>
              <a:rPr lang="zh-CN" altLang="en-US" b="0" kern="0" dirty="0">
                <a:solidFill>
                  <a:srgbClr val="000000"/>
                </a:solidFill>
                <a:uFillTx/>
                <a:cs typeface="Arial" panose="020B0604020202020204"/>
                <a:sym typeface="Arial" panose="020B0604020202020204"/>
              </a:rPr>
              <a:t>支持模版导入</a:t>
            </a:r>
            <a:endParaRPr lang="zh-CN" altLang="en-US" b="0" kern="0" dirty="0">
              <a:solidFill>
                <a:srgbClr val="000000"/>
              </a:solidFill>
              <a:uFillTx/>
              <a:cs typeface="Arial" panose="020B0604020202020204"/>
              <a:sym typeface="Arial" panose="020B0604020202020204"/>
            </a:endParaRPr>
          </a:p>
        </p:txBody>
      </p:sp>
      <p:graphicFrame>
        <p:nvGraphicFramePr>
          <p:cNvPr id="90" name="表格 89"/>
          <p:cNvGraphicFramePr>
            <a:graphicFrameLocks noGrp="1"/>
          </p:cNvGraphicFramePr>
          <p:nvPr/>
        </p:nvGraphicFramePr>
        <p:xfrm>
          <a:off x="3352800" y="3672840"/>
          <a:ext cx="7837170" cy="2823210"/>
        </p:xfrm>
        <a:graphic>
          <a:graphicData uri="http://schemas.openxmlformats.org/drawingml/2006/table">
            <a:tbl>
              <a:tblPr firstRow="1" bandRow="1">
                <a:tableStyleId>{5C22544A-7EE6-4342-B048-85BDC9FD1C3A}</a:tableStyleId>
              </a:tblPr>
              <a:tblGrid>
                <a:gridCol w="243840"/>
                <a:gridCol w="244475"/>
                <a:gridCol w="243840"/>
                <a:gridCol w="244475"/>
                <a:gridCol w="192405"/>
                <a:gridCol w="371475"/>
                <a:gridCol w="193040"/>
                <a:gridCol w="243840"/>
                <a:gridCol w="244475"/>
                <a:gridCol w="243840"/>
                <a:gridCol w="244475"/>
                <a:gridCol w="243840"/>
                <a:gridCol w="243840"/>
                <a:gridCol w="244475"/>
                <a:gridCol w="243840"/>
                <a:gridCol w="244475"/>
                <a:gridCol w="243840"/>
                <a:gridCol w="244475"/>
                <a:gridCol w="243840"/>
                <a:gridCol w="244475"/>
                <a:gridCol w="243840"/>
                <a:gridCol w="243840"/>
                <a:gridCol w="245110"/>
                <a:gridCol w="243840"/>
                <a:gridCol w="244475"/>
                <a:gridCol w="243840"/>
                <a:gridCol w="244475"/>
                <a:gridCol w="243840"/>
                <a:gridCol w="244475"/>
                <a:gridCol w="243840"/>
                <a:gridCol w="244475"/>
                <a:gridCol w="243840"/>
              </a:tblGrid>
              <a:tr h="914323">
                <a:tc>
                  <a:txBody>
                    <a:bodyPr/>
                    <a:lstStyle/>
                    <a:p>
                      <a:pPr algn="ctr" fontAlgn="ctr"/>
                      <a:r>
                        <a:rPr lang="zh-CN" altLang="en-US" sz="900" b="1" i="0" u="none" strike="noStrike" dirty="0">
                          <a:solidFill>
                            <a:srgbClr val="FF0000"/>
                          </a:solidFill>
                          <a:effectLst/>
                          <a:latin typeface="微软雅黑" panose="020B0503020204020204" pitchFamily="34" charset="-122"/>
                          <a:ea typeface="微软雅黑" panose="020B0503020204020204" pitchFamily="34" charset="-122"/>
                        </a:rPr>
                        <a:t>字段 </a:t>
                      </a:r>
                      <a:endParaRPr lang="zh-CN" altLang="en-US" sz="900" b="1" i="0" u="none" strike="noStrike" dirty="0">
                        <a:solidFill>
                          <a:srgbClr val="FF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需求单编号</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需求单名称</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需求描述</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创建人</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状态</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1" i="0" u="none" strike="noStrike" dirty="0">
                          <a:solidFill>
                            <a:srgbClr val="000000"/>
                          </a:solidFill>
                          <a:effectLst/>
                          <a:latin typeface="微软雅黑" panose="020B0503020204020204" pitchFamily="34" charset="-122"/>
                          <a:ea typeface="微软雅黑" panose="020B0503020204020204" pitchFamily="34" charset="-122"/>
                        </a:rPr>
                        <a:t> BU </a:t>
                      </a:r>
                      <a:endParaRPr 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最终客户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 交易客户名称 </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新旧客户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 项目名称 </a:t>
                      </a:r>
                      <a:endParaRPr lang="zh-CN" altLang="en-US" sz="900" b="1"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 项目编码 </a:t>
                      </a:r>
                      <a:endParaRPr lang="zh-CN" altLang="en-US" sz="900" b="1"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项目报价年月日 </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是否</a:t>
                      </a:r>
                      <a:r>
                        <a:rPr lang="en-US" sz="900" b="1" i="0" u="none" strike="noStrike" dirty="0">
                          <a:solidFill>
                            <a:srgbClr val="000000"/>
                          </a:solidFill>
                          <a:effectLst/>
                          <a:latin typeface="微软雅黑" panose="020B0503020204020204" pitchFamily="34" charset="-122"/>
                          <a:ea typeface="微软雅黑" panose="020B0503020204020204" pitchFamily="34" charset="-122"/>
                        </a:rPr>
                        <a:t>ODM</a:t>
                      </a:r>
                      <a:endParaRPr 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产品类型</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产品规格特征</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客户产品资料附件</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年预测量</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生命周期</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项目状态</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预估项目</a:t>
                      </a: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截止时间</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客户经理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项目经理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l"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目前状况说明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获取状况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获取机率</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项目启动预计时间</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披露口径</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类型</a:t>
                      </a:r>
                      <a:r>
                        <a:rPr lang="en-US" sz="900" b="1" i="0" u="none" strike="noStrike" dirty="0">
                          <a:solidFill>
                            <a:srgbClr val="000000"/>
                          </a:solidFill>
                          <a:effectLst/>
                          <a:latin typeface="微软雅黑" panose="020B0503020204020204" pitchFamily="34" charset="-122"/>
                          <a:ea typeface="微软雅黑" panose="020B0503020204020204" pitchFamily="34" charset="-122"/>
                        </a:rPr>
                        <a:t>A</a:t>
                      </a:r>
                      <a:endParaRPr 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类型</a:t>
                      </a:r>
                      <a:r>
                        <a:rPr lang="en-US" sz="900" b="1" i="0" u="none" strike="noStrike">
                          <a:solidFill>
                            <a:srgbClr val="000000"/>
                          </a:solidFill>
                          <a:effectLst/>
                          <a:latin typeface="微软雅黑" panose="020B0503020204020204" pitchFamily="34" charset="-122"/>
                          <a:ea typeface="微软雅黑" panose="020B0503020204020204" pitchFamily="34" charset="-122"/>
                        </a:rPr>
                        <a:t>B</a:t>
                      </a:r>
                      <a:endParaRPr 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 全新</a:t>
                      </a:r>
                      <a:r>
                        <a:rPr lang="en-US" sz="900" b="1" i="0" u="none" strike="noStrike">
                          <a:solidFill>
                            <a:srgbClr val="000000"/>
                          </a:solidFill>
                          <a:effectLst/>
                          <a:latin typeface="微软雅黑" panose="020B0503020204020204" pitchFamily="34" charset="-122"/>
                          <a:ea typeface="微软雅黑" panose="020B0503020204020204" pitchFamily="34" charset="-122"/>
                        </a:rPr>
                        <a:t>OR</a:t>
                      </a: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迭代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1" i="0" u="none" strike="noStrike" dirty="0">
                          <a:solidFill>
                            <a:srgbClr val="000000"/>
                          </a:solidFill>
                          <a:effectLst/>
                          <a:latin typeface="微软雅黑" panose="020B0503020204020204" pitchFamily="34" charset="-122"/>
                          <a:ea typeface="微软雅黑" panose="020B0503020204020204" pitchFamily="34" charset="-122"/>
                        </a:rPr>
                        <a:t>备注</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r>
              <a:tr h="163554">
                <a:tc>
                  <a:txBody>
                    <a:bodyPr/>
                    <a:lstStyle/>
                    <a:p>
                      <a:pPr algn="ctr" fontAlgn="ctr"/>
                      <a:r>
                        <a:rPr lang="zh-CN" altLang="en-US" sz="900" b="1" i="0" u="none" strike="noStrike" dirty="0">
                          <a:solidFill>
                            <a:srgbClr val="FF0000"/>
                          </a:solidFill>
                          <a:effectLst/>
                          <a:latin typeface="微软雅黑" panose="020B0503020204020204" pitchFamily="34" charset="-122"/>
                          <a:ea typeface="微软雅黑" panose="020B0503020204020204" pitchFamily="34" charset="-122"/>
                        </a:rPr>
                        <a:t>　</a:t>
                      </a:r>
                      <a:endParaRPr lang="zh-CN" altLang="en-US" sz="900" b="1" i="0" u="none" strike="noStrike" dirty="0">
                        <a:solidFill>
                          <a:srgbClr val="FF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l"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00"/>
                          </a:solidFill>
                          <a:effectLst/>
                          <a:latin typeface="微软雅黑" panose="020B0503020204020204" pitchFamily="34" charset="-122"/>
                          <a:ea typeface="微软雅黑" panose="020B0503020204020204" pitchFamily="34" charset="-122"/>
                        </a:rPr>
                        <a:t>Y </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Y</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r>
              <a:tr h="987769">
                <a:tc>
                  <a:txBody>
                    <a:bodyPr/>
                    <a:lstStyle/>
                    <a:p>
                      <a:pPr algn="ctr" fontAlgn="ctr"/>
                      <a:r>
                        <a:rPr lang="zh-CN" altLang="en-US" sz="900" b="1" i="0" u="none" strike="noStrike" dirty="0">
                          <a:solidFill>
                            <a:srgbClr val="FF0000"/>
                          </a:solidFill>
                          <a:effectLst/>
                          <a:latin typeface="微软雅黑" panose="020B0503020204020204" pitchFamily="34" charset="-122"/>
                          <a:ea typeface="微软雅黑" panose="020B0503020204020204" pitchFamily="34" charset="-122"/>
                        </a:rPr>
                        <a:t>来源 </a:t>
                      </a:r>
                      <a:endParaRPr lang="zh-CN" altLang="en-US" sz="900" b="1" i="0" u="none" strike="noStrike" dirty="0">
                        <a:solidFill>
                          <a:srgbClr val="FF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系统自动生成</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（规则）</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第一次必填手填</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系统生成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草稿</a:t>
                      </a:r>
                      <a:r>
                        <a:rPr lang="en-US" altLang="zh-CN" sz="900" b="0" i="0" u="none" strike="noStrike" dirty="0">
                          <a:solidFill>
                            <a:srgbClr val="0000FF"/>
                          </a:solidFill>
                          <a:effectLst/>
                          <a:latin typeface="微软雅黑" panose="020B0503020204020204" pitchFamily="34" charset="-122"/>
                          <a:ea typeface="微软雅黑" panose="020B0503020204020204" pitchFamily="34" charset="-122"/>
                        </a:rPr>
                        <a:t>/</a:t>
                      </a:r>
                      <a:endParaRPr lang="en-US" altLang="zh-CN" sz="900" b="0" i="0" u="none" strike="noStrike" dirty="0">
                        <a:solidFill>
                          <a:srgbClr val="0000FF"/>
                        </a:solidFill>
                        <a:effectLst/>
                        <a:latin typeface="微软雅黑" panose="020B0503020204020204" pitchFamily="34" charset="-122"/>
                        <a:ea typeface="微软雅黑" panose="020B0503020204020204" pitchFamily="34" charset="-122"/>
                      </a:endParaRPr>
                    </a:p>
                    <a:p>
                      <a:pPr algn="ctr" fontAlgn="ct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提交</a:t>
                      </a:r>
                      <a:r>
                        <a:rPr lang="en-US" altLang="zh-CN" sz="9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确认</a:t>
                      </a:r>
                      <a:r>
                        <a:rPr lang="en-US" altLang="zh-CN" sz="9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审核</a:t>
                      </a:r>
                      <a:r>
                        <a:rPr lang="en-US" altLang="zh-CN" sz="9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完成</a:t>
                      </a:r>
                      <a:r>
                        <a:rPr lang="en-US" altLang="zh-CN" sz="9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终止</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第一次必填系统选择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第一次必填手填</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选择</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第一次必填手填</a:t>
                      </a:r>
                      <a:endParaRPr lang="zh-CN" alt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rPr>
                        <a:t>第一次必填手填</a:t>
                      </a:r>
                      <a:endParaRPr lang="zh-CN" altLang="en-US" sz="900" b="0" i="0" u="none" strike="noStrike" dirty="0">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选择</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选择</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选择</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第一次必填手填</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第一次必填附件</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en-US" sz="900" b="0" i="0" u="none" strike="noStrike" dirty="0">
                          <a:solidFill>
                            <a:srgbClr val="0000FF"/>
                          </a:solidFill>
                          <a:effectLst/>
                          <a:latin typeface="微软雅黑" panose="020B0503020204020204" pitchFamily="34" charset="-122"/>
                          <a:ea typeface="微软雅黑" panose="020B0503020204020204" pitchFamily="34" charset="-122"/>
                        </a:rPr>
                        <a:t>PLM</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系统集成</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第一次必填系统</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选择</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l"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必选</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必选</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必选</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第一次</a:t>
                      </a:r>
                      <a:r>
                        <a:rPr lang="zh-CN" altLang="en-US" sz="900" b="0" i="0" u="none" strike="noStrike" dirty="0">
                          <a:solidFill>
                            <a:srgbClr val="0000FF"/>
                          </a:solidFill>
                          <a:effectLst/>
                          <a:latin typeface="微软雅黑" panose="020B0503020204020204" pitchFamily="34" charset="-122"/>
                          <a:ea typeface="微软雅黑" panose="020B0503020204020204" pitchFamily="34" charset="-122"/>
                        </a:rPr>
                        <a:t>必选</a:t>
                      </a:r>
                      <a:endParaRPr lang="zh-CN" altLang="en-US" sz="900" b="0" i="0" u="none" strike="noStrike" dirty="0">
                        <a:solidFill>
                          <a:srgbClr val="0000FF"/>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r>
            </a:tbl>
          </a:graphicData>
        </a:graphic>
      </p:graphicFrame>
      <p:sp>
        <p:nvSpPr>
          <p:cNvPr id="5" name="文本框 4"/>
          <p:cNvSpPr txBox="1"/>
          <p:nvPr/>
        </p:nvSpPr>
        <p:spPr>
          <a:xfrm>
            <a:off x="8469973" y="1786861"/>
            <a:ext cx="2699057" cy="1200329"/>
          </a:xfrm>
          <a:prstGeom prst="rect">
            <a:avLst/>
          </a:prstGeom>
          <a:noFill/>
        </p:spPr>
        <p:txBody>
          <a:bodyPr wrap="square"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b="1">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en-US" altLang="zh-CN" b="0" kern="0" dirty="0">
                <a:solidFill>
                  <a:srgbClr val="C00000"/>
                </a:solidFill>
                <a:uFillTx/>
                <a:cs typeface="Arial" panose="020B0604020202020204"/>
                <a:sym typeface="Arial" panose="020B0604020202020204"/>
              </a:rPr>
              <a:t>1</a:t>
            </a:r>
            <a:r>
              <a:rPr lang="zh-CN" altLang="en-US" b="0" kern="0" dirty="0">
                <a:solidFill>
                  <a:srgbClr val="C00000"/>
                </a:solidFill>
                <a:uFillTx/>
                <a:cs typeface="Arial" panose="020B0604020202020204"/>
                <a:sym typeface="Arial" panose="020B0604020202020204"/>
              </a:rPr>
              <a:t>、客户名称是否支持主数据集成</a:t>
            </a:r>
            <a:endParaRPr lang="en-US" altLang="zh-CN" b="0" kern="0" dirty="0">
              <a:solidFill>
                <a:srgbClr val="C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C00000"/>
                </a:solidFill>
                <a:uFillTx/>
                <a:cs typeface="Arial" panose="020B0604020202020204"/>
                <a:sym typeface="Arial" panose="020B0604020202020204"/>
              </a:rPr>
              <a:t>2</a:t>
            </a:r>
            <a:r>
              <a:rPr lang="zh-CN" altLang="en-US" b="0" kern="0" dirty="0">
                <a:solidFill>
                  <a:srgbClr val="C00000"/>
                </a:solidFill>
                <a:uFillTx/>
                <a:cs typeface="Arial" panose="020B0604020202020204"/>
                <a:sym typeface="Arial" panose="020B0604020202020204"/>
              </a:rPr>
              <a:t>、产品类型是否支持主数据集成，什么时间产生产品名称主数据</a:t>
            </a:r>
            <a:endParaRPr lang="en-US" altLang="zh-CN" b="0" kern="0" dirty="0">
              <a:solidFill>
                <a:srgbClr val="C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C00000"/>
                </a:solidFill>
                <a:uFillTx/>
                <a:cs typeface="Arial" panose="020B0604020202020204"/>
                <a:sym typeface="Arial" panose="020B0604020202020204"/>
              </a:rPr>
              <a:t>3</a:t>
            </a:r>
            <a:r>
              <a:rPr lang="zh-CN" altLang="en-US" b="0" kern="0" dirty="0">
                <a:solidFill>
                  <a:srgbClr val="C00000"/>
                </a:solidFill>
                <a:uFillTx/>
                <a:cs typeface="Arial" panose="020B0604020202020204"/>
                <a:sym typeface="Arial" panose="020B0604020202020204"/>
              </a:rPr>
              <a:t>、项目名称和项目编码如何集成，是否有项目编码</a:t>
            </a:r>
            <a:endParaRPr lang="en-US" altLang="zh-CN" b="0" kern="0" dirty="0">
              <a:solidFill>
                <a:srgbClr val="C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C00000"/>
                </a:solidFill>
                <a:uFillTx/>
                <a:cs typeface="Arial" panose="020B0604020202020204"/>
                <a:sym typeface="Arial" panose="020B0604020202020204"/>
              </a:rPr>
              <a:t>4</a:t>
            </a:r>
            <a:r>
              <a:rPr lang="zh-CN" altLang="en-US" b="0" kern="0" dirty="0">
                <a:solidFill>
                  <a:srgbClr val="C00000"/>
                </a:solidFill>
                <a:uFillTx/>
                <a:cs typeface="Arial" panose="020B0604020202020204"/>
                <a:sym typeface="Arial" panose="020B0604020202020204"/>
              </a:rPr>
              <a:t>、补充每个字段的业务定义</a:t>
            </a:r>
            <a:endParaRPr lang="zh-CN" altLang="en-US" b="0" kern="0" dirty="0">
              <a:solidFill>
                <a:srgbClr val="C00000"/>
              </a:solidFill>
              <a:uFillTx/>
              <a:cs typeface="Arial" panose="020B0604020202020204"/>
              <a:sym typeface="Arial" panose="020B0604020202020204"/>
            </a:endParaRPr>
          </a:p>
        </p:txBody>
      </p:sp>
      <p:sp>
        <p:nvSpPr>
          <p:cNvPr id="4" name="文本框 3"/>
          <p:cNvSpPr txBox="1"/>
          <p:nvPr/>
        </p:nvSpPr>
        <p:spPr>
          <a:xfrm>
            <a:off x="4716145" y="1242060"/>
            <a:ext cx="5116830" cy="349250"/>
          </a:xfrm>
          <a:prstGeom prst="rect">
            <a:avLst/>
          </a:prstGeom>
          <a:noFill/>
        </p:spPr>
        <p:txBody>
          <a:bodyPr wrap="square" rtlCol="0" anchor="t">
            <a:spAutoFit/>
          </a:bodyPr>
          <a:p>
            <a:pPr marL="285750" indent="-285750" fontAlgn="auto">
              <a:lnSpc>
                <a:spcPct val="120000"/>
              </a:lnSpc>
              <a:spcBef>
                <a:spcPts val="0"/>
              </a:spcBef>
              <a:buFont typeface="Wingdings" panose="05000000000000000000" charset="0"/>
              <a:buChar char="p"/>
            </a:pP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解析客户技术工艺资料，</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自动</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填写</a:t>
            </a:r>
            <a:endPar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2735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1 </a:t>
            </a:r>
            <a:r>
              <a:rPr lang="zh-CN" altLang="en-US" sz="2800">
                <a:solidFill>
                  <a:schemeClr val="tx1"/>
                </a:solidFill>
                <a:cs typeface="微软雅黑" panose="020B0503020204020204" pitchFamily="34" charset="-122"/>
                <a:sym typeface="+mn-ea"/>
              </a:rPr>
              <a:t>创建需求</a:t>
            </a:r>
            <a:r>
              <a:rPr lang="zh-CN" altLang="en-US" sz="2400">
                <a:solidFill>
                  <a:schemeClr val="tx1"/>
                </a:solidFill>
                <a:cs typeface="微软雅黑" panose="020B0503020204020204" pitchFamily="34" charset="-122"/>
                <a:sym typeface="+mn-ea"/>
              </a:rPr>
              <a:t>（具体参见附件</a:t>
            </a:r>
            <a:r>
              <a:rPr lang="en-US" altLang="zh-CN" sz="2400">
                <a:solidFill>
                  <a:schemeClr val="tx1"/>
                </a:solidFill>
                <a:cs typeface="微软雅黑" panose="020B0503020204020204" pitchFamily="34" charset="-122"/>
                <a:sym typeface="+mn-ea"/>
              </a:rPr>
              <a:t>EXCEL</a:t>
            </a:r>
            <a:r>
              <a:rPr lang="zh-CN" altLang="en-US" sz="2400">
                <a:solidFill>
                  <a:schemeClr val="tx1"/>
                </a:solidFill>
                <a:cs typeface="微软雅黑" panose="020B0503020204020204" pitchFamily="34" charset="-122"/>
                <a:sym typeface="+mn-ea"/>
              </a:rPr>
              <a:t>）</a:t>
            </a:r>
            <a:endParaRPr lang="zh-CN" altLang="en-US" sz="2400">
              <a:solidFill>
                <a:schemeClr val="tx1"/>
              </a:solidFill>
              <a:cs typeface="微软雅黑" panose="020B0503020204020204" pitchFamily="34" charset="-122"/>
              <a:sym typeface="+mn-ea"/>
            </a:endParaRPr>
          </a:p>
        </p:txBody>
      </p:sp>
      <p:graphicFrame>
        <p:nvGraphicFramePr>
          <p:cNvPr id="4" name="表格 3"/>
          <p:cNvGraphicFramePr/>
          <p:nvPr>
            <p:custDataLst>
              <p:tags r:id="rId2"/>
            </p:custDataLst>
          </p:nvPr>
        </p:nvGraphicFramePr>
        <p:xfrm>
          <a:off x="496956" y="967329"/>
          <a:ext cx="5466522" cy="5675630"/>
        </p:xfrm>
        <a:graphic>
          <a:graphicData uri="http://schemas.openxmlformats.org/drawingml/2006/table">
            <a:tbl>
              <a:tblPr firstRow="1" bandRow="1">
                <a:tableStyleId>{5C22544A-7EE6-4342-B048-85BDC9FD1C3A}</a:tableStyleId>
              </a:tblPr>
              <a:tblGrid>
                <a:gridCol w="975194"/>
                <a:gridCol w="2403719"/>
                <a:gridCol w="1028895"/>
                <a:gridCol w="1058714"/>
              </a:tblGrid>
              <a:tr h="264191">
                <a:tc>
                  <a:txBody>
                    <a:bodyPr/>
                    <a:lstStyle/>
                    <a:p>
                      <a:pPr algn="ctr">
                        <a:buNone/>
                      </a:pPr>
                      <a:r>
                        <a:rPr lang="zh-CN" altLang="en-US" sz="1200" dirty="0">
                          <a:latin typeface="+mj-ea"/>
                          <a:ea typeface="+mj-ea"/>
                        </a:rPr>
                        <a:t>字段名</a:t>
                      </a:r>
                      <a:r>
                        <a:rPr lang="en-US" altLang="zh-CN" sz="1200" dirty="0">
                          <a:latin typeface="+mj-ea"/>
                          <a:ea typeface="+mj-ea"/>
                        </a:rPr>
                        <a:t> </a:t>
                      </a:r>
                      <a:endParaRPr lang="en-US" altLang="zh-CN" sz="1200" dirty="0">
                        <a:latin typeface="+mj-ea"/>
                        <a:ea typeface="+mj-ea"/>
                      </a:endParaRPr>
                    </a:p>
                  </a:txBody>
                  <a:tcPr marL="36000" marR="36000"/>
                </a:tc>
                <a:tc>
                  <a:txBody>
                    <a:bodyPr/>
                    <a:lstStyle/>
                    <a:p>
                      <a:pPr algn="ctr">
                        <a:buNone/>
                      </a:pPr>
                      <a:r>
                        <a:rPr lang="zh-CN" altLang="en-US" sz="1200" dirty="0">
                          <a:latin typeface="+mj-ea"/>
                          <a:ea typeface="+mj-ea"/>
                          <a:sym typeface="+mn-ea"/>
                        </a:rPr>
                        <a:t>定义</a:t>
                      </a:r>
                      <a:endParaRPr lang="zh-CN" altLang="en-US" sz="1200" dirty="0">
                        <a:latin typeface="+mj-ea"/>
                        <a:ea typeface="+mj-ea"/>
                        <a:sym typeface="+mn-ea"/>
                      </a:endParaRPr>
                    </a:p>
                  </a:txBody>
                  <a:tcPr marL="36000" marR="36000"/>
                </a:tc>
                <a:tc>
                  <a:txBody>
                    <a:bodyPr/>
                    <a:lstStyle/>
                    <a:p>
                      <a:pPr algn="ctr">
                        <a:buNone/>
                      </a:pPr>
                      <a:r>
                        <a:rPr lang="zh-CN" altLang="en-US" sz="1200" dirty="0">
                          <a:latin typeface="+mj-ea"/>
                          <a:ea typeface="+mj-ea"/>
                          <a:sym typeface="+mn-ea"/>
                        </a:rPr>
                        <a:t>填写方式</a:t>
                      </a:r>
                      <a:endParaRPr lang="zh-CN" altLang="en-US" sz="1200" dirty="0">
                        <a:latin typeface="+mj-ea"/>
                        <a:ea typeface="+mj-ea"/>
                        <a:sym typeface="+mn-ea"/>
                      </a:endParaRPr>
                    </a:p>
                  </a:txBody>
                  <a:tcPr marL="36000" marR="36000"/>
                </a:tc>
                <a:tc>
                  <a:txBody>
                    <a:bodyPr/>
                    <a:lstStyle/>
                    <a:p>
                      <a:pPr algn="ctr">
                        <a:buNone/>
                      </a:pPr>
                      <a:r>
                        <a:rPr lang="zh-CN" altLang="en-US" sz="1200" dirty="0">
                          <a:latin typeface="+mj-ea"/>
                          <a:ea typeface="+mj-ea"/>
                          <a:sym typeface="+mn-ea"/>
                        </a:rPr>
                        <a:t>值</a:t>
                      </a:r>
                      <a:r>
                        <a:rPr lang="en-US" altLang="zh-CN" sz="1200" dirty="0">
                          <a:latin typeface="+mj-ea"/>
                          <a:ea typeface="+mj-ea"/>
                          <a:sym typeface="+mn-ea"/>
                        </a:rPr>
                        <a:t>/</a:t>
                      </a:r>
                      <a:r>
                        <a:rPr lang="zh-CN" altLang="en-US" sz="1200" dirty="0">
                          <a:latin typeface="+mj-ea"/>
                          <a:ea typeface="+mj-ea"/>
                          <a:sym typeface="+mn-ea"/>
                        </a:rPr>
                        <a:t>规则</a:t>
                      </a:r>
                      <a:endParaRPr lang="zh-CN" altLang="en-US" sz="1200" dirty="0">
                        <a:latin typeface="+mj-ea"/>
                        <a:ea typeface="+mj-ea"/>
                        <a:sym typeface="+mn-ea"/>
                      </a:endParaRPr>
                    </a:p>
                  </a:txBody>
                  <a:tcPr marL="36000" marR="36000"/>
                </a:tc>
              </a:tr>
              <a:tr h="173634">
                <a:tc>
                  <a:txBody>
                    <a:bodyPr/>
                    <a:lstStyle/>
                    <a:p>
                      <a:pPr algn="l" rtl="0" fontAlgn="ctr"/>
                      <a:r>
                        <a:rPr lang="zh-CN" altLang="en-US" sz="1100" kern="1200" dirty="0">
                          <a:solidFill>
                            <a:schemeClr val="dk1"/>
                          </a:solidFill>
                          <a:latin typeface="+mn-ea"/>
                          <a:ea typeface="+mn-ea"/>
                          <a:cs typeface="+mn-cs"/>
                        </a:rPr>
                        <a:t>需求单编号</a:t>
                      </a:r>
                      <a:r>
                        <a:rPr lang="en-US" altLang="zh-CN" sz="1600" kern="1200" dirty="0">
                          <a:solidFill>
                            <a:srgbClr val="FF0000"/>
                          </a:solidFill>
                          <a:latin typeface="+mn-ea"/>
                          <a:ea typeface="+mn-ea"/>
                          <a:cs typeface="+mn-cs"/>
                        </a:rPr>
                        <a:t>*</a:t>
                      </a:r>
                      <a:endParaRPr lang="zh-CN" altLang="en-US" sz="1100" kern="1200" dirty="0">
                        <a:solidFill>
                          <a:srgbClr val="FF0000"/>
                        </a:solidFill>
                        <a:latin typeface="+mn-ea"/>
                        <a:ea typeface="+mn-ea"/>
                        <a:cs typeface="+mn-cs"/>
                      </a:endParaRPr>
                    </a:p>
                  </a:txBody>
                  <a:tcPr marL="36000" marR="36000" marT="6350" marB="0" anchor="ctr"/>
                </a:tc>
                <a:tc>
                  <a:txBody>
                    <a:bodyPr/>
                    <a:lstStyle/>
                    <a:p>
                      <a:pPr>
                        <a:buNone/>
                      </a:pPr>
                      <a:endParaRPr sz="1100" dirty="0">
                        <a:latin typeface="+mn-ea"/>
                        <a:ea typeface="+mn-ea"/>
                        <a:sym typeface="+mn-ea"/>
                      </a:endParaRPr>
                    </a:p>
                  </a:txBody>
                  <a:tcPr marL="36000" marR="36000"/>
                </a:tc>
                <a:tc>
                  <a:txBody>
                    <a:bodyPr/>
                    <a:lstStyle/>
                    <a:p>
                      <a:pPr>
                        <a:buNone/>
                      </a:pPr>
                      <a:r>
                        <a:rPr lang="zh-CN" altLang="en-US" sz="1100" dirty="0">
                          <a:latin typeface="+mn-ea"/>
                          <a:ea typeface="+mn-ea"/>
                          <a:sym typeface="+mn-ea"/>
                        </a:rPr>
                        <a:t>系统自动生成</a:t>
                      </a:r>
                      <a:endParaRPr sz="1100" dirty="0">
                        <a:latin typeface="+mn-ea"/>
                        <a:ea typeface="+mn-ea"/>
                        <a:sym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latin typeface="微软雅黑" panose="020B0503020204020204" pitchFamily="34" charset="-122"/>
                          <a:ea typeface="微软雅黑" panose="020B0503020204020204" pitchFamily="34" charset="-122"/>
                        </a:rPr>
                        <a:t>REQ+</a:t>
                      </a:r>
                      <a:r>
                        <a:rPr lang="zh-CN" altLang="en-US" sz="1100" dirty="0">
                          <a:latin typeface="微软雅黑" panose="020B0503020204020204" pitchFamily="34" charset="-122"/>
                          <a:ea typeface="微软雅黑" panose="020B0503020204020204" pitchFamily="34" charset="-122"/>
                        </a:rPr>
                        <a:t>员工</a:t>
                      </a:r>
                      <a:r>
                        <a:rPr lang="en-US" altLang="zh-CN" sz="1100" dirty="0">
                          <a:latin typeface="微软雅黑" panose="020B0503020204020204" pitchFamily="34" charset="-122"/>
                          <a:ea typeface="微软雅黑" panose="020B0503020204020204" pitchFamily="34" charset="-122"/>
                        </a:rPr>
                        <a:t>ID(6</a:t>
                      </a:r>
                      <a:r>
                        <a:rPr lang="zh-CN" altLang="en-US" sz="1100" dirty="0">
                          <a:latin typeface="微软雅黑" panose="020B0503020204020204" pitchFamily="34" charset="-122"/>
                          <a:ea typeface="微软雅黑" panose="020B0503020204020204" pitchFamily="34" charset="-122"/>
                        </a:rPr>
                        <a:t>位</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年月日</a:t>
                      </a:r>
                      <a:r>
                        <a:rPr lang="en-US" altLang="zh-CN" sz="1100" dirty="0">
                          <a:latin typeface="微软雅黑" panose="020B0503020204020204" pitchFamily="34" charset="-122"/>
                          <a:ea typeface="微软雅黑" panose="020B0503020204020204" pitchFamily="34" charset="-122"/>
                        </a:rPr>
                        <a:t>(8</a:t>
                      </a:r>
                      <a:r>
                        <a:rPr lang="zh-CN" altLang="en-US" sz="1100" dirty="0">
                          <a:latin typeface="微软雅黑" panose="020B0503020204020204" pitchFamily="34" charset="-122"/>
                          <a:ea typeface="微软雅黑" panose="020B0503020204020204" pitchFamily="34" charset="-122"/>
                        </a:rPr>
                        <a:t>位</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流水号</a:t>
                      </a:r>
                      <a:r>
                        <a:rPr lang="en-US" altLang="zh-CN" sz="1100" dirty="0">
                          <a:latin typeface="微软雅黑" panose="020B0503020204020204" pitchFamily="34" charset="-122"/>
                          <a:ea typeface="微软雅黑" panose="020B0503020204020204" pitchFamily="34" charset="-122"/>
                        </a:rPr>
                        <a:t>(3</a:t>
                      </a:r>
                      <a:r>
                        <a:rPr lang="zh-CN" altLang="en-US" sz="1100" dirty="0">
                          <a:latin typeface="微软雅黑" panose="020B0503020204020204" pitchFamily="34" charset="-122"/>
                          <a:ea typeface="微软雅黑" panose="020B0503020204020204" pitchFamily="34" charset="-122"/>
                        </a:rPr>
                        <a:t>位</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需求单名称</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sym typeface="+mn-ea"/>
                      </a:endParaRPr>
                    </a:p>
                  </a:txBody>
                  <a:tcPr marL="36000" marR="36000"/>
                </a:tc>
                <a:tc>
                  <a:txBody>
                    <a:bodyPr/>
                    <a:lstStyle/>
                    <a:p>
                      <a:pPr>
                        <a:buNone/>
                      </a:pPr>
                      <a:r>
                        <a:rPr lang="zh-CN" altLang="en-US" sz="1100" dirty="0">
                          <a:latin typeface="+mn-ea"/>
                          <a:ea typeface="+mn-ea"/>
                          <a:sym typeface="+mn-ea"/>
                        </a:rPr>
                        <a:t>手填</a:t>
                      </a:r>
                      <a:endParaRPr lang="zh-CN" altLang="en-US" sz="1100" dirty="0">
                        <a:latin typeface="+mn-ea"/>
                        <a:ea typeface="+mn-ea"/>
                        <a:sym typeface="+mn-ea"/>
                      </a:endParaRPr>
                    </a:p>
                  </a:txBody>
                  <a:tcPr marL="36000" marR="36000"/>
                </a:tc>
                <a:tc>
                  <a:txBody>
                    <a:bodyPr/>
                    <a:lstStyle/>
                    <a:p>
                      <a:pPr>
                        <a:buNone/>
                      </a:pPr>
                      <a:endParaRPr lang="zh-CN" altLang="en-US" sz="1100" dirty="0">
                        <a:latin typeface="+mn-ea"/>
                        <a:ea typeface="+mn-ea"/>
                        <a:sym typeface="+mn-ea"/>
                      </a:endParaRPr>
                    </a:p>
                  </a:txBody>
                  <a:tcPr marL="36000" marR="36000"/>
                </a:tc>
              </a:tr>
              <a:tr h="237772">
                <a:tc>
                  <a:txBody>
                    <a:bodyPr/>
                    <a:lstStyle/>
                    <a:p>
                      <a:pPr algn="l" rtl="0" fontAlgn="ctr"/>
                      <a:r>
                        <a:rPr lang="zh-CN" altLang="en-US" sz="1100" kern="1200" dirty="0">
                          <a:solidFill>
                            <a:schemeClr val="dk1"/>
                          </a:solidFill>
                          <a:latin typeface="+mn-ea"/>
                          <a:ea typeface="+mn-ea"/>
                          <a:cs typeface="+mn-cs"/>
                        </a:rPr>
                        <a:t>需求描述</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手填</a:t>
                      </a: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创建人</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sym typeface="+mn-ea"/>
                      </a:endParaRPr>
                    </a:p>
                  </a:txBody>
                  <a:tcPr marL="36000" marR="36000"/>
                </a:tc>
                <a:tc>
                  <a:txBody>
                    <a:bodyPr/>
                    <a:lstStyle/>
                    <a:p>
                      <a:pPr>
                        <a:buNone/>
                      </a:pPr>
                      <a:r>
                        <a:rPr lang="zh-CN" altLang="en-US" sz="1100" dirty="0">
                          <a:solidFill>
                            <a:schemeClr val="tx1"/>
                          </a:solidFill>
                          <a:latin typeface="+mn-ea"/>
                          <a:ea typeface="+mn-ea"/>
                          <a:sym typeface="+mn-ea"/>
                        </a:rPr>
                        <a:t>系统</a:t>
                      </a:r>
                      <a:endParaRPr lang="zh-CN" altLang="en-US" sz="1100" dirty="0">
                        <a:solidFill>
                          <a:schemeClr val="tx1"/>
                        </a:solidFill>
                        <a:latin typeface="+mn-ea"/>
                        <a:ea typeface="+mn-ea"/>
                        <a:sym typeface="+mn-ea"/>
                      </a:endParaRPr>
                    </a:p>
                  </a:txBody>
                  <a:tcPr marL="36000" marR="36000"/>
                </a:tc>
                <a:tc>
                  <a:txBody>
                    <a:bodyPr/>
                    <a:lstStyle/>
                    <a:p>
                      <a:pPr>
                        <a:buNone/>
                      </a:pPr>
                      <a:r>
                        <a:rPr lang="zh-CN" altLang="en-US" sz="1100" dirty="0">
                          <a:solidFill>
                            <a:srgbClr val="FF0000"/>
                          </a:solidFill>
                          <a:latin typeface="+mn-ea"/>
                          <a:ea typeface="+mn-ea"/>
                          <a:sym typeface="+mn-ea"/>
                        </a:rPr>
                        <a:t>集成员工数据</a:t>
                      </a:r>
                      <a:endParaRPr lang="zh-CN" altLang="en-US" sz="1100" dirty="0">
                        <a:solidFill>
                          <a:srgbClr val="FF0000"/>
                        </a:solidFill>
                        <a:latin typeface="+mn-ea"/>
                        <a:ea typeface="+mn-ea"/>
                        <a:sym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状态</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indent="0">
                        <a:buFont typeface="+mj-lt"/>
                        <a:buNone/>
                      </a:pPr>
                      <a:endParaRPr lang="zh-CN" altLang="en-US" sz="1100" dirty="0">
                        <a:solidFill>
                          <a:srgbClr val="FF0000"/>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100" dirty="0">
                          <a:solidFill>
                            <a:schemeClr val="tx1"/>
                          </a:solidFill>
                          <a:latin typeface="+mn-ea"/>
                          <a:ea typeface="+mn-ea"/>
                        </a:rPr>
                        <a:t>系统</a:t>
                      </a:r>
                      <a:endParaRPr lang="zh-CN" altLang="en-US" sz="1100" dirty="0">
                        <a:solidFill>
                          <a:schemeClr val="tx1"/>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100" dirty="0">
                          <a:solidFill>
                            <a:schemeClr val="tx1"/>
                          </a:solidFill>
                          <a:latin typeface="+mn-ea"/>
                          <a:ea typeface="+mn-ea"/>
                        </a:rPr>
                        <a:t>集成</a:t>
                      </a:r>
                      <a:endParaRPr lang="zh-CN" altLang="en-US" sz="1100" dirty="0">
                        <a:solidFill>
                          <a:schemeClr val="tx1"/>
                        </a:solidFill>
                        <a:latin typeface="+mn-ea"/>
                        <a:ea typeface="+mn-ea"/>
                      </a:endParaRPr>
                    </a:p>
                  </a:txBody>
                  <a:tcPr marL="36000" marR="36000"/>
                </a:tc>
              </a:tr>
              <a:tr h="0">
                <a:tc>
                  <a:txBody>
                    <a:bodyPr/>
                    <a:lstStyle/>
                    <a:p>
                      <a:pPr algn="l" rtl="0" fontAlgn="ctr"/>
                      <a:r>
                        <a:rPr lang="en-US" sz="1100" kern="1200" dirty="0">
                          <a:solidFill>
                            <a:schemeClr val="dk1"/>
                          </a:solidFill>
                          <a:latin typeface="+mn-ea"/>
                          <a:ea typeface="+mn-ea"/>
                          <a:cs typeface="+mn-cs"/>
                        </a:rPr>
                        <a:t>BU</a:t>
                      </a:r>
                      <a:r>
                        <a:rPr lang="en-US" altLang="zh-CN" sz="1100" kern="1200" dirty="0">
                          <a:solidFill>
                            <a:srgbClr val="FF0000"/>
                          </a:solidFill>
                          <a:latin typeface="+mn-ea"/>
                          <a:ea typeface="+mn-ea"/>
                          <a:cs typeface="+mn-cs"/>
                        </a:rPr>
                        <a:t>*</a:t>
                      </a:r>
                      <a:r>
                        <a:rPr lang="en-US" sz="1100" kern="1200" dirty="0">
                          <a:solidFill>
                            <a:schemeClr val="dk1"/>
                          </a:solidFill>
                          <a:latin typeface="+mn-ea"/>
                          <a:ea typeface="+mn-ea"/>
                          <a:cs typeface="+mn-cs"/>
                        </a:rPr>
                        <a:t> </a:t>
                      </a:r>
                      <a:endParaRPr 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a:buNone/>
                      </a:pPr>
                      <a:r>
                        <a:rPr lang="zh-CN" altLang="en-US" sz="1100" dirty="0">
                          <a:solidFill>
                            <a:srgbClr val="FF0000"/>
                          </a:solidFill>
                          <a:latin typeface="+mn-ea"/>
                          <a:ea typeface="+mn-ea"/>
                        </a:rPr>
                        <a:t>集成组织数据</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新旧客户</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a:buNone/>
                      </a:pPr>
                      <a:r>
                        <a:rPr lang="zh-CN" altLang="en-US" sz="1100" dirty="0">
                          <a:latin typeface="+mn-ea"/>
                          <a:ea typeface="+mn-ea"/>
                        </a:rPr>
                        <a:t>新，旧</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最终客户</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rgbClr val="FF0000"/>
                          </a:solidFill>
                          <a:latin typeface="+mn-ea"/>
                          <a:ea typeface="+mn-ea"/>
                        </a:rPr>
                        <a:t>新</a:t>
                      </a:r>
                      <a:r>
                        <a:rPr lang="en-US" altLang="zh-CN" sz="1100" dirty="0">
                          <a:solidFill>
                            <a:srgbClr val="FF0000"/>
                          </a:solidFill>
                          <a:latin typeface="+mn-ea"/>
                          <a:ea typeface="+mn-ea"/>
                        </a:rPr>
                        <a:t>/</a:t>
                      </a:r>
                      <a:r>
                        <a:rPr lang="zh-CN" altLang="en-US" sz="1100" dirty="0">
                          <a:solidFill>
                            <a:srgbClr val="FF0000"/>
                          </a:solidFill>
                          <a:latin typeface="+mn-ea"/>
                          <a:ea typeface="+mn-ea"/>
                        </a:rPr>
                        <a:t>手填？</a:t>
                      </a:r>
                      <a:endParaRPr lang="zh-CN" altLang="en-US" sz="1100" dirty="0">
                        <a:solidFill>
                          <a:srgbClr val="FF0000"/>
                        </a:solidFill>
                        <a:latin typeface="+mn-ea"/>
                        <a:ea typeface="+mn-ea"/>
                      </a:endParaRPr>
                    </a:p>
                  </a:txBody>
                  <a:tcPr marL="36000" marR="36000"/>
                </a:tc>
                <a:tc>
                  <a:txBody>
                    <a:bodyPr/>
                    <a:lstStyle/>
                    <a:p>
                      <a:pPr>
                        <a:buNone/>
                      </a:pPr>
                      <a:r>
                        <a:rPr lang="zh-CN" altLang="en-US" sz="1100" dirty="0">
                          <a:solidFill>
                            <a:srgbClr val="FF0000"/>
                          </a:solidFill>
                          <a:latin typeface="+mn-ea"/>
                          <a:ea typeface="+mn-ea"/>
                        </a:rPr>
                        <a:t>旧</a:t>
                      </a:r>
                      <a:r>
                        <a:rPr lang="en-US" altLang="zh-CN" sz="1100" dirty="0">
                          <a:solidFill>
                            <a:srgbClr val="FF0000"/>
                          </a:solidFill>
                          <a:latin typeface="+mn-ea"/>
                          <a:ea typeface="+mn-ea"/>
                        </a:rPr>
                        <a:t>/</a:t>
                      </a:r>
                      <a:r>
                        <a:rPr lang="zh-CN" altLang="en-US" sz="1100" dirty="0">
                          <a:solidFill>
                            <a:srgbClr val="FF0000"/>
                          </a:solidFill>
                          <a:latin typeface="+mn-ea"/>
                          <a:ea typeface="+mn-ea"/>
                        </a:rPr>
                        <a:t>集成客户数据？</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交易客户名称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endParaRPr lang="zh-CN" altLang="en-US" sz="1100" dirty="0">
                        <a:solidFill>
                          <a:schemeClr val="tx1"/>
                        </a:solidFill>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项目名称</a:t>
                      </a:r>
                      <a:r>
                        <a:rPr lang="en-US" altLang="zh-CN" sz="1100" kern="1200" dirty="0">
                          <a:solidFill>
                            <a:srgbClr val="FF0000"/>
                          </a:solidFill>
                          <a:latin typeface="+mn-ea"/>
                          <a:ea typeface="+mn-ea"/>
                          <a:cs typeface="+mn-cs"/>
                        </a:rPr>
                        <a:t>*</a:t>
                      </a:r>
                      <a:r>
                        <a:rPr lang="zh-CN" altLang="en-US" sz="1100" kern="1200" dirty="0">
                          <a:solidFill>
                            <a:schemeClr val="dk1"/>
                          </a:solidFill>
                          <a:latin typeface="+mn-ea"/>
                          <a:ea typeface="+mn-ea"/>
                          <a:cs typeface="+mn-cs"/>
                        </a:rPr>
                        <a:t>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rgbClr val="FF0000"/>
                          </a:solidFill>
                          <a:latin typeface="+mn-ea"/>
                          <a:ea typeface="+mn-ea"/>
                        </a:rPr>
                        <a:t>集成</a:t>
                      </a:r>
                      <a:endParaRPr lang="zh-CN" altLang="en-US" sz="1100" dirty="0">
                        <a:solidFill>
                          <a:srgbClr val="FF0000"/>
                        </a:solidFill>
                        <a:latin typeface="+mn-ea"/>
                        <a:ea typeface="+mn-ea"/>
                      </a:endParaRPr>
                    </a:p>
                  </a:txBody>
                  <a:tcPr marL="36000" marR="36000"/>
                </a:tc>
                <a:tc>
                  <a:txBody>
                    <a:bodyPr/>
                    <a:lstStyle/>
                    <a:p>
                      <a:pPr>
                        <a:buNone/>
                      </a:pPr>
                      <a:r>
                        <a:rPr lang="en-US" altLang="zh-CN" sz="1100" dirty="0">
                          <a:solidFill>
                            <a:srgbClr val="FF0000"/>
                          </a:solidFill>
                          <a:latin typeface="+mn-ea"/>
                          <a:ea typeface="+mn-ea"/>
                        </a:rPr>
                        <a:t>OA</a:t>
                      </a:r>
                      <a:r>
                        <a:rPr lang="zh-CN" altLang="en-US" sz="1100" dirty="0">
                          <a:solidFill>
                            <a:srgbClr val="FF0000"/>
                          </a:solidFill>
                          <a:latin typeface="+mn-ea"/>
                          <a:ea typeface="+mn-ea"/>
                        </a:rPr>
                        <a:t>回写到</a:t>
                      </a:r>
                      <a:r>
                        <a:rPr lang="en-US" altLang="zh-CN" sz="1100" dirty="0">
                          <a:solidFill>
                            <a:srgbClr val="FF0000"/>
                          </a:solidFill>
                          <a:latin typeface="+mn-ea"/>
                          <a:ea typeface="+mn-ea"/>
                        </a:rPr>
                        <a:t>NPI</a:t>
                      </a:r>
                      <a:r>
                        <a:rPr lang="zh-CN" altLang="en-US" sz="1100" dirty="0">
                          <a:solidFill>
                            <a:srgbClr val="FF0000"/>
                          </a:solidFill>
                          <a:latin typeface="+mn-ea"/>
                          <a:ea typeface="+mn-ea"/>
                        </a:rPr>
                        <a:t>，</a:t>
                      </a:r>
                      <a:r>
                        <a:rPr lang="en-US" altLang="zh-CN" sz="1100" dirty="0">
                          <a:solidFill>
                            <a:srgbClr val="FF0000"/>
                          </a:solidFill>
                          <a:latin typeface="+mn-ea"/>
                          <a:ea typeface="+mn-ea"/>
                        </a:rPr>
                        <a:t>OA</a:t>
                      </a:r>
                      <a:r>
                        <a:rPr lang="zh-CN" altLang="en-US" sz="1100" dirty="0">
                          <a:solidFill>
                            <a:srgbClr val="FF0000"/>
                          </a:solidFill>
                          <a:latin typeface="+mn-ea"/>
                          <a:ea typeface="+mn-ea"/>
                        </a:rPr>
                        <a:t>识别需求单编号</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项目编码</a:t>
                      </a:r>
                      <a:r>
                        <a:rPr lang="en-US" altLang="zh-CN" sz="1100" kern="1200" dirty="0">
                          <a:solidFill>
                            <a:srgbClr val="FF0000"/>
                          </a:solidFill>
                          <a:latin typeface="+mn-ea"/>
                          <a:ea typeface="+mn-ea"/>
                          <a:cs typeface="+mn-cs"/>
                        </a:rPr>
                        <a:t>*</a:t>
                      </a:r>
                      <a:r>
                        <a:rPr lang="zh-CN" altLang="en-US" sz="1100" kern="1200" dirty="0">
                          <a:solidFill>
                            <a:schemeClr val="dk1"/>
                          </a:solidFill>
                          <a:latin typeface="+mn-ea"/>
                          <a:ea typeface="+mn-ea"/>
                          <a:cs typeface="+mn-cs"/>
                        </a:rPr>
                        <a:t>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rgbClr val="FF0000"/>
                          </a:solidFill>
                          <a:latin typeface="+mn-ea"/>
                          <a:ea typeface="+mn-ea"/>
                        </a:rPr>
                        <a:t>集成</a:t>
                      </a:r>
                      <a:endParaRPr lang="zh-CN" altLang="en-US" sz="1100" dirty="0">
                        <a:solidFill>
                          <a:srgbClr val="FF0000"/>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dirty="0">
                          <a:solidFill>
                            <a:srgbClr val="FF0000"/>
                          </a:solidFill>
                          <a:latin typeface="+mn-ea"/>
                          <a:ea typeface="+mn-ea"/>
                        </a:rPr>
                        <a:t>OA</a:t>
                      </a:r>
                      <a:r>
                        <a:rPr lang="zh-CN" altLang="en-US" sz="1100" dirty="0">
                          <a:solidFill>
                            <a:srgbClr val="FF0000"/>
                          </a:solidFill>
                          <a:latin typeface="+mn-ea"/>
                          <a:ea typeface="+mn-ea"/>
                        </a:rPr>
                        <a:t>回写到</a:t>
                      </a:r>
                      <a:r>
                        <a:rPr lang="en-US" altLang="zh-CN" sz="1100" dirty="0">
                          <a:solidFill>
                            <a:srgbClr val="FF0000"/>
                          </a:solidFill>
                          <a:latin typeface="+mn-ea"/>
                          <a:ea typeface="+mn-ea"/>
                        </a:rPr>
                        <a:t>NPI</a:t>
                      </a:r>
                      <a:r>
                        <a:rPr lang="zh-CN" altLang="en-US" sz="1100" dirty="0">
                          <a:solidFill>
                            <a:srgbClr val="FF0000"/>
                          </a:solidFill>
                          <a:latin typeface="+mn-ea"/>
                          <a:ea typeface="+mn-ea"/>
                        </a:rPr>
                        <a:t>，</a:t>
                      </a:r>
                      <a:r>
                        <a:rPr lang="en-US" altLang="zh-CN" sz="1100" dirty="0">
                          <a:solidFill>
                            <a:srgbClr val="FF0000"/>
                          </a:solidFill>
                          <a:latin typeface="+mn-ea"/>
                          <a:ea typeface="+mn-ea"/>
                        </a:rPr>
                        <a:t>OA</a:t>
                      </a:r>
                      <a:r>
                        <a:rPr lang="zh-CN" altLang="en-US" sz="1100" dirty="0">
                          <a:solidFill>
                            <a:srgbClr val="FF0000"/>
                          </a:solidFill>
                          <a:latin typeface="+mn-ea"/>
                          <a:ea typeface="+mn-ea"/>
                        </a:rPr>
                        <a:t>识别需求单编号</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项目报价时间</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a:buNone/>
                      </a:pPr>
                      <a:r>
                        <a:rPr lang="en-US" altLang="zh-CN" sz="1100" dirty="0">
                          <a:latin typeface="+mn-ea"/>
                          <a:ea typeface="+mn-ea"/>
                        </a:rPr>
                        <a:t>YYMMDD</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是否</a:t>
                      </a:r>
                      <a:r>
                        <a:rPr lang="en-US" sz="1100" kern="1200" dirty="0">
                          <a:solidFill>
                            <a:schemeClr val="dk1"/>
                          </a:solidFill>
                          <a:latin typeface="+mn-ea"/>
                          <a:ea typeface="+mn-ea"/>
                          <a:cs typeface="+mn-cs"/>
                        </a:rPr>
                        <a:t>ODM</a:t>
                      </a:r>
                      <a:r>
                        <a:rPr lang="en-US" altLang="zh-CN" sz="1100" kern="1200" dirty="0">
                          <a:solidFill>
                            <a:srgbClr val="FF0000"/>
                          </a:solidFill>
                          <a:latin typeface="+mn-ea"/>
                          <a:ea typeface="+mn-ea"/>
                          <a:cs typeface="+mn-cs"/>
                        </a:rPr>
                        <a:t>*</a:t>
                      </a:r>
                      <a:endParaRPr 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dirty="0">
                          <a:latin typeface="+mn-ea"/>
                          <a:ea typeface="+mn-ea"/>
                        </a:rPr>
                        <a:t>是，否</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产品类型</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a:buNone/>
                      </a:pPr>
                      <a:r>
                        <a:rPr lang="zh-CN" altLang="en-US" sz="1100" dirty="0">
                          <a:latin typeface="+mn-ea"/>
                          <a:ea typeface="+mn-ea"/>
                        </a:rPr>
                        <a:t>集成产品数据</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产品规格特征</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手工填模版</a:t>
                      </a:r>
                      <a:endParaRPr lang="zh-CN" altLang="en-US" sz="1100" dirty="0">
                        <a:solidFill>
                          <a:schemeClr val="tx1"/>
                        </a:solidFill>
                        <a:latin typeface="+mn-ea"/>
                        <a:ea typeface="+mn-ea"/>
                      </a:endParaRPr>
                    </a:p>
                  </a:txBody>
                  <a:tcPr marL="36000" marR="36000"/>
                </a:tc>
                <a:tc>
                  <a:txBody>
                    <a:bodyPr/>
                    <a:lstStyle/>
                    <a:p>
                      <a:pPr>
                        <a:buNone/>
                      </a:pPr>
                      <a:r>
                        <a:rPr lang="zh-CN" altLang="en-US" sz="1100" dirty="0">
                          <a:latin typeface="+mn-ea"/>
                          <a:ea typeface="+mn-ea"/>
                        </a:rPr>
                        <a:t>标准值</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客户产品资料附件</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手工上传</a:t>
                      </a:r>
                      <a:endParaRPr lang="zh-CN" altLang="en-US" sz="1100" dirty="0">
                        <a:solidFill>
                          <a:schemeClr val="tx1"/>
                        </a:solidFill>
                        <a:latin typeface="+mn-ea"/>
                        <a:ea typeface="+mn-ea"/>
                      </a:endParaRPr>
                    </a:p>
                  </a:txBody>
                  <a:tcPr marL="36000" marR="36000"/>
                </a:tc>
                <a:tc>
                  <a:txBody>
                    <a:bodyPr/>
                    <a:lstStyle/>
                    <a:p>
                      <a:pPr>
                        <a:buNone/>
                      </a:pPr>
                      <a:r>
                        <a:rPr lang="zh-CN" altLang="en-US" sz="1100" dirty="0">
                          <a:latin typeface="+mn-ea"/>
                          <a:ea typeface="+mn-ea"/>
                        </a:rPr>
                        <a:t>内置标准模版</a:t>
                      </a:r>
                      <a:endParaRPr lang="zh-CN" altLang="en-US" sz="1100" dirty="0">
                        <a:latin typeface="+mn-ea"/>
                        <a:ea typeface="+mn-ea"/>
                      </a:endParaRPr>
                    </a:p>
                  </a:txBody>
                  <a:tcPr marL="36000" marR="36000"/>
                </a:tc>
              </a:tr>
            </a:tbl>
          </a:graphicData>
        </a:graphic>
      </p:graphicFrame>
      <p:sp>
        <p:nvSpPr>
          <p:cNvPr id="10" name="文本框 9"/>
          <p:cNvSpPr txBox="1"/>
          <p:nvPr/>
        </p:nvSpPr>
        <p:spPr>
          <a:xfrm>
            <a:off x="6011033" y="5702474"/>
            <a:ext cx="5014693" cy="1014730"/>
          </a:xfrm>
          <a:prstGeom prst="rect">
            <a:avLst/>
          </a:prstGeom>
          <a:noFill/>
        </p:spPr>
        <p:txBody>
          <a:bodyPr wrap="square"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b="1">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kern="0" dirty="0">
                <a:solidFill>
                  <a:srgbClr val="000000"/>
                </a:solidFill>
                <a:uFillTx/>
                <a:cs typeface="Arial" panose="020B0604020202020204"/>
                <a:sym typeface="Arial" panose="020B0604020202020204"/>
              </a:rPr>
              <a:t>备注：</a:t>
            </a:r>
            <a:endParaRPr lang="en-US" altLang="zh-CN"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1</a:t>
            </a:r>
            <a:r>
              <a:rPr lang="zh-CN" altLang="en-US" b="0" kern="0" dirty="0">
                <a:solidFill>
                  <a:srgbClr val="000000"/>
                </a:solidFill>
                <a:uFillTx/>
                <a:cs typeface="Arial" panose="020B0604020202020204"/>
                <a:sym typeface="Arial" panose="020B0604020202020204"/>
              </a:rPr>
              <a:t>、披露口径、类型</a:t>
            </a:r>
            <a:r>
              <a:rPr lang="en-US" altLang="zh-CN" b="0" kern="0" dirty="0">
                <a:solidFill>
                  <a:srgbClr val="000000"/>
                </a:solidFill>
                <a:uFillTx/>
                <a:cs typeface="Arial" panose="020B0604020202020204"/>
                <a:sym typeface="Arial" panose="020B0604020202020204"/>
              </a:rPr>
              <a:t>A</a:t>
            </a:r>
            <a:r>
              <a:rPr lang="zh-CN" altLang="en-US" b="0" kern="0" dirty="0">
                <a:solidFill>
                  <a:srgbClr val="000000"/>
                </a:solidFill>
                <a:uFillTx/>
                <a:cs typeface="Arial" panose="020B0604020202020204"/>
                <a:sym typeface="Arial" panose="020B0604020202020204"/>
              </a:rPr>
              <a:t>、类型</a:t>
            </a:r>
            <a:r>
              <a:rPr lang="en-US" altLang="zh-CN" b="0" kern="0" dirty="0">
                <a:solidFill>
                  <a:srgbClr val="000000"/>
                </a:solidFill>
                <a:uFillTx/>
                <a:cs typeface="Arial" panose="020B0604020202020204"/>
                <a:sym typeface="Arial" panose="020B0604020202020204"/>
              </a:rPr>
              <a:t>B</a:t>
            </a:r>
            <a:r>
              <a:rPr lang="zh-CN" altLang="en-US" b="0" kern="0" dirty="0">
                <a:solidFill>
                  <a:srgbClr val="000000"/>
                </a:solidFill>
                <a:uFillTx/>
                <a:cs typeface="Arial" panose="020B0604020202020204"/>
                <a:sym typeface="Arial" panose="020B0604020202020204"/>
              </a:rPr>
              <a:t>待提供标准值（销售</a:t>
            </a:r>
            <a:r>
              <a:rPr lang="zh-CN" altLang="en-US" b="0" kern="0" dirty="0">
                <a:solidFill>
                  <a:srgbClr val="000000"/>
                </a:solidFill>
                <a:uFillTx/>
                <a:cs typeface="Arial" panose="020B0604020202020204"/>
                <a:sym typeface="Arial" panose="020B0604020202020204"/>
              </a:rPr>
              <a:t>部门提供）</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2</a:t>
            </a:r>
            <a:r>
              <a:rPr lang="zh-CN" altLang="en-US" b="0" kern="0" dirty="0">
                <a:solidFill>
                  <a:srgbClr val="000000"/>
                </a:solidFill>
                <a:uFillTx/>
                <a:cs typeface="Arial" panose="020B0604020202020204"/>
                <a:sym typeface="Arial" panose="020B0604020202020204"/>
              </a:rPr>
              <a:t>、产品类型待提供标准值、产品规格特征模版（研发项目</a:t>
            </a:r>
            <a:r>
              <a:rPr lang="zh-CN" altLang="en-US" b="0" kern="0" dirty="0">
                <a:solidFill>
                  <a:srgbClr val="000000"/>
                </a:solidFill>
                <a:uFillTx/>
                <a:cs typeface="Arial" panose="020B0604020202020204"/>
                <a:sym typeface="Arial" panose="020B0604020202020204"/>
              </a:rPr>
              <a:t>部门提供）</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3</a:t>
            </a:r>
            <a:r>
              <a:rPr lang="zh-CN" altLang="en-US" b="0" kern="0" dirty="0">
                <a:solidFill>
                  <a:srgbClr val="000000"/>
                </a:solidFill>
                <a:uFillTx/>
                <a:cs typeface="Arial" panose="020B0604020202020204"/>
                <a:sym typeface="Arial" panose="020B0604020202020204"/>
              </a:rPr>
              <a:t>、需求清单支持导出</a:t>
            </a:r>
            <a:r>
              <a:rPr lang="en-US" altLang="zh-CN" b="0" kern="0" dirty="0">
                <a:solidFill>
                  <a:srgbClr val="000000"/>
                </a:solidFill>
                <a:uFillTx/>
                <a:cs typeface="Arial" panose="020B0604020202020204"/>
                <a:sym typeface="Arial" panose="020B0604020202020204"/>
              </a:rPr>
              <a:t>Excel</a:t>
            </a:r>
            <a:endParaRPr lang="en-US" altLang="zh-CN" b="0" kern="0" dirty="0">
              <a:solidFill>
                <a:srgbClr val="000000"/>
              </a:solidFill>
              <a:uFillTx/>
              <a:cs typeface="Arial" panose="020B0604020202020204"/>
              <a:sym typeface="Arial" panose="020B0604020202020204"/>
            </a:endParaRPr>
          </a:p>
          <a:p>
            <a:pPr hangingPunct="0">
              <a:spcBef>
                <a:spcPts val="0"/>
              </a:spcBef>
              <a:spcAft>
                <a:spcPts val="0"/>
              </a:spcAft>
            </a:pPr>
            <a:r>
              <a:rPr lang="en-US" altLang="zh-CN" b="0" kern="0" dirty="0">
                <a:solidFill>
                  <a:srgbClr val="000000"/>
                </a:solidFill>
                <a:uFillTx/>
                <a:cs typeface="Arial" panose="020B0604020202020204"/>
                <a:sym typeface="Arial" panose="020B0604020202020204"/>
              </a:rPr>
              <a:t>4</a:t>
            </a:r>
            <a:r>
              <a:rPr lang="zh-CN" altLang="en-US" b="0" kern="0" dirty="0">
                <a:solidFill>
                  <a:srgbClr val="000000"/>
                </a:solidFill>
                <a:uFillTx/>
                <a:cs typeface="Arial" panose="020B0604020202020204"/>
                <a:sym typeface="Arial" panose="020B0604020202020204"/>
              </a:rPr>
              <a:t>、销售专员一次最多录入</a:t>
            </a:r>
            <a:r>
              <a:rPr lang="en-US" altLang="zh-CN" b="0" kern="0" dirty="0">
                <a:solidFill>
                  <a:srgbClr val="000000"/>
                </a:solidFill>
                <a:uFillTx/>
                <a:cs typeface="Arial" panose="020B0604020202020204"/>
                <a:sym typeface="Arial" panose="020B0604020202020204"/>
              </a:rPr>
              <a:t>3</a:t>
            </a:r>
            <a:r>
              <a:rPr lang="zh-CN" altLang="en-US" b="0" kern="0" dirty="0">
                <a:solidFill>
                  <a:srgbClr val="000000"/>
                </a:solidFill>
                <a:uFillTx/>
                <a:cs typeface="Arial" panose="020B0604020202020204"/>
                <a:sym typeface="Arial" panose="020B0604020202020204"/>
              </a:rPr>
              <a:t>条需求，暂不</a:t>
            </a:r>
            <a:r>
              <a:rPr lang="zh-CN" altLang="en-US" b="0" kern="0" dirty="0">
                <a:solidFill>
                  <a:srgbClr val="000000"/>
                </a:solidFill>
                <a:uFillTx/>
                <a:cs typeface="Arial" panose="020B0604020202020204"/>
                <a:sym typeface="Arial" panose="020B0604020202020204"/>
              </a:rPr>
              <a:t>支持模版导入</a:t>
            </a:r>
            <a:endParaRPr lang="zh-CN" altLang="en-US" b="0" kern="0" dirty="0">
              <a:solidFill>
                <a:srgbClr val="000000"/>
              </a:solidFill>
              <a:uFillTx/>
              <a:cs typeface="Arial" panose="020B0604020202020204"/>
              <a:sym typeface="Arial" panose="020B0604020202020204"/>
            </a:endParaRPr>
          </a:p>
        </p:txBody>
      </p:sp>
      <p:graphicFrame>
        <p:nvGraphicFramePr>
          <p:cNvPr id="11" name="表格 10"/>
          <p:cNvGraphicFramePr/>
          <p:nvPr>
            <p:custDataLst>
              <p:tags r:id="rId3"/>
            </p:custDataLst>
          </p:nvPr>
        </p:nvGraphicFramePr>
        <p:xfrm>
          <a:off x="6228524" y="967329"/>
          <a:ext cx="5466521" cy="4584700"/>
        </p:xfrm>
        <a:graphic>
          <a:graphicData uri="http://schemas.openxmlformats.org/drawingml/2006/table">
            <a:tbl>
              <a:tblPr firstRow="1" bandRow="1">
                <a:tableStyleId>{5C22544A-7EE6-4342-B048-85BDC9FD1C3A}</a:tableStyleId>
              </a:tblPr>
              <a:tblGrid>
                <a:gridCol w="968422"/>
                <a:gridCol w="2403719"/>
                <a:gridCol w="1028895"/>
                <a:gridCol w="1065485"/>
              </a:tblGrid>
              <a:tr h="264191">
                <a:tc>
                  <a:txBody>
                    <a:bodyPr/>
                    <a:lstStyle/>
                    <a:p>
                      <a:pPr algn="ctr">
                        <a:buNone/>
                      </a:pPr>
                      <a:r>
                        <a:rPr lang="zh-CN" altLang="en-US" sz="1200" dirty="0">
                          <a:latin typeface="+mn-ea"/>
                          <a:ea typeface="+mn-ea"/>
                        </a:rPr>
                        <a:t>字段名</a:t>
                      </a:r>
                      <a:r>
                        <a:rPr lang="en-US" altLang="zh-CN" sz="1200" dirty="0">
                          <a:latin typeface="+mn-ea"/>
                          <a:ea typeface="+mn-ea"/>
                        </a:rPr>
                        <a:t> </a:t>
                      </a:r>
                      <a:endParaRPr lang="en-US" altLang="zh-CN" sz="1200" dirty="0">
                        <a:latin typeface="+mn-ea"/>
                        <a:ea typeface="+mn-ea"/>
                      </a:endParaRPr>
                    </a:p>
                  </a:txBody>
                  <a:tcPr marL="36000" marR="36000"/>
                </a:tc>
                <a:tc>
                  <a:txBody>
                    <a:bodyPr/>
                    <a:lstStyle/>
                    <a:p>
                      <a:pPr algn="ctr">
                        <a:buNone/>
                      </a:pPr>
                      <a:r>
                        <a:rPr lang="zh-CN" altLang="en-US" sz="1200" dirty="0">
                          <a:latin typeface="+mn-ea"/>
                          <a:ea typeface="+mn-ea"/>
                          <a:sym typeface="+mn-ea"/>
                        </a:rPr>
                        <a:t>定义</a:t>
                      </a:r>
                      <a:endParaRPr lang="zh-CN" altLang="en-US" sz="1200" dirty="0">
                        <a:latin typeface="+mn-ea"/>
                        <a:ea typeface="+mn-ea"/>
                        <a:sym typeface="+mn-ea"/>
                      </a:endParaRPr>
                    </a:p>
                  </a:txBody>
                  <a:tcPr marL="36000" marR="36000"/>
                </a:tc>
                <a:tc>
                  <a:txBody>
                    <a:bodyPr/>
                    <a:lstStyle/>
                    <a:p>
                      <a:pPr algn="ctr">
                        <a:buNone/>
                      </a:pPr>
                      <a:r>
                        <a:rPr lang="zh-CN" altLang="en-US" sz="1200" dirty="0">
                          <a:latin typeface="+mn-ea"/>
                          <a:ea typeface="+mn-ea"/>
                          <a:sym typeface="+mn-ea"/>
                        </a:rPr>
                        <a:t>填写方式</a:t>
                      </a:r>
                      <a:endParaRPr lang="zh-CN" altLang="en-US" sz="1200" dirty="0">
                        <a:latin typeface="+mn-ea"/>
                        <a:ea typeface="+mn-ea"/>
                        <a:sym typeface="+mn-ea"/>
                      </a:endParaRPr>
                    </a:p>
                  </a:txBody>
                  <a:tcPr marL="36000" marR="36000"/>
                </a:tc>
                <a:tc>
                  <a:txBody>
                    <a:bodyPr/>
                    <a:lstStyle/>
                    <a:p>
                      <a:pPr algn="ctr">
                        <a:buNone/>
                      </a:pPr>
                      <a:r>
                        <a:rPr lang="zh-CN" altLang="en-US" sz="1200" dirty="0">
                          <a:latin typeface="+mn-ea"/>
                          <a:ea typeface="+mn-ea"/>
                          <a:sym typeface="+mn-ea"/>
                        </a:rPr>
                        <a:t>值</a:t>
                      </a:r>
                      <a:endParaRPr lang="zh-CN" altLang="en-US" sz="1200" dirty="0">
                        <a:latin typeface="+mn-ea"/>
                        <a:ea typeface="+mn-ea"/>
                        <a:sym typeface="+mn-ea"/>
                      </a:endParaRPr>
                    </a:p>
                  </a:txBody>
                  <a:tcPr marL="36000" marR="36000"/>
                </a:tc>
              </a:tr>
              <a:tr h="173634">
                <a:tc>
                  <a:txBody>
                    <a:bodyPr/>
                    <a:lstStyle/>
                    <a:p>
                      <a:pPr algn="l" rtl="0" fontAlgn="ctr"/>
                      <a:r>
                        <a:rPr lang="zh-CN" altLang="en-US" sz="1100" kern="1200" dirty="0">
                          <a:solidFill>
                            <a:schemeClr val="dk1"/>
                          </a:solidFill>
                          <a:latin typeface="+mn-ea"/>
                          <a:ea typeface="+mn-ea"/>
                          <a:cs typeface="+mn-cs"/>
                        </a:rPr>
                        <a:t>年预测量</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sz="1100" dirty="0">
                        <a:latin typeface="+mn-ea"/>
                        <a:ea typeface="+mn-ea"/>
                        <a:sym typeface="+mn-ea"/>
                      </a:endParaRPr>
                    </a:p>
                  </a:txBody>
                  <a:tcPr marL="36000" marR="36000"/>
                </a:tc>
                <a:tc>
                  <a:txBody>
                    <a:bodyPr/>
                    <a:lstStyle/>
                    <a:p>
                      <a:pPr>
                        <a:buNone/>
                      </a:pPr>
                      <a:r>
                        <a:rPr lang="zh-CN" altLang="en-US" sz="1100" dirty="0">
                          <a:latin typeface="+mn-ea"/>
                          <a:ea typeface="+mn-ea"/>
                          <a:sym typeface="+mn-ea"/>
                        </a:rPr>
                        <a:t>手填</a:t>
                      </a:r>
                      <a:endParaRPr sz="1100" dirty="0">
                        <a:latin typeface="+mn-ea"/>
                        <a:ea typeface="+mn-ea"/>
                        <a:sym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微软雅黑" panose="020B0503020204020204" pitchFamily="34" charset="-122"/>
                        <a:ea typeface="微软雅黑" panose="020B0503020204020204" pitchFamily="34" charset="-122"/>
                      </a:endParaRPr>
                    </a:p>
                  </a:txBody>
                  <a:tcPr marL="36000" marR="36000"/>
                </a:tc>
              </a:tr>
              <a:tr h="0">
                <a:tc>
                  <a:txBody>
                    <a:bodyPr/>
                    <a:lstStyle/>
                    <a:p>
                      <a:pPr algn="l" rtl="0" fontAlgn="ctr"/>
                      <a:r>
                        <a:rPr lang="zh-CN" altLang="en-US" sz="1100" kern="1200" dirty="0">
                          <a:solidFill>
                            <a:schemeClr val="dk1"/>
                          </a:solidFill>
                          <a:latin typeface="+mn-ea"/>
                          <a:ea typeface="+mn-ea"/>
                          <a:cs typeface="+mn-cs"/>
                        </a:rPr>
                        <a:t>生命周期</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sym typeface="+mn-ea"/>
                      </a:endParaRPr>
                    </a:p>
                  </a:txBody>
                  <a:tcPr marL="36000" marR="36000"/>
                </a:tc>
                <a:tc>
                  <a:txBody>
                    <a:bodyPr/>
                    <a:lstStyle/>
                    <a:p>
                      <a:pPr>
                        <a:buNone/>
                      </a:pPr>
                      <a:r>
                        <a:rPr lang="zh-CN" altLang="en-US" sz="1100" dirty="0">
                          <a:latin typeface="+mn-ea"/>
                          <a:ea typeface="+mn-ea"/>
                          <a:sym typeface="+mn-ea"/>
                        </a:rPr>
                        <a:t>手填</a:t>
                      </a:r>
                      <a:endParaRPr lang="zh-CN" altLang="en-US" sz="1100" dirty="0">
                        <a:latin typeface="+mn-ea"/>
                        <a:ea typeface="+mn-ea"/>
                        <a:sym typeface="+mn-ea"/>
                      </a:endParaRPr>
                    </a:p>
                  </a:txBody>
                  <a:tcPr marL="36000" marR="36000"/>
                </a:tc>
                <a:tc>
                  <a:txBody>
                    <a:bodyPr/>
                    <a:lstStyle/>
                    <a:p>
                      <a:pPr>
                        <a:buNone/>
                      </a:pPr>
                      <a:r>
                        <a:rPr lang="zh-CN" altLang="en-US" sz="1100" dirty="0">
                          <a:latin typeface="+mn-ea"/>
                          <a:ea typeface="+mn-ea"/>
                          <a:sym typeface="+mn-ea"/>
                        </a:rPr>
                        <a:t>整数年</a:t>
                      </a:r>
                      <a:r>
                        <a:rPr lang="en-US" altLang="zh-CN" sz="1100" dirty="0">
                          <a:latin typeface="+mn-ea"/>
                          <a:ea typeface="+mn-ea"/>
                          <a:sym typeface="+mn-ea"/>
                        </a:rPr>
                        <a:t>/</a:t>
                      </a:r>
                      <a:r>
                        <a:rPr lang="zh-CN" altLang="en-US" sz="1100" dirty="0">
                          <a:latin typeface="+mn-ea"/>
                          <a:ea typeface="+mn-ea"/>
                          <a:sym typeface="+mn-ea"/>
                        </a:rPr>
                        <a:t>校验</a:t>
                      </a:r>
                      <a:endParaRPr lang="zh-CN" altLang="en-US" sz="1100" dirty="0">
                        <a:latin typeface="+mn-ea"/>
                        <a:ea typeface="+mn-ea"/>
                        <a:sym typeface="+mn-ea"/>
                      </a:endParaRPr>
                    </a:p>
                  </a:txBody>
                  <a:tcPr marL="36000" marR="36000"/>
                </a:tc>
              </a:tr>
              <a:tr h="237772">
                <a:tc>
                  <a:txBody>
                    <a:bodyPr/>
                    <a:lstStyle/>
                    <a:p>
                      <a:pPr algn="l" rtl="0" fontAlgn="ctr"/>
                      <a:r>
                        <a:rPr lang="zh-CN" altLang="en-US" sz="1100" kern="1200" dirty="0">
                          <a:solidFill>
                            <a:schemeClr val="dk1"/>
                          </a:solidFill>
                          <a:latin typeface="+mn-ea"/>
                          <a:ea typeface="+mn-ea"/>
                          <a:cs typeface="+mn-cs"/>
                        </a:rPr>
                        <a:t>项目状态</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系统</a:t>
                      </a:r>
                      <a:endParaRPr lang="zh-CN" altLang="en-US" sz="1100" dirty="0">
                        <a:latin typeface="+mn-ea"/>
                        <a:ea typeface="+mn-ea"/>
                      </a:endParaRPr>
                    </a:p>
                  </a:txBody>
                  <a:tcPr marL="36000" marR="36000"/>
                </a:tc>
                <a:tc>
                  <a:txBody>
                    <a:bodyPr/>
                    <a:lstStyle/>
                    <a:p>
                      <a:pPr>
                        <a:buNone/>
                      </a:pPr>
                      <a:r>
                        <a:rPr lang="zh-CN" altLang="en-US" sz="1100" dirty="0">
                          <a:latin typeface="+mn-ea"/>
                          <a:ea typeface="+mn-ea"/>
                        </a:rPr>
                        <a:t>集成</a:t>
                      </a:r>
                      <a:r>
                        <a:rPr lang="en-US" altLang="zh-CN" sz="1100" dirty="0">
                          <a:latin typeface="+mn-ea"/>
                          <a:ea typeface="+mn-ea"/>
                        </a:rPr>
                        <a:t>PLM</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预估项目</a:t>
                      </a:r>
                      <a:r>
                        <a:rPr lang="en-US" altLang="zh-CN" sz="1100" kern="1200" dirty="0">
                          <a:solidFill>
                            <a:schemeClr val="dk1"/>
                          </a:solidFill>
                          <a:latin typeface="+mn-ea"/>
                          <a:ea typeface="+mn-ea"/>
                          <a:cs typeface="+mn-cs"/>
                        </a:rPr>
                        <a:t>KO</a:t>
                      </a:r>
                      <a:r>
                        <a:rPr lang="zh-CN" altLang="en-US" sz="1100" kern="1200" dirty="0">
                          <a:solidFill>
                            <a:schemeClr val="dk1"/>
                          </a:solidFill>
                          <a:latin typeface="+mn-ea"/>
                          <a:ea typeface="+mn-ea"/>
                          <a:cs typeface="+mn-cs"/>
                        </a:rPr>
                        <a:t>时间</a:t>
                      </a:r>
                      <a:endParaRPr lang="zh-CN" altLang="en-US" sz="1100" kern="1200" dirty="0">
                        <a:solidFill>
                          <a:schemeClr val="dk1"/>
                        </a:solidFill>
                        <a:latin typeface="+mn-ea"/>
                        <a:ea typeface="+mn-ea"/>
                        <a:cs typeface="+mn-cs"/>
                      </a:endParaRPr>
                    </a:p>
                  </a:txBody>
                  <a:tcPr marL="36000" marR="36000" marT="6350" marB="0" anchor="ctr"/>
                </a:tc>
                <a:tc>
                  <a:txBody>
                    <a:bodyPr/>
                    <a:lstStyle/>
                    <a:p>
                      <a:pPr>
                        <a:buNone/>
                      </a:pPr>
                      <a:endParaRPr lang="zh-CN" altLang="en-US" sz="1100" dirty="0">
                        <a:latin typeface="+mn-ea"/>
                        <a:ea typeface="+mn-ea"/>
                        <a:sym typeface="+mn-ea"/>
                      </a:endParaRPr>
                    </a:p>
                  </a:txBody>
                  <a:tcPr marL="36000" marR="36000"/>
                </a:tc>
                <a:tc>
                  <a:txBody>
                    <a:bodyPr/>
                    <a:lstStyle/>
                    <a:p>
                      <a:pPr>
                        <a:buNone/>
                      </a:pPr>
                      <a:r>
                        <a:rPr lang="zh-CN" altLang="en-US" sz="1100" dirty="0">
                          <a:latin typeface="+mn-ea"/>
                          <a:ea typeface="+mn-ea"/>
                          <a:sym typeface="+mn-ea"/>
                        </a:rPr>
                        <a:t>手选</a:t>
                      </a:r>
                      <a:endParaRPr lang="zh-CN" altLang="en-US" sz="1100" dirty="0">
                        <a:latin typeface="+mn-ea"/>
                        <a:ea typeface="+mn-ea"/>
                        <a:sym typeface="+mn-ea"/>
                      </a:endParaRPr>
                    </a:p>
                  </a:txBody>
                  <a:tcPr marL="36000" marR="36000"/>
                </a:tc>
                <a:tc>
                  <a:txBody>
                    <a:bodyPr/>
                    <a:lstStyle/>
                    <a:p>
                      <a:pPr>
                        <a:buNone/>
                      </a:pPr>
                      <a:r>
                        <a:rPr lang="en-US" altLang="zh-CN" sz="1100" dirty="0">
                          <a:latin typeface="+mn-ea"/>
                          <a:ea typeface="+mn-ea"/>
                          <a:sym typeface="+mn-ea"/>
                        </a:rPr>
                        <a:t>YYMMDD</a:t>
                      </a:r>
                      <a:endParaRPr lang="zh-CN" altLang="en-US" sz="1100" dirty="0">
                        <a:latin typeface="+mn-ea"/>
                        <a:ea typeface="+mn-ea"/>
                        <a:sym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客户经理</a:t>
                      </a:r>
                      <a:r>
                        <a:rPr lang="en-US" altLang="zh-CN" sz="1100" kern="1200" dirty="0">
                          <a:solidFill>
                            <a:srgbClr val="FF0000"/>
                          </a:solidFill>
                          <a:latin typeface="+mn-ea"/>
                          <a:ea typeface="+mn-ea"/>
                          <a:cs typeface="+mn-cs"/>
                        </a:rPr>
                        <a:t>*</a:t>
                      </a:r>
                      <a:r>
                        <a:rPr lang="zh-CN" altLang="en-US" sz="1100" kern="1200" dirty="0">
                          <a:solidFill>
                            <a:schemeClr val="dk1"/>
                          </a:solidFill>
                          <a:latin typeface="+mn-ea"/>
                          <a:ea typeface="+mn-ea"/>
                          <a:cs typeface="+mn-cs"/>
                        </a:rPr>
                        <a:t> </a:t>
                      </a:r>
                      <a:endParaRPr lang="zh-CN" altLang="en-US" sz="1100" kern="1200" dirty="0">
                        <a:solidFill>
                          <a:schemeClr val="dk1"/>
                        </a:solidFill>
                        <a:latin typeface="+mn-ea"/>
                        <a:ea typeface="+mn-ea"/>
                        <a:cs typeface="+mn-cs"/>
                      </a:endParaRPr>
                    </a:p>
                  </a:txBody>
                  <a:tcPr marL="36000" marR="36000" marT="6350" marB="0" anchor="ctr"/>
                </a:tc>
                <a:tc>
                  <a:txBody>
                    <a:bodyPr/>
                    <a:lstStyle/>
                    <a:p>
                      <a:pPr indent="0">
                        <a:buFont typeface="+mj-lt"/>
                        <a:buNone/>
                      </a:pPr>
                      <a:endParaRPr lang="zh-CN" altLang="en-US" sz="1100" dirty="0">
                        <a:solidFill>
                          <a:srgbClr val="FF0000"/>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100" dirty="0">
                          <a:solidFill>
                            <a:srgbClr val="FF0000"/>
                          </a:solidFill>
                          <a:latin typeface="+mn-ea"/>
                          <a:ea typeface="+mn-ea"/>
                        </a:rPr>
                        <a:t>集成员工数据</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项目经理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rgbClr val="FF0000"/>
                          </a:solidFill>
                          <a:latin typeface="+mn-ea"/>
                          <a:ea typeface="+mn-ea"/>
                        </a:rPr>
                        <a:t>手工选择</a:t>
                      </a:r>
                      <a:endParaRPr lang="zh-CN" altLang="en-US" sz="1100" dirty="0">
                        <a:solidFill>
                          <a:srgbClr val="FF0000"/>
                        </a:solidFill>
                        <a:latin typeface="+mn-ea"/>
                        <a:ea typeface="+mn-ea"/>
                      </a:endParaRPr>
                    </a:p>
                  </a:txBody>
                  <a:tcPr marL="36000" marR="36000"/>
                </a:tc>
                <a:tc>
                  <a:txBody>
                    <a:bodyPr/>
                    <a:lstStyle/>
                    <a:p>
                      <a:pPr>
                        <a:buNone/>
                      </a:pPr>
                      <a:r>
                        <a:rPr lang="zh-CN" altLang="en-US" sz="1100" dirty="0">
                          <a:solidFill>
                            <a:srgbClr val="FF0000"/>
                          </a:solidFill>
                          <a:latin typeface="+mn-ea"/>
                          <a:ea typeface="+mn-ea"/>
                        </a:rPr>
                        <a:t>集成员工数据</a:t>
                      </a:r>
                      <a:endParaRPr lang="zh-CN" altLang="en-US" sz="1100" dirty="0">
                        <a:solidFill>
                          <a:srgbClr val="FF0000"/>
                        </a:solidFill>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目前状况说明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手填</a:t>
                      </a: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获取状况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手填</a:t>
                      </a: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lgn="l" rtl="0" fontAlgn="ctr"/>
                      <a:r>
                        <a:rPr lang="zh-CN" altLang="en-US" sz="1100" kern="1200">
                          <a:solidFill>
                            <a:schemeClr val="dk1"/>
                          </a:solidFill>
                          <a:latin typeface="+mn-ea"/>
                          <a:ea typeface="+mn-ea"/>
                          <a:cs typeface="+mn-cs"/>
                        </a:rPr>
                        <a:t>获取机率</a:t>
                      </a:r>
                      <a:endParaRPr lang="zh-CN" altLang="en-US" sz="1100" kern="120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手填</a:t>
                      </a: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项目启动预计时间</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solidFill>
                            <a:schemeClr val="tx1"/>
                          </a:solidFill>
                          <a:latin typeface="+mn-ea"/>
                          <a:ea typeface="+mn-ea"/>
                        </a:rPr>
                        <a:t>手工选择</a:t>
                      </a:r>
                      <a:endParaRPr lang="zh-CN" altLang="en-US" sz="1100" dirty="0">
                        <a:solidFill>
                          <a:schemeClr val="tx1"/>
                        </a:solidFill>
                        <a:latin typeface="+mn-ea"/>
                        <a:ea typeface="+mn-ea"/>
                      </a:endParaRPr>
                    </a:p>
                  </a:txBody>
                  <a:tcPr marL="36000" marR="36000"/>
                </a:tc>
                <a:tc>
                  <a:txBody>
                    <a:bodyPr/>
                    <a:lstStyle/>
                    <a:p>
                      <a:pPr>
                        <a:buNone/>
                      </a:pPr>
                      <a:r>
                        <a:rPr lang="en-US" altLang="zh-CN" sz="1100" dirty="0">
                          <a:latin typeface="+mn-ea"/>
                          <a:ea typeface="+mn-ea"/>
                        </a:rPr>
                        <a:t>YYMMDD</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披露口径</a:t>
                      </a:r>
                      <a:r>
                        <a:rPr lang="en-US" altLang="zh-CN" sz="1100" kern="1200" dirty="0">
                          <a:solidFill>
                            <a:srgbClr val="FF0000"/>
                          </a:solidFill>
                          <a:latin typeface="+mn-ea"/>
                          <a:ea typeface="+mn-ea"/>
                          <a:cs typeface="+mn-cs"/>
                        </a:rPr>
                        <a:t>*</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kumimoji="0" lang="zh-CN" altLang="en-US" sz="11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手工选择</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c>
                  <a:txBody>
                    <a:bodyPr/>
                    <a:lstStyle/>
                    <a:p>
                      <a:pPr>
                        <a:buNone/>
                      </a:pPr>
                      <a:r>
                        <a:rPr lang="zh-CN" altLang="en-US" sz="1100" dirty="0">
                          <a:latin typeface="+mn-ea"/>
                          <a:ea typeface="+mn-ea"/>
                        </a:rPr>
                        <a:t>维护标准值库</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类型</a:t>
                      </a:r>
                      <a:r>
                        <a:rPr lang="en-US" sz="1100" kern="1200" dirty="0">
                          <a:solidFill>
                            <a:schemeClr val="dk1"/>
                          </a:solidFill>
                          <a:latin typeface="+mn-ea"/>
                          <a:ea typeface="+mn-ea"/>
                          <a:cs typeface="+mn-cs"/>
                        </a:rPr>
                        <a:t>A</a:t>
                      </a:r>
                      <a:r>
                        <a:rPr lang="en-US" altLang="zh-CN" sz="1100" kern="1200" dirty="0">
                          <a:solidFill>
                            <a:srgbClr val="FF0000"/>
                          </a:solidFill>
                          <a:latin typeface="+mn-ea"/>
                          <a:ea typeface="+mn-ea"/>
                          <a:cs typeface="+mn-cs"/>
                        </a:rPr>
                        <a:t>*</a:t>
                      </a:r>
                      <a:endParaRPr 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kumimoji="0" lang="zh-CN" altLang="en-US" sz="11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手工选择</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维护标准值库</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r>
              <a:tr h="0">
                <a:tc>
                  <a:txBody>
                    <a:bodyPr/>
                    <a:lstStyle/>
                    <a:p>
                      <a:pPr algn="l" rtl="0" fontAlgn="ctr"/>
                      <a:r>
                        <a:rPr lang="zh-CN" altLang="en-US" sz="1100" kern="1200" dirty="0">
                          <a:solidFill>
                            <a:schemeClr val="dk1"/>
                          </a:solidFill>
                          <a:latin typeface="+mn-ea"/>
                          <a:ea typeface="+mn-ea"/>
                          <a:cs typeface="+mn-cs"/>
                        </a:rPr>
                        <a:t>类型</a:t>
                      </a:r>
                      <a:r>
                        <a:rPr lang="en-US" sz="1100" kern="1200" dirty="0">
                          <a:solidFill>
                            <a:schemeClr val="dk1"/>
                          </a:solidFill>
                          <a:latin typeface="+mn-ea"/>
                          <a:ea typeface="+mn-ea"/>
                          <a:cs typeface="+mn-cs"/>
                        </a:rPr>
                        <a:t>B</a:t>
                      </a:r>
                      <a:r>
                        <a:rPr lang="en-US" altLang="zh-CN" sz="1100" kern="1200" dirty="0">
                          <a:solidFill>
                            <a:srgbClr val="FF0000"/>
                          </a:solidFill>
                          <a:latin typeface="+mn-ea"/>
                          <a:ea typeface="+mn-ea"/>
                          <a:cs typeface="+mn-cs"/>
                        </a:rPr>
                        <a:t>*</a:t>
                      </a:r>
                      <a:endParaRPr 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kumimoji="0" lang="zh-CN" altLang="en-US" sz="11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手工选择</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维护标准值库</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r>
              <a:tr h="0">
                <a:tc>
                  <a:txBody>
                    <a:bodyPr/>
                    <a:lstStyle/>
                    <a:p>
                      <a:pPr algn="l" rtl="0" fontAlgn="ctr"/>
                      <a:r>
                        <a:rPr lang="zh-CN" altLang="en-US" sz="1100" kern="1200" dirty="0">
                          <a:solidFill>
                            <a:schemeClr val="dk1"/>
                          </a:solidFill>
                          <a:latin typeface="+mn-ea"/>
                          <a:ea typeface="+mn-ea"/>
                          <a:cs typeface="+mn-cs"/>
                        </a:rPr>
                        <a:t>全新 </a:t>
                      </a:r>
                      <a:r>
                        <a:rPr lang="en-US" altLang="zh-CN" sz="1100" kern="1200" dirty="0">
                          <a:solidFill>
                            <a:schemeClr val="dk1"/>
                          </a:solidFill>
                          <a:latin typeface="+mn-ea"/>
                          <a:ea typeface="+mn-ea"/>
                          <a:cs typeface="+mn-cs"/>
                        </a:rPr>
                        <a:t>or </a:t>
                      </a:r>
                      <a:r>
                        <a:rPr lang="zh-CN" altLang="en-US" sz="1100" kern="1200" dirty="0">
                          <a:solidFill>
                            <a:schemeClr val="dk1"/>
                          </a:solidFill>
                          <a:latin typeface="+mn-ea"/>
                          <a:ea typeface="+mn-ea"/>
                          <a:cs typeface="+mn-cs"/>
                        </a:rPr>
                        <a:t>迭代</a:t>
                      </a:r>
                      <a:r>
                        <a:rPr lang="en-US" altLang="zh-CN" sz="1100" kern="1200" dirty="0">
                          <a:solidFill>
                            <a:srgbClr val="FF0000"/>
                          </a:solidFill>
                          <a:latin typeface="+mn-ea"/>
                          <a:ea typeface="+mn-ea"/>
                          <a:cs typeface="+mn-cs"/>
                        </a:rPr>
                        <a:t>*</a:t>
                      </a:r>
                      <a:r>
                        <a:rPr lang="zh-CN" altLang="en-US" sz="1100" kern="1200" dirty="0">
                          <a:solidFill>
                            <a:schemeClr val="dk1"/>
                          </a:solidFill>
                          <a:latin typeface="+mn-ea"/>
                          <a:ea typeface="+mn-ea"/>
                          <a:cs typeface="+mn-cs"/>
                        </a:rPr>
                        <a:t> </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手工选择</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36000" marR="36000"/>
                </a:tc>
                <a:tc>
                  <a:txBody>
                    <a:bodyPr/>
                    <a:lstStyle/>
                    <a:p>
                      <a:pPr>
                        <a:buNone/>
                      </a:pPr>
                      <a:r>
                        <a:rPr lang="zh-CN" altLang="en-US" sz="1100" dirty="0">
                          <a:latin typeface="+mn-ea"/>
                          <a:ea typeface="+mn-ea"/>
                        </a:rPr>
                        <a:t>全新，迭代</a:t>
                      </a:r>
                      <a:endParaRPr lang="zh-CN" altLang="en-US" sz="1100" dirty="0">
                        <a:latin typeface="+mn-ea"/>
                        <a:ea typeface="+mn-ea"/>
                      </a:endParaRPr>
                    </a:p>
                  </a:txBody>
                  <a:tcPr marL="36000" marR="36000"/>
                </a:tc>
              </a:tr>
              <a:tr h="0">
                <a:tc>
                  <a:txBody>
                    <a:bodyPr/>
                    <a:lstStyle/>
                    <a:p>
                      <a:pPr algn="l" rtl="0" fontAlgn="ctr"/>
                      <a:r>
                        <a:rPr lang="zh-CN" altLang="en-US" sz="1100" kern="1200" dirty="0">
                          <a:solidFill>
                            <a:schemeClr val="dk1"/>
                          </a:solidFill>
                          <a:latin typeface="+mn-ea"/>
                          <a:ea typeface="+mn-ea"/>
                          <a:cs typeface="+mn-cs"/>
                        </a:rPr>
                        <a:t>备注</a:t>
                      </a:r>
                      <a:endParaRPr lang="zh-CN" altLang="en-US" sz="1100" kern="1200" dirty="0">
                        <a:solidFill>
                          <a:schemeClr val="dk1"/>
                        </a:solidFill>
                        <a:latin typeface="+mn-ea"/>
                        <a:ea typeface="+mn-ea"/>
                        <a:cs typeface="+mn-cs"/>
                      </a:endParaRPr>
                    </a:p>
                  </a:txBody>
                  <a:tcPr marL="36000" marR="3600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r>
                        <a:rPr lang="zh-CN" altLang="en-US" sz="1100" dirty="0">
                          <a:latin typeface="+mn-ea"/>
                          <a:ea typeface="+mn-ea"/>
                        </a:rPr>
                        <a:t>手填</a:t>
                      </a: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r h="0">
                <a:tc>
                  <a:txBody>
                    <a:bodyPr/>
                    <a:lstStyle/>
                    <a:p>
                      <a:pPr>
                        <a:buNone/>
                      </a:pPr>
                      <a:endParaRPr lang="zh-CN" altLang="en-US" sz="1100" kern="1200" dirty="0">
                        <a:solidFill>
                          <a:schemeClr val="dk1"/>
                        </a:solidFill>
                        <a:latin typeface="+mn-ea"/>
                        <a:ea typeface="+mn-ea"/>
                        <a:cs typeface="+mn-cs"/>
                      </a:endParaRPr>
                    </a:p>
                  </a:txBody>
                  <a:tcPr marL="36000" marR="3600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c>
                  <a:txBody>
                    <a:bodyPr/>
                    <a:lstStyle/>
                    <a:p>
                      <a:pPr>
                        <a:buNone/>
                      </a:pPr>
                      <a:endParaRPr lang="zh-CN" altLang="en-US" sz="1100" dirty="0">
                        <a:latin typeface="+mn-ea"/>
                        <a:ea typeface="+mn-ea"/>
                      </a:endParaRPr>
                    </a:p>
                  </a:txBody>
                  <a:tcPr marL="36000" marR="36000"/>
                </a:tc>
              </a:tr>
            </a:tbl>
          </a:graphicData>
        </a:graphic>
      </p:graphicFrame>
      <p:sp>
        <p:nvSpPr>
          <p:cNvPr id="3" name="文本框 2"/>
          <p:cNvSpPr txBox="1"/>
          <p:nvPr/>
        </p:nvSpPr>
        <p:spPr>
          <a:xfrm>
            <a:off x="8298180" y="5560060"/>
            <a:ext cx="3397250" cy="349250"/>
          </a:xfrm>
          <a:prstGeom prst="rect">
            <a:avLst/>
          </a:prstGeom>
          <a:noFill/>
        </p:spPr>
        <p:txBody>
          <a:bodyPr wrap="square" rtlCol="0" anchor="t">
            <a:spAutoFit/>
          </a:bodyPr>
          <a:p>
            <a:pPr marL="285750" indent="-285750" fontAlgn="auto">
              <a:lnSpc>
                <a:spcPct val="120000"/>
              </a:lnSpc>
              <a:spcBef>
                <a:spcPts val="0"/>
              </a:spcBef>
              <a:buFont typeface="Wingdings" panose="05000000000000000000" charset="0"/>
              <a:buChar char="p"/>
            </a:pP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解析客户技术工艺资料，</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自动</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填写</a:t>
            </a:r>
            <a:endPar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对象 4">
            <a:hlinkClick r:id="" action="ppaction://ole?verb="/>
          </p:cNvPr>
          <p:cNvGraphicFramePr>
            <a:graphicFrameLocks noChangeAspect="1"/>
          </p:cNvGraphicFramePr>
          <p:nvPr/>
        </p:nvGraphicFramePr>
        <p:xfrm>
          <a:off x="8703945" y="38735"/>
          <a:ext cx="1129030" cy="869315"/>
        </p:xfrm>
        <a:graphic>
          <a:graphicData uri="http://schemas.openxmlformats.org/presentationml/2006/ole">
            <mc:AlternateContent xmlns:mc="http://schemas.openxmlformats.org/markup-compatibility/2006">
              <mc:Choice xmlns:v="urn:schemas-microsoft-com:vml" Requires="v">
                <p:oleObj spid="_x0000_s1025" name="" showAsIcon="1" r:id="rId4" imgW="971550" imgH="952500" progId="Excel.Sheet.12">
                  <p:embed/>
                </p:oleObj>
              </mc:Choice>
              <mc:Fallback>
                <p:oleObj name="" showAsIcon="1" r:id="rId4" imgW="971550" imgH="952500" progId="Excel.Sheet.12">
                  <p:embed/>
                  <p:pic>
                    <p:nvPicPr>
                      <p:cNvPr id="0" name="图片 1024"/>
                      <p:cNvPicPr/>
                      <p:nvPr/>
                    </p:nvPicPr>
                    <p:blipFill>
                      <a:blip r:embed="rId5"/>
                      <a:stretch>
                        <a:fillRect/>
                      </a:stretch>
                    </p:blipFill>
                    <p:spPr>
                      <a:xfrm>
                        <a:off x="8703945" y="38735"/>
                        <a:ext cx="1129030" cy="869315"/>
                      </a:xfrm>
                      <a:prstGeom prst="rect">
                        <a:avLst/>
                      </a:prstGeom>
                    </p:spPr>
                  </p:pic>
                </p:oleObj>
              </mc:Fallback>
            </mc:AlternateContent>
          </a:graphicData>
        </a:graphic>
      </p:graphicFrame>
    </p:spTree>
    <p:custDataLst>
      <p:tags r:id="rId6"/>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latin typeface="+mn-ea"/>
                <a:ea typeface="+mn-ea"/>
                <a:sym typeface="+mn-ea"/>
              </a:rPr>
              <a:t>2 </a:t>
            </a:r>
            <a:r>
              <a:rPr lang="zh-CN" altLang="en-US" sz="2800">
                <a:solidFill>
                  <a:schemeClr val="tx1"/>
                </a:solidFill>
                <a:latin typeface="+mn-ea"/>
                <a:ea typeface="+mn-ea"/>
                <a:sym typeface="+mn-ea"/>
              </a:rPr>
              <a:t>确认需求</a:t>
            </a:r>
            <a:r>
              <a:rPr lang="en-US" altLang="zh-CN" sz="2800">
                <a:solidFill>
                  <a:schemeClr val="tx1"/>
                </a:solidFill>
                <a:latin typeface="+mn-ea"/>
                <a:ea typeface="+mn-ea"/>
                <a:sym typeface="+mn-ea"/>
              </a:rPr>
              <a:t>-</a:t>
            </a:r>
            <a:r>
              <a:rPr lang="zh-CN" altLang="en-US" sz="2800">
                <a:solidFill>
                  <a:schemeClr val="tx1"/>
                </a:solidFill>
                <a:latin typeface="+mn-ea"/>
                <a:ea typeface="+mn-ea"/>
                <a:sym typeface="+mn-ea"/>
              </a:rPr>
              <a:t>对应步骤</a:t>
            </a:r>
            <a:r>
              <a:rPr lang="en-US" altLang="zh-CN" sz="2800">
                <a:solidFill>
                  <a:schemeClr val="tx1"/>
                </a:solidFill>
                <a:latin typeface="+mn-ea"/>
                <a:ea typeface="+mn-ea"/>
                <a:sym typeface="+mn-ea"/>
              </a:rPr>
              <a:t>2</a:t>
            </a:r>
            <a:endParaRPr lang="zh-CN" sz="2800">
              <a:solidFill>
                <a:schemeClr val="tx1"/>
              </a:solidFill>
              <a:latin typeface="+mn-ea"/>
              <a:ea typeface="+mn-ea"/>
              <a:sym typeface="+mn-ea"/>
            </a:endParaRPr>
          </a:p>
        </p:txBody>
      </p:sp>
      <p:graphicFrame>
        <p:nvGraphicFramePr>
          <p:cNvPr id="5" name="表格 4"/>
          <p:cNvGraphicFramePr/>
          <p:nvPr>
            <p:custDataLst>
              <p:tags r:id="rId2"/>
            </p:custDataLst>
          </p:nvPr>
        </p:nvGraphicFramePr>
        <p:xfrm>
          <a:off x="574040" y="1186815"/>
          <a:ext cx="10952480" cy="4087495"/>
        </p:xfrm>
        <a:graphic>
          <a:graphicData uri="http://schemas.openxmlformats.org/drawingml/2006/table">
            <a:tbl>
              <a:tblPr firstRow="1" bandRow="1">
                <a:tableStyleId>{5C22544A-7EE6-4342-B048-85BDC9FD1C3A}</a:tableStyleId>
              </a:tblPr>
              <a:tblGrid>
                <a:gridCol w="1334770"/>
                <a:gridCol w="9617710"/>
              </a:tblGrid>
              <a:tr h="498475">
                <a:tc>
                  <a:txBody>
                    <a:bodyPr/>
                    <a:lstStyle/>
                    <a:p>
                      <a:pPr algn="ctr">
                        <a:buNone/>
                      </a:pPr>
                      <a:r>
                        <a:rPr lang="zh-CN" altLang="en-US" sz="1400"/>
                        <a:t>步骤</a:t>
                      </a:r>
                      <a:r>
                        <a:rPr lang="en-US" altLang="zh-CN" sz="1400"/>
                        <a:t> </a:t>
                      </a:r>
                      <a:endParaRPr lang="en-US" altLang="zh-CN" sz="1400"/>
                    </a:p>
                  </a:txBody>
                  <a:tcPr anchor="ctr" anchorCtr="0"/>
                </a:tc>
                <a:tc>
                  <a:txBody>
                    <a:bodyPr/>
                    <a:lstStyle/>
                    <a:p>
                      <a:pPr algn="ctr">
                        <a:buNone/>
                      </a:pPr>
                      <a:r>
                        <a:rPr lang="en-US" altLang="zh-CN" sz="1400" dirty="0">
                          <a:sym typeface="+mn-ea"/>
                        </a:rPr>
                        <a:t>Step 2 </a:t>
                      </a:r>
                      <a:r>
                        <a:rPr lang="zh-CN" altLang="en-US" sz="1400" dirty="0">
                          <a:sym typeface="+mn-ea"/>
                        </a:rPr>
                        <a:t>确认需求</a:t>
                      </a:r>
                      <a:endParaRPr lang="zh-CN" altLang="en-US" sz="1400" dirty="0">
                        <a:sym typeface="+mn-ea"/>
                      </a:endParaRPr>
                    </a:p>
                  </a:txBody>
                  <a:tcPr anchor="ctr" anchorCtr="0"/>
                </a:tc>
              </a:tr>
              <a:tr h="448945">
                <a:tc>
                  <a:txBody>
                    <a:bodyPr/>
                    <a:lstStyle/>
                    <a:p>
                      <a:pPr>
                        <a:buNone/>
                      </a:pPr>
                      <a:r>
                        <a:rPr lang="zh-CN" altLang="en-US" sz="1200">
                          <a:latin typeface="微软雅黑" panose="020B0503020204020204" pitchFamily="34" charset="-122"/>
                          <a:ea typeface="微软雅黑" panose="020B0503020204020204" pitchFamily="34" charset="-122"/>
                        </a:rPr>
                        <a:t>做什么</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在系统确认需求的完整性和正确性（</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给参考、人做审核、数据回流优化，及通过多轮对话提升数据质量，与工业场景的逻辑也较为契合</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r>
                        <a:rPr lang="zh-CN" altLang="en-US" sz="1200">
                          <a:latin typeface="微软雅黑" panose="020B0503020204020204" pitchFamily="34" charset="-122"/>
                          <a:ea typeface="微软雅黑" panose="020B0503020204020204" pitchFamily="34" charset="-122"/>
                        </a:rPr>
                        <a:t>谁来做</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r>
                        <a:rPr lang="zh-CN" altLang="en-US" sz="1200" dirty="0">
                          <a:latin typeface="微软雅黑" panose="020B0503020204020204" pitchFamily="34" charset="-122"/>
                          <a:ea typeface="微软雅黑" panose="020B0503020204020204" pitchFamily="34" charset="-122"/>
                          <a:sym typeface="+mn-ea"/>
                        </a:rPr>
                        <a:t>工艺技术</a:t>
                      </a:r>
                      <a:r>
                        <a:rPr lang="zh-CN" altLang="en-US" sz="1200" dirty="0">
                          <a:latin typeface="微软雅黑" panose="020B0503020204020204" pitchFamily="34" charset="-122"/>
                          <a:ea typeface="微软雅黑" panose="020B0503020204020204" pitchFamily="34" charset="-122"/>
                          <a:sym typeface="+mn-ea"/>
                        </a:rPr>
                        <a:t>经理</a:t>
                      </a: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r>
              <a:tr h="448945">
                <a:tc>
                  <a:txBody>
                    <a:bodyPr/>
                    <a:lstStyle/>
                    <a:p>
                      <a:pPr>
                        <a:buNone/>
                      </a:pPr>
                      <a:r>
                        <a:rPr lang="zh-CN" altLang="en-US" sz="1200">
                          <a:latin typeface="微软雅黑" panose="020B0503020204020204" pitchFamily="34" charset="-122"/>
                          <a:ea typeface="微软雅黑" panose="020B0503020204020204" pitchFamily="34" charset="-122"/>
                        </a:rPr>
                        <a:t>输入</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工艺评估需求单（待确认）、 需求附件资料包</a:t>
                      </a: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r>
                        <a:rPr lang="zh-CN" altLang="en-US" sz="1200">
                          <a:latin typeface="微软雅黑" panose="020B0503020204020204" pitchFamily="34" charset="-122"/>
                          <a:ea typeface="微软雅黑" panose="020B0503020204020204" pitchFamily="34" charset="-122"/>
                        </a:rPr>
                        <a:t>输出</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工艺评估需求单（已确认）</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需求补充说明（如有退回）</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ct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技术可行性初步判断记录</a:t>
                      </a:r>
                      <a:endParaRPr lang="zh-CN" altLang="en-US" sz="1200" dirty="0">
                        <a:sym typeface="+mn-ea"/>
                      </a:endParaRPr>
                    </a:p>
                  </a:txBody>
                  <a:tcPr anchor="ctr" anchorCtr="0"/>
                </a:tc>
              </a:tr>
              <a:tr h="1047115">
                <a:tc>
                  <a:txBody>
                    <a:bodyPr/>
                    <a:lstStyle/>
                    <a:p>
                      <a:pPr>
                        <a:buNone/>
                      </a:pPr>
                      <a:r>
                        <a:rPr lang="zh-CN" altLang="en-US" sz="1200" dirty="0">
                          <a:latin typeface="微软雅黑" panose="020B0503020204020204" pitchFamily="34" charset="-122"/>
                          <a:ea typeface="微软雅黑" panose="020B0503020204020204" pitchFamily="34" charset="-122"/>
                        </a:rPr>
                        <a:t>主要功能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lstStyle/>
                    <a:p>
                      <a:pPr indent="0">
                        <a:buFont typeface="+mj-lt"/>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、记录需求确认意见</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indent="0">
                        <a:buFont typeface="+mj-lt"/>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、生成需求状态（需求草稿、需求提交、</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需求确认</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需求审核、需求驳回、需求终止、需求分派、报告草稿、报告提交、报告审核、报告驳回、更新工艺评估、更新评估报告、</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报告发布</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747395">
                <a:tc>
                  <a:txBody>
                    <a:bodyPr/>
                    <a:lstStyle/>
                    <a:p>
                      <a:pPr>
                        <a:buNone/>
                      </a:pPr>
                      <a:r>
                        <a:rPr lang="zh-CN" altLang="en-US" sz="1200">
                          <a:latin typeface="微软雅黑" panose="020B0503020204020204" pitchFamily="34" charset="-122"/>
                          <a:ea typeface="微软雅黑" panose="020B0503020204020204" pitchFamily="34" charset="-122"/>
                          <a:sym typeface="+mn-ea"/>
                        </a:rPr>
                        <a:t>关键业务逻辑</a:t>
                      </a:r>
                      <a:endParaRPr lang="zh-CN" altLang="en-US" sz="1200">
                        <a:latin typeface="微软雅黑" panose="020B0503020204020204" pitchFamily="34" charset="-122"/>
                        <a:ea typeface="微软雅黑" panose="020B0503020204020204" pitchFamily="34" charset="-122"/>
                        <a:sym typeface="+mn-ea"/>
                      </a:endParaRPr>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、销售专员编辑需求单提交后，进入工艺技术经理确认，需求单状态：需求待确认</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、确认不通过：返回销售专员修改，需求单状态：需求待</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提交；</a:t>
                      </a:r>
                      <a:endPar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确认通过后转工艺技术总监审核，需求单状态：需求待审核。</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bl>
          </a:graphicData>
        </a:graphic>
      </p:graphicFrame>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latin typeface="+mn-ea"/>
                <a:ea typeface="+mn-ea"/>
                <a:sym typeface="+mn-ea"/>
              </a:rPr>
              <a:t>2-1 </a:t>
            </a:r>
            <a:r>
              <a:rPr lang="zh-CN" altLang="en-US" sz="2800">
                <a:solidFill>
                  <a:schemeClr val="tx1"/>
                </a:solidFill>
                <a:latin typeface="+mn-ea"/>
                <a:ea typeface="+mn-ea"/>
                <a:sym typeface="+mn-ea"/>
              </a:rPr>
              <a:t>确认需求，</a:t>
            </a:r>
            <a:r>
              <a:rPr lang="en-US" altLang="zh-CN" sz="2800">
                <a:solidFill>
                  <a:schemeClr val="tx1"/>
                </a:solidFill>
                <a:latin typeface="+mn-ea"/>
                <a:ea typeface="+mn-ea"/>
                <a:sym typeface="+mn-ea"/>
              </a:rPr>
              <a:t>AI</a:t>
            </a:r>
            <a:r>
              <a:rPr lang="zh-CN" altLang="en-US" sz="2800">
                <a:solidFill>
                  <a:schemeClr val="tx1"/>
                </a:solidFill>
                <a:latin typeface="+mn-ea"/>
                <a:ea typeface="+mn-ea"/>
                <a:sym typeface="+mn-ea"/>
              </a:rPr>
              <a:t>检测结果</a:t>
            </a:r>
            <a:r>
              <a:rPr lang="en-US" altLang="zh-CN" sz="2800">
                <a:solidFill>
                  <a:schemeClr val="tx1"/>
                </a:solidFill>
                <a:latin typeface="+mn-ea"/>
                <a:ea typeface="+mn-ea"/>
                <a:sym typeface="+mn-ea"/>
              </a:rPr>
              <a:t>-</a:t>
            </a:r>
            <a:r>
              <a:rPr lang="zh-CN" altLang="en-US" sz="2800">
                <a:solidFill>
                  <a:schemeClr val="tx1"/>
                </a:solidFill>
                <a:latin typeface="+mn-ea"/>
                <a:ea typeface="+mn-ea"/>
                <a:sym typeface="+mn-ea"/>
              </a:rPr>
              <a:t>结构化</a:t>
            </a:r>
            <a:r>
              <a:rPr lang="zh-CN" altLang="en-US" sz="2800">
                <a:solidFill>
                  <a:schemeClr val="tx1"/>
                </a:solidFill>
                <a:latin typeface="+mn-ea"/>
                <a:ea typeface="+mn-ea"/>
                <a:sym typeface="+mn-ea"/>
              </a:rPr>
              <a:t>表格</a:t>
            </a:r>
            <a:endParaRPr lang="zh-CN" altLang="en-US" sz="2800">
              <a:solidFill>
                <a:schemeClr val="tx1"/>
              </a:solidFill>
              <a:latin typeface="+mn-ea"/>
              <a:ea typeface="+mn-ea"/>
              <a:sym typeface="+mn-ea"/>
            </a:endParaRPr>
          </a:p>
        </p:txBody>
      </p:sp>
      <p:graphicFrame>
        <p:nvGraphicFramePr>
          <p:cNvPr id="5" name="表格 4"/>
          <p:cNvGraphicFramePr/>
          <p:nvPr>
            <p:custDataLst>
              <p:tags r:id="rId2"/>
            </p:custDataLst>
          </p:nvPr>
        </p:nvGraphicFramePr>
        <p:xfrm>
          <a:off x="574040" y="1186815"/>
          <a:ext cx="10952480" cy="4087495"/>
        </p:xfrm>
        <a:graphic>
          <a:graphicData uri="http://schemas.openxmlformats.org/drawingml/2006/table">
            <a:tbl>
              <a:tblPr firstRow="1" bandRow="1">
                <a:tableStyleId>{5C22544A-7EE6-4342-B048-85BDC9FD1C3A}</a:tableStyleId>
              </a:tblPr>
              <a:tblGrid>
                <a:gridCol w="1334770"/>
                <a:gridCol w="9617710"/>
              </a:tblGrid>
              <a:tr h="498475">
                <a:tc>
                  <a:txBody>
                    <a:bodyPr/>
                    <a:lstStyle/>
                    <a:p>
                      <a:pPr algn="ctr">
                        <a:buNone/>
                      </a:pPr>
                      <a:r>
                        <a:rPr lang="zh-CN" altLang="en-US" sz="1400"/>
                        <a:t>步骤</a:t>
                      </a:r>
                      <a:r>
                        <a:rPr lang="en-US" altLang="zh-CN" sz="1400"/>
                        <a:t> </a:t>
                      </a:r>
                      <a:endParaRPr lang="en-US" altLang="zh-CN" sz="1400"/>
                    </a:p>
                  </a:txBody>
                  <a:tcPr anchor="ctr" anchorCtr="0"/>
                </a:tc>
                <a:tc>
                  <a:txBody>
                    <a:bodyPr/>
                    <a:lstStyle/>
                    <a:p>
                      <a:pPr algn="ctr">
                        <a:buNone/>
                      </a:pPr>
                      <a:r>
                        <a:rPr lang="en-US" altLang="zh-CN" sz="1400" dirty="0">
                          <a:sym typeface="+mn-ea"/>
                        </a:rPr>
                        <a:t>Step 2 </a:t>
                      </a:r>
                      <a:r>
                        <a:rPr lang="zh-CN" altLang="en-US" sz="1400" dirty="0">
                          <a:sym typeface="+mn-ea"/>
                        </a:rPr>
                        <a:t>确认需求</a:t>
                      </a:r>
                      <a:endParaRPr lang="zh-CN" altLang="en-US" sz="1400" dirty="0">
                        <a:sym typeface="+mn-ea"/>
                      </a:endParaRPr>
                    </a:p>
                  </a:txBody>
                  <a:tcPr anchor="ctr" anchorCtr="0"/>
                </a:tc>
              </a:tr>
              <a:tr h="448945">
                <a:tc>
                  <a:txBody>
                    <a:bodyPr/>
                    <a:lstStyle/>
                    <a:p>
                      <a:pPr>
                        <a:buNone/>
                      </a:pPr>
                      <a:r>
                        <a:rPr lang="zh-CN" altLang="en-US" sz="1200">
                          <a:latin typeface="微软雅黑" panose="020B0503020204020204" pitchFamily="34" charset="-122"/>
                          <a:ea typeface="微软雅黑" panose="020B0503020204020204" pitchFamily="34" charset="-122"/>
                        </a:rPr>
                        <a:t>做什么</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确认需求的完整性和正确性（</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给参考、人做审核、数据回流优化，及通过多轮对话提升数据质量，与工业场景的逻辑也较为契合</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r>
              <a:tr h="448945">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endParaRPr lang="zh-CN" altLang="en-US" sz="1200" dirty="0">
                        <a:sym typeface="+mn-ea"/>
                      </a:endParaRPr>
                    </a:p>
                  </a:txBody>
                  <a:tcPr anchor="ctr" anchorCtr="0"/>
                </a:tc>
              </a:tr>
              <a:tr h="1047115">
                <a:tc>
                  <a:txBody>
                    <a:bodyPr/>
                    <a:lstStyle/>
                    <a:p>
                      <a:pPr>
                        <a:buNone/>
                      </a:pP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lstStyle/>
                    <a:p>
                      <a:pPr indent="0">
                        <a:buFont typeface="+mj-lt"/>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747395">
                <a:tc>
                  <a:txBody>
                    <a:bodyPr/>
                    <a:lstStyle/>
                    <a:p>
                      <a:pPr>
                        <a:buNone/>
                      </a:pPr>
                      <a:endParaRPr lang="zh-CN" altLang="en-US" sz="1200">
                        <a:latin typeface="微软雅黑" panose="020B0503020204020204" pitchFamily="34" charset="-122"/>
                        <a:ea typeface="微软雅黑" panose="020B0503020204020204" pitchFamily="34" charset="-122"/>
                        <a:sym typeface="+mn-ea"/>
                      </a:endParaRPr>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bl>
          </a:graphicData>
        </a:graphic>
      </p:graphicFrame>
      <p:graphicFrame>
        <p:nvGraphicFramePr>
          <p:cNvPr id="3" name="对象 2">
            <a:hlinkClick r:id="" action="ppaction://ole?verb="/>
          </p:cNvPr>
          <p:cNvGraphicFramePr>
            <a:graphicFrameLocks noChangeAspect="1"/>
          </p:cNvGraphicFramePr>
          <p:nvPr/>
        </p:nvGraphicFramePr>
        <p:xfrm>
          <a:off x="5610225" y="2952750"/>
          <a:ext cx="971550" cy="952500"/>
        </p:xfrm>
        <a:graphic>
          <a:graphicData uri="http://schemas.openxmlformats.org/presentationml/2006/ole">
            <mc:AlternateContent xmlns:mc="http://schemas.openxmlformats.org/markup-compatibility/2006">
              <mc:Choice xmlns:v="urn:schemas-microsoft-com:vml" Requires="v">
                <p:oleObj spid="_x0000_s1025" name="" showAsIcon="1" r:id="rId3" imgW="971550" imgH="952500" progId="Excel.Sheet.12">
                  <p:embed/>
                </p:oleObj>
              </mc:Choice>
              <mc:Fallback>
                <p:oleObj name="" showAsIcon="1" r:id="rId3" imgW="971550" imgH="952500" progId="Excel.Sheet.12">
                  <p:embed/>
                  <p:pic>
                    <p:nvPicPr>
                      <p:cNvPr id="0" name="图片 1024"/>
                      <p:cNvPicPr/>
                      <p:nvPr/>
                    </p:nvPicPr>
                    <p:blipFill>
                      <a:blip r:embed="rId4"/>
                      <a:stretch>
                        <a:fillRect/>
                      </a:stretch>
                    </p:blipFill>
                    <p:spPr>
                      <a:xfrm>
                        <a:off x="5610225" y="2952750"/>
                        <a:ext cx="971550" cy="952500"/>
                      </a:xfrm>
                      <a:prstGeom prst="rect">
                        <a:avLst/>
                      </a:prstGeom>
                    </p:spPr>
                  </p:pic>
                </p:oleObj>
              </mc:Fallback>
            </mc:AlternateContent>
          </a:graphicData>
        </a:graphic>
      </p:graphicFrame>
    </p:spTree>
    <p:custDataLst>
      <p:tags r:id="rId5"/>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latin typeface="+mn-ea"/>
                <a:ea typeface="+mn-ea"/>
                <a:sym typeface="+mn-ea"/>
              </a:rPr>
              <a:t>3 </a:t>
            </a:r>
            <a:r>
              <a:rPr lang="zh-CN" altLang="en-US" sz="2800">
                <a:solidFill>
                  <a:schemeClr val="tx1"/>
                </a:solidFill>
                <a:latin typeface="+mn-ea"/>
                <a:ea typeface="+mn-ea"/>
                <a:sym typeface="+mn-ea"/>
              </a:rPr>
              <a:t>审核需求</a:t>
            </a:r>
            <a:r>
              <a:rPr lang="en-US" altLang="zh-CN" sz="2800">
                <a:solidFill>
                  <a:schemeClr val="tx1"/>
                </a:solidFill>
                <a:latin typeface="+mn-ea"/>
                <a:ea typeface="+mn-ea"/>
                <a:sym typeface="+mn-ea"/>
              </a:rPr>
              <a:t>-</a:t>
            </a:r>
            <a:r>
              <a:rPr lang="en-US" altLang="zh-CN" sz="2800">
                <a:solidFill>
                  <a:schemeClr val="tx1"/>
                </a:solidFill>
                <a:latin typeface="+mn-ea"/>
                <a:ea typeface="+mn-ea"/>
                <a:sym typeface="+mn-ea"/>
              </a:rPr>
              <a:t>-</a:t>
            </a:r>
            <a:r>
              <a:rPr lang="zh-CN" altLang="en-US" sz="2800">
                <a:solidFill>
                  <a:schemeClr val="tx1"/>
                </a:solidFill>
                <a:latin typeface="+mn-ea"/>
                <a:ea typeface="+mn-ea"/>
                <a:sym typeface="+mn-ea"/>
              </a:rPr>
              <a:t>对应步骤</a:t>
            </a:r>
            <a:r>
              <a:rPr lang="en-US" altLang="zh-CN" sz="2800">
                <a:solidFill>
                  <a:schemeClr val="tx1"/>
                </a:solidFill>
                <a:latin typeface="+mn-ea"/>
                <a:ea typeface="+mn-ea"/>
                <a:sym typeface="+mn-ea"/>
              </a:rPr>
              <a:t>3</a:t>
            </a:r>
            <a:endParaRPr lang="en-US" altLang="zh-CN" sz="2800">
              <a:solidFill>
                <a:schemeClr val="tx1"/>
              </a:solidFill>
              <a:latin typeface="+mn-ea"/>
              <a:ea typeface="+mn-ea"/>
              <a:sym typeface="+mn-ea"/>
            </a:endParaRPr>
          </a:p>
        </p:txBody>
      </p:sp>
      <p:graphicFrame>
        <p:nvGraphicFramePr>
          <p:cNvPr id="5" name="表格 4"/>
          <p:cNvGraphicFramePr/>
          <p:nvPr>
            <p:custDataLst>
              <p:tags r:id="rId2"/>
            </p:custDataLst>
          </p:nvPr>
        </p:nvGraphicFramePr>
        <p:xfrm>
          <a:off x="636905" y="1070610"/>
          <a:ext cx="10331450" cy="4817110"/>
        </p:xfrm>
        <a:graphic>
          <a:graphicData uri="http://schemas.openxmlformats.org/drawingml/2006/table">
            <a:tbl>
              <a:tblPr firstRow="1" bandRow="1">
                <a:tableStyleId>{5C22544A-7EE6-4342-B048-85BDC9FD1C3A}</a:tableStyleId>
              </a:tblPr>
              <a:tblGrid>
                <a:gridCol w="1259205"/>
                <a:gridCol w="9072245"/>
              </a:tblGrid>
              <a:tr h="547370">
                <a:tc>
                  <a:txBody>
                    <a:bodyPr/>
                    <a:lstStyle/>
                    <a:p>
                      <a:pPr algn="ctr">
                        <a:buNone/>
                      </a:pPr>
                      <a:r>
                        <a:rPr lang="zh-CN" altLang="en-US" sz="1400"/>
                        <a:t>步骤</a:t>
                      </a:r>
                      <a:r>
                        <a:rPr lang="en-US" altLang="zh-CN" sz="1400"/>
                        <a:t> </a:t>
                      </a:r>
                      <a:endParaRPr lang="en-US" altLang="zh-CN" sz="1400"/>
                    </a:p>
                  </a:txBody>
                  <a:tcPr anchor="ctr" anchorCtr="0"/>
                </a:tc>
                <a:tc>
                  <a:txBody>
                    <a:bodyPr/>
                    <a:lstStyle/>
                    <a:p>
                      <a:pPr algn="ctr">
                        <a:buNone/>
                      </a:pPr>
                      <a:r>
                        <a:rPr lang="en-US" altLang="zh-CN" sz="1400" dirty="0">
                          <a:sym typeface="+mn-ea"/>
                        </a:rPr>
                        <a:t>Step 2 </a:t>
                      </a:r>
                      <a:r>
                        <a:rPr lang="zh-CN" altLang="en-US" sz="1400" dirty="0">
                          <a:sym typeface="+mn-ea"/>
                        </a:rPr>
                        <a:t>审核需求</a:t>
                      </a:r>
                      <a:endParaRPr lang="zh-CN" altLang="en-US" sz="1400" dirty="0">
                        <a:sym typeface="+mn-ea"/>
                      </a:endParaRPr>
                    </a:p>
                  </a:txBody>
                  <a:tcPr anchor="ctr" anchorCtr="0"/>
                </a:tc>
              </a:tr>
              <a:tr h="492760">
                <a:tc>
                  <a:txBody>
                    <a:bodyPr/>
                    <a:lstStyle/>
                    <a:p>
                      <a:pPr>
                        <a:buNone/>
                      </a:pPr>
                      <a:r>
                        <a:rPr lang="zh-CN" altLang="en-US" sz="1200"/>
                        <a:t>做什么</a:t>
                      </a:r>
                      <a:endParaRPr lang="zh-CN" altLang="en-US" sz="1200"/>
                    </a:p>
                  </a:txBody>
                  <a:tcPr anchor="ctr" anchorCtr="0"/>
                </a:tc>
                <a:tc>
                  <a:txBody>
                    <a:bodyPr/>
                    <a:lstStyle/>
                    <a:p>
                      <a:pPr>
                        <a:buNone/>
                      </a:pPr>
                      <a:r>
                        <a:rPr lang="zh-CN" altLang="en-US" sz="1200" dirty="0">
                          <a:sym typeface="+mn-ea"/>
                        </a:rPr>
                        <a:t>在系统审核需求单</a:t>
                      </a:r>
                      <a:r>
                        <a:rPr lang="zh-CN" altLang="en-US" sz="1200" dirty="0">
                          <a:solidFill>
                            <a:srgbClr val="FF0000"/>
                          </a:solidFill>
                          <a:sym typeface="+mn-ea"/>
                        </a:rPr>
                        <a:t>（基于客户产品需求，结合公司产品策略和工艺路线，审核本次工艺需求单是否通过）</a:t>
                      </a:r>
                      <a:endParaRPr lang="zh-CN" altLang="en-US" sz="1200" dirty="0">
                        <a:solidFill>
                          <a:srgbClr val="FF0000"/>
                        </a:solidFill>
                        <a:sym typeface="+mn-ea"/>
                      </a:endParaRPr>
                    </a:p>
                  </a:txBody>
                  <a:tcPr anchor="ctr" anchorCtr="0"/>
                </a:tc>
              </a:tr>
              <a:tr h="492760">
                <a:tc>
                  <a:txBody>
                    <a:bodyPr/>
                    <a:lstStyle/>
                    <a:p>
                      <a:pPr>
                        <a:buNone/>
                      </a:pPr>
                      <a:r>
                        <a:rPr lang="zh-CN" altLang="en-US" sz="1200"/>
                        <a:t>谁来做</a:t>
                      </a:r>
                      <a:endParaRPr lang="zh-CN" altLang="en-US" sz="1200"/>
                    </a:p>
                  </a:txBody>
                  <a:tcPr anchor="ctr" anchorCtr="0"/>
                </a:tc>
                <a:tc>
                  <a:txBody>
                    <a:bodyPr/>
                    <a:lstStyle/>
                    <a:p>
                      <a:pPr>
                        <a:buNone/>
                      </a:pPr>
                      <a:r>
                        <a:rPr lang="zh-CN" altLang="en-US" sz="1200" dirty="0">
                          <a:sym typeface="+mn-ea"/>
                        </a:rPr>
                        <a:t>工艺</a:t>
                      </a:r>
                      <a:r>
                        <a:rPr lang="zh-CN" altLang="en-US" sz="1200" dirty="0">
                          <a:sym typeface="+mn-ea"/>
                        </a:rPr>
                        <a:t>技术总监</a:t>
                      </a:r>
                      <a:endParaRPr lang="zh-CN" altLang="en-US" sz="1200" dirty="0">
                        <a:sym typeface="+mn-ea"/>
                      </a:endParaRPr>
                    </a:p>
                  </a:txBody>
                  <a:tcPr anchor="ctr" anchorCtr="0"/>
                </a:tc>
              </a:tr>
              <a:tr h="492760">
                <a:tc>
                  <a:txBody>
                    <a:bodyPr/>
                    <a:lstStyle/>
                    <a:p>
                      <a:pPr>
                        <a:buNone/>
                      </a:pPr>
                      <a:r>
                        <a:rPr lang="zh-CN" altLang="en-US" sz="1200"/>
                        <a:t>输入</a:t>
                      </a:r>
                      <a:endParaRPr lang="zh-CN" altLang="en-US" sz="1200"/>
                    </a:p>
                  </a:txBody>
                  <a:tcPr anchor="ctr" anchorCtr="0"/>
                </a:tc>
                <a:tc>
                  <a:txBody>
                    <a:bodyPr/>
                    <a:lstStyle/>
                    <a:p>
                      <a:pPr>
                        <a:buNone/>
                      </a:pPr>
                      <a:r>
                        <a:rPr lang="zh-CN" altLang="en-US" sz="1200" dirty="0"/>
                        <a:t>需求单</a:t>
                      </a:r>
                      <a:endParaRPr lang="zh-CN" altLang="en-US" sz="1200" dirty="0"/>
                    </a:p>
                  </a:txBody>
                  <a:tcPr anchor="ctr" anchorCtr="0"/>
                </a:tc>
              </a:tr>
              <a:tr h="492760">
                <a:tc>
                  <a:txBody>
                    <a:bodyPr/>
                    <a:lstStyle/>
                    <a:p>
                      <a:pPr>
                        <a:buNone/>
                      </a:pPr>
                      <a:r>
                        <a:rPr lang="zh-CN" altLang="en-US" sz="1200"/>
                        <a:t>输出</a:t>
                      </a:r>
                      <a:endParaRPr lang="zh-CN" altLang="en-US" sz="1200"/>
                    </a:p>
                  </a:txBody>
                  <a:tcPr anchor="ctr" anchorCtr="0"/>
                </a:tc>
                <a:tc>
                  <a:txBody>
                    <a:bodyPr/>
                    <a:lstStyle/>
                    <a:p>
                      <a:pPr>
                        <a:buNone/>
                      </a:pPr>
                      <a:r>
                        <a:rPr lang="zh-CN" altLang="en-US" sz="1200" dirty="0">
                          <a:sym typeface="+mn-ea"/>
                        </a:rPr>
                        <a:t>需求单审核意见</a:t>
                      </a:r>
                      <a:endParaRPr lang="en-US" altLang="zh-CN" sz="1200" dirty="0">
                        <a:sym typeface="+mn-ea"/>
                      </a:endParaRPr>
                    </a:p>
                  </a:txBody>
                  <a:tcPr anchor="ctr" anchorCtr="0"/>
                </a:tc>
              </a:tr>
              <a:tr h="1149350">
                <a:tc>
                  <a:txBody>
                    <a:bodyPr/>
                    <a:lstStyle/>
                    <a:p>
                      <a:pPr>
                        <a:buNone/>
                      </a:pPr>
                      <a:r>
                        <a:rPr lang="zh-CN" altLang="en-US" sz="1200" dirty="0"/>
                        <a:t>主要功能</a:t>
                      </a:r>
                      <a:endParaRPr lang="zh-CN" altLang="en-US" sz="1200" dirty="0"/>
                    </a:p>
                  </a:txBody>
                  <a:tcPr anchor="ctr" anchorCtr="0"/>
                </a:tc>
                <a:tc>
                  <a:txBody>
                    <a:bodyPr/>
                    <a:lstStyle/>
                    <a:p>
                      <a:pPr indent="0">
                        <a:buFont typeface="+mj-lt"/>
                        <a:buNone/>
                      </a:pPr>
                      <a:r>
                        <a:rPr lang="en-US" altLang="zh-CN" sz="1200" dirty="0"/>
                        <a:t>1</a:t>
                      </a:r>
                      <a:r>
                        <a:rPr lang="zh-CN" altLang="en-US" sz="1200" dirty="0"/>
                        <a:t>、记录审核意见</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2</a:t>
                      </a:r>
                      <a:r>
                        <a:rPr lang="zh-CN" altLang="en-US" sz="1200" dirty="0"/>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、需求提交、需求审核、需求驳回、需求终止、需求分派，报告草稿、报告提交、报告审核、报告驳回、更新报价、需求开发）</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anchor="ctr" anchorCtr="0"/>
                </a:tc>
              </a:tr>
              <a:tr h="1149350">
                <a:tc>
                  <a:txBody>
                    <a:bodyPr/>
                    <a:lstStyle/>
                    <a:p>
                      <a:pPr>
                        <a:buNone/>
                      </a:pPr>
                      <a:r>
                        <a:rPr lang="zh-CN" altLang="en-US" sz="1200">
                          <a:sym typeface="+mn-ea"/>
                        </a:rPr>
                        <a:t>关键业务逻辑</a:t>
                      </a:r>
                      <a:endParaRPr lang="zh-CN" altLang="en-US" sz="1200"/>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、客户经理确认需求后提交进入销售总监审核，需求单状态：需求审核</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、审核不通过：</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、返回销售专员修改，需求单状态是需求驳回；</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、需求终止记录审核意见，需求单状态是需求终止</a:t>
                      </a:r>
                      <a:endParaRPr lang="zh-CN" altLang="en-US"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、审核通过后转各专业经理分配专业工程师，需求单状态：需求分配</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nchor="ctr" anchorCtr="0"/>
                </a:tc>
              </a:tr>
            </a:tbl>
          </a:graphicData>
        </a:graphic>
      </p:graphicFrame>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latin typeface="+mn-ea"/>
                <a:ea typeface="+mn-ea"/>
                <a:sym typeface="+mn-ea"/>
              </a:rPr>
              <a:t>3-1 </a:t>
            </a:r>
            <a:r>
              <a:rPr lang="zh-CN" altLang="en-US" sz="2800">
                <a:solidFill>
                  <a:schemeClr val="tx1"/>
                </a:solidFill>
                <a:latin typeface="+mn-ea"/>
                <a:ea typeface="+mn-ea"/>
                <a:sym typeface="+mn-ea"/>
              </a:rPr>
              <a:t>审核需求，</a:t>
            </a:r>
            <a:r>
              <a:rPr lang="en-US" altLang="zh-CN" sz="2800">
                <a:solidFill>
                  <a:schemeClr val="tx1"/>
                </a:solidFill>
                <a:latin typeface="+mn-ea"/>
                <a:ea typeface="+mn-ea"/>
                <a:sym typeface="+mn-ea"/>
              </a:rPr>
              <a:t>AI</a:t>
            </a:r>
            <a:r>
              <a:rPr lang="zh-CN" altLang="en-US" sz="2800">
                <a:solidFill>
                  <a:schemeClr val="tx1"/>
                </a:solidFill>
                <a:latin typeface="+mn-ea"/>
                <a:ea typeface="+mn-ea"/>
                <a:sym typeface="+mn-ea"/>
              </a:rPr>
              <a:t>审核结果</a:t>
            </a:r>
            <a:r>
              <a:rPr lang="en-US" altLang="zh-CN" sz="2800">
                <a:solidFill>
                  <a:schemeClr val="tx1"/>
                </a:solidFill>
                <a:latin typeface="+mn-ea"/>
                <a:ea typeface="+mn-ea"/>
                <a:sym typeface="+mn-ea"/>
              </a:rPr>
              <a:t>-</a:t>
            </a:r>
            <a:r>
              <a:rPr lang="zh-CN" altLang="en-US" sz="2800">
                <a:solidFill>
                  <a:schemeClr val="tx1"/>
                </a:solidFill>
                <a:latin typeface="+mn-ea"/>
                <a:ea typeface="+mn-ea"/>
                <a:sym typeface="+mn-ea"/>
              </a:rPr>
              <a:t>结构化</a:t>
            </a:r>
            <a:r>
              <a:rPr lang="zh-CN" altLang="en-US" sz="2800">
                <a:solidFill>
                  <a:schemeClr val="tx1"/>
                </a:solidFill>
                <a:latin typeface="+mn-ea"/>
                <a:ea typeface="+mn-ea"/>
                <a:sym typeface="+mn-ea"/>
              </a:rPr>
              <a:t>表格</a:t>
            </a:r>
            <a:endParaRPr lang="zh-CN" altLang="en-US" sz="2800">
              <a:solidFill>
                <a:schemeClr val="tx1"/>
              </a:solidFill>
              <a:latin typeface="+mn-ea"/>
              <a:ea typeface="+mn-ea"/>
              <a:sym typeface="+mn-ea"/>
            </a:endParaRPr>
          </a:p>
        </p:txBody>
      </p:sp>
      <p:graphicFrame>
        <p:nvGraphicFramePr>
          <p:cNvPr id="5" name="表格 4"/>
          <p:cNvGraphicFramePr/>
          <p:nvPr>
            <p:custDataLst>
              <p:tags r:id="rId2"/>
            </p:custDataLst>
          </p:nvPr>
        </p:nvGraphicFramePr>
        <p:xfrm>
          <a:off x="574040" y="1186815"/>
          <a:ext cx="10952480" cy="4087495"/>
        </p:xfrm>
        <a:graphic>
          <a:graphicData uri="http://schemas.openxmlformats.org/drawingml/2006/table">
            <a:tbl>
              <a:tblPr firstRow="1" bandRow="1">
                <a:tableStyleId>{5C22544A-7EE6-4342-B048-85BDC9FD1C3A}</a:tableStyleId>
              </a:tblPr>
              <a:tblGrid>
                <a:gridCol w="1334770"/>
                <a:gridCol w="9617710"/>
              </a:tblGrid>
              <a:tr h="498475">
                <a:tc>
                  <a:txBody>
                    <a:bodyPr/>
                    <a:lstStyle/>
                    <a:p>
                      <a:pPr algn="ctr">
                        <a:buNone/>
                      </a:pPr>
                      <a:r>
                        <a:rPr lang="zh-CN" altLang="en-US" sz="1400"/>
                        <a:t>步骤</a:t>
                      </a:r>
                      <a:r>
                        <a:rPr lang="en-US" altLang="zh-CN" sz="1400"/>
                        <a:t> </a:t>
                      </a:r>
                      <a:endParaRPr lang="en-US" altLang="zh-CN" sz="1400"/>
                    </a:p>
                  </a:txBody>
                  <a:tcPr anchor="ctr" anchorCtr="0"/>
                </a:tc>
                <a:tc>
                  <a:txBody>
                    <a:bodyPr/>
                    <a:lstStyle/>
                    <a:p>
                      <a:pPr algn="ctr">
                        <a:buNone/>
                      </a:pPr>
                      <a:r>
                        <a:rPr lang="en-US" altLang="zh-CN" sz="1400" dirty="0">
                          <a:sym typeface="+mn-ea"/>
                        </a:rPr>
                        <a:t>Step 2 </a:t>
                      </a:r>
                      <a:r>
                        <a:rPr lang="zh-CN" altLang="en-US" sz="1400" dirty="0">
                          <a:sym typeface="+mn-ea"/>
                        </a:rPr>
                        <a:t>确认需求</a:t>
                      </a:r>
                      <a:endParaRPr lang="zh-CN" altLang="en-US" sz="1400" dirty="0">
                        <a:sym typeface="+mn-ea"/>
                      </a:endParaRPr>
                    </a:p>
                  </a:txBody>
                  <a:tcPr anchor="ctr" anchorCtr="0"/>
                </a:tc>
              </a:tr>
              <a:tr h="448945">
                <a:tc>
                  <a:txBody>
                    <a:bodyPr/>
                    <a:lstStyle/>
                    <a:p>
                      <a:pPr>
                        <a:buNone/>
                      </a:pPr>
                      <a:r>
                        <a:rPr lang="zh-CN" altLang="en-US" sz="1200">
                          <a:latin typeface="微软雅黑" panose="020B0503020204020204" pitchFamily="34" charset="-122"/>
                          <a:ea typeface="微软雅黑" panose="020B0503020204020204" pitchFamily="34" charset="-122"/>
                        </a:rPr>
                        <a:t>做什么</a:t>
                      </a: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确认需求的完整性和正确性（</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给参考、人做审核、数据回流优化，及通过多轮对话提升数据质量，与工业场景的逻辑也较为契合</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buNone/>
                      </a:pP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r>
              <a:tr h="448945">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endPar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448310">
                <a:tc>
                  <a:txBody>
                    <a:bodyPr/>
                    <a:lstStyle/>
                    <a:p>
                      <a:pPr>
                        <a:buNone/>
                      </a:pPr>
                      <a:endParaRPr lang="zh-CN" altLang="en-US" sz="1200">
                        <a:latin typeface="微软雅黑" panose="020B0503020204020204" pitchFamily="34" charset="-122"/>
                        <a:ea typeface="微软雅黑" panose="020B0503020204020204" pitchFamily="34" charset="-122"/>
                      </a:endParaRPr>
                    </a:p>
                  </a:txBody>
                  <a:tcPr anchor="ctr" anchorCtr="0"/>
                </a:tc>
                <a:tc>
                  <a:txBody>
                    <a:bodyPr/>
                    <a:lstStyle/>
                    <a:p>
                      <a:pPr algn="l" fontAlgn="ctr"/>
                      <a:endParaRPr lang="zh-CN" altLang="en-US" sz="1200" dirty="0">
                        <a:sym typeface="+mn-ea"/>
                      </a:endParaRPr>
                    </a:p>
                  </a:txBody>
                  <a:tcPr anchor="ctr" anchorCtr="0"/>
                </a:tc>
              </a:tr>
              <a:tr h="1047115">
                <a:tc>
                  <a:txBody>
                    <a:bodyPr/>
                    <a:lstStyle/>
                    <a:p>
                      <a:pPr>
                        <a:buNone/>
                      </a:pP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lstStyle/>
                    <a:p>
                      <a:pPr indent="0">
                        <a:buFont typeface="+mj-lt"/>
                        <a:buNone/>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747395">
                <a:tc>
                  <a:txBody>
                    <a:bodyPr/>
                    <a:lstStyle/>
                    <a:p>
                      <a:pPr>
                        <a:buNone/>
                      </a:pPr>
                      <a:endParaRPr lang="zh-CN" altLang="en-US" sz="1200">
                        <a:latin typeface="微软雅黑" panose="020B0503020204020204" pitchFamily="34" charset="-122"/>
                        <a:ea typeface="微软雅黑" panose="020B0503020204020204" pitchFamily="34" charset="-122"/>
                        <a:sym typeface="+mn-ea"/>
                      </a:endParaRPr>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bl>
          </a:graphicData>
        </a:graphic>
      </p:graphicFrame>
      <p:graphicFrame>
        <p:nvGraphicFramePr>
          <p:cNvPr id="3" name="对象 2">
            <a:hlinkClick r:id="" action="ppaction://ole?verb="/>
          </p:cNvPr>
          <p:cNvGraphicFramePr>
            <a:graphicFrameLocks noChangeAspect="1"/>
          </p:cNvGraphicFramePr>
          <p:nvPr/>
        </p:nvGraphicFramePr>
        <p:xfrm>
          <a:off x="5610225" y="2952750"/>
          <a:ext cx="971550" cy="952500"/>
        </p:xfrm>
        <a:graphic>
          <a:graphicData uri="http://schemas.openxmlformats.org/presentationml/2006/ole">
            <mc:AlternateContent xmlns:mc="http://schemas.openxmlformats.org/markup-compatibility/2006">
              <mc:Choice xmlns:v="urn:schemas-microsoft-com:vml" Requires="v">
                <p:oleObj spid="_x0000_s2049" name="" showAsIcon="1" r:id="rId3" imgW="971550" imgH="952500" progId="Excel.Sheet.12">
                  <p:embed/>
                </p:oleObj>
              </mc:Choice>
              <mc:Fallback>
                <p:oleObj name="" showAsIcon="1" r:id="rId3" imgW="971550" imgH="952500" progId="Excel.Sheet.12">
                  <p:embed/>
                  <p:pic>
                    <p:nvPicPr>
                      <p:cNvPr id="0" name="图片 2048"/>
                      <p:cNvPicPr/>
                      <p:nvPr/>
                    </p:nvPicPr>
                    <p:blipFill>
                      <a:blip r:embed="rId4"/>
                      <a:stretch>
                        <a:fillRect/>
                      </a:stretch>
                    </p:blipFill>
                    <p:spPr>
                      <a:xfrm>
                        <a:off x="5610225" y="2952750"/>
                        <a:ext cx="971550" cy="952500"/>
                      </a:xfrm>
                      <a:prstGeom prst="rect">
                        <a:avLst/>
                      </a:prstGeom>
                    </p:spPr>
                  </p:pic>
                </p:oleObj>
              </mc:Fallback>
            </mc:AlternateContent>
          </a:graphicData>
        </a:graphic>
      </p:graphicFrame>
    </p:spTree>
    <p:custDataLst>
      <p:tags r:id="rId5"/>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4 </a:t>
            </a:r>
            <a:r>
              <a:rPr lang="zh-CN" altLang="en-US" sz="2800">
                <a:solidFill>
                  <a:schemeClr val="tx1"/>
                </a:solidFill>
                <a:cs typeface="微软雅黑" panose="020B0503020204020204" pitchFamily="34" charset="-122"/>
                <a:sym typeface="+mn-ea"/>
              </a:rPr>
              <a:t>需求分派专业工程师</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323088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3 </a:t>
                      </a:r>
                      <a:r>
                        <a:rPr lang="zh-CN" altLang="en-US" sz="1400" dirty="0">
                          <a:sym typeface="+mn-ea"/>
                        </a:rPr>
                        <a:t>分派专业工程师</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在系统将需求单分配给相应的工程师</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各专业分派责任人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需求单</a:t>
                      </a:r>
                      <a:endParaRPr lang="zh-CN" altLang="en-US" sz="1200" dirty="0"/>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dirty="0">
                          <a:sym typeface="+mn-ea"/>
                        </a:rPr>
                        <a:t>需求单分析对应的各专业工程师</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dirty="0"/>
                        <a:t>1</a:t>
                      </a:r>
                      <a:r>
                        <a:rPr lang="zh-CN" altLang="en-US" sz="1200" dirty="0"/>
                        <a:t>、按研发、工程、采购、质量专业分派专业工程师，并</a:t>
                      </a:r>
                      <a:r>
                        <a:rPr lang="en-US" altLang="zh-CN" sz="1200" dirty="0"/>
                        <a:t>CC</a:t>
                      </a:r>
                      <a:r>
                        <a:rPr lang="zh-CN" altLang="en-US" sz="1200" dirty="0"/>
                        <a:t>给研发、工程、采购、质量总监</a:t>
                      </a:r>
                      <a:endParaRPr lang="en-US" altLang="zh-CN" sz="1200" dirty="0"/>
                    </a:p>
                    <a:p>
                      <a:pPr indent="0">
                        <a:buFont typeface="+mj-lt"/>
                        <a:buNone/>
                      </a:pPr>
                      <a:r>
                        <a:rPr lang="en-US" altLang="zh-CN" sz="1200" dirty="0"/>
                        <a:t>2</a:t>
                      </a:r>
                      <a:r>
                        <a:rPr lang="zh-CN" altLang="en-US" sz="1200" dirty="0"/>
                        <a:t>、记录分派意见</a:t>
                      </a:r>
                      <a:endParaRPr lang="en-US" altLang="zh-CN" sz="1200" dirty="0"/>
                    </a:p>
                    <a:p>
                      <a:pPr indent="0">
                        <a:buFont typeface="+mj-lt"/>
                        <a:buNone/>
                      </a:pPr>
                      <a:r>
                        <a:rPr lang="en-US" altLang="zh-CN" sz="1200" dirty="0"/>
                        <a:t>3</a:t>
                      </a:r>
                      <a:r>
                        <a:rPr lang="zh-CN" altLang="en-US" sz="1200" dirty="0"/>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需求分派</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，报告草稿、报告提交、报告审核、报告驳回、更新报价、需求开发）</a:t>
                      </a:r>
                      <a:endParaRPr lang="en-US" altLang="zh-CN" sz="1200" dirty="0"/>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1</a:t>
                      </a:r>
                      <a:r>
                        <a:rPr lang="zh-CN" altLang="en-US" sz="1200" dirty="0"/>
                        <a:t>、集成员工主数据，输入员工工号</a:t>
                      </a:r>
                      <a:r>
                        <a:rPr lang="en-US" altLang="zh-CN" sz="1200" dirty="0"/>
                        <a:t>/</a:t>
                      </a:r>
                      <a:r>
                        <a:rPr lang="zh-CN" altLang="en-US" sz="1200" dirty="0"/>
                        <a:t>姓名</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2</a:t>
                      </a:r>
                      <a:r>
                        <a:rPr lang="zh-CN" altLang="en-US" sz="1200" dirty="0"/>
                        <a:t>、研发、工程、采购、质量经理在</a:t>
                      </a:r>
                      <a:r>
                        <a:rPr lang="en-US" altLang="zh-CN" sz="1200" dirty="0"/>
                        <a:t>NPI</a:t>
                      </a:r>
                      <a:r>
                        <a:rPr lang="zh-CN" altLang="en-US" sz="1200" dirty="0"/>
                        <a:t>指派各专业对应的工程师（支持指派多个工程师，一个专业不止一个工程师），并</a:t>
                      </a:r>
                      <a:r>
                        <a:rPr lang="en-US" altLang="zh-CN" sz="1200" dirty="0"/>
                        <a:t>CC</a:t>
                      </a:r>
                      <a:r>
                        <a:rPr lang="zh-CN" altLang="en-US" sz="1200" dirty="0"/>
                        <a:t>给研发、工程、采购、质量总监</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3</a:t>
                      </a:r>
                      <a:r>
                        <a:rPr lang="zh-CN" altLang="en-US" sz="1200" dirty="0"/>
                        <a:t>、需求单分派时调用国光系统中维护各</a:t>
                      </a:r>
                      <a:r>
                        <a:rPr lang="en-US" altLang="zh-CN" sz="1200" dirty="0"/>
                        <a:t>BU</a:t>
                      </a:r>
                      <a:r>
                        <a:rPr lang="zh-CN" altLang="en-US" sz="1200" dirty="0"/>
                        <a:t>的各专业分派责任人（研发、工程、采购、质量经理）人员矩阵表，需求流程到各专业分派责任人处理</a:t>
                      </a:r>
                      <a:endParaRPr lang="zh-CN" altLang="en-US" sz="1200" dirty="0"/>
                    </a:p>
                  </a:txBody>
                  <a:tcPr/>
                </a:tc>
              </a:tr>
            </a:tbl>
          </a:graphicData>
        </a:graphic>
      </p:graphicFrame>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5 </a:t>
            </a:r>
            <a:r>
              <a:rPr lang="zh-CN" altLang="en-US" sz="2800">
                <a:solidFill>
                  <a:schemeClr val="tx1"/>
                </a:solidFill>
                <a:cs typeface="微软雅黑" panose="020B0503020204020204" pitchFamily="34" charset="-122"/>
                <a:sym typeface="+mn-ea"/>
              </a:rPr>
              <a:t>专业可行性分析</a:t>
            </a:r>
            <a:r>
              <a:rPr lang="en-US" altLang="zh-CN" sz="2800">
                <a:solidFill>
                  <a:schemeClr val="tx1"/>
                </a:solidFill>
                <a:cs typeface="微软雅黑" panose="020B0503020204020204" pitchFamily="34" charset="-122"/>
                <a:sym typeface="+mn-ea"/>
              </a:rPr>
              <a:t>-</a:t>
            </a:r>
            <a:r>
              <a:rPr lang="zh-CN" altLang="en-US" sz="2800">
                <a:solidFill>
                  <a:schemeClr val="tx1"/>
                </a:solidFill>
                <a:cs typeface="微软雅黑" panose="020B0503020204020204" pitchFamily="34" charset="-122"/>
                <a:sym typeface="+mn-ea"/>
              </a:rPr>
              <a:t>对应步骤</a:t>
            </a:r>
            <a:r>
              <a:rPr lang="en-US" altLang="zh-CN" sz="2800">
                <a:solidFill>
                  <a:schemeClr val="tx1"/>
                </a:solidFill>
                <a:cs typeface="微软雅黑" panose="020B0503020204020204" pitchFamily="34" charset="-122"/>
                <a:sym typeface="+mn-ea"/>
              </a:rPr>
              <a:t>4</a:t>
            </a:r>
            <a:endParaRPr lang="en-US" altLang="zh-CN"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505968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4 </a:t>
                      </a:r>
                      <a:r>
                        <a:rPr lang="zh-CN" altLang="en-US" sz="1400" dirty="0">
                          <a:sym typeface="+mn-ea"/>
                        </a:rPr>
                        <a:t>专业可行性分析</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组织研发成员输出各专业</a:t>
                      </a:r>
                      <a:r>
                        <a:rPr lang="zh-CN" altLang="en-US" sz="1200" kern="1200" dirty="0">
                          <a:solidFill>
                            <a:schemeClr val="dk1"/>
                          </a:solidFill>
                          <a:latin typeface="+mn-lt"/>
                          <a:ea typeface="+mn-ea"/>
                          <a:cs typeface="+mn-cs"/>
                          <a:sym typeface="Arial" panose="020B0604020202020204"/>
                        </a:rPr>
                        <a:t>报价可行性分析报告表</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给参考、人做审核、数据回流优化，及通过多轮对话提升数据质量，与工业场景的逻辑也较为契合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各专业工程师</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需求单</a:t>
                      </a:r>
                      <a:endParaRPr lang="zh-CN" altLang="en-US" sz="1200" dirty="0"/>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各专业报价可行性分析报告表</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、记录各专业分析结论</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、按版本和专业（</a:t>
                      </a:r>
                      <a:r>
                        <a:rPr lang="zh-CN" altLang="en-US" sz="1200" dirty="0"/>
                        <a:t>研发、工程、采购、质量</a:t>
                      </a:r>
                      <a:r>
                        <a:rPr lang="zh-CN" altLang="en-US" sz="1200" kern="1200" dirty="0">
                          <a:solidFill>
                            <a:schemeClr val="dk1"/>
                          </a:solidFill>
                          <a:latin typeface="+mn-lt"/>
                          <a:ea typeface="+mn-ea"/>
                          <a:cs typeface="+mn-cs"/>
                          <a:sym typeface="Arial" panose="020B0604020202020204"/>
                        </a:rPr>
                        <a:t>）管理可行性分析报告（附件管理），并可以对附件进行备注录入</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3</a:t>
                      </a:r>
                      <a:r>
                        <a:rPr lang="zh-CN" altLang="en-US" sz="1200" kern="1200" dirty="0">
                          <a:solidFill>
                            <a:schemeClr val="dk1"/>
                          </a:solidFill>
                          <a:latin typeface="+mn-lt"/>
                          <a:ea typeface="+mn-ea"/>
                          <a:cs typeface="+mn-cs"/>
                          <a:sym typeface="Arial" panose="020B0604020202020204"/>
                        </a:rPr>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需求分派</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报告草稿</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、报告提交、报告审核、报告驳回、更新报价、需求开发）</a:t>
                      </a:r>
                      <a:endParaRPr lang="zh-CN" altLang="en-US"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1</a:t>
                      </a:r>
                      <a:r>
                        <a:rPr lang="zh-CN" altLang="en-US" sz="1200" dirty="0"/>
                        <a:t>、分专业和版本管理可行性分析报告，仅该专业工程师和专业审核责任人有权限读、写</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研发专业初始的文件名：</a:t>
                      </a:r>
                      <a:r>
                        <a:rPr lang="en-US" altLang="zh-CN" sz="1200" dirty="0"/>
                        <a:t>XXX</a:t>
                      </a:r>
                      <a:r>
                        <a:rPr lang="zh-CN" altLang="en-US" sz="1200" dirty="0"/>
                        <a:t>报价可行性分析报告</a:t>
                      </a:r>
                      <a:r>
                        <a:rPr lang="en-US" altLang="zh-CN" sz="1200" dirty="0"/>
                        <a:t>_</a:t>
                      </a:r>
                      <a:r>
                        <a:rPr lang="zh-CN" altLang="en-US" sz="1200" dirty="0"/>
                        <a:t>研发</a:t>
                      </a:r>
                      <a:r>
                        <a:rPr lang="en-US" altLang="zh-CN" sz="1200" dirty="0"/>
                        <a:t>_1_V1_20241016, XXX</a:t>
                      </a:r>
                      <a:r>
                        <a:rPr lang="zh-CN" altLang="en-US" sz="1200" dirty="0"/>
                        <a:t>报价可行性分析报告</a:t>
                      </a:r>
                      <a:r>
                        <a:rPr lang="en-US" altLang="zh-CN" sz="1200" dirty="0"/>
                        <a:t>_</a:t>
                      </a:r>
                      <a:r>
                        <a:rPr lang="zh-CN" altLang="en-US" sz="1200" dirty="0"/>
                        <a:t>研发</a:t>
                      </a:r>
                      <a:r>
                        <a:rPr lang="en-US" altLang="zh-CN" sz="1200" dirty="0"/>
                        <a:t>_2_V1_20241016</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（多人协同）</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研发专业更新后文件名：</a:t>
                      </a:r>
                      <a:r>
                        <a:rPr lang="en-US" altLang="zh-CN" sz="1200" dirty="0"/>
                        <a:t>XXX</a:t>
                      </a:r>
                      <a:r>
                        <a:rPr lang="zh-CN" altLang="en-US" sz="1200" dirty="0"/>
                        <a:t>报价可行性分析报告</a:t>
                      </a:r>
                      <a:r>
                        <a:rPr lang="en-US" altLang="zh-CN" sz="1200" dirty="0"/>
                        <a:t>_</a:t>
                      </a:r>
                      <a:r>
                        <a:rPr lang="zh-CN" altLang="en-US" sz="1200" dirty="0"/>
                        <a:t>研发</a:t>
                      </a:r>
                      <a:r>
                        <a:rPr lang="en-US" altLang="zh-CN" sz="1200" dirty="0"/>
                        <a:t>_1_V2_20241019, XXX</a:t>
                      </a:r>
                      <a:r>
                        <a:rPr lang="zh-CN" altLang="en-US" sz="1200" dirty="0"/>
                        <a:t>报价可行性分析报告</a:t>
                      </a:r>
                      <a:r>
                        <a:rPr lang="en-US" altLang="zh-CN" sz="1200" dirty="0"/>
                        <a:t>_</a:t>
                      </a:r>
                      <a:r>
                        <a:rPr lang="zh-CN" altLang="en-US" sz="1200" dirty="0"/>
                        <a:t>研发</a:t>
                      </a:r>
                      <a:r>
                        <a:rPr lang="en-US" altLang="zh-CN" sz="1200" dirty="0"/>
                        <a:t>_2_V1_20241016</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（多人协同）</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工程专业初始的文件名：</a:t>
                      </a:r>
                      <a:r>
                        <a:rPr lang="en-US" altLang="zh-CN" sz="1200" dirty="0"/>
                        <a:t>XXX</a:t>
                      </a:r>
                      <a:r>
                        <a:rPr lang="zh-CN" altLang="en-US" sz="1200" dirty="0"/>
                        <a:t>报价可行性分析报告</a:t>
                      </a:r>
                      <a:r>
                        <a:rPr lang="en-US" altLang="zh-CN" sz="1200" dirty="0"/>
                        <a:t>_</a:t>
                      </a:r>
                      <a:r>
                        <a:rPr lang="zh-CN" altLang="en-US" sz="1200" dirty="0"/>
                        <a:t>工程</a:t>
                      </a:r>
                      <a:r>
                        <a:rPr lang="en-US" altLang="zh-CN" sz="1200" dirty="0"/>
                        <a:t>_V1_20241016</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工程专业更新后文件名：</a:t>
                      </a:r>
                      <a:r>
                        <a:rPr lang="en-US" altLang="zh-CN" sz="1200" dirty="0"/>
                        <a:t>XXX</a:t>
                      </a:r>
                      <a:r>
                        <a:rPr lang="zh-CN" altLang="en-US" sz="1200" dirty="0"/>
                        <a:t>报价可行性分析报告</a:t>
                      </a:r>
                      <a:r>
                        <a:rPr lang="en-US" altLang="zh-CN" sz="1200" dirty="0"/>
                        <a:t>_</a:t>
                      </a:r>
                      <a:r>
                        <a:rPr lang="zh-CN" altLang="en-US" sz="1200" dirty="0"/>
                        <a:t>工程</a:t>
                      </a:r>
                      <a:r>
                        <a:rPr lang="en-US" altLang="zh-CN" sz="1200" dirty="0"/>
                        <a:t>_V2_20241019</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采购专业初始的文件名：</a:t>
                      </a:r>
                      <a:r>
                        <a:rPr lang="en-US" altLang="zh-CN" sz="1200" dirty="0"/>
                        <a:t>XXX</a:t>
                      </a:r>
                      <a:r>
                        <a:rPr lang="zh-CN" altLang="en-US" sz="1200" dirty="0"/>
                        <a:t>报价可行性分析报告</a:t>
                      </a:r>
                      <a:r>
                        <a:rPr lang="en-US" altLang="zh-CN" sz="1200" dirty="0"/>
                        <a:t>_</a:t>
                      </a:r>
                      <a:r>
                        <a:rPr lang="zh-CN" altLang="en-US" sz="1200" dirty="0"/>
                        <a:t>采购</a:t>
                      </a:r>
                      <a:r>
                        <a:rPr lang="en-US" altLang="zh-CN" sz="1200" dirty="0"/>
                        <a:t>_V1_20241016</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采购专业更新后文件名：</a:t>
                      </a:r>
                      <a:r>
                        <a:rPr lang="en-US" altLang="zh-CN" sz="1200" dirty="0"/>
                        <a:t>XXX</a:t>
                      </a:r>
                      <a:r>
                        <a:rPr lang="zh-CN" altLang="en-US" sz="1200" dirty="0"/>
                        <a:t>报价可行性分析报告</a:t>
                      </a:r>
                      <a:r>
                        <a:rPr lang="en-US" altLang="zh-CN" sz="1200" dirty="0"/>
                        <a:t>_</a:t>
                      </a:r>
                      <a:r>
                        <a:rPr lang="zh-CN" altLang="en-US" sz="1200" dirty="0"/>
                        <a:t>采购</a:t>
                      </a:r>
                      <a:r>
                        <a:rPr lang="en-US" altLang="zh-CN" sz="1200" dirty="0"/>
                        <a:t>_V2_20241019</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质量专业初始的文件名：</a:t>
                      </a:r>
                      <a:r>
                        <a:rPr lang="en-US" altLang="zh-CN" sz="1200" dirty="0"/>
                        <a:t>XXX</a:t>
                      </a:r>
                      <a:r>
                        <a:rPr lang="zh-CN" altLang="en-US" sz="1200" dirty="0"/>
                        <a:t>报价可行性分析报告</a:t>
                      </a:r>
                      <a:r>
                        <a:rPr lang="en-US" altLang="zh-CN" sz="1200" dirty="0"/>
                        <a:t>_</a:t>
                      </a:r>
                      <a:r>
                        <a:rPr lang="zh-CN" altLang="en-US" sz="1200" dirty="0"/>
                        <a:t>质量</a:t>
                      </a:r>
                      <a:r>
                        <a:rPr lang="en-US" altLang="zh-CN" sz="1200" dirty="0"/>
                        <a:t>_V1_20241016</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质量专业更新后文件名：</a:t>
                      </a:r>
                      <a:r>
                        <a:rPr lang="en-US" altLang="zh-CN" sz="1200" dirty="0"/>
                        <a:t>XXX</a:t>
                      </a:r>
                      <a:r>
                        <a:rPr lang="zh-CN" altLang="en-US" sz="1200" dirty="0"/>
                        <a:t>报价可行性分析报告</a:t>
                      </a:r>
                      <a:r>
                        <a:rPr lang="en-US" altLang="zh-CN" sz="1200" dirty="0"/>
                        <a:t>_</a:t>
                      </a:r>
                      <a:r>
                        <a:rPr lang="zh-CN" altLang="en-US" sz="1200" dirty="0"/>
                        <a:t>质量</a:t>
                      </a:r>
                      <a:r>
                        <a:rPr lang="en-US" altLang="zh-CN" sz="1200" dirty="0"/>
                        <a:t>_V2_20241019</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2</a:t>
                      </a:r>
                      <a:r>
                        <a:rPr lang="zh-CN" altLang="en-US" sz="1200" dirty="0"/>
                        <a:t>、如指定的工程师不对可以返回分派人进行重新指定</a:t>
                      </a:r>
                      <a:endParaRPr lang="en-US" altLang="zh-CN" sz="1200" dirty="0"/>
                    </a:p>
                  </a:txBody>
                  <a:tcPr/>
                </a:tc>
              </a:tr>
            </a:tbl>
          </a:graphicData>
        </a:graphic>
      </p:graphicFrame>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0860" y="386715"/>
            <a:ext cx="9387840" cy="480695"/>
          </a:xfrm>
        </p:spPr>
        <p:txBody>
          <a:bodyPr wrap="square"/>
          <a:lstStyle/>
          <a:p>
            <a:pPr algn="l" defTabSz="685800">
              <a:lnSpc>
                <a:spcPct val="90000"/>
              </a:lnSpc>
              <a:buClrTx/>
              <a:buSzTx/>
              <a:buFontTx/>
            </a:pPr>
            <a:r>
              <a:rPr lang="en-US" altLang="zh-CN" sz="2800">
                <a:solidFill>
                  <a:srgbClr val="C00000"/>
                </a:solidFill>
                <a:cs typeface="微软雅黑" panose="020B0503020204020204" pitchFamily="34" charset="-122"/>
                <a:sym typeface="+mn-ea"/>
              </a:rPr>
              <a:t>5-1 </a:t>
            </a:r>
            <a:r>
              <a:rPr lang="zh-CN" altLang="en-US" sz="2800">
                <a:solidFill>
                  <a:srgbClr val="C00000"/>
                </a:solidFill>
                <a:cs typeface="微软雅黑" panose="020B0503020204020204" pitchFamily="34" charset="-122"/>
                <a:sym typeface="+mn-ea"/>
              </a:rPr>
              <a:t>专业可行性分析</a:t>
            </a:r>
            <a:r>
              <a:rPr lang="en-US" altLang="zh-CN" sz="2800">
                <a:solidFill>
                  <a:srgbClr val="C00000"/>
                </a:solidFill>
                <a:cs typeface="微软雅黑" panose="020B0503020204020204" pitchFamily="34" charset="-122"/>
                <a:sym typeface="+mn-ea"/>
              </a:rPr>
              <a:t>-</a:t>
            </a:r>
            <a:r>
              <a:rPr lang="zh-CN" altLang="en-US" sz="2800" kern="0">
                <a:solidFill>
                  <a:srgbClr val="C00000"/>
                </a:solidFill>
                <a:cs typeface="微软雅黑" panose="020B0503020204020204" pitchFamily="34" charset="-122"/>
                <a:sym typeface="Arial" panose="020B0604020202020204"/>
              </a:rPr>
              <a:t>图纸解析与设计工艺转化</a:t>
            </a:r>
            <a:endParaRPr lang="zh-CN" altLang="en-US" sz="2800" kern="0">
              <a:solidFill>
                <a:srgbClr val="C00000"/>
              </a:solidFill>
              <a:cs typeface="微软雅黑" panose="020B0503020204020204" pitchFamily="34" charset="-122"/>
              <a:sym typeface="Arial" panose="020B0604020202020204"/>
            </a:endParaRPr>
          </a:p>
        </p:txBody>
      </p:sp>
      <p:graphicFrame>
        <p:nvGraphicFramePr>
          <p:cNvPr id="3" name="表格 2"/>
          <p:cNvGraphicFramePr/>
          <p:nvPr/>
        </p:nvGraphicFramePr>
        <p:xfrm>
          <a:off x="638175" y="1016000"/>
          <a:ext cx="10654030" cy="5444490"/>
        </p:xfrm>
        <a:graphic>
          <a:graphicData uri="http://schemas.openxmlformats.org/drawingml/2006/table">
            <a:tbl>
              <a:tblPr/>
              <a:tblGrid>
                <a:gridCol w="3342640"/>
                <a:gridCol w="2235200"/>
                <a:gridCol w="2194560"/>
                <a:gridCol w="2881630"/>
              </a:tblGrid>
              <a:tr h="151765">
                <a:tc gridSpan="4">
                  <a:txBody>
                    <a:bodyPr/>
                    <a:p>
                      <a:pPr algn="ctr" fontAlgn="ctr"/>
                      <a:r>
                        <a:rPr lang="zh-CN" altLang="en-US" sz="1000" b="1" i="0">
                          <a:solidFill>
                            <a:srgbClr val="0F1115"/>
                          </a:solidFill>
                          <a:latin typeface="宋体" panose="02010600030101010101" pitchFamily="2" charset="-122"/>
                          <a:ea typeface="宋体" panose="02010600030101010101" pitchFamily="2" charset="-122"/>
                        </a:rPr>
                        <a:t>一、图纸解析报告</a:t>
                      </a:r>
                      <a:endParaRPr lang="zh-CN" altLang="en-US" sz="10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9065">
                <a:tc>
                  <a:txBody>
                    <a:bodyPr/>
                    <a:p>
                      <a:pPr algn="ctr" fontAlgn="ctr"/>
                      <a:r>
                        <a:rPr lang="zh-CN" altLang="en-US" sz="700" b="1" i="0">
                          <a:solidFill>
                            <a:srgbClr val="0F1115"/>
                          </a:solidFill>
                          <a:latin typeface="宋体" panose="02010600030101010101" pitchFamily="2" charset="-122"/>
                          <a:ea typeface="宋体" panose="02010600030101010101" pitchFamily="2" charset="-122"/>
                        </a:rPr>
                        <a:t>项目</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gridSpan="3">
                  <a:txBody>
                    <a:bodyPr/>
                    <a:p>
                      <a:pPr algn="ctr" fontAlgn="ctr"/>
                      <a:r>
                        <a:rPr lang="zh-CN" altLang="en-US" sz="700" b="1" i="0">
                          <a:solidFill>
                            <a:srgbClr val="0F1115"/>
                          </a:solidFill>
                          <a:latin typeface="宋体" panose="02010600030101010101" pitchFamily="2" charset="-122"/>
                          <a:ea typeface="宋体" panose="02010600030101010101" pitchFamily="2" charset="-122"/>
                        </a:rPr>
                        <a:t>内容</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7480">
                <a:tc>
                  <a:txBody>
                    <a:bodyPr/>
                    <a:p>
                      <a:pPr algn="l" fontAlgn="ctr"/>
                      <a:r>
                        <a:rPr lang="zh-CN" altLang="en-US" sz="700" b="0" i="0">
                          <a:solidFill>
                            <a:srgbClr val="0F1115"/>
                          </a:solidFill>
                          <a:latin typeface="宋体" panose="02010600030101010101" pitchFamily="2" charset="-122"/>
                          <a:ea typeface="宋体" panose="02010600030101010101" pitchFamily="2" charset="-122"/>
                        </a:rPr>
                        <a:t>图纸解析报告编号</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gridSpan="3">
                  <a:txBody>
                    <a:bodyPr/>
                    <a:p>
                      <a:pPr algn="l" fontAlgn="ctr"/>
                      <a:r>
                        <a:rPr lang="en-US" altLang="zh-CN" sz="700" b="0" i="0">
                          <a:solidFill>
                            <a:srgbClr val="0F1115"/>
                          </a:solidFill>
                          <a:latin typeface="Segoe UI" panose="020B0502040204020203"/>
                          <a:ea typeface="Segoe UI" panose="020B0502040204020203"/>
                        </a:rPr>
                        <a:t>PR-ESC-20260625-001</a:t>
                      </a:r>
                      <a:endParaRPr lang="en-US" altLang="zh-CN" sz="700" b="0" i="0">
                        <a:solidFill>
                          <a:srgbClr val="0F1115"/>
                        </a:solidFill>
                        <a:latin typeface="Segoe UI" panose="020B0502040204020203"/>
                        <a:ea typeface="Segoe UI" panose="020B0502040204020203"/>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8115">
                <a:tc>
                  <a:txBody>
                    <a:bodyPr/>
                    <a:p>
                      <a:pPr algn="l" fontAlgn="ctr"/>
                      <a:r>
                        <a:rPr lang="zh-CN" altLang="en-US" sz="700" b="0" i="0">
                          <a:solidFill>
                            <a:srgbClr val="0F1115"/>
                          </a:solidFill>
                          <a:latin typeface="宋体" panose="02010600030101010101" pitchFamily="2" charset="-122"/>
                          <a:ea typeface="宋体" panose="02010600030101010101" pitchFamily="2" charset="-122"/>
                        </a:rPr>
                        <a:t>对应需求单号</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gridSpan="3">
                  <a:txBody>
                    <a:bodyPr/>
                    <a:p>
                      <a:pPr algn="l" fontAlgn="ctr"/>
                      <a:r>
                        <a:rPr lang="en-US" altLang="zh-CN" sz="700" b="0" i="0">
                          <a:solidFill>
                            <a:srgbClr val="0F1115"/>
                          </a:solidFill>
                          <a:latin typeface="Segoe UI" panose="020B0502040204020203"/>
                          <a:ea typeface="Segoe UI" panose="020B0502040204020203"/>
                        </a:rPr>
                        <a:t>REQ01234520260625001</a:t>
                      </a:r>
                      <a:endParaRPr lang="en-US" altLang="zh-CN" sz="700" b="0" i="0">
                        <a:solidFill>
                          <a:srgbClr val="0F1115"/>
                        </a:solidFill>
                        <a:latin typeface="Segoe UI" panose="020B0502040204020203"/>
                        <a:ea typeface="Segoe UI" panose="020B0502040204020203"/>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8115">
                <a:tc>
                  <a:txBody>
                    <a:bodyPr/>
                    <a:p>
                      <a:pPr algn="l" fontAlgn="ctr"/>
                      <a:r>
                        <a:rPr lang="zh-CN" altLang="en-US" sz="700" b="0" i="0">
                          <a:solidFill>
                            <a:srgbClr val="0F1115"/>
                          </a:solidFill>
                          <a:latin typeface="宋体" panose="02010600030101010101" pitchFamily="2" charset="-122"/>
                          <a:ea typeface="宋体" panose="02010600030101010101" pitchFamily="2" charset="-122"/>
                        </a:rPr>
                        <a:t>解析人</a:t>
                      </a:r>
                      <a:r>
                        <a:rPr lang="en-US" altLang="zh-CN" sz="700" b="0" i="0">
                          <a:solidFill>
                            <a:srgbClr val="0F1115"/>
                          </a:solidFill>
                          <a:latin typeface="Segoe UI" panose="020B0502040204020203"/>
                          <a:ea typeface="Segoe UI" panose="020B0502040204020203"/>
                        </a:rPr>
                        <a:t>/</a:t>
                      </a:r>
                      <a:r>
                        <a:rPr lang="zh-CN" altLang="en-US" sz="700" b="0" i="0">
                          <a:solidFill>
                            <a:srgbClr val="0F1115"/>
                          </a:solidFill>
                          <a:latin typeface="宋体" panose="02010600030101010101" pitchFamily="2" charset="-122"/>
                          <a:ea typeface="宋体" panose="02010600030101010101" pitchFamily="2" charset="-122"/>
                        </a:rPr>
                        <a:t>日期</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gridSpan="3">
                  <a:txBody>
                    <a:bodyPr/>
                    <a:p>
                      <a:pPr algn="l" fontAlgn="ctr"/>
                      <a:r>
                        <a:rPr lang="zh-CN" altLang="en-US" sz="700" b="0" i="0">
                          <a:solidFill>
                            <a:srgbClr val="0F1115"/>
                          </a:solidFill>
                          <a:latin typeface="宋体" panose="02010600030101010101" pitchFamily="2" charset="-122"/>
                          <a:ea typeface="宋体" panose="02010600030101010101" pitchFamily="2" charset="-122"/>
                        </a:rPr>
                        <a:t>工艺工程师：张工 </a:t>
                      </a:r>
                      <a:r>
                        <a:rPr lang="en-US" altLang="zh-CN" sz="700" b="0" i="0">
                          <a:solidFill>
                            <a:srgbClr val="0F1115"/>
                          </a:solidFill>
                          <a:latin typeface="Segoe UI" panose="020B0502040204020203"/>
                          <a:ea typeface="Segoe UI" panose="020B0502040204020203"/>
                        </a:rPr>
                        <a:t>/ 2026-06-25</a:t>
                      </a:r>
                      <a:endParaRPr lang="en-US" altLang="zh-CN" sz="700" b="0" i="0">
                        <a:solidFill>
                          <a:srgbClr val="0F1115"/>
                        </a:solidFill>
                        <a:latin typeface="Segoe UI" panose="020B0502040204020203"/>
                        <a:ea typeface="Segoe UI" panose="020B0502040204020203"/>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9700">
                <a:tc>
                  <a:txBody>
                    <a:bodyPr/>
                    <a:p>
                      <a:pPr algn="l" fontAlgn="ctr"/>
                      <a:r>
                        <a:rPr lang="zh-CN" altLang="en-US" sz="700" b="0" i="0">
                          <a:solidFill>
                            <a:srgbClr val="0F1115"/>
                          </a:solidFill>
                          <a:latin typeface="宋体" panose="02010600030101010101" pitchFamily="2" charset="-122"/>
                          <a:ea typeface="宋体" panose="02010600030101010101" pitchFamily="2" charset="-122"/>
                        </a:rPr>
                        <a:t>客户代号</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gridSpan="3">
                  <a:txBody>
                    <a:bodyPr/>
                    <a:p>
                      <a:pPr algn="l" fontAlgn="ctr"/>
                      <a:r>
                        <a:rPr lang="zh-CN" altLang="en-US" sz="700" b="0" i="0">
                          <a:solidFill>
                            <a:srgbClr val="0F1115"/>
                          </a:solidFill>
                          <a:latin typeface="宋体" panose="02010600030101010101" pitchFamily="2" charset="-122"/>
                          <a:ea typeface="宋体" panose="02010600030101010101" pitchFamily="2" charset="-122"/>
                        </a:rPr>
                        <a:t>浙江富春江功率半导体科技有限公司</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7480">
                <a:tc>
                  <a:txBody>
                    <a:bodyPr/>
                    <a:p>
                      <a:pPr algn="l" fontAlgn="ctr"/>
                      <a:r>
                        <a:rPr lang="zh-CN" altLang="en-US" sz="700" b="0" i="0">
                          <a:solidFill>
                            <a:srgbClr val="0F1115"/>
                          </a:solidFill>
                          <a:latin typeface="宋体" panose="02010600030101010101" pitchFamily="2" charset="-122"/>
                          <a:ea typeface="宋体" panose="02010600030101010101" pitchFamily="2" charset="-122"/>
                        </a:rPr>
                        <a:t>产品名称</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gridSpan="3">
                  <a:txBody>
                    <a:bodyPr/>
                    <a:p>
                      <a:pPr algn="l" fontAlgn="ctr"/>
                      <a:r>
                        <a:rPr lang="en-US" altLang="zh-CN" sz="700" b="0" i="0">
                          <a:solidFill>
                            <a:srgbClr val="0F1115"/>
                          </a:solidFill>
                          <a:latin typeface="Segoe UI" panose="020B0502040204020203"/>
                          <a:ea typeface="Segoe UI" panose="020B0502040204020203"/>
                        </a:rPr>
                        <a:t>12</a:t>
                      </a:r>
                      <a:r>
                        <a:rPr lang="zh-CN" altLang="en-US" sz="700" b="0" i="0">
                          <a:solidFill>
                            <a:srgbClr val="0F1115"/>
                          </a:solidFill>
                          <a:latin typeface="宋体" panose="02010600030101010101" pitchFamily="2" charset="-122"/>
                          <a:ea typeface="宋体" panose="02010600030101010101" pitchFamily="2" charset="-122"/>
                        </a:rPr>
                        <a:t>英寸氮化铝静电吸盘</a:t>
                      </a:r>
                      <a:r>
                        <a:rPr lang="zh-CN" altLang="en-US" sz="700" b="0" i="0">
                          <a:solidFill>
                            <a:srgbClr val="0F1115"/>
                          </a:solidFill>
                          <a:latin typeface="Segoe UI" panose="020B0502040204020203"/>
                          <a:ea typeface="Segoe UI" panose="020B0502040204020203"/>
                        </a:rPr>
                        <a:t> </a:t>
                      </a:r>
                      <a:r>
                        <a:rPr lang="en-US" altLang="zh-CN" sz="700" b="0" i="0">
                          <a:solidFill>
                            <a:srgbClr val="0F1115"/>
                          </a:solidFill>
                          <a:latin typeface="Segoe UI" panose="020B0502040204020203"/>
                          <a:ea typeface="Segoe UI" panose="020B0502040204020203"/>
                        </a:rPr>
                        <a:t>(ESC)</a:t>
                      </a:r>
                      <a:endParaRPr lang="en-US" altLang="zh-CN" sz="700" b="0" i="0">
                        <a:solidFill>
                          <a:srgbClr val="0F1115"/>
                        </a:solidFill>
                        <a:latin typeface="Segoe UI" panose="020B0502040204020203"/>
                        <a:ea typeface="Segoe UI" panose="020B0502040204020203"/>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7480">
                <a:tc>
                  <a:txBody>
                    <a:bodyPr/>
                    <a:p>
                      <a:pPr algn="l" fontAlgn="ctr"/>
                      <a:r>
                        <a:rPr lang="en-US" altLang="zh-CN" sz="700" b="1" i="0">
                          <a:solidFill>
                            <a:srgbClr val="0F1115"/>
                          </a:solidFill>
                          <a:latin typeface="Segoe UI" panose="020B0502040204020203"/>
                          <a:ea typeface="Segoe UI" panose="020B0502040204020203"/>
                        </a:rPr>
                        <a:t>1. </a:t>
                      </a:r>
                      <a:r>
                        <a:rPr lang="zh-CN" altLang="en-US" sz="700" b="1" i="0">
                          <a:solidFill>
                            <a:srgbClr val="0F1115"/>
                          </a:solidFill>
                          <a:latin typeface="宋体" panose="02010600030101010101" pitchFamily="2" charset="-122"/>
                          <a:ea typeface="宋体" panose="02010600030101010101" pitchFamily="2" charset="-122"/>
                        </a:rPr>
                        <a:t>图纸概览与完整性检查</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endParaRPr sz="700" b="1" i="0">
                        <a:solidFill>
                          <a:srgbClr val="0F1115"/>
                        </a:solidFill>
                        <a:latin typeface="Segoe UI" panose="020B0502040204020203"/>
                        <a:ea typeface="Segoe UI" panose="020B0502040204020203"/>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9700">
                <a:tc>
                  <a:txBody>
                    <a:bodyPr/>
                    <a:p>
                      <a:pPr algn="l" fontAlgn="ctr"/>
                      <a:r>
                        <a:rPr lang="en-US" altLang="zh-CN" sz="700" b="1" i="0">
                          <a:solidFill>
                            <a:srgbClr val="000000"/>
                          </a:solidFill>
                          <a:latin typeface="宋体" panose="02010600030101010101" pitchFamily="2" charset="-122"/>
                          <a:ea typeface="宋体" panose="02010600030101010101" pitchFamily="2" charset="-122"/>
                        </a:rPr>
                        <a:t>2.</a:t>
                      </a:r>
                      <a:r>
                        <a:rPr lang="zh-CN" altLang="en-US" sz="700" b="1" i="0">
                          <a:solidFill>
                            <a:srgbClr val="000000"/>
                          </a:solidFill>
                          <a:latin typeface="宋体" panose="02010600030101010101" pitchFamily="2" charset="-122"/>
                          <a:ea typeface="宋体" panose="02010600030101010101" pitchFamily="2" charset="-122"/>
                        </a:rPr>
                        <a:t>关键结构解析</a:t>
                      </a:r>
                      <a:endParaRPr lang="zh-CN" altLang="en-US"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endParaRPr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7795">
                <a:tc>
                  <a:txBody>
                    <a:bodyPr/>
                    <a:p>
                      <a:pPr algn="l" fontAlgn="ctr"/>
                      <a:r>
                        <a:rPr lang="en-US" altLang="zh-CN" sz="700" b="1" i="0">
                          <a:solidFill>
                            <a:srgbClr val="000000"/>
                          </a:solidFill>
                          <a:latin typeface="宋体" panose="02010600030101010101" pitchFamily="2" charset="-122"/>
                          <a:ea typeface="宋体" panose="02010600030101010101" pitchFamily="2" charset="-122"/>
                        </a:rPr>
                        <a:t>3.</a:t>
                      </a:r>
                      <a:r>
                        <a:rPr lang="zh-CN" altLang="en-US" sz="700" b="1" i="0">
                          <a:solidFill>
                            <a:srgbClr val="000000"/>
                          </a:solidFill>
                          <a:latin typeface="宋体" panose="02010600030101010101" pitchFamily="2" charset="-122"/>
                          <a:ea typeface="宋体" panose="02010600030101010101" pitchFamily="2" charset="-122"/>
                        </a:rPr>
                        <a:t>设计意图与工艺难点解析</a:t>
                      </a:r>
                      <a:endParaRPr lang="zh-CN" altLang="en-US"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endParaRPr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8430">
                <a:tc>
                  <a:txBody>
                    <a:bodyPr/>
                    <a:p>
                      <a:pPr algn="l" fontAlgn="ctr"/>
                      <a:r>
                        <a:rPr lang="en-US" altLang="zh-CN" sz="700" b="1" i="0">
                          <a:solidFill>
                            <a:srgbClr val="000000"/>
                          </a:solidFill>
                          <a:latin typeface="宋体" panose="02010600030101010101" pitchFamily="2" charset="-122"/>
                          <a:ea typeface="宋体" panose="02010600030101010101" pitchFamily="2" charset="-122"/>
                        </a:rPr>
                        <a:t>4.</a:t>
                      </a:r>
                      <a:r>
                        <a:rPr lang="zh-CN" altLang="en-US" sz="700" b="1" i="0">
                          <a:solidFill>
                            <a:srgbClr val="000000"/>
                          </a:solidFill>
                          <a:latin typeface="宋体" panose="02010600030101010101" pitchFamily="2" charset="-122"/>
                          <a:ea typeface="宋体" panose="02010600030101010101" pitchFamily="2" charset="-122"/>
                        </a:rPr>
                        <a:t>初步风险评估</a:t>
                      </a:r>
                      <a:endParaRPr lang="zh-CN" altLang="en-US"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endParaRPr sz="700" b="1"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37795">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1765">
                <a:tc gridSpan="4">
                  <a:txBody>
                    <a:bodyPr/>
                    <a:p>
                      <a:pPr algn="ctr" fontAlgn="ctr"/>
                      <a:r>
                        <a:rPr lang="zh-CN" altLang="en-US" sz="1000" b="1" i="0">
                          <a:solidFill>
                            <a:srgbClr val="0F1115"/>
                          </a:solidFill>
                          <a:latin typeface="宋体" panose="02010600030101010101" pitchFamily="2" charset="-122"/>
                          <a:ea typeface="宋体" panose="02010600030101010101" pitchFamily="2" charset="-122"/>
                        </a:rPr>
                        <a:t>二、关键参数提取表</a:t>
                      </a:r>
                      <a:endParaRPr lang="zh-CN" altLang="en-US" sz="10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9385">
                <a:tc>
                  <a:txBody>
                    <a:bodyPr/>
                    <a:p>
                      <a:pPr algn="l" fontAlgn="ctr"/>
                      <a:r>
                        <a:rPr lang="zh-CN" altLang="en-US" sz="700" b="1" i="0">
                          <a:solidFill>
                            <a:srgbClr val="0F1115"/>
                          </a:solidFill>
                          <a:latin typeface="宋体" panose="02010600030101010101" pitchFamily="2" charset="-122"/>
                          <a:ea typeface="宋体" panose="02010600030101010101" pitchFamily="2" charset="-122"/>
                        </a:rPr>
                        <a:t>参数类别</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l" fontAlgn="ctr"/>
                      <a:r>
                        <a:rPr lang="zh-CN" altLang="en-US" sz="700" b="1" i="0">
                          <a:solidFill>
                            <a:srgbClr val="0F1115"/>
                          </a:solidFill>
                          <a:latin typeface="宋体" panose="02010600030101010101" pitchFamily="2" charset="-122"/>
                          <a:ea typeface="宋体" panose="02010600030101010101" pitchFamily="2" charset="-122"/>
                        </a:rPr>
                        <a:t>参数名称</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l" fontAlgn="ctr"/>
                      <a:r>
                        <a:rPr lang="zh-CN" altLang="en-US" sz="700" b="1" i="0">
                          <a:solidFill>
                            <a:srgbClr val="0F1115"/>
                          </a:solidFill>
                          <a:latin typeface="宋体" panose="02010600030101010101" pitchFamily="2" charset="-122"/>
                          <a:ea typeface="宋体" panose="02010600030101010101" pitchFamily="2" charset="-122"/>
                        </a:rPr>
                        <a:t>图纸标注值</a:t>
                      </a:r>
                      <a:r>
                        <a:rPr lang="en-US" altLang="zh-CN" sz="700" b="1" i="0">
                          <a:solidFill>
                            <a:srgbClr val="0F1115"/>
                          </a:solidFill>
                          <a:latin typeface="Segoe UI" panose="020B0502040204020203"/>
                          <a:ea typeface="Segoe UI" panose="020B0502040204020203"/>
                        </a:rPr>
                        <a:t>/</a:t>
                      </a:r>
                      <a:r>
                        <a:rPr lang="zh-CN" altLang="en-US" sz="700" b="1" i="0">
                          <a:solidFill>
                            <a:srgbClr val="0F1115"/>
                          </a:solidFill>
                          <a:latin typeface="宋体" panose="02010600030101010101" pitchFamily="2" charset="-122"/>
                          <a:ea typeface="宋体" panose="02010600030101010101" pitchFamily="2" charset="-122"/>
                        </a:rPr>
                        <a:t>要求</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l" fontAlgn="ctr"/>
                      <a:r>
                        <a:rPr lang="zh-CN" altLang="en-US" sz="700" b="1" i="0">
                          <a:solidFill>
                            <a:srgbClr val="0F1115"/>
                          </a:solidFill>
                          <a:latin typeface="宋体" panose="02010600030101010101" pitchFamily="2" charset="-122"/>
                          <a:ea typeface="宋体" panose="02010600030101010101" pitchFamily="2" charset="-122"/>
                        </a:rPr>
                        <a:t>工艺转化说明</a:t>
                      </a:r>
                      <a:r>
                        <a:rPr lang="en-US" altLang="zh-CN" sz="700" b="1" i="0">
                          <a:solidFill>
                            <a:srgbClr val="0F1115"/>
                          </a:solidFill>
                          <a:latin typeface="Segoe UI" panose="020B0502040204020203"/>
                          <a:ea typeface="Segoe UI" panose="020B0502040204020203"/>
                        </a:rPr>
                        <a:t>/</a:t>
                      </a:r>
                      <a:r>
                        <a:rPr lang="zh-CN" altLang="en-US" sz="700" b="1" i="0">
                          <a:solidFill>
                            <a:srgbClr val="0F1115"/>
                          </a:solidFill>
                          <a:latin typeface="宋体" panose="02010600030101010101" pitchFamily="2" charset="-122"/>
                          <a:ea typeface="宋体" panose="02010600030101010101" pitchFamily="2" charset="-122"/>
                        </a:rPr>
                        <a:t>内部标准</a:t>
                      </a:r>
                      <a:endParaRPr lang="zh-CN" altLang="en-US" sz="7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137160">
                <a:tc>
                  <a:txBody>
                    <a:bodyPr/>
                    <a:p>
                      <a:pPr algn="l" fontAlgn="ctr"/>
                      <a:r>
                        <a:rPr lang="zh-CN" altLang="en-US" sz="700" b="0" i="0">
                          <a:solidFill>
                            <a:srgbClr val="0F1115"/>
                          </a:solidFill>
                          <a:latin typeface="宋体" panose="02010600030101010101" pitchFamily="2" charset="-122"/>
                          <a:ea typeface="宋体" panose="02010600030101010101" pitchFamily="2" charset="-122"/>
                        </a:rPr>
                        <a:t>基础规格</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9700">
                <a:tc>
                  <a:txBody>
                    <a:bodyPr/>
                    <a:p>
                      <a:pPr algn="l" fontAlgn="ctr"/>
                      <a:r>
                        <a:rPr lang="zh-CN" altLang="en-US" sz="700" b="0" i="0">
                          <a:solidFill>
                            <a:srgbClr val="0F1115"/>
                          </a:solidFill>
                          <a:latin typeface="宋体" panose="02010600030101010101" pitchFamily="2" charset="-122"/>
                          <a:ea typeface="宋体" panose="02010600030101010101" pitchFamily="2" charset="-122"/>
                        </a:rPr>
                        <a:t>尺寸与精度</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7795">
                <a:tc>
                  <a:txBody>
                    <a:bodyPr/>
                    <a:p>
                      <a:pPr algn="l" fontAlgn="ctr"/>
                      <a:r>
                        <a:rPr lang="zh-CN" altLang="en-US" sz="700" b="0" i="0">
                          <a:solidFill>
                            <a:srgbClr val="000000"/>
                          </a:solidFill>
                          <a:latin typeface="宋体" panose="02010600030101010101" pitchFamily="2" charset="-122"/>
                          <a:ea typeface="宋体" panose="02010600030101010101" pitchFamily="2" charset="-122"/>
                        </a:rPr>
                        <a:t>性能与电学</a:t>
                      </a:r>
                      <a:endParaRPr lang="zh-CN" altLang="en-US"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9065">
                <a:tc>
                  <a:txBody>
                    <a:bodyPr/>
                    <a:p>
                      <a:pPr algn="l" fontAlgn="ctr"/>
                      <a:r>
                        <a:rPr lang="zh-CN" altLang="en-US" sz="700" b="0" i="0">
                          <a:solidFill>
                            <a:srgbClr val="0F1115"/>
                          </a:solidFill>
                          <a:latin typeface="宋体" panose="02010600030101010101" pitchFamily="2" charset="-122"/>
                          <a:ea typeface="宋体" panose="02010600030101010101" pitchFamily="2" charset="-122"/>
                        </a:rPr>
                        <a:t>洁净度</a:t>
                      </a:r>
                      <a:endParaRPr lang="zh-CN" altLang="en-US" sz="7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7160">
                <a:tc>
                  <a:txBody>
                    <a:bodyPr/>
                    <a:p>
                      <a:pPr algn="l" fontAlgn="ctr"/>
                      <a:r>
                        <a:rPr lang="zh-CN" altLang="en-US" sz="700" b="0" i="0">
                          <a:solidFill>
                            <a:srgbClr val="000000"/>
                          </a:solidFill>
                          <a:latin typeface="宋体" panose="02010600030101010101" pitchFamily="2" charset="-122"/>
                          <a:ea typeface="宋体" panose="02010600030101010101" pitchFamily="2" charset="-122"/>
                        </a:rPr>
                        <a:t>特殊结构</a:t>
                      </a:r>
                      <a:endParaRPr lang="zh-CN" altLang="en-US"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9065">
                <a:tc>
                  <a:txBody>
                    <a:bodyPr/>
                    <a:p>
                      <a:pPr algn="l" fontAlgn="ctr"/>
                      <a:r>
                        <a:rPr lang="zh-CN" altLang="en-US" sz="700" b="0" i="0">
                          <a:solidFill>
                            <a:srgbClr val="000000"/>
                          </a:solidFill>
                          <a:latin typeface="宋体" panose="02010600030101010101" pitchFamily="2" charset="-122"/>
                          <a:ea typeface="宋体" panose="02010600030101010101" pitchFamily="2" charset="-122"/>
                        </a:rPr>
                        <a:t>图纸标注特殊要求</a:t>
                      </a:r>
                      <a:endParaRPr lang="zh-CN" altLang="en-US"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38430">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7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1765">
                <a:tc gridSpan="4">
                  <a:txBody>
                    <a:bodyPr/>
                    <a:p>
                      <a:pPr algn="ctr" fontAlgn="ctr"/>
                      <a:r>
                        <a:rPr lang="zh-CN" altLang="en-US" sz="1000" b="1" i="0">
                          <a:solidFill>
                            <a:srgbClr val="0F1115"/>
                          </a:solidFill>
                          <a:latin typeface="宋体" panose="02010600030101010101" pitchFamily="2" charset="-122"/>
                          <a:ea typeface="宋体" panose="02010600030101010101" pitchFamily="2" charset="-122"/>
                        </a:rPr>
                        <a:t>三、工艺转化初稿（概要）</a:t>
                      </a:r>
                      <a:endParaRPr lang="zh-CN" altLang="en-US" sz="1000" b="1"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2400">
                <a:tc gridSpan="4">
                  <a:txBody>
                    <a:bodyPr/>
                    <a:p>
                      <a:pPr algn="l" fontAlgn="ctr"/>
                      <a:r>
                        <a:rPr lang="zh-CN" altLang="en-US" sz="800" b="0" i="0">
                          <a:solidFill>
                            <a:srgbClr val="0F1115"/>
                          </a:solidFill>
                          <a:latin typeface="宋体" panose="02010600030101010101" pitchFamily="2" charset="-122"/>
                          <a:ea typeface="宋体" panose="02010600030101010101" pitchFamily="2" charset="-122"/>
                        </a:rPr>
                        <a:t>基于以上解析，初步确定的工艺路线概要如下：</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781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1</a:t>
                      </a:r>
                      <a:r>
                        <a:rPr lang="zh-CN" altLang="en-US" sz="800" b="0" i="0">
                          <a:solidFill>
                            <a:srgbClr val="0F1115"/>
                          </a:solidFill>
                          <a:latin typeface="宋体" panose="02010600030101010101" pitchFamily="2" charset="-122"/>
                          <a:ea typeface="宋体" panose="02010600030101010101" pitchFamily="2" charset="-122"/>
                        </a:rPr>
                        <a:t>、粉体处理与流延成型：选用高纯氮化铝（</a:t>
                      </a:r>
                      <a:r>
                        <a:rPr lang="en-US" altLang="zh-CN" sz="800" b="0" i="0">
                          <a:solidFill>
                            <a:srgbClr val="0F1115"/>
                          </a:solidFill>
                          <a:latin typeface="Segoe UI" panose="020B0502040204020203"/>
                          <a:ea typeface="Segoe UI" panose="020B0502040204020203"/>
                        </a:rPr>
                        <a:t>AlN</a:t>
                      </a:r>
                      <a:r>
                        <a:rPr lang="zh-CN" altLang="en-US" sz="800" b="0" i="0">
                          <a:solidFill>
                            <a:srgbClr val="0F1115"/>
                          </a:solidFill>
                          <a:latin typeface="宋体" panose="02010600030101010101" pitchFamily="2" charset="-122"/>
                          <a:ea typeface="宋体" panose="02010600030101010101" pitchFamily="2" charset="-122"/>
                        </a:rPr>
                        <a:t>）粉体，通过流延成型工艺制备厚度均匀的陶瓷生坯。</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654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2</a:t>
                      </a:r>
                      <a:r>
                        <a:rPr lang="zh-CN" altLang="en-US" sz="800" b="0" i="0">
                          <a:solidFill>
                            <a:srgbClr val="0F1115"/>
                          </a:solidFill>
                          <a:latin typeface="宋体" panose="02010600030101010101" pitchFamily="2" charset="-122"/>
                          <a:ea typeface="宋体" panose="02010600030101010101" pitchFamily="2" charset="-122"/>
                        </a:rPr>
                        <a:t>、电极印刷与叠层：在生坯上丝网印刷钨（</a:t>
                      </a:r>
                      <a:r>
                        <a:rPr lang="en-US" altLang="zh-CN" sz="800" b="0" i="0">
                          <a:solidFill>
                            <a:srgbClr val="0F1115"/>
                          </a:solidFill>
                          <a:latin typeface="Segoe UI" panose="020B0502040204020203"/>
                          <a:ea typeface="Segoe UI" panose="020B0502040204020203"/>
                        </a:rPr>
                        <a:t>W</a:t>
                      </a:r>
                      <a:r>
                        <a:rPr lang="zh-CN" altLang="en-US" sz="800" b="0" i="0">
                          <a:solidFill>
                            <a:srgbClr val="0F1115"/>
                          </a:solidFill>
                          <a:latin typeface="宋体" panose="02010600030101010101" pitchFamily="2" charset="-122"/>
                          <a:ea typeface="宋体" panose="02010600030101010101" pitchFamily="2" charset="-122"/>
                        </a:rPr>
                        <a:t>）电极浆料，并按设计将多层生坯精确叠层，形成内部电极结构。</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7180">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3</a:t>
                      </a:r>
                      <a:r>
                        <a:rPr lang="zh-CN" altLang="en-US" sz="800" b="0" i="0">
                          <a:solidFill>
                            <a:srgbClr val="0F1115"/>
                          </a:solidFill>
                          <a:latin typeface="宋体" panose="02010600030101010101" pitchFamily="2" charset="-122"/>
                          <a:ea typeface="宋体" panose="02010600030101010101" pitchFamily="2" charset="-122"/>
                        </a:rPr>
                        <a:t>、温等静压（</a:t>
                      </a:r>
                      <a:r>
                        <a:rPr lang="en-US" altLang="zh-CN" sz="800" b="0" i="0">
                          <a:solidFill>
                            <a:srgbClr val="0F1115"/>
                          </a:solidFill>
                          <a:latin typeface="Segoe UI" panose="020B0502040204020203"/>
                          <a:ea typeface="Segoe UI" panose="020B0502040204020203"/>
                        </a:rPr>
                        <a:t>WIP</a:t>
                      </a:r>
                      <a:r>
                        <a:rPr lang="zh-CN" altLang="en-US" sz="800" b="0" i="0">
                          <a:solidFill>
                            <a:srgbClr val="0F1115"/>
                          </a:solidFill>
                          <a:latin typeface="宋体" panose="02010600030101010101" pitchFamily="2" charset="-122"/>
                          <a:ea typeface="宋体" panose="02010600030101010101" pitchFamily="2" charset="-122"/>
                        </a:rPr>
                        <a:t>）与排胶：对叠层生坯进行温等静压，使其紧密结合，然后进行排胶处理，去除有机粘结剂。</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781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4</a:t>
                      </a:r>
                      <a:r>
                        <a:rPr lang="zh-CN" altLang="en-US" sz="800" b="0" i="0">
                          <a:solidFill>
                            <a:srgbClr val="0F1115"/>
                          </a:solidFill>
                          <a:latin typeface="宋体" panose="02010600030101010101" pitchFamily="2" charset="-122"/>
                          <a:ea typeface="宋体" panose="02010600030101010101" pitchFamily="2" charset="-122"/>
                        </a:rPr>
                        <a:t>、高温共烧：最关键工序。在气氛保护烧结炉中，按特定温度曲线进行高温共烧，使氮化铝陶瓷和钨电极同时致密化，形成牢固的一体结构。</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7180">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5</a:t>
                      </a:r>
                      <a:r>
                        <a:rPr lang="zh-CN" altLang="en-US" sz="800" b="0" i="0">
                          <a:solidFill>
                            <a:srgbClr val="0F1115"/>
                          </a:solidFill>
                          <a:latin typeface="宋体" panose="02010600030101010101" pitchFamily="2" charset="-122"/>
                          <a:ea typeface="宋体" panose="02010600030101010101" pitchFamily="2" charset="-122"/>
                        </a:rPr>
                        <a:t>、精密加工：利用高精度磨床和激光加工设备，对烧结后的陶瓷体进行研磨、抛光及微孔（</a:t>
                      </a:r>
                      <a:r>
                        <a:rPr lang="en-US" altLang="zh-CN" sz="800" b="0" i="0">
                          <a:solidFill>
                            <a:srgbClr val="0F1115"/>
                          </a:solidFill>
                          <a:latin typeface="Segoe UI" panose="020B0502040204020203"/>
                          <a:ea typeface="Segoe UI" panose="020B0502040204020203"/>
                        </a:rPr>
                        <a:t>He Hole</a:t>
                      </a:r>
                      <a:r>
                        <a:rPr lang="zh-CN" altLang="en-US" sz="800" b="0" i="0">
                          <a:solidFill>
                            <a:srgbClr val="0F1115"/>
                          </a:solidFill>
                          <a:latin typeface="宋体" panose="02010600030101010101" pitchFamily="2" charset="-122"/>
                          <a:ea typeface="宋体" panose="02010600030101010101" pitchFamily="2" charset="-122"/>
                        </a:rPr>
                        <a:t>）加工。</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9654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6</a:t>
                      </a:r>
                      <a:r>
                        <a:rPr lang="zh-CN" altLang="en-US" sz="800" b="0" i="0">
                          <a:solidFill>
                            <a:srgbClr val="0F1115"/>
                          </a:solidFill>
                          <a:latin typeface="宋体" panose="02010600030101010101" pitchFamily="2" charset="-122"/>
                          <a:ea typeface="宋体" panose="02010600030101010101" pitchFamily="2" charset="-122"/>
                        </a:rPr>
                        <a:t>、清洗与检测：进行严格的化学清洗和洁净度管控，并对所有关键尺寸、电性能和氦气漏率进行</a:t>
                      </a:r>
                      <a:r>
                        <a:rPr lang="en-US" altLang="zh-CN" sz="800" b="0" i="0">
                          <a:solidFill>
                            <a:srgbClr val="0F1115"/>
                          </a:solidFill>
                          <a:latin typeface="Segoe UI" panose="020B0502040204020203"/>
                          <a:ea typeface="Segoe UI" panose="020B0502040204020203"/>
                        </a:rPr>
                        <a:t>100%</a:t>
                      </a:r>
                      <a:r>
                        <a:rPr lang="zh-CN" altLang="en-US" sz="800" b="0" i="0">
                          <a:solidFill>
                            <a:srgbClr val="0F1115"/>
                          </a:solidFill>
                          <a:latin typeface="宋体" panose="02010600030101010101" pitchFamily="2" charset="-122"/>
                          <a:ea typeface="宋体" panose="02010600030101010101" pitchFamily="2" charset="-122"/>
                        </a:rPr>
                        <a:t>检测。</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303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7</a:t>
                      </a:r>
                      <a:r>
                        <a:rPr lang="zh-CN" altLang="en-US" sz="800" b="0" i="0">
                          <a:solidFill>
                            <a:srgbClr val="0F1115"/>
                          </a:solidFill>
                          <a:latin typeface="宋体" panose="02010600030101010101" pitchFamily="2" charset="-122"/>
                          <a:ea typeface="宋体" panose="02010600030101010101" pitchFamily="2" charset="-122"/>
                        </a:rPr>
                        <a:t>、钎焊</a:t>
                      </a:r>
                      <a:r>
                        <a:rPr lang="en-US" altLang="zh-CN" sz="800" b="0" i="0">
                          <a:solidFill>
                            <a:srgbClr val="0F1115"/>
                          </a:solidFill>
                          <a:latin typeface="Segoe UI" panose="020B0502040204020203"/>
                          <a:ea typeface="Segoe UI" panose="020B0502040204020203"/>
                        </a:rPr>
                        <a:t>/</a:t>
                      </a:r>
                      <a:r>
                        <a:rPr lang="zh-CN" altLang="en-US" sz="800" b="0" i="0">
                          <a:solidFill>
                            <a:srgbClr val="0F1115"/>
                          </a:solidFill>
                          <a:latin typeface="宋体" panose="02010600030101010101" pitchFamily="2" charset="-122"/>
                          <a:ea typeface="宋体" panose="02010600030101010101" pitchFamily="2" charset="-122"/>
                        </a:rPr>
                        <a:t>粘接组装：将加工完成的陶瓷基板与铝合金基座板进行钎焊或粘接。</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51765">
                <a:tc gridSpan="4">
                  <a:txBody>
                    <a:bodyPr/>
                    <a:p>
                      <a:pPr algn="l" fontAlgn="ctr"/>
                      <a:r>
                        <a:rPr lang="en-US" altLang="zh-CN" sz="800" b="0" i="0">
                          <a:solidFill>
                            <a:srgbClr val="0F1115"/>
                          </a:solidFill>
                          <a:latin typeface="宋体" panose="02010600030101010101" pitchFamily="2" charset="-122"/>
                          <a:ea typeface="宋体" panose="02010600030101010101" pitchFamily="2" charset="-122"/>
                        </a:rPr>
                        <a:t>8</a:t>
                      </a:r>
                      <a:r>
                        <a:rPr lang="zh-CN" altLang="en-US" sz="800" b="0" i="0">
                          <a:solidFill>
                            <a:srgbClr val="0F1115"/>
                          </a:solidFill>
                          <a:latin typeface="宋体" panose="02010600030101010101" pitchFamily="2" charset="-122"/>
                          <a:ea typeface="宋体" panose="02010600030101010101" pitchFamily="2" charset="-122"/>
                        </a:rPr>
                        <a:t>、成品终检与包装：完成最终性能测试后，在超净环境中进行真空包装。</a:t>
                      </a:r>
                      <a:endParaRPr lang="zh-CN" altLang="en-US" sz="800" b="0" i="0">
                        <a:solidFill>
                          <a:srgbClr val="0F1115"/>
                        </a:solidFill>
                        <a:latin typeface="宋体" panose="02010600030101010101" pitchFamily="2" charset="-122"/>
                        <a:ea typeface="宋体" panose="02010600030101010101"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graphicFrame>
        <p:nvGraphicFramePr>
          <p:cNvPr id="4" name="对象 3">
            <a:hlinkClick r:id="" action="ppaction://ole?verb="/>
          </p:cNvPr>
          <p:cNvGraphicFramePr>
            <a:graphicFrameLocks noChangeAspect="1"/>
          </p:cNvGraphicFramePr>
          <p:nvPr/>
        </p:nvGraphicFramePr>
        <p:xfrm>
          <a:off x="9070340" y="63500"/>
          <a:ext cx="971550" cy="952500"/>
        </p:xfrm>
        <a:graphic>
          <a:graphicData uri="http://schemas.openxmlformats.org/presentationml/2006/ole">
            <mc:AlternateContent xmlns:mc="http://schemas.openxmlformats.org/markup-compatibility/2006">
              <mc:Choice xmlns:v="urn:schemas-microsoft-com:vml" Requires="v">
                <p:oleObj spid="_x0000_s1025" name="" showAsIcon="1" r:id="rId2" imgW="971550" imgH="952500" progId="Excel.Sheet.12">
                  <p:embed/>
                </p:oleObj>
              </mc:Choice>
              <mc:Fallback>
                <p:oleObj name="" showAsIcon="1" r:id="rId2" imgW="971550" imgH="952500" progId="Excel.Sheet.12">
                  <p:embed/>
                  <p:pic>
                    <p:nvPicPr>
                      <p:cNvPr id="0" name="图片 1024"/>
                      <p:cNvPicPr/>
                      <p:nvPr/>
                    </p:nvPicPr>
                    <p:blipFill>
                      <a:blip r:embed="rId3"/>
                      <a:stretch>
                        <a:fillRect/>
                      </a:stretch>
                    </p:blipFill>
                    <p:spPr>
                      <a:xfrm>
                        <a:off x="9070340" y="63500"/>
                        <a:ext cx="971550" cy="952500"/>
                      </a:xfrm>
                      <a:prstGeom prst="rect">
                        <a:avLst/>
                      </a:prstGeom>
                    </p:spPr>
                  </p:pic>
                </p:oleObj>
              </mc:Fallback>
            </mc:AlternateContent>
          </a:graphicData>
        </a:graphic>
      </p:graphicFrame>
    </p:spTree>
    <p:custDataLst>
      <p:tags r:id="rId4"/>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6 </a:t>
            </a:r>
            <a:r>
              <a:rPr lang="zh-CN" altLang="en-US" sz="2800">
                <a:solidFill>
                  <a:schemeClr val="tx1"/>
                </a:solidFill>
                <a:cs typeface="微软雅黑" panose="020B0503020204020204" pitchFamily="34" charset="-122"/>
                <a:sym typeface="+mn-ea"/>
              </a:rPr>
              <a:t>专业可行性分析审核</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286512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5 </a:t>
                      </a:r>
                      <a:r>
                        <a:rPr lang="zh-CN" altLang="en-US" sz="1400" dirty="0">
                          <a:sym typeface="+mn-ea"/>
                        </a:rPr>
                        <a:t>审核各专业可行性分析报告</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对各专业</a:t>
                      </a:r>
                      <a:r>
                        <a:rPr lang="zh-CN" altLang="en-US" sz="1200" kern="1200" dirty="0">
                          <a:solidFill>
                            <a:schemeClr val="dk1"/>
                          </a:solidFill>
                          <a:latin typeface="+mn-lt"/>
                          <a:ea typeface="+mn-ea"/>
                          <a:cs typeface="+mn-cs"/>
                          <a:sym typeface="Arial" panose="020B0604020202020204"/>
                        </a:rPr>
                        <a:t>报价可行性分析报告表进行审核</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各专业审核责任人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各专业报价可行性分析报告表</a:t>
                      </a: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各专业报价可行性分析报告表审核意见</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、记录各专业</a:t>
                      </a:r>
                      <a:r>
                        <a:rPr lang="en-US" altLang="zh-CN" sz="1200" kern="1200" dirty="0">
                          <a:solidFill>
                            <a:schemeClr val="dk1"/>
                          </a:solidFill>
                          <a:latin typeface="+mn-lt"/>
                          <a:ea typeface="+mn-ea"/>
                          <a:cs typeface="+mn-cs"/>
                          <a:sym typeface="Arial" panose="020B0604020202020204"/>
                        </a:rPr>
                        <a:t>《</a:t>
                      </a:r>
                      <a:r>
                        <a:rPr lang="zh-CN" altLang="en-US" sz="1200" kern="1200" dirty="0">
                          <a:solidFill>
                            <a:schemeClr val="dk1"/>
                          </a:solidFill>
                          <a:latin typeface="+mn-lt"/>
                          <a:ea typeface="+mn-ea"/>
                          <a:cs typeface="+mn-cs"/>
                          <a:sym typeface="Arial" panose="020B0604020202020204"/>
                        </a:rPr>
                        <a:t>报价可行性分析报告表</a:t>
                      </a:r>
                      <a:r>
                        <a:rPr lang="en-US" altLang="zh-CN" sz="1200" kern="1200" dirty="0">
                          <a:solidFill>
                            <a:schemeClr val="dk1"/>
                          </a:solidFill>
                          <a:latin typeface="+mn-lt"/>
                          <a:ea typeface="+mn-ea"/>
                          <a:cs typeface="+mn-cs"/>
                          <a:sym typeface="Arial" panose="020B0604020202020204"/>
                        </a:rPr>
                        <a:t>》</a:t>
                      </a:r>
                      <a:r>
                        <a:rPr lang="zh-CN" altLang="en-US" sz="1200" kern="1200" dirty="0">
                          <a:solidFill>
                            <a:schemeClr val="dk1"/>
                          </a:solidFill>
                          <a:latin typeface="+mn-lt"/>
                          <a:ea typeface="+mn-ea"/>
                          <a:cs typeface="+mn-cs"/>
                          <a:sym typeface="Arial" panose="020B0604020202020204"/>
                        </a:rPr>
                        <a:t>审核意见，并</a:t>
                      </a:r>
                      <a:r>
                        <a:rPr lang="en-US" altLang="zh-CN" sz="1200" kern="1200" dirty="0">
                          <a:solidFill>
                            <a:schemeClr val="dk1"/>
                          </a:solidFill>
                          <a:latin typeface="+mn-lt"/>
                          <a:ea typeface="+mn-ea"/>
                          <a:cs typeface="+mn-cs"/>
                          <a:sym typeface="Arial" panose="020B0604020202020204"/>
                        </a:rPr>
                        <a:t>CC</a:t>
                      </a:r>
                      <a:r>
                        <a:rPr lang="zh-CN" altLang="en-US" sz="1200" kern="1200" dirty="0">
                          <a:solidFill>
                            <a:schemeClr val="dk1"/>
                          </a:solidFill>
                          <a:latin typeface="+mn-lt"/>
                          <a:ea typeface="+mn-ea"/>
                          <a:cs typeface="+mn-cs"/>
                          <a:sym typeface="Arial" panose="020B0604020202020204"/>
                        </a:rPr>
                        <a:t>给对应的研发经理和工程、采购、质量总监</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需求分派</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报告草稿</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、报告提交、</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报告审核</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、报告驳回、更新报价、需求开发）</a:t>
                      </a: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、各专业工程师将各专业可行性分析报告提交各专业审核责任人审核，状态：报告审核</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、可行性分析报告</a:t>
                      </a:r>
                      <a:r>
                        <a:rPr lang="zh-CN" altLang="en-US" sz="1200" dirty="0"/>
                        <a:t>专业审核时调用国光系统中维护各</a:t>
                      </a:r>
                      <a:r>
                        <a:rPr lang="en-US" altLang="zh-CN" sz="1200" dirty="0"/>
                        <a:t>BU</a:t>
                      </a:r>
                      <a:r>
                        <a:rPr lang="zh-CN" altLang="en-US" sz="1200" dirty="0"/>
                        <a:t>的各专业审核责任人（研发组长、工程经理、采购经理、质量经理）人员矩阵表，需求流程到各专业审核责任人处理</a:t>
                      </a:r>
                      <a:endParaRPr lang="zh-CN" altLang="en-US"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、审核不通过：返回各专业工程师修改，状态是报告草稿；审核通过则进入产品经理汇总各专业可行性分析报告流程</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tc>
              </a:tr>
            </a:tbl>
          </a:graphicData>
        </a:graphic>
      </p:graphicFrame>
    </p:spTree>
    <p:custDataLst>
      <p:tags r:id="rId3"/>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7 </a:t>
            </a:r>
            <a:r>
              <a:rPr lang="zh-CN" altLang="en-US" sz="2800">
                <a:solidFill>
                  <a:schemeClr val="tx1"/>
                </a:solidFill>
                <a:cs typeface="微软雅黑" panose="020B0503020204020204" pitchFamily="34" charset="-122"/>
                <a:sym typeface="+mn-ea"/>
              </a:rPr>
              <a:t>汇总专业可行性分析报告</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304800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5 </a:t>
                      </a:r>
                      <a:r>
                        <a:rPr lang="zh-CN" altLang="en-US" sz="1400" dirty="0">
                          <a:sym typeface="+mn-ea"/>
                        </a:rPr>
                        <a:t>汇总各专业可行性分析报告</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对各专业</a:t>
                      </a:r>
                      <a:r>
                        <a:rPr lang="zh-CN" altLang="en-US" sz="1200" kern="1200" dirty="0">
                          <a:solidFill>
                            <a:schemeClr val="dk1"/>
                          </a:solidFill>
                          <a:latin typeface="+mn-lt"/>
                          <a:ea typeface="+mn-ea"/>
                          <a:cs typeface="+mn-cs"/>
                          <a:sym typeface="Arial" panose="020B0604020202020204"/>
                        </a:rPr>
                        <a:t>报价可行性分析报告表进行汇总</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产品经理</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各专业报价可行性分析报告表</a:t>
                      </a: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汇总的报价可行性分析报告表</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、按版本管理可行性分析报告（附件管理），并可以对附件进行备注录入</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需求分派</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报告草稿</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、报告提交、报告审核、报告驳回、更新报价、需求开发）</a:t>
                      </a: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dirty="0"/>
                        <a:t>分版本管理可行性分析报告，仅该产品经理和综合审核责任人有权限读、写</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初始的文件名：</a:t>
                      </a:r>
                      <a:r>
                        <a:rPr lang="en-US" altLang="zh-CN" sz="1200" dirty="0"/>
                        <a:t>XXX</a:t>
                      </a:r>
                      <a:r>
                        <a:rPr lang="zh-CN" altLang="en-US" sz="1200" dirty="0"/>
                        <a:t>报价可行性分析报告</a:t>
                      </a:r>
                      <a:r>
                        <a:rPr lang="en-US" altLang="zh-CN" sz="1200" dirty="0"/>
                        <a:t>_V1_20241016</a:t>
                      </a:r>
                      <a:r>
                        <a:rPr lang="zh-CN" altLang="en-US" sz="1200" dirty="0"/>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更新后文件名：</a:t>
                      </a:r>
                      <a:r>
                        <a:rPr lang="en-US" altLang="zh-CN" sz="1200" dirty="0"/>
                        <a:t>XXX</a:t>
                      </a:r>
                      <a:r>
                        <a:rPr lang="zh-CN" altLang="en-US" sz="1200" dirty="0"/>
                        <a:t>报价可行性分析报告</a:t>
                      </a:r>
                      <a:r>
                        <a:rPr lang="en-US" altLang="zh-CN" sz="1200" dirty="0"/>
                        <a:t>_V2_20241019, </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、产品工程师将报告提交后进入研发总监审核，状态：报告审核</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tc>
              </a:tr>
            </a:tbl>
          </a:graphicData>
        </a:graphic>
      </p:graphicFrame>
    </p:spTree>
    <p:custDataLst>
      <p:tags r:id="rId3"/>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rgbClr val="C00000"/>
                </a:solidFill>
                <a:cs typeface="微软雅黑" panose="020B0503020204020204" pitchFamily="34" charset="-122"/>
                <a:sym typeface="+mn-ea"/>
              </a:rPr>
              <a:t>7-1 </a:t>
            </a:r>
            <a:r>
              <a:rPr lang="zh-CN" altLang="en-US" sz="2800">
                <a:solidFill>
                  <a:srgbClr val="C00000"/>
                </a:solidFill>
                <a:cs typeface="微软雅黑" panose="020B0503020204020204" pitchFamily="34" charset="-122"/>
                <a:sym typeface="+mn-ea"/>
              </a:rPr>
              <a:t>汇总专业可行性分析报告</a:t>
            </a:r>
            <a:r>
              <a:rPr lang="en-US" altLang="zh-CN" sz="2800">
                <a:solidFill>
                  <a:srgbClr val="C00000"/>
                </a:solidFill>
                <a:cs typeface="微软雅黑" panose="020B0503020204020204" pitchFamily="34" charset="-122"/>
                <a:sym typeface="+mn-ea"/>
              </a:rPr>
              <a:t>-</a:t>
            </a:r>
            <a:r>
              <a:rPr lang="zh-CN" altLang="en-US" sz="2800">
                <a:solidFill>
                  <a:srgbClr val="C00000"/>
                </a:solidFill>
                <a:cs typeface="微软雅黑" panose="020B0503020204020204" pitchFamily="34" charset="-122"/>
                <a:sym typeface="+mn-ea"/>
              </a:rPr>
              <a:t>初稿（对应步骤</a:t>
            </a:r>
            <a:r>
              <a:rPr lang="en-US" altLang="zh-CN" sz="2800">
                <a:solidFill>
                  <a:srgbClr val="C00000"/>
                </a:solidFill>
                <a:cs typeface="微软雅黑" panose="020B0503020204020204" pitchFamily="34" charset="-122"/>
                <a:sym typeface="+mn-ea"/>
              </a:rPr>
              <a:t>10</a:t>
            </a:r>
            <a:r>
              <a:rPr lang="zh-CN" altLang="en-US" sz="2800">
                <a:solidFill>
                  <a:srgbClr val="C00000"/>
                </a:solidFill>
                <a:cs typeface="微软雅黑" panose="020B0503020204020204" pitchFamily="34" charset="-122"/>
                <a:sym typeface="+mn-ea"/>
              </a:rPr>
              <a:t>）</a:t>
            </a:r>
            <a:endParaRPr lang="zh-CN" altLang="en-US" sz="2800">
              <a:solidFill>
                <a:srgbClr val="C00000"/>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304800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5 </a:t>
                      </a:r>
                      <a:r>
                        <a:rPr lang="zh-CN" altLang="en-US" sz="1400" dirty="0">
                          <a:sym typeface="+mn-ea"/>
                        </a:rPr>
                        <a:t>汇总各专业可行性分析报告</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对各专业</a:t>
                      </a:r>
                      <a:r>
                        <a:rPr lang="zh-CN" altLang="en-US" sz="1200" kern="1200" dirty="0">
                          <a:solidFill>
                            <a:schemeClr val="dk1"/>
                          </a:solidFill>
                          <a:latin typeface="+mn-lt"/>
                          <a:ea typeface="+mn-ea"/>
                          <a:cs typeface="+mn-cs"/>
                          <a:sym typeface="Arial" panose="020B0604020202020204"/>
                        </a:rPr>
                        <a:t>报价可行性分析报告表进行汇总</a:t>
                      </a:r>
                      <a:endParaRPr sz="1200" dirty="0">
                        <a:sym typeface="+mn-ea"/>
                      </a:endParaRPr>
                    </a:p>
                  </a:txBody>
                  <a:tcPr/>
                </a:tc>
              </a:tr>
              <a:tr h="237772">
                <a:tc>
                  <a:txBody>
                    <a:bodyPr/>
                    <a:lstStyle/>
                    <a:p>
                      <a:pPr>
                        <a:buNone/>
                      </a:pPr>
                      <a:endParaRPr lang="zh-CN" altLang="en-US" sz="1200"/>
                    </a:p>
                  </a:txBody>
                  <a:tcPr/>
                </a:tc>
                <a:tc>
                  <a:txBody>
                    <a:bodyPr/>
                    <a:lstStyle/>
                    <a:p>
                      <a:pPr>
                        <a:buNone/>
                      </a:pPr>
                      <a:endParaRPr lang="zh-CN" altLang="en-US" sz="1200" dirty="0">
                        <a:sym typeface="+mn-ea"/>
                      </a:endParaRPr>
                    </a:p>
                  </a:txBody>
                  <a:tcPr/>
                </a:tc>
              </a:tr>
              <a:tr h="237772">
                <a:tc>
                  <a:txBody>
                    <a:bodyPr/>
                    <a:lstStyle/>
                    <a:p>
                      <a:pPr>
                        <a:buNone/>
                      </a:pPr>
                      <a:endParaRPr lang="zh-CN" altLang="en-US" sz="1200"/>
                    </a:p>
                  </a:txBody>
                  <a:tcPr/>
                </a:tc>
                <a:tc>
                  <a:txBody>
                    <a:bodyPr/>
                    <a:lstStyle/>
                    <a:p>
                      <a:pPr>
                        <a:buNone/>
                      </a:pPr>
                      <a:endParaRPr lang="zh-CN" altLang="en-US" sz="1200" dirty="0">
                        <a:sym typeface="+mn-ea"/>
                      </a:endParaRPr>
                    </a:p>
                  </a:txBody>
                  <a:tcPr/>
                </a:tc>
              </a:tr>
              <a:tr h="237772">
                <a:tc>
                  <a:txBody>
                    <a:bodyPr/>
                    <a:lstStyle/>
                    <a:p>
                      <a:pPr>
                        <a:buNone/>
                      </a:pPr>
                      <a:endParaRPr lang="zh-CN" altLang="en-US" sz="1200"/>
                    </a:p>
                  </a:txBody>
                  <a:tcPr/>
                </a:tc>
                <a:tc>
                  <a:txBody>
                    <a:bodyPr/>
                    <a:lstStyle/>
                    <a:p>
                      <a:pPr>
                        <a:buNone/>
                      </a:pPr>
                      <a:endParaRPr lang="zh-CN" altLang="en-US" sz="1200" dirty="0">
                        <a:sym typeface="+mn-ea"/>
                      </a:endParaRPr>
                    </a:p>
                  </a:txBody>
                  <a:tcPr/>
                </a:tc>
              </a:tr>
              <a:tr h="381742">
                <a:tc>
                  <a:txBody>
                    <a:bodyPr/>
                    <a:lstStyle/>
                    <a:p>
                      <a:pPr>
                        <a:buNone/>
                      </a:pPr>
                      <a:endParaRPr lang="zh-CN" altLang="en-US" sz="1200" dirty="0"/>
                    </a:p>
                  </a:txBody>
                  <a:tcPr/>
                </a:tc>
                <a:tc>
                  <a:txBody>
                    <a:bodyPr/>
                    <a:lstStyle/>
                    <a:p>
                      <a:pPr indent="0">
                        <a:buFont typeface="+mj-lt"/>
                        <a:buNone/>
                      </a:pP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tc>
              </a:tr>
            </a:tbl>
          </a:graphicData>
        </a:graphic>
      </p:graphicFrame>
      <p:graphicFrame>
        <p:nvGraphicFramePr>
          <p:cNvPr id="3" name="对象 2">
            <a:hlinkClick r:id="" action="ppaction://ole?verb="/>
          </p:cNvPr>
          <p:cNvGraphicFramePr>
            <a:graphicFrameLocks noChangeAspect="1"/>
          </p:cNvGraphicFramePr>
          <p:nvPr/>
        </p:nvGraphicFramePr>
        <p:xfrm>
          <a:off x="5610225" y="2952750"/>
          <a:ext cx="971550" cy="952500"/>
        </p:xfrm>
        <a:graphic>
          <a:graphicData uri="http://schemas.openxmlformats.org/presentationml/2006/ole">
            <mc:AlternateContent xmlns:mc="http://schemas.openxmlformats.org/markup-compatibility/2006">
              <mc:Choice xmlns:v="urn:schemas-microsoft-com:vml" Requires="v">
                <p:oleObj spid="_x0000_s1025" name="" showAsIcon="1" r:id="rId3" imgW="971550" imgH="952500" progId="Excel.Sheet.12">
                  <p:embed/>
                </p:oleObj>
              </mc:Choice>
              <mc:Fallback>
                <p:oleObj name="" showAsIcon="1" r:id="rId3" imgW="971550" imgH="952500" progId="Excel.Sheet.12">
                  <p:embed/>
                  <p:pic>
                    <p:nvPicPr>
                      <p:cNvPr id="0" name="图片 1024"/>
                      <p:cNvPicPr/>
                      <p:nvPr/>
                    </p:nvPicPr>
                    <p:blipFill>
                      <a:blip r:embed="rId4"/>
                      <a:stretch>
                        <a:fillRect/>
                      </a:stretch>
                    </p:blipFill>
                    <p:spPr>
                      <a:xfrm>
                        <a:off x="5610225" y="2952750"/>
                        <a:ext cx="971550" cy="952500"/>
                      </a:xfrm>
                      <a:prstGeom prst="rect">
                        <a:avLst/>
                      </a:prstGeom>
                    </p:spPr>
                  </p:pic>
                </p:oleObj>
              </mc:Fallback>
            </mc:AlternateContent>
          </a:graphicData>
        </a:graphic>
      </p:graphicFrame>
    </p:spTree>
    <p:custDataLst>
      <p:tags r:id="rId5"/>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8 </a:t>
            </a:r>
            <a:r>
              <a:rPr lang="zh-CN" altLang="en-US" sz="2800">
                <a:solidFill>
                  <a:schemeClr val="tx1"/>
                </a:solidFill>
                <a:cs typeface="微软雅黑" panose="020B0503020204020204" pitchFamily="34" charset="-122"/>
                <a:sym typeface="+mn-ea"/>
              </a:rPr>
              <a:t>审核汇总的可行性分析报告</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268224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5 </a:t>
                      </a:r>
                      <a:r>
                        <a:rPr lang="zh-CN" altLang="en-US" sz="1400" dirty="0">
                          <a:sym typeface="+mn-ea"/>
                        </a:rPr>
                        <a:t>审核汇总的可行性分析报告</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对汇总的</a:t>
                      </a:r>
                      <a:r>
                        <a:rPr lang="zh-CN" altLang="en-US" sz="1200" kern="1200" dirty="0">
                          <a:solidFill>
                            <a:schemeClr val="dk1"/>
                          </a:solidFill>
                          <a:latin typeface="+mn-lt"/>
                          <a:ea typeface="+mn-ea"/>
                          <a:cs typeface="+mn-cs"/>
                          <a:sym typeface="Arial" panose="020B0604020202020204"/>
                        </a:rPr>
                        <a:t>报价可行性分析报告表进行审核</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研发总监</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汇总的报价可行性分析报告表</a:t>
                      </a: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报价可行性分析报告表审核意见</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、记录</a:t>
                      </a:r>
                      <a:r>
                        <a:rPr lang="en-US" altLang="zh-CN" sz="1200" kern="1200" dirty="0">
                          <a:solidFill>
                            <a:schemeClr val="dk1"/>
                          </a:solidFill>
                          <a:latin typeface="+mn-lt"/>
                          <a:ea typeface="+mn-ea"/>
                          <a:cs typeface="+mn-cs"/>
                          <a:sym typeface="Arial" panose="020B0604020202020204"/>
                        </a:rPr>
                        <a:t>《</a:t>
                      </a:r>
                      <a:r>
                        <a:rPr lang="zh-CN" altLang="en-US" sz="1200" kern="1200" dirty="0">
                          <a:solidFill>
                            <a:schemeClr val="dk1"/>
                          </a:solidFill>
                          <a:latin typeface="+mn-lt"/>
                          <a:ea typeface="+mn-ea"/>
                          <a:cs typeface="+mn-cs"/>
                          <a:sym typeface="Arial" panose="020B0604020202020204"/>
                        </a:rPr>
                        <a:t>报价可行性分析报告表</a:t>
                      </a:r>
                      <a:r>
                        <a:rPr lang="en-US" altLang="zh-CN" sz="1200" kern="1200" dirty="0">
                          <a:solidFill>
                            <a:schemeClr val="dk1"/>
                          </a:solidFill>
                          <a:latin typeface="+mn-lt"/>
                          <a:ea typeface="+mn-ea"/>
                          <a:cs typeface="+mn-cs"/>
                          <a:sym typeface="Arial" panose="020B0604020202020204"/>
                        </a:rPr>
                        <a:t>》</a:t>
                      </a:r>
                      <a:r>
                        <a:rPr lang="zh-CN" altLang="en-US" sz="1200" kern="1200" dirty="0">
                          <a:solidFill>
                            <a:schemeClr val="dk1"/>
                          </a:solidFill>
                          <a:latin typeface="+mn-lt"/>
                          <a:ea typeface="+mn-ea"/>
                          <a:cs typeface="+mn-cs"/>
                          <a:sym typeface="Arial" panose="020B0604020202020204"/>
                        </a:rPr>
                        <a:t>审核意见</a:t>
                      </a:r>
                      <a:endParaRPr lang="en-US" altLang="zh-CN" sz="1200" kern="1200" dirty="0">
                        <a:solidFill>
                          <a:schemeClr val="dk1"/>
                        </a:solidFill>
                        <a:latin typeface="+mn-lt"/>
                        <a:ea typeface="+mn-ea"/>
                        <a:cs typeface="+mn-cs"/>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生成需求状态（需求草稿</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、需求确认、</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需求提交、需求审核、需求驳回、需求终止、</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需求分派，报告草稿、报告</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提交、</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报告审核、报告驳回、更新报价</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、需求开发）</a:t>
                      </a: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、产品工程师将汇总的可行性分析报告提交后进入研发总监审核，状态：报告审核</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、审核不通过：</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、返回产品工程师修改，状态是更新报告；</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、需求终止记录审核意见，状态是需求终止</a:t>
                      </a:r>
                      <a:endParaRPr lang="zh-CN" altLang="en-US"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、审核通过后转销售专员确认是否开发，状态：确认开发</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tc>
              </a:tr>
            </a:tbl>
          </a:graphicData>
        </a:graphic>
      </p:graphicFrame>
    </p:spTree>
    <p:custDataLst>
      <p:tags r:id="rId3"/>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10418445" cy="480695"/>
          </a:xfrm>
        </p:spPr>
        <p:txBody>
          <a:bodyPr wrap="square"/>
          <a:lstStyle/>
          <a:p>
            <a:pPr algn="l" defTabSz="685800">
              <a:lnSpc>
                <a:spcPct val="90000"/>
              </a:lnSpc>
              <a:buClrTx/>
              <a:buSzTx/>
              <a:buFontTx/>
            </a:pPr>
            <a:r>
              <a:rPr lang="en-US" altLang="zh-CN" sz="2800">
                <a:solidFill>
                  <a:srgbClr val="C00000"/>
                </a:solidFill>
                <a:cs typeface="微软雅黑" panose="020B0503020204020204" pitchFamily="34" charset="-122"/>
                <a:sym typeface="+mn-ea"/>
              </a:rPr>
              <a:t>8 </a:t>
            </a:r>
            <a:r>
              <a:rPr lang="zh-CN" altLang="en-US" sz="2800">
                <a:solidFill>
                  <a:srgbClr val="C00000"/>
                </a:solidFill>
                <a:cs typeface="微软雅黑" panose="020B0503020204020204" pitchFamily="34" charset="-122"/>
                <a:sym typeface="+mn-ea"/>
              </a:rPr>
              <a:t>审核汇总的可行性分析报告</a:t>
            </a:r>
            <a:r>
              <a:rPr lang="en-US" altLang="zh-CN" sz="2800">
                <a:solidFill>
                  <a:srgbClr val="C00000"/>
                </a:solidFill>
                <a:cs typeface="微软雅黑" panose="020B0503020204020204" pitchFamily="34" charset="-122"/>
                <a:sym typeface="+mn-ea"/>
              </a:rPr>
              <a:t>-</a:t>
            </a:r>
            <a:r>
              <a:rPr lang="zh-CN" altLang="en-US" sz="2800">
                <a:solidFill>
                  <a:srgbClr val="C00000"/>
                </a:solidFill>
                <a:cs typeface="微软雅黑" panose="020B0503020204020204" pitchFamily="34" charset="-122"/>
                <a:sym typeface="+mn-ea"/>
              </a:rPr>
              <a:t>定稿</a:t>
            </a:r>
            <a:r>
              <a:rPr lang="zh-CN" altLang="en-US" sz="2800">
                <a:solidFill>
                  <a:srgbClr val="C00000"/>
                </a:solidFill>
                <a:cs typeface="微软雅黑" panose="020B0503020204020204" pitchFamily="34" charset="-122"/>
                <a:sym typeface="+mn-ea"/>
              </a:rPr>
              <a:t>（对应步骤</a:t>
            </a:r>
            <a:r>
              <a:rPr lang="en-US" altLang="zh-CN" sz="2800">
                <a:solidFill>
                  <a:srgbClr val="C00000"/>
                </a:solidFill>
                <a:cs typeface="微软雅黑" panose="020B0503020204020204" pitchFamily="34" charset="-122"/>
                <a:sym typeface="+mn-ea"/>
              </a:rPr>
              <a:t>11&amp;12</a:t>
            </a:r>
            <a:r>
              <a:rPr lang="zh-CN" altLang="en-US" sz="2800">
                <a:solidFill>
                  <a:srgbClr val="C00000"/>
                </a:solidFill>
                <a:cs typeface="微软雅黑" panose="020B0503020204020204" pitchFamily="34" charset="-122"/>
                <a:sym typeface="+mn-ea"/>
              </a:rPr>
              <a:t>）</a:t>
            </a:r>
            <a:endParaRPr lang="zh-CN" altLang="en-US" sz="2800">
              <a:solidFill>
                <a:srgbClr val="C00000"/>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268224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5 </a:t>
                      </a:r>
                      <a:r>
                        <a:rPr lang="zh-CN" altLang="en-US" sz="1400" dirty="0">
                          <a:sym typeface="+mn-ea"/>
                        </a:rPr>
                        <a:t>审核汇总的可行性分析报告</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dirty="0">
                          <a:sym typeface="+mn-ea"/>
                        </a:rPr>
                        <a:t>对汇总的</a:t>
                      </a:r>
                      <a:r>
                        <a:rPr lang="zh-CN" altLang="en-US" sz="1200" kern="1200" dirty="0">
                          <a:solidFill>
                            <a:schemeClr val="dk1"/>
                          </a:solidFill>
                          <a:latin typeface="+mn-lt"/>
                          <a:ea typeface="+mn-ea"/>
                          <a:cs typeface="+mn-cs"/>
                          <a:sym typeface="Arial" panose="020B0604020202020204"/>
                        </a:rPr>
                        <a:t>报价可行性分析报告表进行审核</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工艺</a:t>
                      </a:r>
                      <a:r>
                        <a:rPr lang="zh-CN" altLang="en-US" sz="1200" dirty="0">
                          <a:sym typeface="+mn-ea"/>
                        </a:rPr>
                        <a:t>技术总监</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a:tc>
              </a:tr>
            </a:tbl>
          </a:graphicData>
        </a:graphic>
      </p:graphicFrame>
      <p:graphicFrame>
        <p:nvGraphicFramePr>
          <p:cNvPr id="3" name="对象 2">
            <a:hlinkClick r:id="" action="ppaction://ole?verb="/>
          </p:cNvPr>
          <p:cNvGraphicFramePr>
            <a:graphicFrameLocks noChangeAspect="1"/>
          </p:cNvGraphicFramePr>
          <p:nvPr/>
        </p:nvGraphicFramePr>
        <p:xfrm>
          <a:off x="5610225" y="2952750"/>
          <a:ext cx="971550" cy="952500"/>
        </p:xfrm>
        <a:graphic>
          <a:graphicData uri="http://schemas.openxmlformats.org/presentationml/2006/ole">
            <mc:AlternateContent xmlns:mc="http://schemas.openxmlformats.org/markup-compatibility/2006">
              <mc:Choice xmlns:v="urn:schemas-microsoft-com:vml" Requires="v">
                <p:oleObj spid="_x0000_s2049" name="" showAsIcon="1" r:id="rId3" imgW="971550" imgH="952500" progId="Excel.Sheet.12">
                  <p:embed/>
                </p:oleObj>
              </mc:Choice>
              <mc:Fallback>
                <p:oleObj name="" showAsIcon="1" r:id="rId3" imgW="971550" imgH="952500" progId="Excel.Sheet.12">
                  <p:embed/>
                  <p:pic>
                    <p:nvPicPr>
                      <p:cNvPr id="0" name="图片 2048"/>
                      <p:cNvPicPr/>
                      <p:nvPr/>
                    </p:nvPicPr>
                    <p:blipFill>
                      <a:blip r:embed="rId4"/>
                      <a:stretch>
                        <a:fillRect/>
                      </a:stretch>
                    </p:blipFill>
                    <p:spPr>
                      <a:xfrm>
                        <a:off x="5610225" y="2952750"/>
                        <a:ext cx="971550" cy="952500"/>
                      </a:xfrm>
                      <a:prstGeom prst="rect">
                        <a:avLst/>
                      </a:prstGeom>
                    </p:spPr>
                  </p:pic>
                </p:oleObj>
              </mc:Fallback>
            </mc:AlternateContent>
          </a:graphicData>
        </a:graphic>
      </p:graphicFrame>
    </p:spTree>
    <p:custDataLst>
      <p:tags r:id="rId5"/>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9 </a:t>
            </a:r>
            <a:r>
              <a:rPr lang="zh-CN" altLang="en-US" sz="2800">
                <a:solidFill>
                  <a:schemeClr val="tx1"/>
                </a:solidFill>
                <a:cs typeface="微软雅黑" panose="020B0503020204020204" pitchFamily="34" charset="-122"/>
                <a:sym typeface="+mn-ea"/>
              </a:rPr>
              <a:t>确认是否开发</a:t>
            </a:r>
            <a:r>
              <a:rPr lang="en-US" altLang="zh-CN" sz="2800">
                <a:solidFill>
                  <a:schemeClr val="tx1"/>
                </a:solidFill>
                <a:cs typeface="微软雅黑" panose="020B0503020204020204" pitchFamily="34" charset="-122"/>
                <a:sym typeface="+mn-ea"/>
              </a:rPr>
              <a:t>-</a:t>
            </a:r>
            <a:r>
              <a:rPr lang="zh-CN" altLang="en-US" sz="2800">
                <a:solidFill>
                  <a:schemeClr val="tx1"/>
                </a:solidFill>
                <a:cs typeface="微软雅黑" panose="020B0503020204020204" pitchFamily="34" charset="-122"/>
                <a:sym typeface="+mn-ea"/>
              </a:rPr>
              <a:t>发布</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304800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6 </a:t>
                      </a:r>
                      <a:r>
                        <a:rPr lang="zh-CN" altLang="en-US" sz="1400" dirty="0">
                          <a:sym typeface="+mn-ea"/>
                        </a:rPr>
                        <a:t>确认是否开发</a:t>
                      </a:r>
                      <a:endParaRPr lang="zh-CN" altLang="en-US" sz="1400" dirty="0">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kern="1200" dirty="0">
                          <a:solidFill>
                            <a:schemeClr val="dk1"/>
                          </a:solidFill>
                          <a:latin typeface="+mn-lt"/>
                          <a:ea typeface="+mn-ea"/>
                          <a:cs typeface="+mn-cs"/>
                          <a:sym typeface="+mn-ea"/>
                        </a:rPr>
                        <a:t>根据</a:t>
                      </a:r>
                      <a:r>
                        <a:rPr lang="zh-CN" altLang="en-US" sz="1200" kern="1200" dirty="0">
                          <a:solidFill>
                            <a:schemeClr val="dk1"/>
                          </a:solidFill>
                          <a:latin typeface="+mn-lt"/>
                          <a:ea typeface="+mn-ea"/>
                          <a:cs typeface="+mn-cs"/>
                          <a:sym typeface="Arial" panose="020B0604020202020204"/>
                        </a:rPr>
                        <a:t>报价可行性分析报告表确认是否进入产品开发阶段</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销售专员</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报价可行性分析报告表和审核意见</a:t>
                      </a: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给出产品进入开发阶段的意见</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、记录产品进入开发阶段的审核意见</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、触发销售专员在</a:t>
                      </a:r>
                      <a:r>
                        <a:rPr lang="en-US" altLang="zh-CN" sz="1200" kern="1200" dirty="0">
                          <a:solidFill>
                            <a:schemeClr val="dk1"/>
                          </a:solidFill>
                          <a:latin typeface="+mn-lt"/>
                          <a:ea typeface="+mn-ea"/>
                          <a:cs typeface="+mn-cs"/>
                          <a:sym typeface="Arial" panose="020B0604020202020204"/>
                        </a:rPr>
                        <a:t>OA</a:t>
                      </a:r>
                      <a:r>
                        <a:rPr lang="zh-CN" altLang="en-US" sz="1200" kern="1200" dirty="0">
                          <a:solidFill>
                            <a:schemeClr val="dk1"/>
                          </a:solidFill>
                          <a:latin typeface="+mn-lt"/>
                          <a:ea typeface="+mn-ea"/>
                          <a:cs typeface="+mn-cs"/>
                          <a:sym typeface="Arial" panose="020B0604020202020204"/>
                        </a:rPr>
                        <a:t>发起</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新产品开发任务</a:t>
                      </a:r>
                      <a:r>
                        <a:rPr lang="zh-CN" altLang="en-US" sz="1200" dirty="0">
                          <a:solidFill>
                            <a:schemeClr val="tx1"/>
                          </a:solidFill>
                          <a:latin typeface="微软雅黑" panose="020B0503020204020204" pitchFamily="34" charset="-122"/>
                          <a:ea typeface="微软雅黑" panose="020B0503020204020204" pitchFamily="34" charset="-122"/>
                        </a:rPr>
                        <a:t>书</a:t>
                      </a:r>
                      <a:r>
                        <a:rPr lang="en-US" altLang="zh-CN"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kern="1200" dirty="0">
                          <a:solidFill>
                            <a:schemeClr val="tx1"/>
                          </a:solidFill>
                          <a:latin typeface="+mn-lt"/>
                          <a:ea typeface="+mn-ea"/>
                          <a:cs typeface="+mn-cs"/>
                          <a:sym typeface="Arial" panose="020B0604020202020204"/>
                        </a:rPr>
                        <a:t>3</a:t>
                      </a:r>
                      <a:r>
                        <a:rPr lang="zh-CN" altLang="en-US" sz="1200" kern="1200" dirty="0">
                          <a:solidFill>
                            <a:schemeClr val="tx1"/>
                          </a:solidFill>
                          <a:latin typeface="+mn-lt"/>
                          <a:ea typeface="+mn-ea"/>
                          <a:cs typeface="+mn-cs"/>
                          <a:sym typeface="Arial" panose="020B0604020202020204"/>
                        </a:rPr>
                        <a:t>、</a:t>
                      </a:r>
                      <a:r>
                        <a:rPr kumimoji="0" lang="zh-CN" altLang="en-US" sz="1200" b="0" i="0" u="none" strike="noStrike" kern="1200" cap="none" spc="0" normalizeH="0" baseline="0" noProof="0" dirty="0">
                          <a:ln>
                            <a:noFill/>
                          </a:ln>
                          <a:solidFill>
                            <a:schemeClr val="tx1"/>
                          </a:solidFill>
                          <a:effectLst/>
                          <a:uLnTx/>
                          <a:uFillTx/>
                          <a:latin typeface="+mn-lt"/>
                          <a:ea typeface="+mn-ea"/>
                          <a:cs typeface="+mn-cs"/>
                        </a:rPr>
                        <a:t>生成需求状态（需求草稿、需求确认、需求提交、需求审核、需求驳回、需求终止、需求分派，报告草稿、报告提交、报告审核、报告驳回、更新报价、</a:t>
                      </a:r>
                      <a:r>
                        <a:rPr kumimoji="0" lang="zh-CN" altLang="en-US" sz="1200" b="0" i="0" u="none" strike="noStrike" kern="1200" cap="none" spc="0" normalizeH="0" baseline="0" noProof="0" dirty="0">
                          <a:ln>
                            <a:noFill/>
                          </a:ln>
                          <a:solidFill>
                            <a:srgbClr val="0000FF"/>
                          </a:solidFill>
                          <a:effectLst/>
                          <a:uLnTx/>
                          <a:uFillTx/>
                          <a:latin typeface="+mn-lt"/>
                          <a:ea typeface="+mn-ea"/>
                          <a:cs typeface="+mn-cs"/>
                        </a:rPr>
                        <a:t>需求开发</a:t>
                      </a: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a:t>
                      </a:r>
                      <a:endParaRPr lang="en-US" altLang="zh-CN"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indent="0">
                        <a:buFont typeface="+mj-lt"/>
                        <a:buNone/>
                      </a:pPr>
                      <a:r>
                        <a:rPr lang="en-US" altLang="zh-CN" sz="1200" dirty="0"/>
                        <a:t>1</a:t>
                      </a:r>
                      <a:r>
                        <a:rPr lang="zh-CN" altLang="en-US" sz="1200" dirty="0"/>
                        <a:t>、报告审核通过后，销售专员确认是否进入开发，状态：需求开发</a:t>
                      </a:r>
                      <a:endParaRPr lang="en-US" altLang="zh-CN" sz="1200" dirty="0"/>
                    </a:p>
                    <a:p>
                      <a:pPr indent="0">
                        <a:buFont typeface="+mj-lt"/>
                        <a:buNone/>
                      </a:pPr>
                      <a:r>
                        <a:rPr lang="en-US" altLang="zh-CN" sz="1200" dirty="0"/>
                        <a:t>2</a:t>
                      </a:r>
                      <a:r>
                        <a:rPr lang="zh-CN" altLang="en-US" sz="1200" dirty="0"/>
                        <a:t>、确认开发，状态：需求开发；确认不开发，状态：需求终止</a:t>
                      </a:r>
                      <a:endParaRPr lang="en-US" altLang="zh-CN" sz="1200" dirty="0"/>
                    </a:p>
                    <a:p>
                      <a:pPr indent="0">
                        <a:buFont typeface="+mj-lt"/>
                        <a:buNone/>
                      </a:pPr>
                      <a:r>
                        <a:rPr lang="en-US" altLang="zh-CN" sz="1200" dirty="0"/>
                        <a:t>3</a:t>
                      </a:r>
                      <a:r>
                        <a:rPr lang="zh-CN" altLang="en-US" sz="1200" dirty="0"/>
                        <a:t>、销售专员在发起</a:t>
                      </a:r>
                      <a:r>
                        <a:rPr lang="en-US" altLang="zh-CN" sz="1200" dirty="0"/>
                        <a:t>《</a:t>
                      </a:r>
                      <a:r>
                        <a:rPr lang="zh-CN" altLang="en-US" sz="1200" dirty="0"/>
                        <a:t>新产品开发任务书</a:t>
                      </a:r>
                      <a:r>
                        <a:rPr lang="en-US" altLang="zh-CN" sz="1200" dirty="0"/>
                        <a:t>》</a:t>
                      </a:r>
                      <a:r>
                        <a:rPr lang="zh-CN" altLang="en-US" sz="1200" dirty="0"/>
                        <a:t>前确认是否要多轮报价分析，需多次发起报价可行性分析报告更新（先触发给各专业工程师更新报告后产品工程师汇总更新报告），并保存多轮的报告附件</a:t>
                      </a:r>
                      <a:endParaRPr lang="zh-CN" altLang="en-US" sz="1200" dirty="0"/>
                    </a:p>
                  </a:txBody>
                  <a:tcPr/>
                </a:tc>
              </a:tr>
            </a:tbl>
          </a:graphicData>
        </a:graphic>
      </p:graphicFrame>
    </p:spTree>
    <p:custDataLst>
      <p:tags r:id="rId3"/>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1 </a:t>
            </a:r>
            <a:r>
              <a:rPr lang="zh-CN" altLang="en-US" sz="2800">
                <a:solidFill>
                  <a:schemeClr val="tx1"/>
                </a:solidFill>
                <a:cs typeface="微软雅黑" panose="020B0503020204020204" pitchFamily="34" charset="-122"/>
                <a:sym typeface="+mn-ea"/>
              </a:rPr>
              <a:t>创建结构化项目计划表</a:t>
            </a:r>
            <a:endParaRPr lang="zh-CN" altLang="en-US" sz="2800">
              <a:solidFill>
                <a:schemeClr val="tx1"/>
              </a:solidFill>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246959" y="965948"/>
          <a:ext cx="9921784" cy="2751369"/>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1 </a:t>
                      </a:r>
                      <a:r>
                        <a:rPr lang="zh-CN" altLang="en-US" sz="1400" b="1" kern="1200" dirty="0">
                          <a:solidFill>
                            <a:schemeClr val="lt1"/>
                          </a:solidFill>
                          <a:latin typeface="+mn-lt"/>
                          <a:ea typeface="+mn-ea"/>
                          <a:cs typeface="+mn-cs"/>
                        </a:rPr>
                        <a:t>创建结构化项目计划表</a:t>
                      </a:r>
                      <a:endParaRPr lang="zh-CN" altLang="en-US" sz="1400" b="1" kern="1200" dirty="0">
                        <a:solidFill>
                          <a:schemeClr val="lt1"/>
                        </a:solidFill>
                        <a:latin typeface="+mn-lt"/>
                        <a:ea typeface="+mn-ea"/>
                        <a:cs typeface="+mn-cs"/>
                        <a:sym typeface="+mn-ea"/>
                      </a:endParaRPr>
                    </a:p>
                  </a:txBody>
                  <a:tcPr/>
                </a:tc>
              </a:tr>
              <a:tr h="237772">
                <a:tc>
                  <a:txBody>
                    <a:bodyPr/>
                    <a:lstStyle/>
                    <a:p>
                      <a:pPr>
                        <a:buNone/>
                      </a:pPr>
                      <a:r>
                        <a:rPr lang="zh-CN" altLang="en-US" sz="1200"/>
                        <a:t>做什么</a:t>
                      </a:r>
                      <a:endParaRPr lang="zh-CN" altLang="en-US" sz="1200"/>
                    </a:p>
                  </a:txBody>
                  <a:tcPr/>
                </a:tc>
                <a:tc>
                  <a:txBody>
                    <a:bodyPr/>
                    <a:lstStyle/>
                    <a:p>
                      <a:pPr>
                        <a:buNone/>
                      </a:pPr>
                      <a:r>
                        <a:rPr lang="zh-CN" altLang="en-US" sz="1200" kern="1200" dirty="0">
                          <a:solidFill>
                            <a:schemeClr val="dk1"/>
                          </a:solidFill>
                          <a:latin typeface="+mn-lt"/>
                          <a:ea typeface="+mn-ea"/>
                          <a:cs typeface="+mn-cs"/>
                          <a:sym typeface="+mn-ea"/>
                        </a:rPr>
                        <a:t>将项目计划导入系统进行结构化</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项目负责人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项目计划表</a:t>
                      </a:r>
                      <a:endParaRPr lang="zh-CN" altLang="en-US" sz="1200" dirty="0">
                        <a:sym typeface="+mn-ea"/>
                      </a:endParaRPr>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kern="1200" dirty="0">
                          <a:solidFill>
                            <a:schemeClr val="dk1"/>
                          </a:solidFill>
                          <a:latin typeface="+mn-lt"/>
                          <a:ea typeface="+mn-ea"/>
                          <a:cs typeface="+mn-cs"/>
                          <a:sym typeface="Arial" panose="020B0604020202020204"/>
                        </a:rPr>
                        <a:t>结构化的项目计划</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r>
                        <a:rPr lang="en-US" altLang="zh-CN" sz="1200" kern="1200" dirty="0">
                          <a:solidFill>
                            <a:schemeClr val="dk1"/>
                          </a:solidFill>
                          <a:latin typeface="+mn-lt"/>
                          <a:ea typeface="+mn-ea"/>
                          <a:cs typeface="+mn-cs"/>
                        </a:rPr>
                        <a:t>1</a:t>
                      </a:r>
                      <a:r>
                        <a:rPr lang="zh-CN" altLang="en-US" sz="1200" kern="1200" dirty="0">
                          <a:solidFill>
                            <a:schemeClr val="dk1"/>
                          </a:solidFill>
                          <a:latin typeface="+mn-lt"/>
                          <a:ea typeface="+mn-ea"/>
                          <a:cs typeface="+mn-cs"/>
                        </a:rPr>
                        <a:t>、在系统中维护项目的具体计划任务项，需要能支持导入、导出和手工新增</a:t>
                      </a:r>
                      <a:endParaRPr lang="en-US" altLang="zh-CN" sz="1200" kern="1200" dirty="0">
                        <a:solidFill>
                          <a:schemeClr val="dk1"/>
                        </a:solidFill>
                        <a:latin typeface="+mn-lt"/>
                        <a:ea typeface="+mn-ea"/>
                        <a:cs typeface="+mn-cs"/>
                      </a:endParaRPr>
                    </a:p>
                    <a:p>
                      <a:r>
                        <a:rPr lang="en-US" altLang="zh-CN" sz="1200" kern="1200" dirty="0">
                          <a:solidFill>
                            <a:schemeClr val="dk1"/>
                          </a:solidFill>
                          <a:latin typeface="+mn-lt"/>
                          <a:ea typeface="+mn-ea"/>
                          <a:cs typeface="+mn-cs"/>
                        </a:rPr>
                        <a:t>2</a:t>
                      </a:r>
                      <a:r>
                        <a:rPr lang="zh-CN" altLang="en-US" sz="1200" kern="1200" dirty="0">
                          <a:solidFill>
                            <a:schemeClr val="dk1"/>
                          </a:solidFill>
                          <a:latin typeface="+mn-lt"/>
                          <a:ea typeface="+mn-ea"/>
                          <a:cs typeface="+mn-cs"/>
                        </a:rPr>
                        <a:t>、任务维护和展示：计划管理中的任务项需要能支持</a:t>
                      </a:r>
                      <a:r>
                        <a:rPr lang="en-US" altLang="zh-CN" sz="1200" kern="1200" dirty="0">
                          <a:solidFill>
                            <a:schemeClr val="dk1"/>
                          </a:solidFill>
                          <a:latin typeface="+mn-lt"/>
                          <a:ea typeface="+mn-ea"/>
                          <a:cs typeface="+mn-cs"/>
                        </a:rPr>
                        <a:t>4</a:t>
                      </a:r>
                      <a:r>
                        <a:rPr lang="zh-CN" altLang="en-US" sz="1200" kern="1200" dirty="0">
                          <a:solidFill>
                            <a:schemeClr val="dk1"/>
                          </a:solidFill>
                          <a:latin typeface="+mn-lt"/>
                          <a:ea typeface="+mn-ea"/>
                          <a:cs typeface="+mn-cs"/>
                        </a:rPr>
                        <a:t>层任务（父子任务）的维护和树形展示</a:t>
                      </a:r>
                      <a:endParaRPr lang="en-US" altLang="zh-CN" sz="1200" kern="1200" dirty="0">
                        <a:solidFill>
                          <a:schemeClr val="dk1"/>
                        </a:solidFill>
                        <a:latin typeface="+mn-lt"/>
                        <a:ea typeface="+mn-ea"/>
                        <a:cs typeface="+mn-cs"/>
                      </a:endParaRPr>
                    </a:p>
                    <a:p>
                      <a:r>
                        <a:rPr lang="en-US" altLang="zh-CN" sz="1200" kern="1200" dirty="0">
                          <a:solidFill>
                            <a:schemeClr val="dk1"/>
                          </a:solidFill>
                          <a:latin typeface="+mn-lt"/>
                          <a:ea typeface="+mn-ea"/>
                          <a:cs typeface="+mn-cs"/>
                        </a:rPr>
                        <a:t>3</a:t>
                      </a:r>
                      <a:r>
                        <a:rPr lang="zh-CN" altLang="en-US" sz="1200" kern="1200" dirty="0">
                          <a:solidFill>
                            <a:schemeClr val="dk1"/>
                          </a:solidFill>
                          <a:latin typeface="+mn-lt"/>
                          <a:ea typeface="+mn-ea"/>
                          <a:cs typeface="+mn-cs"/>
                        </a:rPr>
                        <a:t>、时间校验逻辑：任务开始时间和结束时间必须在项目的时间范围内，同一级任务非完全依赖项允许并行</a:t>
                      </a:r>
                      <a:endParaRPr lang="en-US" altLang="zh-CN" sz="1200" kern="1200" dirty="0">
                        <a:solidFill>
                          <a:schemeClr val="dk1"/>
                        </a:solidFill>
                        <a:latin typeface="+mn-lt"/>
                        <a:ea typeface="+mn-ea"/>
                        <a:cs typeface="+mn-cs"/>
                      </a:endParaRPr>
                    </a:p>
                    <a:p>
                      <a:r>
                        <a:rPr lang="en-US" altLang="zh-CN" sz="1200" kern="1200" dirty="0">
                          <a:solidFill>
                            <a:schemeClr val="dk1"/>
                          </a:solidFill>
                          <a:latin typeface="+mn-lt"/>
                          <a:ea typeface="+mn-ea"/>
                          <a:cs typeface="+mn-cs"/>
                        </a:rPr>
                        <a:t>4</a:t>
                      </a:r>
                      <a:r>
                        <a:rPr lang="zh-CN" altLang="en-US" sz="1200" kern="1200" dirty="0">
                          <a:solidFill>
                            <a:schemeClr val="dk1"/>
                          </a:solidFill>
                          <a:latin typeface="+mn-lt"/>
                          <a:ea typeface="+mn-ea"/>
                          <a:cs typeface="+mn-cs"/>
                        </a:rPr>
                        <a:t>、甘特图展示：根据维护的任务时间生成甘特图，并显示出哪些任务是关键路径</a:t>
                      </a:r>
                      <a:endParaRPr lang="en-US" altLang="zh-CN" sz="1200" kern="1200" dirty="0">
                        <a:solidFill>
                          <a:schemeClr val="dk1"/>
                        </a:solidFill>
                        <a:latin typeface="+mn-lt"/>
                        <a:ea typeface="+mn-ea"/>
                        <a:cs typeface="+mn-cs"/>
                      </a:endParaRPr>
                    </a:p>
                    <a:p>
                      <a:r>
                        <a:rPr lang="en-US" altLang="zh-CN" sz="1200" kern="1200" dirty="0">
                          <a:solidFill>
                            <a:schemeClr val="dk1"/>
                          </a:solidFill>
                          <a:latin typeface="+mn-lt"/>
                          <a:ea typeface="+mn-ea"/>
                          <a:cs typeface="+mn-cs"/>
                        </a:rPr>
                        <a:t>5</a:t>
                      </a:r>
                      <a:r>
                        <a:rPr lang="zh-CN" altLang="en-US" sz="1200" kern="1200" dirty="0">
                          <a:solidFill>
                            <a:schemeClr val="dk1"/>
                          </a:solidFill>
                          <a:latin typeface="+mn-lt"/>
                          <a:ea typeface="+mn-ea"/>
                          <a:cs typeface="+mn-cs"/>
                        </a:rPr>
                        <a:t>、基线管理：首次完整计划编写完成后可以生成基线，后续修改或者增加任务项时可以选择是否修改基线并做基线版本对比</a:t>
                      </a:r>
                      <a:endParaRPr lang="zh-CN" altLang="en-US" sz="1200" kern="1200" dirty="0">
                        <a:solidFill>
                          <a:schemeClr val="dk1"/>
                        </a:solidFill>
                        <a:latin typeface="+mn-lt"/>
                        <a:ea typeface="+mn-ea"/>
                        <a:cs typeface="+mn-cs"/>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indent="0">
                        <a:buFont typeface="+mj-lt"/>
                        <a:buNone/>
                      </a:pPr>
                      <a:r>
                        <a:rPr lang="zh-CN" altLang="en-US" sz="1200" dirty="0"/>
                        <a:t>用项目计划管理产品适配</a:t>
                      </a:r>
                      <a:endParaRPr lang="zh-CN" altLang="en-US" sz="1200" dirty="0"/>
                    </a:p>
                  </a:txBody>
                  <a:tcPr/>
                </a:tc>
              </a:tr>
            </a:tbl>
          </a:graphicData>
        </a:graphic>
      </p:graphicFrame>
      <p:pic>
        <p:nvPicPr>
          <p:cNvPr id="43" name="图片 42"/>
          <p:cNvPicPr>
            <a:picLocks noChangeAspect="1"/>
          </p:cNvPicPr>
          <p:nvPr/>
        </p:nvPicPr>
        <p:blipFill>
          <a:blip r:embed="rId3"/>
          <a:stretch>
            <a:fillRect/>
          </a:stretch>
        </p:blipFill>
        <p:spPr>
          <a:xfrm>
            <a:off x="5116530" y="4095077"/>
            <a:ext cx="6052213" cy="748121"/>
          </a:xfrm>
          <a:prstGeom prst="rect">
            <a:avLst/>
          </a:prstGeom>
        </p:spPr>
      </p:pic>
      <p:sp>
        <p:nvSpPr>
          <p:cNvPr id="44" name="文本框 43"/>
          <p:cNvSpPr txBox="1"/>
          <p:nvPr/>
        </p:nvSpPr>
        <p:spPr>
          <a:xfrm>
            <a:off x="3749230" y="4223820"/>
            <a:ext cx="1224000" cy="276999"/>
          </a:xfrm>
          <a:prstGeom prst="rect">
            <a:avLst/>
          </a:prstGeom>
          <a:noFill/>
        </p:spPr>
        <p:txBody>
          <a:bodyPr wrap="none" rtlCol="0">
            <a:spAutoFit/>
          </a:bodyPr>
          <a:lstStyle/>
          <a:p>
            <a:pPr hangingPunct="0">
              <a:spcBef>
                <a:spcPts val="0"/>
              </a:spcBef>
              <a:spcAft>
                <a:spcPts val="0"/>
              </a:spcAft>
            </a:pPr>
            <a:r>
              <a:rPr lang="en-US" altLang="zh-CN" sz="1200" b="1"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Project</a:t>
            </a:r>
            <a:r>
              <a:rPr lang="zh-CN" altLang="en-US" sz="1200" b="1"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rPr>
              <a:t>计划表：</a:t>
            </a:r>
            <a:endParaRPr lang="zh-CN" altLang="en-US" sz="1200" b="1" kern="0" dirty="0">
              <a:solidFill>
                <a:srgbClr val="000000"/>
              </a:solidFill>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3"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en-US" altLang="zh-CN" sz="1200" kern="0" dirty="0">
                <a:uFillTx/>
                <a:latin typeface="+mj-ea"/>
                <a:ea typeface="+mj-ea"/>
                <a:sym typeface="+mn-ea"/>
              </a:rPr>
              <a:t>2.1.2  </a:t>
            </a:r>
            <a:r>
              <a:rPr lang="zh-CN" altLang="en-US" sz="1200" kern="0" dirty="0">
                <a:uFillTx/>
                <a:latin typeface="+mj-ea"/>
                <a:ea typeface="+mj-ea"/>
                <a:sym typeface="+mn-ea"/>
              </a:rPr>
              <a:t>项目计划管理业务设计详细方案</a:t>
            </a:r>
            <a:endParaRPr lang="zh-CN" altLang="en-US" sz="1200" kern="0" dirty="0">
              <a:uFillTx/>
              <a:latin typeface="+mj-ea"/>
              <a:ea typeface="+mj-ea"/>
              <a:sym typeface="+mn-ea"/>
            </a:endParaRPr>
          </a:p>
        </p:txBody>
      </p:sp>
    </p:spTree>
    <p:custDataLst>
      <p:tags r:id="rId4"/>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1 </a:t>
            </a:r>
            <a:r>
              <a:rPr lang="zh-CN" altLang="en-US" sz="2800">
                <a:solidFill>
                  <a:schemeClr val="tx1"/>
                </a:solidFill>
                <a:cs typeface="微软雅黑" panose="020B0503020204020204" pitchFamily="34" charset="-122"/>
                <a:sym typeface="+mn-ea"/>
              </a:rPr>
              <a:t>上载交付件</a:t>
            </a:r>
            <a:endParaRPr lang="zh-CN" altLang="en-US" sz="2800">
              <a:solidFill>
                <a:schemeClr val="tx1"/>
              </a:solidFill>
              <a:cs typeface="微软雅黑" panose="020B0503020204020204" pitchFamily="34" charset="-122"/>
              <a:sym typeface="+mn-ea"/>
            </a:endParaRPr>
          </a:p>
        </p:txBody>
      </p:sp>
      <p:sp>
        <p:nvSpPr>
          <p:cNvPr id="3"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en-US" altLang="zh-CN" sz="1200" kern="0" dirty="0">
                <a:uFillTx/>
                <a:latin typeface="+mj-ea"/>
                <a:ea typeface="+mj-ea"/>
                <a:sym typeface="+mn-ea"/>
              </a:rPr>
              <a:t>2.1.3  </a:t>
            </a:r>
            <a:r>
              <a:rPr lang="zh-CN" altLang="en-US" sz="1200" kern="0" dirty="0">
                <a:uFillTx/>
                <a:latin typeface="+mj-ea"/>
                <a:ea typeface="+mj-ea"/>
                <a:sym typeface="+mn-ea"/>
              </a:rPr>
              <a:t>交付件管理业务设计详细方案</a:t>
            </a:r>
            <a:endParaRPr lang="zh-CN" altLang="en-US" sz="1200" kern="0" dirty="0">
              <a:uFillTx/>
              <a:latin typeface="+mj-ea"/>
              <a:ea typeface="+mj-ea"/>
              <a:sym typeface="+mn-ea"/>
            </a:endParaRPr>
          </a:p>
        </p:txBody>
      </p:sp>
      <p:graphicFrame>
        <p:nvGraphicFramePr>
          <p:cNvPr id="123" name="表格 122"/>
          <p:cNvGraphicFramePr/>
          <p:nvPr>
            <p:custDataLst>
              <p:tags r:id="rId2"/>
            </p:custDataLst>
          </p:nvPr>
        </p:nvGraphicFramePr>
        <p:xfrm>
          <a:off x="1246959" y="965803"/>
          <a:ext cx="9921784" cy="268224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1 </a:t>
                      </a:r>
                      <a:r>
                        <a:rPr lang="zh-CN" altLang="en-US" sz="1400" dirty="0">
                          <a:sym typeface="+mn-ea"/>
                        </a:rPr>
                        <a:t>上载交付件</a:t>
                      </a:r>
                      <a:endParaRPr lang="zh-CN" altLang="en-US" sz="1400" dirty="0">
                        <a:sym typeface="+mn-ea"/>
                      </a:endParaRPr>
                    </a:p>
                  </a:txBody>
                  <a:tcPr/>
                </a:tc>
              </a:tr>
              <a:tr h="237772">
                <a:tc>
                  <a:txBody>
                    <a:bodyPr/>
                    <a:lstStyle/>
                    <a:p>
                      <a:pPr>
                        <a:buNone/>
                      </a:pPr>
                      <a:r>
                        <a:rPr lang="zh-CN" altLang="en-US" sz="1200" dirty="0"/>
                        <a:t>做什么</a:t>
                      </a:r>
                      <a:endParaRPr lang="zh-CN" altLang="en-US" sz="1200" dirty="0"/>
                    </a:p>
                  </a:txBody>
                  <a:tcPr/>
                </a:tc>
                <a:tc>
                  <a:txBody>
                    <a:bodyPr/>
                    <a:lstStyle/>
                    <a:p>
                      <a:pPr>
                        <a:buNone/>
                      </a:pPr>
                      <a:r>
                        <a:rPr lang="zh-CN" altLang="en-US" sz="1200" dirty="0">
                          <a:sym typeface="+mn-ea"/>
                        </a:rPr>
                        <a:t>任务责任人按计划时间在系统在上载任务对应的交付件</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各任务责任人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项目计划表和设计开发管理程序对交付件的要求</a:t>
                      </a:r>
                      <a:endParaRPr lang="zh-CN" altLang="en-US" sz="1200" dirty="0"/>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dirty="0">
                          <a:sym typeface="+mn-ea"/>
                        </a:rPr>
                        <a:t>各任务对应的交付件</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、上载附件，并可以对附件进行备注</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、支持交付件下载和查看</a:t>
                      </a:r>
                      <a:endParaRPr lang="zh-CN" altLang="en-US"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用项目计划管理的交付件管理功能适配</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1</a:t>
                      </a:r>
                      <a:r>
                        <a:rPr lang="zh-CN" altLang="en-US" sz="1200" dirty="0"/>
                        <a:t>、项目责任人和任务对应的责任人可以查看交付件</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dirty="0"/>
                        <a:t>2</a:t>
                      </a:r>
                      <a:r>
                        <a:rPr lang="zh-CN" altLang="en-US" sz="1200" dirty="0"/>
                        <a:t>、任务责任人可以下载、更新、删除自己上载的交付件</a:t>
                      </a:r>
                      <a:endParaRPr lang="en-US" altLang="zh-CN" sz="1200" dirty="0"/>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3</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、界面给出“上载</a:t>
                      </a:r>
                      <a:r>
                        <a:rPr lang="en-US" altLang="zh-CN" sz="1200" kern="1200" dirty="0">
                          <a:solidFill>
                            <a:schemeClr val="dk1"/>
                          </a:solidFill>
                          <a:latin typeface="+mn-lt"/>
                          <a:ea typeface="+mn-ea"/>
                          <a:cs typeface="+mn-cs"/>
                          <a:sym typeface="Arial" panose="020B0604020202020204"/>
                        </a:rPr>
                        <a:t>《XXX》</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”提示</a:t>
                      </a:r>
                      <a:endParaRPr lang="zh-CN" altLang="en-US" sz="1200" dirty="0"/>
                    </a:p>
                  </a:txBody>
                  <a:tcPr/>
                </a:tc>
              </a:tr>
            </a:tbl>
          </a:graphicData>
        </a:graphic>
      </p:graphicFrame>
      <p:sp>
        <p:nvSpPr>
          <p:cNvPr id="4" name="箭头: V 形 3"/>
          <p:cNvSpPr/>
          <p:nvPr/>
        </p:nvSpPr>
        <p:spPr>
          <a:xfrm>
            <a:off x="3787923" y="5264791"/>
            <a:ext cx="756000" cy="345222"/>
          </a:xfrm>
          <a:prstGeom prst="chevron">
            <a:avLst/>
          </a:prstGeom>
          <a:solidFill>
            <a:schemeClr val="accent5">
              <a:lumMod val="20000"/>
              <a:lumOff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5.2 </a:t>
            </a:r>
            <a:r>
              <a:rPr lang="zh-CN" altLang="en-US" sz="1050" kern="0" dirty="0">
                <a:solidFill>
                  <a:schemeClr val="tx1"/>
                </a:solidFill>
                <a:uFillTx/>
                <a:latin typeface="+mn-ea"/>
                <a:ea typeface="+mn-ea"/>
                <a:cs typeface="Arial" panose="020B0604020202020204"/>
                <a:sym typeface="Arial" panose="020B0604020202020204"/>
              </a:rPr>
              <a:t>项目总结</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5" name="箭头: V 形 4"/>
          <p:cNvSpPr/>
          <p:nvPr/>
        </p:nvSpPr>
        <p:spPr>
          <a:xfrm>
            <a:off x="4451740" y="5264791"/>
            <a:ext cx="756000" cy="345222"/>
          </a:xfrm>
          <a:prstGeom prst="chevron">
            <a:avLst/>
          </a:prstGeom>
          <a:solidFill>
            <a:schemeClr val="accent5">
              <a:lumMod val="20000"/>
              <a:lumOff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5.3 G5</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grpSp>
        <p:nvGrpSpPr>
          <p:cNvPr id="8" name="组合 7"/>
          <p:cNvGrpSpPr/>
          <p:nvPr/>
        </p:nvGrpSpPr>
        <p:grpSpPr>
          <a:xfrm>
            <a:off x="5372429" y="5882191"/>
            <a:ext cx="1249598" cy="269006"/>
            <a:chOff x="1866047" y="6091626"/>
            <a:chExt cx="1249598" cy="269006"/>
          </a:xfrm>
        </p:grpSpPr>
        <p:sp>
          <p:nvSpPr>
            <p:cNvPr id="9" name="矩形 8"/>
            <p:cNvSpPr/>
            <p:nvPr/>
          </p:nvSpPr>
          <p:spPr>
            <a:xfrm>
              <a:off x="1866047" y="6142615"/>
              <a:ext cx="445954" cy="167028"/>
            </a:xfrm>
            <a:prstGeom prst="rect">
              <a:avLst/>
            </a:prstGeom>
            <a:solidFill>
              <a:schemeClr val="accent5">
                <a:lumMod val="20000"/>
                <a:lumOff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endParaRPr lang="zh-CN" altLang="en-US" sz="900" kern="0">
                <a:solidFill>
                  <a:schemeClr val="tx1"/>
                </a:solidFill>
                <a:uFillTx/>
                <a:latin typeface="+mn-ea"/>
                <a:ea typeface="+mn-ea"/>
                <a:cs typeface="Arial" panose="020B0604020202020204"/>
                <a:sym typeface="Arial" panose="020B0604020202020204"/>
              </a:endParaRPr>
            </a:p>
          </p:txBody>
        </p:sp>
        <p:sp>
          <p:nvSpPr>
            <p:cNvPr id="10" name="文本框 9"/>
            <p:cNvSpPr txBox="1"/>
            <p:nvPr/>
          </p:nvSpPr>
          <p:spPr>
            <a:xfrm>
              <a:off x="2338411" y="6091626"/>
              <a:ext cx="777234" cy="26900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rgbClr val="0000FF"/>
                  </a:solidFill>
                  <a:latin typeface="微软雅黑 Light" panose="020B0502040204020203" charset="-122"/>
                  <a:ea typeface="微软雅黑 Light" panose="020B0502040204020203" charset="-122"/>
                </a:defRPr>
              </a:lvl1pPr>
            </a:lstStyle>
            <a:p>
              <a:pPr hangingPunct="0">
                <a:spcBef>
                  <a:spcPts val="0"/>
                </a:spcBef>
                <a:spcAft>
                  <a:spcPts val="0"/>
                </a:spcAft>
              </a:pPr>
              <a:r>
                <a:rPr lang="zh-CN" altLang="en-US" sz="900" kern="0" dirty="0">
                  <a:solidFill>
                    <a:schemeClr val="tx1"/>
                  </a:solidFill>
                  <a:uFillTx/>
                  <a:latin typeface="+mn-ea"/>
                  <a:ea typeface="+mn-ea"/>
                  <a:cs typeface="Arial" panose="020B0604020202020204"/>
                  <a:sym typeface="Arial" panose="020B0604020202020204"/>
                </a:rPr>
                <a:t>活动提醒</a:t>
              </a:r>
              <a:endParaRPr lang="en-US" altLang="zh-CN" sz="900" kern="0" dirty="0">
                <a:solidFill>
                  <a:schemeClr val="tx1"/>
                </a:solidFill>
                <a:uFillTx/>
                <a:latin typeface="+mn-ea"/>
                <a:ea typeface="+mn-ea"/>
                <a:cs typeface="Arial" panose="020B0604020202020204"/>
                <a:sym typeface="Arial" panose="020B0604020202020204"/>
              </a:endParaRPr>
            </a:p>
            <a:p>
              <a:pPr hangingPunct="0">
                <a:spcBef>
                  <a:spcPts val="0"/>
                </a:spcBef>
                <a:spcAft>
                  <a:spcPts val="0"/>
                </a:spcAft>
              </a:pPr>
              <a:r>
                <a:rPr lang="zh-CN" altLang="en-US" sz="900" b="1" kern="0" dirty="0">
                  <a:solidFill>
                    <a:schemeClr val="tx1"/>
                  </a:solidFill>
                  <a:uFillTx/>
                  <a:latin typeface="+mn-ea"/>
                  <a:ea typeface="+mn-ea"/>
                  <a:cs typeface="Arial" panose="020B0604020202020204"/>
                  <a:sym typeface="Arial" panose="020B0604020202020204"/>
                </a:rPr>
                <a:t>交付件齐套</a:t>
              </a:r>
              <a:endParaRPr lang="zh-CN" altLang="en-US" sz="900" b="1" kern="0" dirty="0">
                <a:solidFill>
                  <a:schemeClr val="tx1"/>
                </a:solidFill>
                <a:uFillTx/>
                <a:latin typeface="+mn-ea"/>
                <a:ea typeface="+mn-ea"/>
                <a:cs typeface="Arial" panose="020B0604020202020204"/>
                <a:sym typeface="Arial" panose="020B0604020202020204"/>
              </a:endParaRPr>
            </a:p>
          </p:txBody>
        </p:sp>
      </p:grpSp>
      <p:sp>
        <p:nvSpPr>
          <p:cNvPr id="11" name="矩形 10"/>
          <p:cNvSpPr/>
          <p:nvPr/>
        </p:nvSpPr>
        <p:spPr>
          <a:xfrm>
            <a:off x="665559" y="3703806"/>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G1</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：计划和确定项目</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2" name="矩形 11"/>
          <p:cNvSpPr/>
          <p:nvPr/>
        </p:nvSpPr>
        <p:spPr>
          <a:xfrm>
            <a:off x="6357484" y="3705981"/>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G2</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：产品设计和开发</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3" name="矩形 12"/>
          <p:cNvSpPr/>
          <p:nvPr/>
        </p:nvSpPr>
        <p:spPr>
          <a:xfrm>
            <a:off x="670972" y="4407834"/>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G3</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：过程设计开发</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4" name="矩形 13"/>
          <p:cNvSpPr/>
          <p:nvPr/>
        </p:nvSpPr>
        <p:spPr>
          <a:xfrm>
            <a:off x="5510476" y="4403360"/>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G4</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：产品和过程确认</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5" name="矩形 14"/>
          <p:cNvSpPr/>
          <p:nvPr/>
        </p:nvSpPr>
        <p:spPr>
          <a:xfrm>
            <a:off x="677588" y="5107757"/>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G5</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：量产</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6" name="箭头: V 形 15"/>
          <p:cNvSpPr/>
          <p:nvPr/>
        </p:nvSpPr>
        <p:spPr>
          <a:xfrm>
            <a:off x="7066900" y="3862901"/>
            <a:ext cx="1440000" cy="345222"/>
          </a:xfrm>
          <a:prstGeom prst="chevron">
            <a:avLst/>
          </a:prstGeom>
          <a:solidFill>
            <a:srgbClr val="E3E8F3"/>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2.1 </a:t>
            </a:r>
            <a:r>
              <a:rPr lang="zh-CN" altLang="en-US" sz="1050" kern="0" dirty="0">
                <a:solidFill>
                  <a:srgbClr val="000000"/>
                </a:solidFill>
                <a:uFillTx/>
                <a:latin typeface="+mn-ea"/>
                <a:ea typeface="+mn-ea"/>
                <a:cs typeface="Arial" panose="020B0604020202020204"/>
                <a:sym typeface="Arial" panose="020B0604020202020204"/>
              </a:rPr>
              <a:t>产品设计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17" name="箭头: V 形 16"/>
          <p:cNvSpPr/>
          <p:nvPr/>
        </p:nvSpPr>
        <p:spPr>
          <a:xfrm>
            <a:off x="10074835" y="3862901"/>
            <a:ext cx="144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2.5 G2</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18" name="箭头: V 形 17"/>
          <p:cNvSpPr/>
          <p:nvPr/>
        </p:nvSpPr>
        <p:spPr>
          <a:xfrm>
            <a:off x="1416964" y="4564754"/>
            <a:ext cx="1440000" cy="345222"/>
          </a:xfrm>
          <a:prstGeom prst="chevron">
            <a:avLst/>
          </a:prstGeom>
          <a:solidFill>
            <a:srgbClr val="E3E7F3"/>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3.1 </a:t>
            </a:r>
            <a:r>
              <a:rPr lang="zh-CN" altLang="en-US" sz="1050" kern="0" dirty="0">
                <a:solidFill>
                  <a:srgbClr val="000000"/>
                </a:solidFill>
                <a:uFillTx/>
                <a:latin typeface="+mn-ea"/>
                <a:ea typeface="+mn-ea"/>
                <a:cs typeface="Arial" panose="020B0604020202020204"/>
                <a:sym typeface="Arial" panose="020B0604020202020204"/>
              </a:rPr>
              <a:t>制造过程设计输入评审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19" name="箭头: V 形 18"/>
          <p:cNvSpPr/>
          <p:nvPr/>
        </p:nvSpPr>
        <p:spPr>
          <a:xfrm>
            <a:off x="2806108" y="4564754"/>
            <a:ext cx="144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3.5 </a:t>
            </a:r>
            <a:r>
              <a:rPr lang="zh-CN" altLang="en-US" sz="1050" kern="0" dirty="0">
                <a:solidFill>
                  <a:schemeClr val="tx1"/>
                </a:solidFill>
                <a:uFillTx/>
                <a:latin typeface="+mn-ea"/>
                <a:ea typeface="+mn-ea"/>
                <a:cs typeface="Arial" panose="020B0604020202020204"/>
                <a:sym typeface="Arial" panose="020B0604020202020204"/>
              </a:rPr>
              <a:t>过程设计开发输出评审</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0" name="箭头: V 形 19"/>
          <p:cNvSpPr/>
          <p:nvPr/>
        </p:nvSpPr>
        <p:spPr>
          <a:xfrm>
            <a:off x="4191240" y="4564754"/>
            <a:ext cx="108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3.6 G3</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1" name="箭头: V 形 20"/>
          <p:cNvSpPr/>
          <p:nvPr/>
        </p:nvSpPr>
        <p:spPr>
          <a:xfrm>
            <a:off x="6204337" y="4560280"/>
            <a:ext cx="1440000" cy="345222"/>
          </a:xfrm>
          <a:prstGeom prst="chevron">
            <a:avLst/>
          </a:prstGeom>
          <a:solidFill>
            <a:srgbClr val="B6C0DE"/>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4.4 </a:t>
            </a:r>
            <a:r>
              <a:rPr lang="zh-CN" altLang="en-US" sz="1050" kern="0" dirty="0">
                <a:solidFill>
                  <a:srgbClr val="000000"/>
                </a:solidFill>
                <a:uFillTx/>
                <a:latin typeface="+mn-ea"/>
                <a:ea typeface="+mn-ea"/>
                <a:cs typeface="Arial" panose="020B0604020202020204"/>
                <a:sym typeface="Arial" panose="020B0604020202020204"/>
              </a:rPr>
              <a:t>试产报告输出评审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22" name="箭头: V 形 21"/>
          <p:cNvSpPr/>
          <p:nvPr/>
        </p:nvSpPr>
        <p:spPr>
          <a:xfrm>
            <a:off x="7576848" y="4560280"/>
            <a:ext cx="756000" cy="345222"/>
          </a:xfrm>
          <a:prstGeom prst="chevron">
            <a:avLst/>
          </a:prstGeom>
          <a:solidFill>
            <a:srgbClr val="B6C0DE"/>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4.5 G4</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3" name="箭头: V 形 22"/>
          <p:cNvSpPr/>
          <p:nvPr/>
        </p:nvSpPr>
        <p:spPr>
          <a:xfrm>
            <a:off x="1414436" y="5264791"/>
            <a:ext cx="2448000" cy="345108"/>
          </a:xfrm>
          <a:prstGeom prst="chevron">
            <a:avLst/>
          </a:prstGeom>
          <a:solidFill>
            <a:srgbClr val="E3E7F3"/>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5.1</a:t>
            </a:r>
            <a:r>
              <a:rPr lang="zh-CN" altLang="en-US" sz="1050" kern="0" dirty="0">
                <a:solidFill>
                  <a:schemeClr val="tx1"/>
                </a:solidFill>
                <a:uFillTx/>
                <a:latin typeface="+mn-ea"/>
                <a:ea typeface="+mn-ea"/>
                <a:cs typeface="Arial" panose="020B0604020202020204"/>
                <a:sym typeface="Arial" panose="020B0604020202020204"/>
              </a:rPr>
              <a:t>量产准入申请</a:t>
            </a:r>
            <a:r>
              <a:rPr lang="en-US" altLang="zh-CN" sz="1050" kern="0" dirty="0">
                <a:solidFill>
                  <a:schemeClr val="tx1"/>
                </a:solidFill>
                <a:uFillTx/>
                <a:latin typeface="+mn-ea"/>
                <a:ea typeface="+mn-ea"/>
                <a:cs typeface="Arial" panose="020B0604020202020204"/>
                <a:sym typeface="Arial" panose="020B0604020202020204"/>
              </a:rPr>
              <a:t>Deviation Ramp Up/Ramp Up/Deviation/</a:t>
            </a:r>
            <a:r>
              <a:rPr lang="zh-CN" altLang="en-US" sz="1050" kern="0" dirty="0">
                <a:solidFill>
                  <a:schemeClr val="tx1"/>
                </a:solidFill>
                <a:uFillTx/>
                <a:latin typeface="+mn-ea"/>
                <a:ea typeface="+mn-ea"/>
                <a:cs typeface="Arial" panose="020B0604020202020204"/>
                <a:sym typeface="Arial" panose="020B0604020202020204"/>
              </a:rPr>
              <a:t>量产条件</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4" name="箭头: V 形 23"/>
          <p:cNvSpPr/>
          <p:nvPr/>
        </p:nvSpPr>
        <p:spPr>
          <a:xfrm>
            <a:off x="8445766" y="3863015"/>
            <a:ext cx="1692000" cy="345108"/>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2.4 </a:t>
            </a:r>
            <a:r>
              <a:rPr lang="zh-CN" altLang="en-US" sz="1050" kern="0" dirty="0">
                <a:solidFill>
                  <a:schemeClr val="tx1"/>
                </a:solidFill>
                <a:uFillTx/>
                <a:latin typeface="+mn-ea"/>
                <a:ea typeface="+mn-ea"/>
                <a:cs typeface="Arial" panose="020B0604020202020204"/>
                <a:sym typeface="Arial" panose="020B0604020202020204"/>
              </a:rPr>
              <a:t>召开样板总结会，输出</a:t>
            </a:r>
            <a:r>
              <a:rPr lang="en-US" altLang="zh-CN" sz="1050" kern="0" dirty="0">
                <a:solidFill>
                  <a:schemeClr val="tx1"/>
                </a:solidFill>
                <a:uFillTx/>
                <a:latin typeface="+mn-ea"/>
                <a:ea typeface="+mn-ea"/>
                <a:cs typeface="Arial" panose="020B0604020202020204"/>
                <a:sym typeface="Arial" panose="020B0604020202020204"/>
              </a:rPr>
              <a:t>《</a:t>
            </a:r>
            <a:r>
              <a:rPr lang="zh-CN" altLang="en-US" sz="1050" kern="0" dirty="0">
                <a:solidFill>
                  <a:schemeClr val="tx1"/>
                </a:solidFill>
                <a:uFillTx/>
                <a:latin typeface="+mn-ea"/>
                <a:ea typeface="+mn-ea"/>
                <a:cs typeface="Arial" panose="020B0604020202020204"/>
                <a:sym typeface="Arial" panose="020B0604020202020204"/>
              </a:rPr>
              <a:t>样板评估报告</a:t>
            </a:r>
            <a:r>
              <a:rPr lang="en-US" altLang="zh-CN" sz="1050" kern="0" dirty="0">
                <a:solidFill>
                  <a:schemeClr val="tx1"/>
                </a:solidFill>
                <a:uFillTx/>
                <a:latin typeface="+mn-ea"/>
                <a:ea typeface="+mn-ea"/>
                <a:cs typeface="Arial" panose="020B0604020202020204"/>
                <a:sym typeface="Arial" panose="020B0604020202020204"/>
              </a:rPr>
              <a:t>》</a:t>
            </a:r>
            <a:endParaRPr lang="en-US" altLang="zh-CN" sz="1050" kern="0" dirty="0">
              <a:solidFill>
                <a:schemeClr val="tx1"/>
              </a:solidFill>
              <a:uFillTx/>
              <a:latin typeface="+mn-ea"/>
              <a:ea typeface="+mn-ea"/>
              <a:cs typeface="Arial" panose="020B0604020202020204"/>
              <a:sym typeface="Arial" panose="020B0604020202020204"/>
            </a:endParaRPr>
          </a:p>
        </p:txBody>
      </p:sp>
      <p:cxnSp>
        <p:nvCxnSpPr>
          <p:cNvPr id="25" name="直接连接符 24"/>
          <p:cNvCxnSpPr/>
          <p:nvPr/>
        </p:nvCxnSpPr>
        <p:spPr>
          <a:xfrm>
            <a:off x="677588" y="5008807"/>
            <a:ext cx="10872000" cy="0"/>
          </a:xfrm>
          <a:prstGeom prst="line">
            <a:avLst/>
          </a:prstGeom>
          <a:noFill/>
          <a:ln w="19050" cap="flat">
            <a:solidFill>
              <a:schemeClr val="bg1">
                <a:lumMod val="65000"/>
              </a:schemeClr>
            </a:solidFill>
            <a:prstDash val="sysDash"/>
            <a:miter lim="800000"/>
          </a:ln>
        </p:spPr>
        <p:style>
          <a:lnRef idx="0">
            <a:srgbClr val="FFFFFF"/>
          </a:lnRef>
          <a:fillRef idx="0">
            <a:srgbClr val="FFFFFF"/>
          </a:fillRef>
          <a:effectRef idx="0">
            <a:srgbClr val="FFFFFF"/>
          </a:effectRef>
          <a:fontRef idx="none"/>
        </p:style>
      </p:cxnSp>
      <p:cxnSp>
        <p:nvCxnSpPr>
          <p:cNvPr id="26" name="直接连接符 25"/>
          <p:cNvCxnSpPr/>
          <p:nvPr/>
        </p:nvCxnSpPr>
        <p:spPr>
          <a:xfrm>
            <a:off x="677588" y="4297375"/>
            <a:ext cx="10872000" cy="0"/>
          </a:xfrm>
          <a:prstGeom prst="line">
            <a:avLst/>
          </a:prstGeom>
          <a:noFill/>
          <a:ln w="19050" cap="flat">
            <a:solidFill>
              <a:schemeClr val="bg1">
                <a:lumMod val="65000"/>
              </a:schemeClr>
            </a:solidFill>
            <a:prstDash val="sysDash"/>
            <a:miter lim="800000"/>
          </a:ln>
        </p:spPr>
        <p:style>
          <a:lnRef idx="0">
            <a:srgbClr val="FFFFFF"/>
          </a:lnRef>
          <a:fillRef idx="0">
            <a:srgbClr val="FFFFFF"/>
          </a:fillRef>
          <a:effectRef idx="0">
            <a:srgbClr val="FFFFFF"/>
          </a:effectRef>
          <a:fontRef idx="none"/>
        </p:style>
      </p:cxnSp>
      <p:grpSp>
        <p:nvGrpSpPr>
          <p:cNvPr id="27" name="组合 26"/>
          <p:cNvGrpSpPr/>
          <p:nvPr/>
        </p:nvGrpSpPr>
        <p:grpSpPr>
          <a:xfrm>
            <a:off x="6677907" y="5882191"/>
            <a:ext cx="1249598" cy="360000"/>
            <a:chOff x="4055556" y="6143997"/>
            <a:chExt cx="1249598" cy="360000"/>
          </a:xfrm>
        </p:grpSpPr>
        <p:sp>
          <p:nvSpPr>
            <p:cNvPr id="28" name="矩形 27"/>
            <p:cNvSpPr/>
            <p:nvPr/>
          </p:nvSpPr>
          <p:spPr>
            <a:xfrm>
              <a:off x="4055556" y="6240483"/>
              <a:ext cx="445954" cy="167028"/>
            </a:xfrm>
            <a:prstGeom prst="rect">
              <a:avLst/>
            </a:prstGeom>
            <a:solidFill>
              <a:schemeClr val="tx2">
                <a:lumMod val="25000"/>
                <a:lumOff val="75000"/>
                <a:alpha val="9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endParaRPr lang="zh-CN" altLang="en-US" sz="1000" kern="0">
                <a:solidFill>
                  <a:srgbClr val="000000"/>
                </a:solidFill>
                <a:uFillTx/>
                <a:latin typeface="+mn-ea"/>
                <a:ea typeface="+mn-ea"/>
                <a:cs typeface="Arial" panose="020B0604020202020204"/>
                <a:sym typeface="Arial" panose="020B0604020202020204"/>
              </a:endParaRPr>
            </a:p>
          </p:txBody>
        </p:sp>
        <p:sp>
          <p:nvSpPr>
            <p:cNvPr id="29" name="文本框 28"/>
            <p:cNvSpPr txBox="1"/>
            <p:nvPr/>
          </p:nvSpPr>
          <p:spPr>
            <a:xfrm>
              <a:off x="4527920" y="6143997"/>
              <a:ext cx="777234"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nSpc>
                  <a:spcPct val="150000"/>
                </a:lnSpc>
                <a:defRPr sz="1000">
                  <a:solidFill>
                    <a:schemeClr val="tx1"/>
                  </a:solidFill>
                  <a:latin typeface="+mn-ea"/>
                  <a:ea typeface="+mn-ea"/>
                </a:defRPr>
              </a:lvl1pPr>
            </a:lstStyle>
            <a:p>
              <a:pPr hangingPunct="0">
                <a:lnSpc>
                  <a:spcPct val="100000"/>
                </a:lnSpc>
                <a:spcBef>
                  <a:spcPts val="0"/>
                </a:spcBef>
                <a:spcAft>
                  <a:spcPts val="0"/>
                </a:spcAft>
              </a:pPr>
              <a:r>
                <a:rPr lang="zh-CN" altLang="en-US" sz="800" kern="0" dirty="0">
                  <a:uFillTx/>
                  <a:cs typeface="Arial" panose="020B0604020202020204"/>
                  <a:sym typeface="Arial" panose="020B0604020202020204"/>
                </a:rPr>
                <a:t>活动提醒</a:t>
              </a:r>
              <a:endParaRPr lang="en-US" altLang="zh-CN" sz="800" kern="0" dirty="0">
                <a:uFillTx/>
                <a:cs typeface="Arial" panose="020B0604020202020204"/>
                <a:sym typeface="Arial" panose="020B0604020202020204"/>
              </a:endParaRPr>
            </a:p>
            <a:p>
              <a:pPr hangingPunct="0">
                <a:lnSpc>
                  <a:spcPct val="100000"/>
                </a:lnSpc>
                <a:spcBef>
                  <a:spcPts val="0"/>
                </a:spcBef>
                <a:spcAft>
                  <a:spcPts val="0"/>
                </a:spcAft>
              </a:pPr>
              <a:r>
                <a:rPr lang="zh-CN" altLang="en-US" sz="800" b="1" kern="0" dirty="0">
                  <a:uFillTx/>
                  <a:cs typeface="Arial" panose="020B0604020202020204"/>
                  <a:sym typeface="Arial" panose="020B0604020202020204"/>
                </a:rPr>
                <a:t>交付件齐套</a:t>
              </a:r>
              <a:endParaRPr lang="en-US" altLang="zh-CN" sz="800" b="1" kern="0" dirty="0">
                <a:uFillTx/>
                <a:cs typeface="Arial" panose="020B0604020202020204"/>
                <a:sym typeface="Arial" panose="020B0604020202020204"/>
              </a:endParaRPr>
            </a:p>
            <a:p>
              <a:pPr hangingPunct="0">
                <a:lnSpc>
                  <a:spcPct val="100000"/>
                </a:lnSpc>
                <a:spcBef>
                  <a:spcPts val="0"/>
                </a:spcBef>
                <a:spcAft>
                  <a:spcPts val="0"/>
                </a:spcAft>
              </a:pPr>
              <a:r>
                <a:rPr lang="zh-CN" altLang="en-US" sz="800" b="1" kern="0" dirty="0">
                  <a:solidFill>
                    <a:srgbClr val="0000FF"/>
                  </a:solidFill>
                  <a:uFillTx/>
                  <a:cs typeface="Arial" panose="020B0604020202020204"/>
                  <a:sym typeface="Arial" panose="020B0604020202020204"/>
                </a:rPr>
                <a:t>任务令</a:t>
              </a:r>
              <a:endParaRPr lang="zh-CN" altLang="en-US" sz="800" b="1" kern="0" dirty="0">
                <a:solidFill>
                  <a:srgbClr val="0000FF"/>
                </a:solidFill>
                <a:uFillTx/>
                <a:cs typeface="Arial" panose="020B0604020202020204"/>
                <a:sym typeface="Arial" panose="020B0604020202020204"/>
              </a:endParaRPr>
            </a:p>
          </p:txBody>
        </p:sp>
      </p:grpSp>
      <p:grpSp>
        <p:nvGrpSpPr>
          <p:cNvPr id="30" name="组合 29"/>
          <p:cNvGrpSpPr/>
          <p:nvPr/>
        </p:nvGrpSpPr>
        <p:grpSpPr>
          <a:xfrm>
            <a:off x="7957886" y="5927191"/>
            <a:ext cx="1708895" cy="270000"/>
            <a:chOff x="5340637" y="6188997"/>
            <a:chExt cx="1708895" cy="270000"/>
          </a:xfrm>
        </p:grpSpPr>
        <p:sp>
          <p:nvSpPr>
            <p:cNvPr id="31" name="矩形 30"/>
            <p:cNvSpPr/>
            <p:nvPr/>
          </p:nvSpPr>
          <p:spPr>
            <a:xfrm>
              <a:off x="5340637" y="6240483"/>
              <a:ext cx="445954" cy="167028"/>
            </a:xfrm>
            <a:prstGeom prst="rect">
              <a:avLst/>
            </a:prstGeom>
            <a:solidFill>
              <a:schemeClr val="tx2">
                <a:lumMod val="10000"/>
                <a:lumOff val="90000"/>
                <a:alpha val="8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t">
              <a:noAutofit/>
            </a:bodyPr>
            <a:lstStyle/>
            <a:p>
              <a:pPr algn="ctr" hangingPunct="0">
                <a:spcBef>
                  <a:spcPts val="0"/>
                </a:spcBef>
                <a:spcAft>
                  <a:spcPts val="0"/>
                </a:spcAft>
              </a:pP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32" name="文本框 31"/>
            <p:cNvSpPr txBox="1"/>
            <p:nvPr/>
          </p:nvSpPr>
          <p:spPr>
            <a:xfrm>
              <a:off x="5804305" y="6188997"/>
              <a:ext cx="777234" cy="27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chemeClr val="tx1"/>
                  </a:solidFill>
                  <a:latin typeface="+mn-ea"/>
                  <a:ea typeface="+mn-ea"/>
                </a:defRPr>
              </a:lvl1pPr>
            </a:lstStyle>
            <a:p>
              <a:pPr hangingPunct="0">
                <a:spcBef>
                  <a:spcPts val="0"/>
                </a:spcBef>
                <a:spcAft>
                  <a:spcPts val="0"/>
                </a:spcAft>
              </a:pPr>
              <a:r>
                <a:rPr lang="zh-CN" altLang="en-US" sz="900" kern="0" dirty="0">
                  <a:uFillTx/>
                  <a:cs typeface="Arial" panose="020B0604020202020204"/>
                  <a:sym typeface="Arial" panose="020B0604020202020204"/>
                </a:rPr>
                <a:t>活动提醒</a:t>
              </a:r>
              <a:endParaRPr lang="en-US" altLang="zh-CN" sz="900" kern="0" dirty="0">
                <a:uFillTx/>
                <a:cs typeface="Arial" panose="020B0604020202020204"/>
                <a:sym typeface="Arial" panose="020B0604020202020204"/>
              </a:endParaRPr>
            </a:p>
            <a:p>
              <a:pPr hangingPunct="0">
                <a:spcBef>
                  <a:spcPts val="0"/>
                </a:spcBef>
                <a:spcAft>
                  <a:spcPts val="0"/>
                </a:spcAft>
              </a:pPr>
              <a:r>
                <a:rPr lang="zh-CN" altLang="en-US" sz="900" kern="0" dirty="0">
                  <a:uFillTx/>
                  <a:cs typeface="Arial" panose="020B0604020202020204"/>
                  <a:sym typeface="Arial" panose="020B0604020202020204"/>
                </a:rPr>
                <a:t>状态获取</a:t>
              </a:r>
              <a:endParaRPr lang="zh-CN" altLang="en-US" sz="900" kern="0" dirty="0">
                <a:uFillTx/>
                <a:cs typeface="Arial" panose="020B0604020202020204"/>
                <a:sym typeface="Arial" panose="020B0604020202020204"/>
              </a:endParaRPr>
            </a:p>
          </p:txBody>
        </p:sp>
        <p:sp>
          <p:nvSpPr>
            <p:cNvPr id="33" name="文本框 32"/>
            <p:cNvSpPr txBox="1"/>
            <p:nvPr/>
          </p:nvSpPr>
          <p:spPr>
            <a:xfrm>
              <a:off x="6401532" y="6188997"/>
              <a:ext cx="648000" cy="27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chemeClr val="tx1"/>
                  </a:solidFill>
                  <a:latin typeface="+mn-ea"/>
                  <a:ea typeface="+mn-ea"/>
                </a:defRPr>
              </a:lvl1pPr>
            </a:lstStyle>
            <a:p>
              <a:pPr hangingPunct="0">
                <a:spcBef>
                  <a:spcPts val="0"/>
                </a:spcBef>
                <a:spcAft>
                  <a:spcPts val="0"/>
                </a:spcAft>
              </a:pPr>
              <a:r>
                <a:rPr lang="zh-CN" altLang="en-US" sz="900" b="1" kern="0" dirty="0">
                  <a:uFillTx/>
                  <a:cs typeface="Arial" panose="020B0604020202020204"/>
                  <a:sym typeface="Arial" panose="020B0604020202020204"/>
                </a:rPr>
                <a:t>交付件齐套</a:t>
              </a:r>
              <a:endParaRPr lang="en-US" altLang="zh-CN" sz="900" b="1" kern="0" dirty="0">
                <a:uFillTx/>
                <a:cs typeface="Arial" panose="020B0604020202020204"/>
                <a:sym typeface="Arial" panose="020B0604020202020204"/>
              </a:endParaRPr>
            </a:p>
            <a:p>
              <a:pPr hangingPunct="0">
                <a:spcBef>
                  <a:spcPts val="0"/>
                </a:spcBef>
                <a:spcAft>
                  <a:spcPts val="0"/>
                </a:spcAft>
              </a:pPr>
              <a:r>
                <a:rPr lang="zh-CN" altLang="en-US" sz="900" b="1" kern="0" dirty="0">
                  <a:solidFill>
                    <a:srgbClr val="0000FF"/>
                  </a:solidFill>
                  <a:uFillTx/>
                  <a:cs typeface="Arial" panose="020B0604020202020204"/>
                  <a:sym typeface="Arial" panose="020B0604020202020204"/>
                </a:rPr>
                <a:t>任务令</a:t>
              </a:r>
              <a:endParaRPr lang="zh-CN" altLang="en-US" sz="900" b="1" kern="0" dirty="0">
                <a:solidFill>
                  <a:srgbClr val="0000FF"/>
                </a:solidFill>
                <a:uFillTx/>
                <a:cs typeface="Arial" panose="020B0604020202020204"/>
                <a:sym typeface="Arial" panose="020B0604020202020204"/>
              </a:endParaRPr>
            </a:p>
          </p:txBody>
        </p:sp>
      </p:grpSp>
      <p:sp>
        <p:nvSpPr>
          <p:cNvPr id="34" name="文本框 33"/>
          <p:cNvSpPr txBox="1"/>
          <p:nvPr/>
        </p:nvSpPr>
        <p:spPr>
          <a:xfrm>
            <a:off x="9900109" y="5904829"/>
            <a:ext cx="1127781" cy="31472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nSpc>
                <a:spcPct val="150000"/>
              </a:lnSpc>
              <a:defRPr sz="900">
                <a:solidFill>
                  <a:schemeClr val="tx1"/>
                </a:solidFill>
                <a:latin typeface="+mn-ea"/>
                <a:ea typeface="+mn-ea"/>
              </a:defRPr>
            </a:lvl1pPr>
          </a:lstStyle>
          <a:p>
            <a:pPr hangingPunct="0">
              <a:lnSpc>
                <a:spcPct val="100000"/>
              </a:lnSpc>
              <a:spcBef>
                <a:spcPts val="0"/>
              </a:spcBef>
              <a:spcAft>
                <a:spcPts val="0"/>
              </a:spcAft>
            </a:pPr>
            <a:r>
              <a:rPr lang="zh-CN" altLang="en-US" sz="1000" kern="0" dirty="0">
                <a:solidFill>
                  <a:schemeClr val="bg2">
                    <a:lumMod val="50000"/>
                  </a:schemeClr>
                </a:solidFill>
                <a:uFillTx/>
                <a:cs typeface="Arial" panose="020B0604020202020204"/>
                <a:sym typeface="Arial" panose="020B0604020202020204"/>
              </a:rPr>
              <a:t>活动提醒和任务令发送到企业微信</a:t>
            </a:r>
            <a:endParaRPr lang="zh-CN" altLang="en-US" sz="1000" kern="0" dirty="0">
              <a:solidFill>
                <a:schemeClr val="bg2">
                  <a:lumMod val="50000"/>
                </a:schemeClr>
              </a:solidFill>
              <a:uFillTx/>
              <a:cs typeface="Arial" panose="020B0604020202020204"/>
              <a:sym typeface="Arial" panose="020B0604020202020204"/>
            </a:endParaRPr>
          </a:p>
        </p:txBody>
      </p:sp>
      <p:sp>
        <p:nvSpPr>
          <p:cNvPr id="36" name="箭头: V 形 35"/>
          <p:cNvSpPr/>
          <p:nvPr/>
        </p:nvSpPr>
        <p:spPr>
          <a:xfrm>
            <a:off x="2495608" y="3860726"/>
            <a:ext cx="1152000" cy="345222"/>
          </a:xfrm>
          <a:prstGeom prst="chevron">
            <a:avLst/>
          </a:prstGeom>
          <a:solidFill>
            <a:schemeClr val="tx2">
              <a:lumMod val="25000"/>
              <a:lumOff val="75000"/>
              <a:alpha val="9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rgbClr val="000000"/>
                </a:solidFill>
                <a:uFillTx/>
                <a:latin typeface="+mn-ea"/>
                <a:ea typeface="+mn-ea"/>
                <a:cs typeface="Arial" panose="020B0604020202020204"/>
                <a:sym typeface="Arial" panose="020B0604020202020204"/>
              </a:rPr>
              <a:t>1.7 </a:t>
            </a:r>
            <a:r>
              <a:rPr lang="zh-CN" altLang="en-US" sz="900" kern="0" dirty="0">
                <a:solidFill>
                  <a:srgbClr val="000000"/>
                </a:solidFill>
                <a:uFillTx/>
                <a:latin typeface="+mn-ea"/>
                <a:ea typeface="+mn-ea"/>
                <a:cs typeface="Arial" panose="020B0604020202020204"/>
                <a:sym typeface="Arial" panose="020B0604020202020204"/>
              </a:rPr>
              <a:t>汇总各专业可行性分析报告</a:t>
            </a: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39" name="箭头: V 形 38"/>
          <p:cNvSpPr/>
          <p:nvPr/>
        </p:nvSpPr>
        <p:spPr>
          <a:xfrm>
            <a:off x="5435443" y="3860726"/>
            <a:ext cx="756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chemeClr val="tx1"/>
                </a:solidFill>
                <a:uFillTx/>
                <a:latin typeface="+mn-ea"/>
                <a:ea typeface="+mn-ea"/>
                <a:cs typeface="Arial" panose="020B0604020202020204"/>
                <a:sym typeface="Arial" panose="020B0604020202020204"/>
              </a:rPr>
              <a:t>1.13 G1</a:t>
            </a:r>
            <a:r>
              <a:rPr lang="zh-CN" altLang="en-US" sz="900" kern="0" dirty="0">
                <a:solidFill>
                  <a:schemeClr val="tx1"/>
                </a:solidFill>
                <a:uFillTx/>
                <a:latin typeface="+mn-ea"/>
                <a:ea typeface="+mn-ea"/>
                <a:cs typeface="Arial" panose="020B0604020202020204"/>
                <a:sym typeface="Arial" panose="020B0604020202020204"/>
              </a:rPr>
              <a:t>检查</a:t>
            </a:r>
            <a:endParaRPr lang="zh-CN" altLang="en-US" sz="900" kern="0" dirty="0">
              <a:solidFill>
                <a:schemeClr val="tx1"/>
              </a:solidFill>
              <a:uFillTx/>
              <a:latin typeface="+mn-ea"/>
              <a:ea typeface="+mn-ea"/>
              <a:cs typeface="Arial" panose="020B0604020202020204"/>
              <a:sym typeface="Arial" panose="020B0604020202020204"/>
            </a:endParaRPr>
          </a:p>
        </p:txBody>
      </p:sp>
      <p:sp>
        <p:nvSpPr>
          <p:cNvPr id="41" name="文本框 40"/>
          <p:cNvSpPr txBox="1"/>
          <p:nvPr/>
        </p:nvSpPr>
        <p:spPr>
          <a:xfrm>
            <a:off x="7263307" y="3705235"/>
            <a:ext cx="972000" cy="1583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a:t>
            </a:r>
            <a:r>
              <a:rPr lang="en-US" altLang="zh-CN"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PLM</a:t>
            </a: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状态和时间</a:t>
            </a:r>
            <a:endParaRPr kumimoji="0" lang="zh-CN" altLang="en-US" sz="8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42" name="组合 41"/>
          <p:cNvGrpSpPr/>
          <p:nvPr/>
        </p:nvGrpSpPr>
        <p:grpSpPr>
          <a:xfrm>
            <a:off x="3596596" y="3705380"/>
            <a:ext cx="936000" cy="488739"/>
            <a:chOff x="11264902" y="2562824"/>
            <a:chExt cx="936000" cy="488739"/>
          </a:xfrm>
        </p:grpSpPr>
        <p:sp>
          <p:nvSpPr>
            <p:cNvPr id="43" name="箭头: V 形 42"/>
            <p:cNvSpPr/>
            <p:nvPr/>
          </p:nvSpPr>
          <p:spPr>
            <a:xfrm>
              <a:off x="11264902" y="2706341"/>
              <a:ext cx="936000" cy="345222"/>
            </a:xfrm>
            <a:prstGeom prst="chevron">
              <a:avLst/>
            </a:prstGeom>
            <a:solidFill>
              <a:schemeClr val="tx2">
                <a:lumMod val="10000"/>
                <a:lumOff val="90000"/>
                <a:alpha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t">
              <a:noAutofit/>
            </a:bodyPr>
            <a:lstStyle/>
            <a:p>
              <a:pPr algn="ctr" hangingPunct="0">
                <a:spcBef>
                  <a:spcPts val="0"/>
                </a:spcBef>
                <a:spcAft>
                  <a:spcPts val="0"/>
                </a:spcAft>
              </a:pPr>
              <a:r>
                <a:rPr lang="en-US" altLang="zh-CN" sz="900" kern="0" dirty="0">
                  <a:solidFill>
                    <a:srgbClr val="000000"/>
                  </a:solidFill>
                  <a:uFillTx/>
                  <a:latin typeface="+mn-ea"/>
                  <a:ea typeface="+mn-ea"/>
                  <a:cs typeface="Arial" panose="020B0604020202020204"/>
                  <a:sym typeface="Arial" panose="020B0604020202020204"/>
                </a:rPr>
                <a:t>1.11 </a:t>
              </a:r>
              <a:r>
                <a:rPr lang="zh-CN" altLang="en-US" sz="900" kern="0" dirty="0">
                  <a:solidFill>
                    <a:srgbClr val="000000"/>
                  </a:solidFill>
                  <a:uFillTx/>
                  <a:latin typeface="+mn-ea"/>
                  <a:ea typeface="+mn-ea"/>
                  <a:cs typeface="Arial" panose="020B0604020202020204"/>
                  <a:sym typeface="Arial" panose="020B0604020202020204"/>
                </a:rPr>
                <a:t>项目立项与启动</a:t>
              </a: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44" name="文本框 43"/>
            <p:cNvSpPr txBox="1"/>
            <p:nvPr/>
          </p:nvSpPr>
          <p:spPr>
            <a:xfrm>
              <a:off x="11354902" y="2562824"/>
              <a:ext cx="756000" cy="14998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800" kern="0" dirty="0">
                  <a:uFillTx/>
                  <a:cs typeface="Arial" panose="020B0604020202020204"/>
                  <a:sym typeface="Arial" panose="020B0604020202020204"/>
                </a:rPr>
                <a:t>触发</a:t>
              </a:r>
              <a:r>
                <a:rPr lang="en-US" altLang="zh-CN" sz="800" kern="0" dirty="0">
                  <a:uFillTx/>
                  <a:cs typeface="Arial" panose="020B0604020202020204"/>
                  <a:sym typeface="Arial" panose="020B0604020202020204"/>
                </a:rPr>
                <a:t>OA/</a:t>
              </a:r>
              <a:r>
                <a:rPr lang="zh-CN" altLang="en-US" sz="800" kern="0" dirty="0">
                  <a:uFillTx/>
                  <a:cs typeface="Arial" panose="020B0604020202020204"/>
                  <a:sym typeface="Arial" panose="020B0604020202020204"/>
                </a:rPr>
                <a:t>取状态</a:t>
              </a:r>
              <a:endParaRPr lang="zh-CN" altLang="en-US" sz="800" kern="0" dirty="0">
                <a:uFillTx/>
                <a:cs typeface="Arial" panose="020B0604020202020204"/>
                <a:sym typeface="Arial" panose="020B0604020202020204"/>
              </a:endParaRPr>
            </a:p>
          </p:txBody>
        </p:sp>
      </p:grpSp>
      <p:sp>
        <p:nvSpPr>
          <p:cNvPr id="47" name="文本框 46"/>
          <p:cNvSpPr txBox="1"/>
          <p:nvPr/>
        </p:nvSpPr>
        <p:spPr>
          <a:xfrm>
            <a:off x="1627547" y="4396250"/>
            <a:ext cx="972000" cy="17570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a:t>
            </a:r>
            <a:r>
              <a:rPr lang="en-US" altLang="zh-CN"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PLM</a:t>
            </a: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状态和时间</a:t>
            </a:r>
            <a:endParaRPr kumimoji="0" lang="zh-CN" altLang="en-US" sz="8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0" name="文本框 49"/>
          <p:cNvSpPr txBox="1"/>
          <p:nvPr/>
        </p:nvSpPr>
        <p:spPr>
          <a:xfrm>
            <a:off x="6478289" y="4407404"/>
            <a:ext cx="864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触发</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OA/</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取状态</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2" name="文本框 51"/>
          <p:cNvSpPr txBox="1"/>
          <p:nvPr/>
        </p:nvSpPr>
        <p:spPr>
          <a:xfrm>
            <a:off x="2159319" y="5100235"/>
            <a:ext cx="864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触发</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OA/</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取状态</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53" name="箭头: V 形 52"/>
          <p:cNvSpPr/>
          <p:nvPr/>
        </p:nvSpPr>
        <p:spPr>
          <a:xfrm>
            <a:off x="1394449" y="3860726"/>
            <a:ext cx="1152000" cy="345222"/>
          </a:xfrm>
          <a:prstGeom prst="chevron">
            <a:avLst/>
          </a:prstGeom>
          <a:solidFill>
            <a:srgbClr val="B7C1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rgbClr val="FF0000"/>
                </a:solidFill>
                <a:uFillTx/>
                <a:latin typeface="+mn-ea"/>
                <a:ea typeface="+mn-ea"/>
                <a:cs typeface="Arial" panose="020B0604020202020204"/>
                <a:sym typeface="Arial" panose="020B0604020202020204"/>
              </a:rPr>
              <a:t>1.5 </a:t>
            </a:r>
            <a:r>
              <a:rPr lang="zh-CN" altLang="en-US" sz="900" kern="0" dirty="0">
                <a:solidFill>
                  <a:srgbClr val="FF0000"/>
                </a:solidFill>
                <a:uFillTx/>
                <a:latin typeface="+mn-ea"/>
                <a:ea typeface="+mn-ea"/>
                <a:cs typeface="Arial" panose="020B0604020202020204"/>
                <a:sym typeface="Arial" panose="020B0604020202020204"/>
              </a:rPr>
              <a:t>上载各专业可行性分析报告</a:t>
            </a:r>
            <a:endParaRPr lang="zh-CN" altLang="en-US" sz="900" kern="0" dirty="0">
              <a:solidFill>
                <a:srgbClr val="FF0000"/>
              </a:solidFill>
              <a:uFillTx/>
              <a:latin typeface="+mn-ea"/>
              <a:ea typeface="+mn-ea"/>
              <a:cs typeface="Arial" panose="020B0604020202020204"/>
              <a:sym typeface="Arial" panose="020B0604020202020204"/>
            </a:endParaRPr>
          </a:p>
        </p:txBody>
      </p:sp>
      <p:sp>
        <p:nvSpPr>
          <p:cNvPr id="55" name="箭头: V 形 54"/>
          <p:cNvSpPr/>
          <p:nvPr/>
        </p:nvSpPr>
        <p:spPr>
          <a:xfrm>
            <a:off x="4466476" y="3860726"/>
            <a:ext cx="1044000" cy="345222"/>
          </a:xfrm>
          <a:prstGeom prst="chevron">
            <a:avLst/>
          </a:prstGeom>
          <a:solidFill>
            <a:schemeClr val="accent5">
              <a:lumMod val="20000"/>
              <a:lumOff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chemeClr val="tx1"/>
                </a:solidFill>
                <a:uFillTx/>
                <a:latin typeface="+mn-ea"/>
                <a:ea typeface="+mn-ea"/>
                <a:cs typeface="Arial" panose="020B0604020202020204"/>
                <a:sym typeface="Arial" panose="020B0604020202020204"/>
              </a:rPr>
              <a:t>1.12 </a:t>
            </a:r>
            <a:r>
              <a:rPr lang="zh-CN" altLang="en-US" sz="900" kern="0" dirty="0">
                <a:solidFill>
                  <a:schemeClr val="tx1"/>
                </a:solidFill>
                <a:uFillTx/>
                <a:latin typeface="+mn-ea"/>
                <a:ea typeface="+mn-ea"/>
                <a:cs typeface="Arial" panose="020B0604020202020204"/>
                <a:sym typeface="Arial" panose="020B0604020202020204"/>
              </a:rPr>
              <a:t>输出产品过程输出件</a:t>
            </a:r>
            <a:endParaRPr lang="zh-CN" altLang="en-US" sz="900" kern="0" dirty="0">
              <a:solidFill>
                <a:schemeClr val="tx1"/>
              </a:solidFill>
              <a:uFillTx/>
              <a:latin typeface="+mn-ea"/>
              <a:ea typeface="+mn-ea"/>
              <a:cs typeface="Arial" panose="020B0604020202020204"/>
              <a:sym typeface="Arial" panose="020B0604020202020204"/>
            </a:endParaRPr>
          </a:p>
        </p:txBody>
      </p:sp>
    </p:spTree>
    <p:custDataLst>
      <p:tags r:id="rId3"/>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2 </a:t>
            </a:r>
            <a:r>
              <a:rPr lang="zh-CN" altLang="en-US" sz="2800">
                <a:solidFill>
                  <a:schemeClr val="tx1"/>
                </a:solidFill>
                <a:cs typeface="微软雅黑" panose="020B0503020204020204" pitchFamily="34" charset="-122"/>
                <a:sym typeface="+mn-ea"/>
              </a:rPr>
              <a:t>任务与交付件对应关系</a:t>
            </a:r>
            <a:endParaRPr lang="zh-CN" altLang="en-US" sz="2800">
              <a:solidFill>
                <a:schemeClr val="tx1"/>
              </a:solidFill>
              <a:cs typeface="微软雅黑" panose="020B0503020204020204" pitchFamily="34" charset="-122"/>
              <a:sym typeface="+mn-ea"/>
            </a:endParaRPr>
          </a:p>
        </p:txBody>
      </p:sp>
      <p:graphicFrame>
        <p:nvGraphicFramePr>
          <p:cNvPr id="126" name="表格 125"/>
          <p:cNvGraphicFramePr>
            <a:graphicFrameLocks noGrp="1"/>
          </p:cNvGraphicFramePr>
          <p:nvPr/>
        </p:nvGraphicFramePr>
        <p:xfrm>
          <a:off x="870204" y="987976"/>
          <a:ext cx="10451592" cy="5232840"/>
        </p:xfrm>
        <a:graphic>
          <a:graphicData uri="http://schemas.openxmlformats.org/drawingml/2006/table">
            <a:tbl>
              <a:tblPr>
                <a:tableStyleId>{5C22544A-7EE6-4342-B048-85BDC9FD1C3A}</a:tableStyleId>
              </a:tblPr>
              <a:tblGrid>
                <a:gridCol w="2029968"/>
                <a:gridCol w="1955292"/>
                <a:gridCol w="6466332"/>
              </a:tblGrid>
              <a:tr h="162608">
                <a:tc>
                  <a:txBody>
                    <a:bodyPr/>
                    <a:lstStyle/>
                    <a:p>
                      <a:pPr algn="ctr" fontAlgn="ctr"/>
                      <a:r>
                        <a:rPr lang="zh-CN" altLang="en-US" sz="1100" b="1" u="none" strike="noStrike" dirty="0">
                          <a:effectLst/>
                          <a:latin typeface="+mn-ea"/>
                          <a:ea typeface="+mn-ea"/>
                        </a:rPr>
                        <a:t>阶段</a:t>
                      </a:r>
                      <a:r>
                        <a:rPr lang="en-US" altLang="zh-CN" sz="1100" b="1" u="none" strike="noStrike" dirty="0">
                          <a:effectLst/>
                          <a:latin typeface="+mn-ea"/>
                          <a:ea typeface="+mn-ea"/>
                        </a:rPr>
                        <a:t>-</a:t>
                      </a:r>
                      <a:r>
                        <a:rPr lang="zh-CN" altLang="en-US" sz="1100" b="1" u="none" strike="noStrike" dirty="0">
                          <a:effectLst/>
                          <a:latin typeface="+mn-ea"/>
                          <a:ea typeface="+mn-ea"/>
                        </a:rPr>
                        <a:t>流程</a:t>
                      </a:r>
                      <a:endParaRPr lang="zh-CN" altLang="en-US" sz="1100" b="1"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ctr" fontAlgn="ctr"/>
                      <a:r>
                        <a:rPr lang="zh-CN" altLang="en-US" sz="1100" b="1" u="none" strike="noStrike">
                          <a:effectLst/>
                          <a:latin typeface="+mn-ea"/>
                          <a:ea typeface="+mn-ea"/>
                        </a:rPr>
                        <a:t>活动责任人</a:t>
                      </a:r>
                      <a:endParaRPr lang="zh-CN" altLang="en-US" sz="1100" b="1"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ctr" fontAlgn="ctr"/>
                      <a:r>
                        <a:rPr lang="zh-CN" altLang="en-US" sz="1100" b="1" i="0" u="none" strike="noStrike" dirty="0">
                          <a:solidFill>
                            <a:srgbClr val="000000"/>
                          </a:solidFill>
                          <a:effectLst/>
                          <a:latin typeface="+mn-ea"/>
                          <a:ea typeface="+mn-ea"/>
                        </a:rPr>
                        <a:t>交付件名称及可选标识</a:t>
                      </a:r>
                      <a:endParaRPr lang="zh-CN" altLang="en-US" sz="1100" b="1"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b="1" u="none" strike="noStrike" dirty="0">
                          <a:effectLst/>
                          <a:latin typeface="+mn-ea"/>
                          <a:ea typeface="+mn-ea"/>
                        </a:rPr>
                        <a:t>G1-</a:t>
                      </a:r>
                      <a:r>
                        <a:rPr lang="zh-CN" altLang="en-US" sz="1000" b="1" u="none" strike="noStrike" dirty="0">
                          <a:effectLst/>
                          <a:latin typeface="+mn-ea"/>
                          <a:ea typeface="+mn-ea"/>
                        </a:rPr>
                        <a:t>计划和确定项目</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1" i="0" u="none" strike="noStrike">
                        <a:solidFill>
                          <a:srgbClr val="0000FF"/>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1" i="0" u="none" strike="noStrike">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u="none" strike="noStrike" dirty="0">
                          <a:effectLst/>
                          <a:latin typeface="+mn-ea"/>
                          <a:ea typeface="+mn-ea"/>
                        </a:rPr>
                        <a:t>G1.5-</a:t>
                      </a:r>
                      <a:r>
                        <a:rPr lang="zh-CN" altLang="en-US" sz="1000" u="none" strike="noStrike" dirty="0">
                          <a:effectLst/>
                          <a:latin typeface="+mn-ea"/>
                          <a:ea typeface="+mn-ea"/>
                        </a:rPr>
                        <a:t>上载各专业可行性分析报告</a:t>
                      </a:r>
                      <a:endParaRPr lang="en-US" altLang="zh-CN"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产品、工程、采购、质量工程师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各专业</a:t>
                      </a:r>
                      <a:r>
                        <a:rPr lang="en-US" altLang="zh-CN" sz="1000" u="none" strike="noStrike" dirty="0">
                          <a:effectLst/>
                          <a:latin typeface="+mn-ea"/>
                          <a:ea typeface="+mn-ea"/>
                        </a:rPr>
                        <a:t>《</a:t>
                      </a:r>
                      <a:r>
                        <a:rPr lang="zh-CN" altLang="en-US" sz="1000" u="none" strike="noStrike" dirty="0">
                          <a:effectLst/>
                          <a:latin typeface="+mn-ea"/>
                          <a:ea typeface="+mn-ea"/>
                        </a:rPr>
                        <a:t>报价可行性分析报告表</a:t>
                      </a:r>
                      <a:r>
                        <a:rPr lang="en-US" altLang="zh-CN" sz="1000" u="none" strike="noStrike" dirty="0">
                          <a:effectLst/>
                          <a:latin typeface="+mn-ea"/>
                          <a:ea typeface="+mn-ea"/>
                        </a:rPr>
                        <a:t>》</a:t>
                      </a:r>
                      <a:endParaRPr lang="en-US" altLang="zh-CN"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u="none" strike="noStrike" dirty="0">
                          <a:effectLst/>
                          <a:latin typeface="+mn-ea"/>
                          <a:ea typeface="+mn-ea"/>
                        </a:rPr>
                        <a:t>G1.7-</a:t>
                      </a:r>
                      <a:r>
                        <a:rPr lang="zh-CN" altLang="en-US" sz="1000" u="none" strike="noStrike" dirty="0">
                          <a:effectLst/>
                          <a:latin typeface="+mn-ea"/>
                          <a:ea typeface="+mn-ea"/>
                        </a:rPr>
                        <a:t>汇总各专业可行性分析报告</a:t>
                      </a:r>
                      <a:endParaRPr lang="zh-CN" altLang="en-US" sz="1000" b="0" i="1" u="none" strike="noStrike" dirty="0">
                        <a:solidFill>
                          <a:srgbClr val="C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产品工程师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u="none" strike="noStrike" dirty="0">
                          <a:effectLst/>
                          <a:latin typeface="+mn-ea"/>
                          <a:ea typeface="+mn-ea"/>
                        </a:rPr>
                        <a:t>汇总的</a:t>
                      </a:r>
                      <a:r>
                        <a:rPr lang="en-US" altLang="zh-CN" sz="1000" u="none" strike="noStrike" dirty="0">
                          <a:effectLst/>
                          <a:latin typeface="+mn-ea"/>
                          <a:ea typeface="+mn-ea"/>
                        </a:rPr>
                        <a:t>《</a:t>
                      </a:r>
                      <a:r>
                        <a:rPr lang="zh-CN" altLang="en-US" sz="1000" u="none" strike="noStrike" dirty="0">
                          <a:effectLst/>
                          <a:latin typeface="+mn-ea"/>
                          <a:ea typeface="+mn-ea"/>
                        </a:rPr>
                        <a:t>报价可行性分析报告表</a:t>
                      </a:r>
                      <a:r>
                        <a:rPr lang="en-US" altLang="zh-CN" sz="1000" u="none" strike="noStrike" dirty="0">
                          <a:effectLst/>
                          <a:latin typeface="+mn-ea"/>
                          <a:ea typeface="+mn-ea"/>
                        </a:rPr>
                        <a:t>》</a:t>
                      </a:r>
                      <a:endParaRPr lang="en-US" altLang="zh-CN"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u="none" strike="noStrike" dirty="0">
                          <a:effectLst/>
                          <a:latin typeface="+mn-ea"/>
                          <a:ea typeface="+mn-ea"/>
                        </a:rPr>
                        <a:t>G1.11-</a:t>
                      </a:r>
                      <a:r>
                        <a:rPr lang="zh-CN" altLang="en-US" sz="1000" u="none" strike="noStrike" dirty="0">
                          <a:effectLst/>
                          <a:latin typeface="+mn-ea"/>
                          <a:ea typeface="+mn-ea"/>
                        </a:rPr>
                        <a:t>项目立项与启动</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产品工程师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上载</a:t>
                      </a:r>
                      <a:r>
                        <a:rPr lang="en-US" altLang="zh-CN" sz="1000" u="none" strike="noStrike" dirty="0">
                          <a:effectLst/>
                          <a:latin typeface="+mn-ea"/>
                          <a:ea typeface="+mn-ea"/>
                        </a:rPr>
                        <a:t>《</a:t>
                      </a:r>
                      <a:r>
                        <a:rPr lang="zh-CN" altLang="en-US" sz="1000" u="none" strike="noStrike" dirty="0">
                          <a:effectLst/>
                          <a:latin typeface="+mn-ea"/>
                          <a:ea typeface="+mn-ea"/>
                        </a:rPr>
                        <a:t>产品设计输入评审报告</a:t>
                      </a:r>
                      <a:r>
                        <a:rPr lang="en-US" altLang="zh-CN" sz="1000" u="none" strike="noStrike" dirty="0">
                          <a:effectLst/>
                          <a:latin typeface="+mn-ea"/>
                          <a:ea typeface="+mn-ea"/>
                        </a:rPr>
                        <a:t>》</a:t>
                      </a:r>
                      <a:endParaRPr lang="zh-CN" altLang="en-US" sz="1000" b="1"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dirty="0">
                          <a:solidFill>
                            <a:schemeClr val="tx1"/>
                          </a:solidFill>
                          <a:latin typeface="+mn-ea"/>
                          <a:ea typeface="+mn-ea"/>
                        </a:rPr>
                        <a:t>G1.12-</a:t>
                      </a:r>
                      <a:r>
                        <a:rPr lang="zh-CN" altLang="en-US" sz="1000" dirty="0">
                          <a:solidFill>
                            <a:schemeClr val="tx1"/>
                          </a:solidFill>
                          <a:latin typeface="+mn-ea"/>
                          <a:ea typeface="+mn-ea"/>
                        </a:rPr>
                        <a:t>输出产品过程输出件</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研发责任人、采购责任人</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研发责任人上传初始</a:t>
                      </a:r>
                      <a:r>
                        <a:rPr lang="en-US" altLang="zh-CN" sz="1000" u="none" strike="noStrike" dirty="0">
                          <a:effectLst/>
                          <a:latin typeface="+mn-ea"/>
                          <a:ea typeface="+mn-ea"/>
                        </a:rPr>
                        <a:t>《</a:t>
                      </a:r>
                      <a:r>
                        <a:rPr lang="zh-CN" altLang="en-US" sz="1000" u="none" strike="noStrike" dirty="0">
                          <a:effectLst/>
                          <a:latin typeface="+mn-ea"/>
                          <a:ea typeface="+mn-ea"/>
                        </a:rPr>
                        <a:t>产品过程流程图</a:t>
                      </a:r>
                      <a:r>
                        <a:rPr lang="en-US" altLang="zh-CN" sz="1000" u="none" strike="noStrike" dirty="0">
                          <a:effectLst/>
                          <a:latin typeface="+mn-ea"/>
                          <a:ea typeface="+mn-ea"/>
                        </a:rPr>
                        <a:t>》</a:t>
                      </a:r>
                      <a:r>
                        <a:rPr lang="zh-CN" altLang="en-US" sz="1000" u="none" strike="noStrike" dirty="0">
                          <a:effectLst/>
                          <a:latin typeface="+mn-ea"/>
                          <a:ea typeface="+mn-ea"/>
                        </a:rPr>
                        <a:t>和初始</a:t>
                      </a:r>
                      <a:r>
                        <a:rPr lang="en-US" altLang="zh-CN" sz="1000" u="none" strike="noStrike" dirty="0">
                          <a:effectLst/>
                          <a:latin typeface="+mn-ea"/>
                          <a:ea typeface="+mn-ea"/>
                        </a:rPr>
                        <a:t>《</a:t>
                      </a:r>
                      <a:r>
                        <a:rPr lang="zh-CN" altLang="en-US" sz="1000" u="none" strike="noStrike" dirty="0">
                          <a:effectLst/>
                          <a:latin typeface="+mn-ea"/>
                          <a:ea typeface="+mn-ea"/>
                        </a:rPr>
                        <a:t>产品和过程特殊特性清单</a:t>
                      </a:r>
                      <a:r>
                        <a:rPr lang="en-US" altLang="zh-CN" sz="1000" u="none" strike="noStrike" dirty="0">
                          <a:effectLst/>
                          <a:latin typeface="+mn-ea"/>
                          <a:ea typeface="+mn-ea"/>
                        </a:rPr>
                        <a:t>》,</a:t>
                      </a:r>
                      <a:r>
                        <a:rPr lang="zh-CN" altLang="en-US" sz="1000" u="none" strike="noStrike" dirty="0">
                          <a:effectLst/>
                          <a:latin typeface="+mn-ea"/>
                          <a:ea typeface="+mn-ea"/>
                        </a:rPr>
                        <a:t>采购责任人上传</a:t>
                      </a:r>
                      <a:r>
                        <a:rPr lang="en-US" altLang="zh-CN" sz="1000" u="none" strike="noStrike" dirty="0">
                          <a:effectLst/>
                          <a:latin typeface="+mn-ea"/>
                          <a:ea typeface="+mn-ea"/>
                        </a:rPr>
                        <a:t>《</a:t>
                      </a:r>
                      <a:r>
                        <a:rPr lang="zh-CN" altLang="en-US" sz="1000" u="none" strike="noStrike" dirty="0">
                          <a:effectLst/>
                          <a:latin typeface="+mn-ea"/>
                          <a:ea typeface="+mn-ea"/>
                        </a:rPr>
                        <a:t>物料选型确认表</a:t>
                      </a:r>
                      <a:r>
                        <a:rPr lang="en-US" altLang="zh-CN" sz="1000" u="none" strike="noStrike" dirty="0">
                          <a:effectLst/>
                          <a:latin typeface="+mn-ea"/>
                          <a:ea typeface="+mn-ea"/>
                        </a:rPr>
                        <a:t>》</a:t>
                      </a:r>
                      <a:endParaRPr lang="zh-CN" altLang="en-US" sz="1000" b="1"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dirty="0">
                          <a:effectLst/>
                          <a:latin typeface="+mn-ea"/>
                          <a:ea typeface="+mn-ea"/>
                        </a:rPr>
                        <a:t>G1.13-G1</a:t>
                      </a:r>
                      <a:r>
                        <a:rPr lang="zh-CN" altLang="en-US" sz="1000" u="none" strike="noStrike" dirty="0">
                          <a:effectLst/>
                          <a:latin typeface="+mn-ea"/>
                          <a:ea typeface="+mn-ea"/>
                        </a:rPr>
                        <a:t>检查</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工程师上传</a:t>
                      </a:r>
                      <a:r>
                        <a:rPr lang="en-US" altLang="zh-CN" sz="1000" u="none" strike="noStrike" dirty="0">
                          <a:effectLst/>
                          <a:latin typeface="+mn-ea"/>
                          <a:ea typeface="+mn-ea"/>
                        </a:rPr>
                        <a:t>G1 Checklist</a:t>
                      </a:r>
                      <a:endParaRPr lang="zh-CN" altLang="en-US" sz="1000" b="1"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b="1" u="none" strike="noStrike" dirty="0">
                          <a:effectLst/>
                          <a:latin typeface="+mn-ea"/>
                          <a:ea typeface="+mn-ea"/>
                        </a:rPr>
                        <a:t>G2-</a:t>
                      </a:r>
                      <a:r>
                        <a:rPr lang="zh-CN" altLang="en-US" sz="1000" b="1" u="none" strike="noStrike" dirty="0">
                          <a:effectLst/>
                          <a:latin typeface="+mn-ea"/>
                          <a:ea typeface="+mn-ea"/>
                        </a:rPr>
                        <a:t>产品设计开发</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359089">
                <a:tc>
                  <a:txBody>
                    <a:bodyPr/>
                    <a:lstStyle/>
                    <a:p>
                      <a:pPr algn="l" fontAlgn="ctr"/>
                      <a:r>
                        <a:rPr lang="en-US" altLang="zh-CN" sz="1000" b="0" i="0" u="none" strike="noStrike" dirty="0">
                          <a:solidFill>
                            <a:srgbClr val="000000"/>
                          </a:solidFill>
                          <a:effectLst/>
                          <a:latin typeface="+mn-ea"/>
                          <a:ea typeface="+mn-ea"/>
                        </a:rPr>
                        <a:t>G2.1-</a:t>
                      </a:r>
                      <a:r>
                        <a:rPr lang="zh-CN" altLang="en-US" sz="1000" b="0" i="0" u="none" strike="noStrike" dirty="0">
                          <a:solidFill>
                            <a:srgbClr val="000000"/>
                          </a:solidFill>
                          <a:effectLst/>
                          <a:latin typeface="+mn-ea"/>
                          <a:ea typeface="+mn-ea"/>
                        </a:rPr>
                        <a:t>产品设计</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项目负责人</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产品、结构、电子、电声、包装、软件</a:t>
                      </a:r>
                      <a:r>
                        <a:rPr lang="en-US" altLang="zh-CN" sz="1000" b="0" i="0" u="none" strike="noStrike" dirty="0">
                          <a:solidFill>
                            <a:srgbClr val="000000"/>
                          </a:solidFill>
                          <a:effectLst/>
                          <a:latin typeface="+mn-ea"/>
                          <a:ea typeface="+mn-ea"/>
                        </a:rPr>
                        <a:t>6</a:t>
                      </a:r>
                      <a:r>
                        <a:rPr lang="zh-CN" altLang="en-US" sz="1000" b="0" i="0" u="none" strike="noStrike" dirty="0">
                          <a:solidFill>
                            <a:srgbClr val="000000"/>
                          </a:solidFill>
                          <a:effectLst/>
                          <a:latin typeface="+mn-ea"/>
                          <a:ea typeface="+mn-ea"/>
                        </a:rPr>
                        <a:t>专业工程师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产品：</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表（结构化）、外形图（附件）、总装图（附件）、包装示意图（附件）、规格书（附件），只校验</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表；结构：零部件图纸（</a:t>
                      </a:r>
                      <a:r>
                        <a:rPr lang="en-US" altLang="zh-CN" sz="1000" b="0" i="0" u="none" strike="noStrike" dirty="0">
                          <a:solidFill>
                            <a:srgbClr val="000000"/>
                          </a:solidFill>
                          <a:effectLst/>
                          <a:latin typeface="+mn-ea"/>
                          <a:ea typeface="+mn-ea"/>
                        </a:rPr>
                        <a:t>2D</a:t>
                      </a:r>
                      <a:r>
                        <a:rPr lang="zh-CN" altLang="en-US" sz="1000" b="0" i="0" u="none" strike="noStrike" dirty="0">
                          <a:solidFill>
                            <a:srgbClr val="000000"/>
                          </a:solidFill>
                          <a:effectLst/>
                          <a:latin typeface="+mn-ea"/>
                          <a:ea typeface="+mn-ea"/>
                        </a:rPr>
                        <a:t>必选、</a:t>
                      </a:r>
                      <a:r>
                        <a:rPr lang="en-US" altLang="zh-CN" sz="1000" b="0" i="0" u="none" strike="noStrike" dirty="0">
                          <a:solidFill>
                            <a:srgbClr val="000000"/>
                          </a:solidFill>
                          <a:effectLst/>
                          <a:latin typeface="+mn-ea"/>
                          <a:ea typeface="+mn-ea"/>
                        </a:rPr>
                        <a:t>3D</a:t>
                      </a:r>
                      <a:r>
                        <a:rPr lang="zh-CN" altLang="en-US" sz="1000" b="0" i="0" u="none" strike="noStrike" dirty="0">
                          <a:solidFill>
                            <a:srgbClr val="000000"/>
                          </a:solidFill>
                          <a:effectLst/>
                          <a:latin typeface="+mn-ea"/>
                          <a:ea typeface="+mn-ea"/>
                        </a:rPr>
                        <a:t>），校验料号发布；电子：电子</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校验料号发布；电声：电声</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校验料号发布；包装：包装</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校验料号发布；软件：校验料号发布</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u="none" strike="noStrike" dirty="0">
                          <a:effectLst/>
                          <a:latin typeface="+mn-ea"/>
                          <a:ea typeface="+mn-ea"/>
                        </a:rPr>
                        <a:t>G2.4-</a:t>
                      </a:r>
                      <a:r>
                        <a:rPr lang="zh-CN" altLang="en-US" sz="1000" u="none" strike="noStrike" dirty="0">
                          <a:effectLst/>
                          <a:latin typeface="+mn-ea"/>
                          <a:ea typeface="+mn-ea"/>
                        </a:rPr>
                        <a:t>召开样板总结会</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项目负责人</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上载</a:t>
                      </a:r>
                      <a:r>
                        <a:rPr lang="en-US" altLang="zh-CN" sz="1000" u="none" strike="noStrike" dirty="0">
                          <a:effectLst/>
                          <a:latin typeface="+mn-ea"/>
                          <a:ea typeface="+mn-ea"/>
                        </a:rPr>
                        <a:t>《</a:t>
                      </a:r>
                      <a:r>
                        <a:rPr lang="zh-CN" altLang="en-US" sz="1000" u="none" strike="noStrike" dirty="0">
                          <a:effectLst/>
                          <a:latin typeface="+mn-ea"/>
                          <a:ea typeface="+mn-ea"/>
                        </a:rPr>
                        <a:t>产品设计评审报告</a:t>
                      </a:r>
                      <a:r>
                        <a:rPr lang="en-US" altLang="zh-CN" sz="1000" u="none" strike="noStrike" dirty="0">
                          <a:effectLst/>
                          <a:latin typeface="+mn-ea"/>
                          <a:ea typeface="+mn-ea"/>
                        </a:rPr>
                        <a:t>》</a:t>
                      </a:r>
                      <a:r>
                        <a:rPr lang="zh-CN" altLang="en-US" sz="1000" u="none" strike="noStrike" dirty="0">
                          <a:effectLst/>
                          <a:latin typeface="+mn-ea"/>
                          <a:ea typeface="+mn-ea"/>
                        </a:rPr>
                        <a:t>、</a:t>
                      </a:r>
                      <a:r>
                        <a:rPr lang="en-US" altLang="zh-CN" sz="1000" u="none" strike="noStrike" dirty="0">
                          <a:effectLst/>
                          <a:latin typeface="+mn-ea"/>
                          <a:ea typeface="+mn-ea"/>
                        </a:rPr>
                        <a:t>《</a:t>
                      </a:r>
                      <a:r>
                        <a:rPr lang="zh-CN" altLang="en-US" sz="1000" u="none" strike="noStrike" dirty="0">
                          <a:effectLst/>
                          <a:latin typeface="+mn-ea"/>
                          <a:ea typeface="+mn-ea"/>
                        </a:rPr>
                        <a:t>样板评估报告</a:t>
                      </a:r>
                      <a:r>
                        <a:rPr lang="en-US" altLang="zh-CN" sz="1000" u="none" strike="noStrike" dirty="0">
                          <a:effectLst/>
                          <a:latin typeface="+mn-ea"/>
                          <a:ea typeface="+mn-ea"/>
                        </a:rPr>
                        <a:t>》</a:t>
                      </a:r>
                      <a:r>
                        <a:rPr lang="zh-CN" altLang="en-US" sz="1000" u="none" strike="noStrike" dirty="0">
                          <a:effectLst/>
                          <a:latin typeface="+mn-ea"/>
                          <a:ea typeface="+mn-ea"/>
                        </a:rPr>
                        <a:t>；</a:t>
                      </a:r>
                      <a:r>
                        <a:rPr lang="en-US" altLang="zh-CN" sz="1000" u="none" strike="noStrike" dirty="0">
                          <a:solidFill>
                            <a:srgbClr val="FF0000"/>
                          </a:solidFill>
                          <a:effectLst/>
                          <a:latin typeface="+mn-ea"/>
                          <a:ea typeface="+mn-ea"/>
                        </a:rPr>
                        <a:t>《</a:t>
                      </a:r>
                      <a:r>
                        <a:rPr lang="zh-CN" altLang="en-US" sz="1000" u="none" strike="noStrike" dirty="0">
                          <a:solidFill>
                            <a:srgbClr val="FF0000"/>
                          </a:solidFill>
                          <a:effectLst/>
                          <a:latin typeface="+mn-ea"/>
                          <a:ea typeface="+mn-ea"/>
                        </a:rPr>
                        <a:t>样板评估报告</a:t>
                      </a:r>
                      <a:r>
                        <a:rPr lang="en-US" altLang="zh-CN" sz="1000" u="none" strike="noStrike" dirty="0">
                          <a:solidFill>
                            <a:srgbClr val="FF0000"/>
                          </a:solidFill>
                          <a:effectLst/>
                          <a:latin typeface="+mn-ea"/>
                          <a:ea typeface="+mn-ea"/>
                        </a:rPr>
                        <a:t>》</a:t>
                      </a:r>
                      <a:r>
                        <a:rPr lang="zh-CN" altLang="en-US" sz="1000" u="none" strike="noStrike" dirty="0">
                          <a:solidFill>
                            <a:srgbClr val="FF0000"/>
                          </a:solidFill>
                          <a:effectLst/>
                          <a:latin typeface="+mn-ea"/>
                          <a:ea typeface="+mn-ea"/>
                        </a:rPr>
                        <a:t>为可选非必要</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a:effectLst/>
                          <a:latin typeface="+mn-ea"/>
                          <a:ea typeface="+mn-ea"/>
                        </a:rPr>
                        <a:t>G2.5-G2</a:t>
                      </a:r>
                      <a:r>
                        <a:rPr lang="zh-CN" altLang="en-US" sz="1000" u="none" strike="noStrike">
                          <a:effectLst/>
                          <a:latin typeface="+mn-ea"/>
                          <a:ea typeface="+mn-ea"/>
                        </a:rPr>
                        <a:t>检查</a:t>
                      </a:r>
                      <a:endParaRPr lang="zh-CN" altLang="en-US" sz="1000" b="0" i="1"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上传</a:t>
                      </a:r>
                      <a:r>
                        <a:rPr lang="en-US" sz="1000" u="none" strike="noStrike" dirty="0">
                          <a:effectLst/>
                          <a:latin typeface="+mn-ea"/>
                          <a:ea typeface="+mn-ea"/>
                        </a:rPr>
                        <a:t>G2 Checklist</a:t>
                      </a:r>
                      <a:endParaRPr lang="en-US"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b="1" u="none" strike="noStrike" dirty="0">
                          <a:effectLst/>
                          <a:latin typeface="+mn-ea"/>
                          <a:ea typeface="+mn-ea"/>
                        </a:rPr>
                        <a:t>G3-</a:t>
                      </a:r>
                      <a:r>
                        <a:rPr lang="zh-CN" altLang="en-US" sz="1000" b="1" u="none" strike="noStrike" dirty="0">
                          <a:effectLst/>
                          <a:latin typeface="+mn-ea"/>
                          <a:ea typeface="+mn-ea"/>
                        </a:rPr>
                        <a:t>过程设计开发</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r>
              <a:tr h="462500">
                <a:tc>
                  <a:txBody>
                    <a:bodyPr/>
                    <a:lstStyle/>
                    <a:p>
                      <a:pPr algn="l" fontAlgn="ctr"/>
                      <a:r>
                        <a:rPr lang="en-US" altLang="zh-CN" sz="1000" u="none" strike="noStrike" kern="1200" dirty="0">
                          <a:solidFill>
                            <a:schemeClr val="dk1"/>
                          </a:solidFill>
                          <a:effectLst/>
                          <a:latin typeface="+mn-ea"/>
                          <a:ea typeface="+mn-ea"/>
                          <a:cs typeface="+mn-cs"/>
                        </a:rPr>
                        <a:t>G3.1-</a:t>
                      </a:r>
                      <a:r>
                        <a:rPr lang="zh-CN" altLang="en-US" sz="1000" u="none" strike="noStrike" kern="1200" dirty="0">
                          <a:solidFill>
                            <a:schemeClr val="dk1"/>
                          </a:solidFill>
                          <a:effectLst/>
                          <a:latin typeface="+mn-ea"/>
                          <a:ea typeface="+mn-ea"/>
                          <a:cs typeface="+mn-cs"/>
                        </a:rPr>
                        <a:t>制造过程设计输入评审</a:t>
                      </a:r>
                      <a:endParaRPr lang="zh-CN" altLang="en-US" sz="1000" u="none" strike="noStrike" kern="1200" dirty="0">
                        <a:solidFill>
                          <a:schemeClr val="dk1"/>
                        </a:solidFill>
                        <a:effectLst/>
                        <a:latin typeface="+mn-ea"/>
                        <a:ea typeface="+mn-ea"/>
                        <a:cs typeface="+mn-cs"/>
                      </a:endParaRPr>
                    </a:p>
                  </a:txBody>
                  <a:tcPr marL="72000" marR="72000" marT="21600" marB="21600" anchor="ctr">
                    <a:solidFill>
                      <a:schemeClr val="accent1">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u="none" strike="noStrike" dirty="0">
                          <a:solidFill>
                            <a:srgbClr val="000000"/>
                          </a:solidFill>
                          <a:effectLst/>
                          <a:latin typeface="+mn-ea"/>
                          <a:ea typeface="+mn-ea"/>
                        </a:rPr>
                        <a:t>项目负责人</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产品、结构、电子、电声、包装、软件</a:t>
                      </a:r>
                      <a:r>
                        <a:rPr lang="en-US" altLang="zh-CN" sz="1000" b="0" i="0" u="none" strike="noStrike" dirty="0">
                          <a:solidFill>
                            <a:srgbClr val="000000"/>
                          </a:solidFill>
                          <a:effectLst/>
                          <a:latin typeface="+mn-ea"/>
                          <a:ea typeface="+mn-ea"/>
                        </a:rPr>
                        <a:t>6</a:t>
                      </a:r>
                      <a:r>
                        <a:rPr lang="zh-CN" altLang="en-US" sz="1000" b="0" i="0" u="none" strike="noStrike" dirty="0">
                          <a:solidFill>
                            <a:srgbClr val="000000"/>
                          </a:solidFill>
                          <a:effectLst/>
                          <a:latin typeface="+mn-ea"/>
                          <a:ea typeface="+mn-ea"/>
                        </a:rPr>
                        <a:t>专业工程师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产品：</a:t>
                      </a:r>
                      <a:r>
                        <a:rPr lang="en-US" altLang="zh-CN" sz="1000" b="0" i="0" u="none" strike="noStrike" dirty="0">
                          <a:solidFill>
                            <a:srgbClr val="000000"/>
                          </a:solidFill>
                          <a:effectLst/>
                          <a:latin typeface="+mn-ea"/>
                          <a:ea typeface="+mn-ea"/>
                        </a:rPr>
                        <a:t>BOM</a:t>
                      </a:r>
                      <a:r>
                        <a:rPr lang="zh-CN" altLang="en-US" sz="1000" b="0" i="0" u="none" strike="noStrike" dirty="0">
                          <a:solidFill>
                            <a:srgbClr val="000000"/>
                          </a:solidFill>
                          <a:effectLst/>
                          <a:latin typeface="+mn-ea"/>
                          <a:ea typeface="+mn-ea"/>
                        </a:rPr>
                        <a:t>表（结构化）、外形图（附件）、总装图（附件）、包装示意图（附件）、规格书（附件），</a:t>
                      </a:r>
                      <a:r>
                        <a:rPr lang="en-US" altLang="zh-CN" sz="1000" u="none" strike="noStrike" kern="1200" dirty="0">
                          <a:solidFill>
                            <a:schemeClr val="dk1"/>
                          </a:solidFill>
                          <a:effectLst/>
                          <a:latin typeface="+mn-ea"/>
                          <a:ea typeface="+mn-ea"/>
                          <a:cs typeface="+mn-cs"/>
                        </a:rPr>
                        <a:t>BOM</a:t>
                      </a:r>
                      <a:r>
                        <a:rPr lang="zh-CN" altLang="en-US" sz="1000" u="none" strike="noStrike" kern="1200" dirty="0">
                          <a:solidFill>
                            <a:schemeClr val="dk1"/>
                          </a:solidFill>
                          <a:effectLst/>
                          <a:latin typeface="+mn-ea"/>
                          <a:ea typeface="+mn-ea"/>
                          <a:cs typeface="+mn-cs"/>
                        </a:rPr>
                        <a:t>表和附件都校验；结构：零部件图纸（</a:t>
                      </a:r>
                      <a:r>
                        <a:rPr lang="en-US" altLang="zh-CN" sz="1000" u="none" strike="noStrike" kern="1200" dirty="0">
                          <a:solidFill>
                            <a:schemeClr val="dk1"/>
                          </a:solidFill>
                          <a:effectLst/>
                          <a:latin typeface="+mn-ea"/>
                          <a:ea typeface="+mn-ea"/>
                          <a:cs typeface="+mn-cs"/>
                        </a:rPr>
                        <a:t>2D</a:t>
                      </a:r>
                      <a:r>
                        <a:rPr lang="zh-CN" altLang="en-US" sz="1000" u="none" strike="noStrike" kern="1200" dirty="0">
                          <a:solidFill>
                            <a:schemeClr val="dk1"/>
                          </a:solidFill>
                          <a:effectLst/>
                          <a:latin typeface="+mn-ea"/>
                          <a:ea typeface="+mn-ea"/>
                          <a:cs typeface="+mn-cs"/>
                        </a:rPr>
                        <a:t>必选、</a:t>
                      </a:r>
                      <a:r>
                        <a:rPr lang="en-US" altLang="zh-CN" sz="1000" u="none" strike="noStrike" kern="1200" dirty="0">
                          <a:solidFill>
                            <a:schemeClr val="dk1"/>
                          </a:solidFill>
                          <a:effectLst/>
                          <a:latin typeface="+mn-ea"/>
                          <a:ea typeface="+mn-ea"/>
                          <a:cs typeface="+mn-cs"/>
                        </a:rPr>
                        <a:t>3D</a:t>
                      </a:r>
                      <a:r>
                        <a:rPr lang="zh-CN" altLang="en-US" sz="1000" u="none" strike="noStrike" kern="1200" dirty="0">
                          <a:solidFill>
                            <a:schemeClr val="dk1"/>
                          </a:solidFill>
                          <a:effectLst/>
                          <a:latin typeface="+mn-ea"/>
                          <a:ea typeface="+mn-ea"/>
                          <a:cs typeface="+mn-cs"/>
                        </a:rPr>
                        <a:t>），校验料号发布；电子：电子</a:t>
                      </a:r>
                      <a:r>
                        <a:rPr lang="en-US" altLang="zh-CN" sz="1000" u="none" strike="noStrike" kern="1200" dirty="0">
                          <a:solidFill>
                            <a:schemeClr val="dk1"/>
                          </a:solidFill>
                          <a:effectLst/>
                          <a:latin typeface="+mn-ea"/>
                          <a:ea typeface="+mn-ea"/>
                          <a:cs typeface="+mn-cs"/>
                        </a:rPr>
                        <a:t>BOM</a:t>
                      </a:r>
                      <a:r>
                        <a:rPr lang="zh-CN" altLang="en-US" sz="1000" u="none" strike="noStrike" kern="1200" dirty="0">
                          <a:solidFill>
                            <a:schemeClr val="dk1"/>
                          </a:solidFill>
                          <a:effectLst/>
                          <a:latin typeface="+mn-ea"/>
                          <a:ea typeface="+mn-ea"/>
                          <a:cs typeface="+mn-cs"/>
                        </a:rPr>
                        <a:t>表</a:t>
                      </a:r>
                      <a:r>
                        <a:rPr lang="en-US" altLang="zh-CN" sz="1000" u="none" strike="noStrike" kern="1200" dirty="0">
                          <a:solidFill>
                            <a:schemeClr val="dk1"/>
                          </a:solidFill>
                          <a:effectLst/>
                          <a:latin typeface="+mn-ea"/>
                          <a:ea typeface="+mn-ea"/>
                          <a:cs typeface="+mn-cs"/>
                        </a:rPr>
                        <a:t>+</a:t>
                      </a:r>
                      <a:r>
                        <a:rPr lang="zh-CN" altLang="en-US" sz="1000" u="none" strike="noStrike" kern="1200" dirty="0">
                          <a:solidFill>
                            <a:schemeClr val="dk1"/>
                          </a:solidFill>
                          <a:effectLst/>
                          <a:latin typeface="+mn-ea"/>
                          <a:ea typeface="+mn-ea"/>
                          <a:cs typeface="+mn-cs"/>
                        </a:rPr>
                        <a:t>校验料号发布；电声：电声</a:t>
                      </a:r>
                      <a:r>
                        <a:rPr lang="en-US" altLang="zh-CN" sz="1000" u="none" strike="noStrike" kern="1200" dirty="0">
                          <a:solidFill>
                            <a:schemeClr val="dk1"/>
                          </a:solidFill>
                          <a:effectLst/>
                          <a:latin typeface="+mn-ea"/>
                          <a:ea typeface="+mn-ea"/>
                          <a:cs typeface="+mn-cs"/>
                        </a:rPr>
                        <a:t>BOM</a:t>
                      </a:r>
                      <a:r>
                        <a:rPr lang="zh-CN" altLang="en-US" sz="1000" u="none" strike="noStrike" kern="1200" dirty="0">
                          <a:solidFill>
                            <a:schemeClr val="dk1"/>
                          </a:solidFill>
                          <a:effectLst/>
                          <a:latin typeface="+mn-ea"/>
                          <a:ea typeface="+mn-ea"/>
                          <a:cs typeface="+mn-cs"/>
                        </a:rPr>
                        <a:t>表</a:t>
                      </a:r>
                      <a:r>
                        <a:rPr lang="en-US" altLang="zh-CN" sz="1000" u="none" strike="noStrike" kern="1200" dirty="0">
                          <a:solidFill>
                            <a:schemeClr val="dk1"/>
                          </a:solidFill>
                          <a:effectLst/>
                          <a:latin typeface="+mn-ea"/>
                          <a:ea typeface="+mn-ea"/>
                          <a:cs typeface="+mn-cs"/>
                        </a:rPr>
                        <a:t>+</a:t>
                      </a:r>
                      <a:r>
                        <a:rPr lang="zh-CN" altLang="en-US" sz="1000" u="none" strike="noStrike" kern="1200" dirty="0">
                          <a:solidFill>
                            <a:schemeClr val="dk1"/>
                          </a:solidFill>
                          <a:effectLst/>
                          <a:latin typeface="+mn-ea"/>
                          <a:ea typeface="+mn-ea"/>
                          <a:cs typeface="+mn-cs"/>
                        </a:rPr>
                        <a:t>校验料号发布；包装：包装</a:t>
                      </a:r>
                      <a:r>
                        <a:rPr lang="en-US" altLang="zh-CN" sz="1000" u="none" strike="noStrike" kern="1200" dirty="0">
                          <a:solidFill>
                            <a:schemeClr val="dk1"/>
                          </a:solidFill>
                          <a:effectLst/>
                          <a:latin typeface="+mn-ea"/>
                          <a:ea typeface="+mn-ea"/>
                          <a:cs typeface="+mn-cs"/>
                        </a:rPr>
                        <a:t>BOM</a:t>
                      </a:r>
                      <a:r>
                        <a:rPr lang="zh-CN" altLang="en-US" sz="1000" u="none" strike="noStrike" kern="1200" dirty="0">
                          <a:solidFill>
                            <a:schemeClr val="dk1"/>
                          </a:solidFill>
                          <a:effectLst/>
                          <a:latin typeface="+mn-ea"/>
                          <a:ea typeface="+mn-ea"/>
                          <a:cs typeface="+mn-cs"/>
                        </a:rPr>
                        <a:t>表</a:t>
                      </a:r>
                      <a:r>
                        <a:rPr lang="en-US" altLang="zh-CN" sz="1000" u="none" strike="noStrike" kern="1200" dirty="0">
                          <a:solidFill>
                            <a:schemeClr val="dk1"/>
                          </a:solidFill>
                          <a:effectLst/>
                          <a:latin typeface="+mn-ea"/>
                          <a:ea typeface="+mn-ea"/>
                          <a:cs typeface="+mn-cs"/>
                        </a:rPr>
                        <a:t>+</a:t>
                      </a:r>
                      <a:r>
                        <a:rPr lang="zh-CN" altLang="en-US" sz="1000" u="none" strike="noStrike" kern="1200" dirty="0">
                          <a:solidFill>
                            <a:schemeClr val="dk1"/>
                          </a:solidFill>
                          <a:effectLst/>
                          <a:latin typeface="+mn-ea"/>
                          <a:ea typeface="+mn-ea"/>
                          <a:cs typeface="+mn-cs"/>
                        </a:rPr>
                        <a:t>校验料号发布；软件：校验料号发布</a:t>
                      </a:r>
                      <a:endParaRPr lang="zh-CN" altLang="en-US" sz="1000" u="none" strike="noStrike" kern="1200" dirty="0">
                        <a:solidFill>
                          <a:schemeClr val="dk1"/>
                        </a:solidFill>
                        <a:effectLst/>
                        <a:latin typeface="+mn-ea"/>
                        <a:ea typeface="+mn-ea"/>
                        <a:cs typeface="+mn-cs"/>
                      </a:endParaRPr>
                    </a:p>
                    <a:p>
                      <a:pPr algn="l" fontAlgn="ctr"/>
                      <a:r>
                        <a:rPr lang="zh-CN" altLang="en-US" sz="1000" u="none" strike="noStrike" kern="1200" dirty="0">
                          <a:solidFill>
                            <a:schemeClr val="dk1"/>
                          </a:solidFill>
                          <a:effectLst/>
                          <a:latin typeface="+mn-ea"/>
                          <a:ea typeface="+mn-ea"/>
                          <a:cs typeface="+mn-cs"/>
                        </a:rPr>
                        <a:t>项目责任人：</a:t>
                      </a:r>
                      <a:r>
                        <a:rPr lang="en-US" altLang="zh-CN" sz="1000" u="none" strike="noStrike" kern="1200" dirty="0">
                          <a:solidFill>
                            <a:schemeClr val="dk1"/>
                          </a:solidFill>
                          <a:effectLst/>
                          <a:latin typeface="+mn-ea"/>
                          <a:ea typeface="+mn-ea"/>
                          <a:cs typeface="+mn-cs"/>
                        </a:rPr>
                        <a:t>《</a:t>
                      </a:r>
                      <a:r>
                        <a:rPr lang="zh-CN" altLang="en-US" sz="1000" u="none" strike="noStrike" kern="1200" dirty="0">
                          <a:solidFill>
                            <a:schemeClr val="dk1"/>
                          </a:solidFill>
                          <a:effectLst/>
                          <a:latin typeface="+mn-ea"/>
                          <a:ea typeface="+mn-ea"/>
                          <a:cs typeface="+mn-cs"/>
                        </a:rPr>
                        <a:t>制造过程设计输入评审报告</a:t>
                      </a:r>
                      <a:r>
                        <a:rPr lang="en-US" altLang="zh-CN" sz="1000" u="none" strike="noStrike" kern="1200" dirty="0">
                          <a:solidFill>
                            <a:schemeClr val="dk1"/>
                          </a:solidFill>
                          <a:effectLst/>
                          <a:latin typeface="+mn-ea"/>
                          <a:ea typeface="+mn-ea"/>
                          <a:cs typeface="+mn-cs"/>
                        </a:rPr>
                        <a:t>》</a:t>
                      </a:r>
                      <a:endParaRPr lang="zh-CN" altLang="en-US" sz="1000" u="none" strike="noStrike" kern="1200" dirty="0">
                        <a:solidFill>
                          <a:schemeClr val="dk1"/>
                        </a:solidFill>
                        <a:effectLst/>
                        <a:latin typeface="+mn-ea"/>
                        <a:ea typeface="+mn-ea"/>
                        <a:cs typeface="+mn-cs"/>
                      </a:endParaRPr>
                    </a:p>
                  </a:txBody>
                  <a:tcPr marL="72000" marR="72000" marT="21600" marB="21600" anchor="ctr">
                    <a:solidFill>
                      <a:schemeClr val="accent1">
                        <a:lumMod val="20000"/>
                        <a:lumOff val="80000"/>
                      </a:schemeClr>
                    </a:solidFill>
                  </a:tcPr>
                </a:tc>
              </a:tr>
              <a:tr h="255678">
                <a:tc>
                  <a:txBody>
                    <a:bodyPr/>
                    <a:lstStyle/>
                    <a:p>
                      <a:pPr algn="l" fontAlgn="ctr"/>
                      <a:r>
                        <a:rPr lang="en-US" altLang="zh-CN" sz="1000" u="none" strike="noStrike" dirty="0">
                          <a:effectLst/>
                          <a:latin typeface="+mn-ea"/>
                          <a:ea typeface="+mn-ea"/>
                        </a:rPr>
                        <a:t>G3.5-</a:t>
                      </a:r>
                      <a:r>
                        <a:rPr lang="zh-CN" altLang="en-US" sz="1000" u="none" strike="noStrike" dirty="0">
                          <a:effectLst/>
                          <a:latin typeface="+mn-ea"/>
                          <a:ea typeface="+mn-ea"/>
                        </a:rPr>
                        <a:t>过程设计开发输出评审</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工艺</a:t>
                      </a:r>
                      <a:r>
                        <a:rPr lang="en-US" altLang="zh-CN" sz="1000" u="none" strike="noStrike">
                          <a:effectLst/>
                          <a:latin typeface="+mn-ea"/>
                          <a:ea typeface="+mn-ea"/>
                        </a:rPr>
                        <a:t>/GP</a:t>
                      </a:r>
                      <a:r>
                        <a:rPr lang="zh-CN" altLang="en-US" sz="1000" u="none" strike="noStrike">
                          <a:effectLst/>
                          <a:latin typeface="+mn-ea"/>
                          <a:ea typeface="+mn-ea"/>
                        </a:rPr>
                        <a:t>工程师、项目负责人</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工艺</a:t>
                      </a:r>
                      <a:r>
                        <a:rPr lang="en-US" altLang="zh-CN" sz="1000" u="none" strike="noStrike" dirty="0">
                          <a:effectLst/>
                          <a:latin typeface="+mn-ea"/>
                          <a:ea typeface="+mn-ea"/>
                        </a:rPr>
                        <a:t>/GP</a:t>
                      </a:r>
                      <a:r>
                        <a:rPr lang="zh-CN" altLang="en-US" sz="1000" u="none" strike="noStrike" dirty="0">
                          <a:effectLst/>
                          <a:latin typeface="+mn-ea"/>
                          <a:ea typeface="+mn-ea"/>
                        </a:rPr>
                        <a:t>工程师上传</a:t>
                      </a:r>
                      <a:r>
                        <a:rPr lang="en-US" altLang="zh-CN" sz="1000" u="none" strike="noStrike" dirty="0">
                          <a:effectLst/>
                          <a:latin typeface="+mn-ea"/>
                          <a:ea typeface="+mn-ea"/>
                        </a:rPr>
                        <a:t>《</a:t>
                      </a:r>
                      <a:r>
                        <a:rPr lang="zh-CN" altLang="en-US" sz="1000" u="none" strike="noStrike" dirty="0">
                          <a:effectLst/>
                          <a:latin typeface="+mn-ea"/>
                          <a:ea typeface="+mn-ea"/>
                        </a:rPr>
                        <a:t>制造过程设计评审报告</a:t>
                      </a:r>
                      <a:r>
                        <a:rPr lang="en-US" altLang="zh-CN" sz="1000" u="none" strike="noStrike" dirty="0">
                          <a:effectLst/>
                          <a:latin typeface="+mn-ea"/>
                          <a:ea typeface="+mn-ea"/>
                        </a:rPr>
                        <a:t>》</a:t>
                      </a:r>
                      <a:r>
                        <a:rPr lang="zh-CN" altLang="en-US" sz="1000" u="none" strike="noStrike" dirty="0">
                          <a:effectLst/>
                          <a:latin typeface="+mn-ea"/>
                          <a:ea typeface="+mn-ea"/>
                        </a:rPr>
                        <a:t>、项目负责人上传</a:t>
                      </a:r>
                      <a:r>
                        <a:rPr lang="en-US" altLang="zh-CN" sz="1000" u="none" strike="noStrike" dirty="0">
                          <a:effectLst/>
                          <a:latin typeface="+mn-ea"/>
                          <a:ea typeface="+mn-ea"/>
                        </a:rPr>
                        <a:t>《</a:t>
                      </a:r>
                      <a:r>
                        <a:rPr lang="zh-CN" altLang="en-US" sz="1000" u="none" strike="noStrike" dirty="0">
                          <a:effectLst/>
                          <a:latin typeface="+mn-ea"/>
                          <a:ea typeface="+mn-ea"/>
                        </a:rPr>
                        <a:t>试产物料处理清单</a:t>
                      </a:r>
                      <a:r>
                        <a:rPr lang="en-US" altLang="zh-CN" sz="1000" u="none" strike="noStrike" dirty="0">
                          <a:effectLst/>
                          <a:latin typeface="+mn-ea"/>
                          <a:ea typeface="+mn-ea"/>
                        </a:rPr>
                        <a:t>》</a:t>
                      </a:r>
                      <a:br>
                        <a:rPr lang="zh-CN" altLang="en-US" sz="1000" u="none" strike="noStrike" dirty="0">
                          <a:effectLst/>
                          <a:latin typeface="+mn-ea"/>
                          <a:ea typeface="+mn-ea"/>
                        </a:rPr>
                      </a:br>
                      <a:r>
                        <a:rPr lang="zh-CN" altLang="en-US" sz="1000" u="none" strike="noStrike" dirty="0">
                          <a:solidFill>
                            <a:srgbClr val="FF0000"/>
                          </a:solidFill>
                          <a:effectLst/>
                          <a:latin typeface="+mn-ea"/>
                          <a:ea typeface="+mn-ea"/>
                        </a:rPr>
                        <a:t>两种文档同时为必要交付</a:t>
                      </a:r>
                      <a:r>
                        <a:rPr lang="zh-CN" altLang="en-US" sz="1000" u="none" strike="noStrike" dirty="0">
                          <a:effectLst/>
                          <a:latin typeface="+mn-ea"/>
                          <a:ea typeface="+mn-ea"/>
                        </a:rPr>
                        <a:t>件时，检查齐套性</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a:effectLst/>
                          <a:latin typeface="+mn-ea"/>
                          <a:ea typeface="+mn-ea"/>
                        </a:rPr>
                        <a:t>G3.6-G3</a:t>
                      </a:r>
                      <a:r>
                        <a:rPr lang="zh-CN" altLang="en-US" sz="1000" u="none" strike="noStrike">
                          <a:effectLst/>
                          <a:latin typeface="+mn-ea"/>
                          <a:ea typeface="+mn-ea"/>
                        </a:rPr>
                        <a:t>检查</a:t>
                      </a:r>
                      <a:endParaRPr lang="zh-CN" altLang="en-US" sz="1000" b="0" i="1"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上传</a:t>
                      </a:r>
                      <a:r>
                        <a:rPr lang="en-US" sz="1000" u="none" strike="noStrike" dirty="0">
                          <a:effectLst/>
                          <a:latin typeface="+mn-ea"/>
                          <a:ea typeface="+mn-ea"/>
                        </a:rPr>
                        <a:t>G3 Checklist</a:t>
                      </a:r>
                      <a:endParaRPr lang="en-US"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b="1" u="none" strike="noStrike" dirty="0">
                          <a:effectLst/>
                          <a:latin typeface="+mn-ea"/>
                          <a:ea typeface="+mn-ea"/>
                        </a:rPr>
                        <a:t>G4-</a:t>
                      </a:r>
                      <a:r>
                        <a:rPr lang="zh-CN" altLang="en-US" sz="1000" b="1" u="none" strike="noStrike" dirty="0">
                          <a:effectLst/>
                          <a:latin typeface="+mn-ea"/>
                          <a:ea typeface="+mn-ea"/>
                        </a:rPr>
                        <a:t>产品和过程确认阶段</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dirty="0">
                          <a:latin typeface="+mn-ea"/>
                          <a:ea typeface="+mn-ea"/>
                        </a:rPr>
                        <a:t>G4.4-</a:t>
                      </a:r>
                      <a:r>
                        <a:rPr lang="zh-CN" altLang="en-US" sz="1000" dirty="0">
                          <a:latin typeface="+mn-ea"/>
                          <a:ea typeface="+mn-ea"/>
                        </a:rPr>
                        <a:t>试产报告输出评审</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工艺工程师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工艺工程师在</a:t>
                      </a:r>
                      <a:r>
                        <a:rPr lang="en-US" altLang="zh-CN" sz="1000" b="0" i="0" u="none" strike="noStrike" dirty="0">
                          <a:solidFill>
                            <a:srgbClr val="000000"/>
                          </a:solidFill>
                          <a:effectLst/>
                          <a:latin typeface="+mn-ea"/>
                          <a:ea typeface="+mn-ea"/>
                        </a:rPr>
                        <a:t>OA</a:t>
                      </a:r>
                      <a:r>
                        <a:rPr lang="zh-CN" altLang="en-US" sz="1000" b="0" i="0" u="none" strike="noStrike" dirty="0">
                          <a:solidFill>
                            <a:srgbClr val="000000"/>
                          </a:solidFill>
                          <a:effectLst/>
                          <a:latin typeface="+mn-ea"/>
                          <a:ea typeface="+mn-ea"/>
                        </a:rPr>
                        <a:t>系统发起流程，填写</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试产总结表</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试产制程问题报告</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，两种文档同时为必要交付件</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a:effectLst/>
                          <a:latin typeface="+mn-ea"/>
                          <a:ea typeface="+mn-ea"/>
                        </a:rPr>
                        <a:t>G4.5-G4</a:t>
                      </a:r>
                      <a:r>
                        <a:rPr lang="zh-CN" altLang="en-US" sz="1000" u="none" strike="noStrike">
                          <a:effectLst/>
                          <a:latin typeface="+mn-ea"/>
                          <a:ea typeface="+mn-ea"/>
                        </a:rPr>
                        <a:t>检查</a:t>
                      </a:r>
                      <a:endParaRPr lang="zh-CN" altLang="en-US" sz="1000" b="0" i="1"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上传</a:t>
                      </a:r>
                      <a:r>
                        <a:rPr lang="en-US" sz="1000" u="none" strike="noStrike" dirty="0">
                          <a:effectLst/>
                          <a:latin typeface="+mn-ea"/>
                          <a:ea typeface="+mn-ea"/>
                        </a:rPr>
                        <a:t>G4 Checklist</a:t>
                      </a:r>
                      <a:endParaRPr lang="en-US"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b="1" u="none" strike="noStrike" dirty="0">
                          <a:effectLst/>
                          <a:latin typeface="+mn-ea"/>
                          <a:ea typeface="+mn-ea"/>
                        </a:rPr>
                        <a:t>G5-</a:t>
                      </a:r>
                      <a:r>
                        <a:rPr lang="zh-CN" altLang="en-US" sz="1000" b="1" u="none" strike="noStrike" dirty="0">
                          <a:effectLst/>
                          <a:latin typeface="+mn-ea"/>
                          <a:ea typeface="+mn-ea"/>
                        </a:rPr>
                        <a:t>量产阶段</a:t>
                      </a:r>
                      <a:endParaRPr lang="zh-CN" altLang="en-US" sz="1000" b="1"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a:effectLst/>
                          <a:latin typeface="+mn-ea"/>
                          <a:ea typeface="+mn-ea"/>
                        </a:rPr>
                        <a:t>　</a:t>
                      </a:r>
                      <a:endParaRPr lang="zh-CN" altLang="en-US" sz="1000" b="0" i="0"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　</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altLang="zh-CN" sz="1000" u="none" strike="noStrike" kern="1200" dirty="0">
                          <a:solidFill>
                            <a:schemeClr val="dk1"/>
                          </a:solidFill>
                          <a:effectLst/>
                          <a:latin typeface="+mn-ea"/>
                          <a:ea typeface="+mn-ea"/>
                          <a:cs typeface="+mn-cs"/>
                        </a:rPr>
                        <a:t>G5.1-</a:t>
                      </a:r>
                      <a:r>
                        <a:rPr lang="zh-CN" altLang="en-US" sz="1000" u="none" strike="noStrike" kern="1200" dirty="0">
                          <a:solidFill>
                            <a:schemeClr val="dk1"/>
                          </a:solidFill>
                          <a:effectLst/>
                          <a:latin typeface="+mn-ea"/>
                          <a:ea typeface="+mn-ea"/>
                          <a:cs typeface="+mn-cs"/>
                        </a:rPr>
                        <a:t>量产准入申请</a:t>
                      </a:r>
                      <a:endParaRPr lang="zh-CN" altLang="en-US" sz="1000" u="none" strike="noStrike" kern="1200" dirty="0">
                        <a:solidFill>
                          <a:schemeClr val="dk1"/>
                        </a:solidFill>
                        <a:effectLst/>
                        <a:latin typeface="+mn-ea"/>
                        <a:ea typeface="+mn-ea"/>
                        <a:cs typeface="+mn-cs"/>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kern="1200" dirty="0">
                          <a:solidFill>
                            <a:schemeClr val="dk1"/>
                          </a:solidFill>
                          <a:effectLst/>
                          <a:latin typeface="+mn-ea"/>
                          <a:ea typeface="+mn-ea"/>
                          <a:cs typeface="+mn-cs"/>
                        </a:rPr>
                        <a:t>项目负责人</a:t>
                      </a:r>
                      <a:endParaRPr lang="zh-CN" altLang="en-US" sz="1000" u="none" strike="noStrike" kern="1200" dirty="0">
                        <a:solidFill>
                          <a:schemeClr val="dk1"/>
                        </a:solidFill>
                        <a:effectLst/>
                        <a:latin typeface="+mn-ea"/>
                        <a:ea typeface="+mn-ea"/>
                        <a:cs typeface="+mn-cs"/>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kern="1200" dirty="0">
                          <a:solidFill>
                            <a:schemeClr val="dk1"/>
                          </a:solidFill>
                          <a:effectLst/>
                          <a:latin typeface="+mn-ea"/>
                          <a:ea typeface="+mn-ea"/>
                          <a:cs typeface="+mn-cs"/>
                        </a:rPr>
                        <a:t>OA</a:t>
                      </a:r>
                      <a:r>
                        <a:rPr lang="zh-CN" altLang="en-US" sz="1000" u="none" strike="noStrike" kern="1200" dirty="0">
                          <a:solidFill>
                            <a:schemeClr val="dk1"/>
                          </a:solidFill>
                          <a:effectLst/>
                          <a:latin typeface="+mn-ea"/>
                          <a:ea typeface="+mn-ea"/>
                          <a:cs typeface="+mn-cs"/>
                        </a:rPr>
                        <a:t>系统获取四种不同条件：</a:t>
                      </a:r>
                      <a:r>
                        <a:rPr lang="en-US" altLang="zh-CN" sz="1000" u="none" strike="noStrike" kern="1200" dirty="0">
                          <a:solidFill>
                            <a:schemeClr val="dk1"/>
                          </a:solidFill>
                          <a:effectLst/>
                          <a:latin typeface="+mn-ea"/>
                          <a:ea typeface="+mn-ea"/>
                          <a:cs typeface="+mn-cs"/>
                        </a:rPr>
                        <a:t>Deviation Ramp Up/Ramp Up/Deviation/</a:t>
                      </a:r>
                      <a:r>
                        <a:rPr lang="zh-CN" altLang="en-US" sz="1000" u="none" strike="noStrike" kern="1200" dirty="0">
                          <a:solidFill>
                            <a:schemeClr val="dk1"/>
                          </a:solidFill>
                          <a:effectLst/>
                          <a:latin typeface="+mn-ea"/>
                          <a:ea typeface="+mn-ea"/>
                          <a:cs typeface="+mn-cs"/>
                        </a:rPr>
                        <a:t>量产的申请准入状态（发起、完成）</a:t>
                      </a:r>
                      <a:endParaRPr lang="zh-CN" altLang="en-US" sz="1000" u="none" strike="noStrike" kern="1200" dirty="0">
                        <a:solidFill>
                          <a:schemeClr val="dk1"/>
                        </a:solidFill>
                        <a:effectLst/>
                        <a:latin typeface="+mn-ea"/>
                        <a:ea typeface="+mn-ea"/>
                        <a:cs typeface="+mn-cs"/>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dirty="0">
                          <a:effectLst/>
                          <a:latin typeface="+mn-ea"/>
                          <a:ea typeface="+mn-ea"/>
                        </a:rPr>
                        <a:t>G5.2-</a:t>
                      </a:r>
                      <a:r>
                        <a:rPr lang="zh-CN" altLang="en-US" sz="1000" u="none" strike="noStrike" dirty="0">
                          <a:effectLst/>
                          <a:latin typeface="+mn-ea"/>
                          <a:ea typeface="+mn-ea"/>
                        </a:rPr>
                        <a:t>项目总结</a:t>
                      </a:r>
                      <a:endParaRPr lang="zh-CN" altLang="en-US" sz="1000" b="0" i="1"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项目负责人</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上传</a:t>
                      </a:r>
                      <a:r>
                        <a:rPr lang="en-US" altLang="zh-CN" sz="1000" u="none" strike="noStrike" dirty="0">
                          <a:effectLst/>
                          <a:latin typeface="+mn-ea"/>
                          <a:ea typeface="+mn-ea"/>
                        </a:rPr>
                        <a:t>《</a:t>
                      </a:r>
                      <a:r>
                        <a:rPr lang="zh-CN" altLang="en-US" sz="1000" u="none" strike="noStrike" dirty="0">
                          <a:effectLst/>
                          <a:latin typeface="+mn-ea"/>
                          <a:ea typeface="+mn-ea"/>
                        </a:rPr>
                        <a:t>项目总结</a:t>
                      </a:r>
                      <a:r>
                        <a:rPr lang="en-US" altLang="zh-CN" sz="1000" u="none" strike="noStrike" dirty="0">
                          <a:effectLst/>
                          <a:latin typeface="+mn-ea"/>
                          <a:ea typeface="+mn-ea"/>
                        </a:rPr>
                        <a:t>》</a:t>
                      </a:r>
                      <a:endParaRPr lang="en-US" altLang="zh-CN" sz="1000" b="1" i="0" u="none" strike="noStrike" dirty="0">
                        <a:solidFill>
                          <a:srgbClr val="0000FF"/>
                        </a:solidFill>
                        <a:effectLst/>
                        <a:latin typeface="+mn-ea"/>
                        <a:ea typeface="+mn-ea"/>
                      </a:endParaRPr>
                    </a:p>
                  </a:txBody>
                  <a:tcPr marL="72000" marR="72000" marT="21600" marB="21600" anchor="ctr">
                    <a:solidFill>
                      <a:schemeClr val="accent1">
                        <a:lumMod val="20000"/>
                        <a:lumOff val="80000"/>
                      </a:schemeClr>
                    </a:solidFill>
                  </a:tcPr>
                </a:tc>
              </a:tr>
              <a:tr h="152267">
                <a:tc>
                  <a:txBody>
                    <a:bodyPr/>
                    <a:lstStyle/>
                    <a:p>
                      <a:pPr algn="l" fontAlgn="ctr"/>
                      <a:r>
                        <a:rPr lang="en-US" sz="1000" u="none" strike="noStrike">
                          <a:effectLst/>
                          <a:latin typeface="+mn-ea"/>
                          <a:ea typeface="+mn-ea"/>
                        </a:rPr>
                        <a:t>G5.3-G5</a:t>
                      </a:r>
                      <a:r>
                        <a:rPr lang="zh-CN" altLang="en-US" sz="1000" u="none" strike="noStrike">
                          <a:effectLst/>
                          <a:latin typeface="+mn-ea"/>
                          <a:ea typeface="+mn-ea"/>
                        </a:rPr>
                        <a:t>检查</a:t>
                      </a:r>
                      <a:endParaRPr lang="zh-CN" altLang="en-US" sz="1000" b="0" i="1" u="none" strike="noStrike">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en-US" altLang="zh-CN" sz="1000" u="none" strike="noStrike" dirty="0">
                          <a:effectLst/>
                          <a:latin typeface="+mn-ea"/>
                          <a:ea typeface="+mn-ea"/>
                        </a:rPr>
                        <a:t>QE</a:t>
                      </a:r>
                      <a:r>
                        <a:rPr lang="zh-CN" altLang="en-US" sz="1000" u="none" strike="noStrike" dirty="0">
                          <a:effectLst/>
                          <a:latin typeface="+mn-ea"/>
                          <a:ea typeface="+mn-ea"/>
                        </a:rPr>
                        <a:t>工程师</a:t>
                      </a:r>
                      <a:endParaRPr lang="zh-CN" alt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c>
                  <a:txBody>
                    <a:bodyPr/>
                    <a:lstStyle/>
                    <a:p>
                      <a:pPr algn="l" fontAlgn="ctr"/>
                      <a:r>
                        <a:rPr lang="zh-CN" altLang="en-US" sz="1000" u="none" strike="noStrike" dirty="0">
                          <a:effectLst/>
                          <a:latin typeface="+mn-ea"/>
                          <a:ea typeface="+mn-ea"/>
                        </a:rPr>
                        <a:t>上传</a:t>
                      </a:r>
                      <a:r>
                        <a:rPr lang="en-US" sz="1000" u="none" strike="noStrike" dirty="0">
                          <a:effectLst/>
                          <a:latin typeface="+mn-ea"/>
                          <a:ea typeface="+mn-ea"/>
                        </a:rPr>
                        <a:t>G5 Checklist</a:t>
                      </a:r>
                      <a:endParaRPr lang="en-US" sz="1000" b="0" i="0" u="none" strike="noStrike" dirty="0">
                        <a:solidFill>
                          <a:srgbClr val="000000"/>
                        </a:solidFill>
                        <a:effectLst/>
                        <a:latin typeface="+mn-ea"/>
                        <a:ea typeface="+mn-ea"/>
                      </a:endParaRPr>
                    </a:p>
                  </a:txBody>
                  <a:tcPr marL="72000" marR="72000" marT="21600" marB="21600" anchor="ctr">
                    <a:solidFill>
                      <a:schemeClr val="accent1">
                        <a:lumMod val="20000"/>
                        <a:lumOff val="80000"/>
                      </a:schemeClr>
                    </a:solidFill>
                  </a:tcPr>
                </a:tc>
              </a:tr>
            </a:tbl>
          </a:graphicData>
        </a:graphic>
      </p:graphicFrame>
      <p:sp>
        <p:nvSpPr>
          <p:cNvPr id="3"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en-US" altLang="zh-CN" sz="1200" kern="0" dirty="0">
                <a:uFillTx/>
                <a:latin typeface="+mj-ea"/>
                <a:ea typeface="+mj-ea"/>
                <a:sym typeface="+mn-ea"/>
              </a:rPr>
              <a:t>2.1.4  </a:t>
            </a:r>
            <a:r>
              <a:rPr lang="zh-CN" altLang="en-US" sz="1200" kern="0" dirty="0">
                <a:uFillTx/>
                <a:latin typeface="+mj-ea"/>
                <a:ea typeface="+mj-ea"/>
                <a:sym typeface="+mn-ea"/>
              </a:rPr>
              <a:t>任务与交付件对应关系详细</a:t>
            </a:r>
            <a:r>
              <a:rPr lang="zh-CN" altLang="en-US" sz="1200" kern="0" dirty="0">
                <a:uFillTx/>
                <a:latin typeface="+mj-ea"/>
                <a:ea typeface="+mj-ea"/>
                <a:sym typeface="+mn-ea"/>
              </a:rPr>
              <a:t>方案</a:t>
            </a:r>
            <a:endParaRPr lang="zh-CN" altLang="en-US" sz="1200" kern="0" dirty="0">
              <a:uFillTx/>
              <a:latin typeface="+mj-ea"/>
              <a:ea typeface="+mj-ea"/>
              <a:sym typeface="+mn-ea"/>
            </a:endParaRPr>
          </a:p>
        </p:txBody>
      </p:sp>
    </p:spTree>
    <p:custDataLst>
      <p:tags r:id="rId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1 </a:t>
            </a:r>
            <a:r>
              <a:rPr lang="zh-CN" altLang="en-US" sz="2800">
                <a:solidFill>
                  <a:schemeClr val="tx1"/>
                </a:solidFill>
                <a:cs typeface="微软雅黑" panose="020B0503020204020204" pitchFamily="34" charset="-122"/>
                <a:sym typeface="+mn-ea"/>
              </a:rPr>
              <a:t>状态可视</a:t>
            </a:r>
            <a:endParaRPr lang="zh-CN" altLang="en-US" sz="2800">
              <a:solidFill>
                <a:schemeClr val="tx1"/>
              </a:solidFill>
              <a:cs typeface="微软雅黑" panose="020B0503020204020204" pitchFamily="34" charset="-122"/>
              <a:sym typeface="+mn-ea"/>
            </a:endParaRPr>
          </a:p>
        </p:txBody>
      </p:sp>
      <p:graphicFrame>
        <p:nvGraphicFramePr>
          <p:cNvPr id="13" name="表格 12"/>
          <p:cNvGraphicFramePr/>
          <p:nvPr>
            <p:custDataLst>
              <p:tags r:id="rId2"/>
            </p:custDataLst>
          </p:nvPr>
        </p:nvGraphicFramePr>
        <p:xfrm>
          <a:off x="1246959" y="965803"/>
          <a:ext cx="9921784" cy="359664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a:t>
                      </a:r>
                      <a:r>
                        <a:rPr lang="zh-CN" altLang="en-US" sz="1400" dirty="0">
                          <a:sym typeface="+mn-ea"/>
                        </a:rPr>
                        <a:t>各任务完成状态</a:t>
                      </a:r>
                      <a:endParaRPr lang="zh-CN" altLang="en-US" sz="1400" dirty="0">
                        <a:sym typeface="+mn-ea"/>
                      </a:endParaRPr>
                    </a:p>
                  </a:txBody>
                  <a:tcPr/>
                </a:tc>
              </a:tr>
              <a:tr h="237772">
                <a:tc>
                  <a:txBody>
                    <a:bodyPr/>
                    <a:lstStyle/>
                    <a:p>
                      <a:pPr>
                        <a:buNone/>
                      </a:pPr>
                      <a:r>
                        <a:rPr lang="zh-CN" altLang="en-US" sz="1200" dirty="0"/>
                        <a:t>做什么</a:t>
                      </a:r>
                      <a:endParaRPr lang="zh-CN" altLang="en-US" sz="1200" dirty="0"/>
                    </a:p>
                  </a:txBody>
                  <a:tcPr/>
                </a:tc>
                <a:tc>
                  <a:txBody>
                    <a:bodyPr/>
                    <a:lstStyle/>
                    <a:p>
                      <a:pPr>
                        <a:buNone/>
                      </a:pPr>
                      <a:r>
                        <a:rPr lang="zh-CN" altLang="en-US" sz="1200" dirty="0">
                          <a:sym typeface="+mn-ea"/>
                        </a:rPr>
                        <a:t>任务责任人按计划时间完成相应的活动，包含上载任务件（详见国光</a:t>
                      </a:r>
                      <a:r>
                        <a:rPr lang="en-US" altLang="zh-CN" sz="1200" dirty="0">
                          <a:sym typeface="+mn-ea"/>
                        </a:rPr>
                        <a:t>NPI</a:t>
                      </a:r>
                      <a:r>
                        <a:rPr lang="zh-CN" altLang="en-US" sz="1200" dirty="0">
                          <a:sym typeface="+mn-ea"/>
                        </a:rPr>
                        <a:t>功能设计表）</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各任务责任人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项目计划表和各任务的实际开始和完成时间</a:t>
                      </a:r>
                      <a:endParaRPr lang="en-US" altLang="zh-CN" sz="1200" dirty="0"/>
                    </a:p>
                  </a:txBody>
                  <a:tcPr/>
                </a:tc>
              </a:tr>
              <a:tr h="237772">
                <a:tc>
                  <a:txBody>
                    <a:bodyPr/>
                    <a:lstStyle/>
                    <a:p>
                      <a:pPr>
                        <a:buNone/>
                      </a:pPr>
                      <a:r>
                        <a:rPr lang="zh-CN" altLang="en-US" sz="1200"/>
                        <a:t>输出</a:t>
                      </a:r>
                      <a:endParaRPr lang="zh-CN" altLang="en-US" sz="1200"/>
                    </a:p>
                  </a:txBody>
                  <a:tcPr/>
                </a:tc>
                <a:tc>
                  <a:txBody>
                    <a:bodyPr/>
                    <a:lstStyle/>
                    <a:p>
                      <a:pPr>
                        <a:buNone/>
                      </a:pPr>
                      <a:r>
                        <a:rPr lang="zh-CN" altLang="en-US" sz="1200" dirty="0">
                          <a:sym typeface="+mn-ea"/>
                        </a:rPr>
                        <a:t>各任务的完成状态</a:t>
                      </a:r>
                      <a:endParaRPr lang="zh-CN" altLang="en-US" sz="1200" dirty="0">
                        <a:sym typeface="+mn-ea"/>
                      </a:endParaRPr>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、录入任务的实际开始时间和完成时间</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、支持交付件上载</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3</a:t>
                      </a:r>
                      <a:r>
                        <a:rPr lang="zh-CN" altLang="en-US" sz="1200" kern="1200" dirty="0">
                          <a:solidFill>
                            <a:schemeClr val="dk1"/>
                          </a:solidFill>
                          <a:latin typeface="+mn-lt"/>
                          <a:ea typeface="+mn-ea"/>
                          <a:cs typeface="+mn-cs"/>
                          <a:sym typeface="Arial" panose="020B0604020202020204"/>
                        </a:rPr>
                        <a:t>、支持按照组织、产品、客户维度下钻（前提是国光可提供组织、产品、客户主数据）</a:t>
                      </a:r>
                      <a:endParaRPr lang="zh-CN" altLang="en-US"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有交付件的场景，按如下规则判断：</a:t>
                      </a:r>
                      <a:endParaRPr lang="en-US" altLang="zh-CN" sz="1200" dirty="0"/>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临期未完成：</a:t>
                      </a:r>
                      <a:r>
                        <a:rPr lang="zh-CN" altLang="en-US" sz="1200" dirty="0">
                          <a:latin typeface="微软雅黑" panose="020B0503020204020204" pitchFamily="34" charset="-122"/>
                          <a:ea typeface="微软雅黑" panose="020B0503020204020204" pitchFamily="34" charset="-122"/>
                        </a:rPr>
                        <a:t>未录入实际起/止时间；</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逾期未完成：</a:t>
                      </a:r>
                      <a:r>
                        <a:rPr lang="zh-CN" altLang="en-US" sz="1200" dirty="0">
                          <a:latin typeface="微软雅黑" panose="020B0503020204020204" pitchFamily="34" charset="-122"/>
                          <a:ea typeface="微软雅黑" panose="020B0503020204020204" pitchFamily="34" charset="-122"/>
                        </a:rPr>
                        <a:t>实际起/止时间&gt;计划起/止时间，且交付件状态未齐套;</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逾期完成：</a:t>
                      </a:r>
                      <a:r>
                        <a:rPr lang="zh-CN" altLang="en-US" sz="1200" dirty="0">
                          <a:latin typeface="微软雅黑" panose="020B0503020204020204" pitchFamily="34" charset="-122"/>
                          <a:ea typeface="微软雅黑" panose="020B0503020204020204" pitchFamily="34" charset="-122"/>
                        </a:rPr>
                        <a:t>实际起/止时间&gt;计划起/止时间，且交付件状态已齐套;</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按时完成：</a:t>
                      </a:r>
                      <a:r>
                        <a:rPr lang="zh-CN" altLang="en-US" sz="1200" dirty="0">
                          <a:latin typeface="微软雅黑" panose="020B0503020204020204" pitchFamily="34" charset="-122"/>
                          <a:ea typeface="微软雅黑" panose="020B0503020204020204" pitchFamily="34" charset="-122"/>
                        </a:rPr>
                        <a:t>实际起止时间&lt;=计划时间，且交付件状态已齐套</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无交付件的场景（录入实际时间即表示该任务已完成），按如下规则判断：</a:t>
                      </a:r>
                      <a:endParaRPr lang="en-US" altLang="zh-CN" sz="1200" dirty="0"/>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逾期完成：</a:t>
                      </a:r>
                      <a:r>
                        <a:rPr lang="zh-CN" altLang="en-US" sz="1200" dirty="0">
                          <a:latin typeface="微软雅黑" panose="020B0503020204020204" pitchFamily="34" charset="-122"/>
                          <a:ea typeface="微软雅黑" panose="020B0503020204020204" pitchFamily="34" charset="-122"/>
                        </a:rPr>
                        <a:t>实际起/止时间&gt;计划起/止时间;</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按时完成：</a:t>
                      </a:r>
                      <a:r>
                        <a:rPr lang="zh-CN" altLang="en-US" sz="1200" dirty="0">
                          <a:latin typeface="微软雅黑" panose="020B0503020204020204" pitchFamily="34" charset="-122"/>
                          <a:ea typeface="微软雅黑" panose="020B0503020204020204" pitchFamily="34" charset="-122"/>
                        </a:rPr>
                        <a:t>实际起止时间&lt;=计划时间</a:t>
                      </a:r>
                      <a:endParaRPr lang="zh-CN" altLang="en-US" sz="1200" dirty="0">
                        <a:latin typeface="微软雅黑" panose="020B0503020204020204" pitchFamily="34" charset="-122"/>
                        <a:ea typeface="微软雅黑" panose="020B0503020204020204" pitchFamily="34" charset="-122"/>
                      </a:endParaRPr>
                    </a:p>
                  </a:txBody>
                  <a:tcPr/>
                </a:tc>
              </a:tr>
            </a:tbl>
          </a:graphicData>
        </a:graphic>
      </p:graphicFrame>
      <p:sp>
        <p:nvSpPr>
          <p:cNvPr id="9"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zh-CN" altLang="en-US" sz="1200" kern="0" dirty="0">
                <a:uFillTx/>
                <a:latin typeface="+mj-ea"/>
                <a:ea typeface="+mj-ea"/>
                <a:sym typeface="+mn-ea"/>
              </a:rPr>
              <a:t>状态</a:t>
            </a:r>
            <a:r>
              <a:rPr lang="zh-CN" altLang="en-US" sz="1200" kern="0" dirty="0">
                <a:uFillTx/>
                <a:latin typeface="+mj-ea"/>
                <a:ea typeface="+mj-ea"/>
                <a:sym typeface="+mn-ea"/>
              </a:rPr>
              <a:t>可视</a:t>
            </a:r>
            <a:endParaRPr lang="zh-CN" altLang="en-US" sz="1200" kern="0" dirty="0">
              <a:uFillTx/>
              <a:latin typeface="+mj-ea"/>
              <a:ea typeface="+mj-ea"/>
              <a:sym typeface="+mn-ea"/>
            </a:endParaRPr>
          </a:p>
        </p:txBody>
      </p:sp>
    </p:spTree>
    <p:custDataLst>
      <p:tags r:id="rId3"/>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cs typeface="微软雅黑" panose="020B0503020204020204" pitchFamily="34" charset="-122"/>
                <a:sym typeface="+mn-ea"/>
              </a:rPr>
              <a:t>2 </a:t>
            </a:r>
            <a:r>
              <a:rPr lang="zh-CN" altLang="en-US" sz="2800">
                <a:solidFill>
                  <a:schemeClr val="tx1"/>
                </a:solidFill>
                <a:cs typeface="微软雅黑" panose="020B0503020204020204" pitchFamily="34" charset="-122"/>
                <a:sym typeface="+mn-ea"/>
              </a:rPr>
              <a:t>任务令管理</a:t>
            </a:r>
            <a:endParaRPr lang="zh-CN" altLang="en-US" sz="2800">
              <a:solidFill>
                <a:schemeClr val="tx1"/>
              </a:solidFill>
              <a:cs typeface="微软雅黑" panose="020B0503020204020204" pitchFamily="34" charset="-122"/>
              <a:sym typeface="+mn-ea"/>
            </a:endParaRPr>
          </a:p>
        </p:txBody>
      </p:sp>
      <p:graphicFrame>
        <p:nvGraphicFramePr>
          <p:cNvPr id="3" name="表格 2"/>
          <p:cNvGraphicFramePr/>
          <p:nvPr>
            <p:custDataLst>
              <p:tags r:id="rId2"/>
            </p:custDataLst>
          </p:nvPr>
        </p:nvGraphicFramePr>
        <p:xfrm>
          <a:off x="1246959" y="965803"/>
          <a:ext cx="9921784" cy="3779520"/>
        </p:xfrm>
        <a:graphic>
          <a:graphicData uri="http://schemas.openxmlformats.org/drawingml/2006/table">
            <a:tbl>
              <a:tblPr firstRow="1" bandRow="1">
                <a:tableStyleId>{5C22544A-7EE6-4342-B048-85BDC9FD1C3A}</a:tableStyleId>
              </a:tblPr>
              <a:tblGrid>
                <a:gridCol w="1209040"/>
                <a:gridCol w="8712744"/>
              </a:tblGrid>
              <a:tr h="264191">
                <a:tc>
                  <a:txBody>
                    <a:bodyPr/>
                    <a:lstStyle/>
                    <a:p>
                      <a:pPr algn="ctr">
                        <a:buNone/>
                      </a:pPr>
                      <a:r>
                        <a:rPr lang="zh-CN" altLang="en-US" sz="1400"/>
                        <a:t>步骤</a:t>
                      </a:r>
                      <a:r>
                        <a:rPr lang="en-US" altLang="zh-CN" sz="1400"/>
                        <a:t> </a:t>
                      </a:r>
                      <a:endParaRPr lang="en-US" altLang="zh-CN" sz="1400"/>
                    </a:p>
                  </a:txBody>
                  <a:tcPr/>
                </a:tc>
                <a:tc>
                  <a:txBody>
                    <a:bodyPr/>
                    <a:lstStyle/>
                    <a:p>
                      <a:pPr algn="ctr">
                        <a:buNone/>
                      </a:pPr>
                      <a:r>
                        <a:rPr lang="en-US" altLang="zh-CN" sz="1400" dirty="0">
                          <a:sym typeface="+mn-ea"/>
                        </a:rPr>
                        <a:t>Step  </a:t>
                      </a:r>
                      <a:r>
                        <a:rPr lang="zh-CN" altLang="en-US" sz="1400" dirty="0">
                          <a:sym typeface="+mn-ea"/>
                        </a:rPr>
                        <a:t>任务令管理</a:t>
                      </a:r>
                      <a:endParaRPr lang="zh-CN" altLang="en-US" sz="1400" dirty="0">
                        <a:sym typeface="+mn-ea"/>
                      </a:endParaRPr>
                    </a:p>
                  </a:txBody>
                  <a:tcPr/>
                </a:tc>
              </a:tr>
              <a:tr h="237772">
                <a:tc>
                  <a:txBody>
                    <a:bodyPr/>
                    <a:lstStyle/>
                    <a:p>
                      <a:pPr>
                        <a:buNone/>
                      </a:pPr>
                      <a:r>
                        <a:rPr lang="zh-CN" altLang="en-US" sz="1200" dirty="0"/>
                        <a:t>做什么</a:t>
                      </a:r>
                      <a:endParaRPr lang="zh-CN" altLang="en-US" sz="1200" dirty="0"/>
                    </a:p>
                  </a:txBody>
                  <a:tcPr/>
                </a:tc>
                <a:tc>
                  <a:txBody>
                    <a:bodyPr/>
                    <a:lstStyle/>
                    <a:p>
                      <a:pPr>
                        <a:buNone/>
                      </a:pPr>
                      <a:r>
                        <a:rPr lang="zh-CN" altLang="en-US" sz="1200" dirty="0">
                          <a:sym typeface="+mn-ea"/>
                        </a:rPr>
                        <a:t>任务责任人按计划时间完成相应的活动，包含上载任务件（详见国光</a:t>
                      </a:r>
                      <a:r>
                        <a:rPr lang="en-US" altLang="zh-CN" sz="1200" dirty="0">
                          <a:sym typeface="+mn-ea"/>
                        </a:rPr>
                        <a:t>NPI</a:t>
                      </a:r>
                      <a:r>
                        <a:rPr lang="zh-CN" altLang="en-US" sz="1200" dirty="0">
                          <a:sym typeface="+mn-ea"/>
                        </a:rPr>
                        <a:t>功能设计表）</a:t>
                      </a:r>
                      <a:endParaRPr sz="1200" dirty="0">
                        <a:sym typeface="+mn-ea"/>
                      </a:endParaRPr>
                    </a:p>
                  </a:txBody>
                  <a:tcPr/>
                </a:tc>
              </a:tr>
              <a:tr h="237772">
                <a:tc>
                  <a:txBody>
                    <a:bodyPr/>
                    <a:lstStyle/>
                    <a:p>
                      <a:pPr>
                        <a:buNone/>
                      </a:pPr>
                      <a:r>
                        <a:rPr lang="zh-CN" altLang="en-US" sz="1200"/>
                        <a:t>谁来做</a:t>
                      </a:r>
                      <a:endParaRPr lang="zh-CN" altLang="en-US" sz="1200"/>
                    </a:p>
                  </a:txBody>
                  <a:tcPr/>
                </a:tc>
                <a:tc>
                  <a:txBody>
                    <a:bodyPr/>
                    <a:lstStyle/>
                    <a:p>
                      <a:pPr>
                        <a:buNone/>
                      </a:pPr>
                      <a:r>
                        <a:rPr lang="zh-CN" altLang="en-US" sz="1200" dirty="0">
                          <a:sym typeface="+mn-ea"/>
                        </a:rPr>
                        <a:t>各任务责任人</a:t>
                      </a:r>
                      <a:endParaRPr lang="zh-CN" altLang="en-US" sz="1200" dirty="0">
                        <a:sym typeface="+mn-ea"/>
                      </a:endParaRPr>
                    </a:p>
                  </a:txBody>
                  <a:tcPr/>
                </a:tc>
              </a:tr>
              <a:tr h="237772">
                <a:tc>
                  <a:txBody>
                    <a:bodyPr/>
                    <a:lstStyle/>
                    <a:p>
                      <a:pPr>
                        <a:buNone/>
                      </a:pPr>
                      <a:r>
                        <a:rPr lang="zh-CN" altLang="en-US" sz="1200"/>
                        <a:t>输入</a:t>
                      </a:r>
                      <a:endParaRPr lang="zh-CN" altLang="en-US" sz="1200"/>
                    </a:p>
                  </a:txBody>
                  <a:tcPr/>
                </a:tc>
                <a:tc>
                  <a:txBody>
                    <a:bodyPr/>
                    <a:lstStyle/>
                    <a:p>
                      <a:pPr>
                        <a:buNone/>
                      </a:pPr>
                      <a:r>
                        <a:rPr lang="zh-CN" altLang="en-US" sz="1200" dirty="0"/>
                        <a:t>项目计划表和各任务的计划开始和完成时间</a:t>
                      </a:r>
                      <a:endParaRPr lang="zh-CN" altLang="en-US" sz="1200" dirty="0"/>
                    </a:p>
                  </a:txBody>
                  <a:tcPr/>
                </a:tc>
              </a:tr>
              <a:tr h="350696">
                <a:tc>
                  <a:txBody>
                    <a:bodyPr/>
                    <a:lstStyle/>
                    <a:p>
                      <a:pPr>
                        <a:buNone/>
                      </a:pPr>
                      <a:r>
                        <a:rPr lang="zh-CN" altLang="en-US" sz="1200"/>
                        <a:t>输出</a:t>
                      </a:r>
                      <a:endParaRPr lang="zh-CN" altLang="en-US" sz="1200"/>
                    </a:p>
                  </a:txBody>
                  <a:tcPr/>
                </a:tc>
                <a:tc>
                  <a:txBody>
                    <a:bodyPr/>
                    <a:lstStyle/>
                    <a:p>
                      <a:pPr>
                        <a:buNone/>
                      </a:pPr>
                      <a:r>
                        <a:rPr lang="zh-CN" altLang="en-US" sz="1200" dirty="0">
                          <a:sym typeface="+mn-ea"/>
                        </a:rPr>
                        <a:t>各任务的完成状态</a:t>
                      </a:r>
                      <a:endParaRPr lang="en-US" altLang="zh-CN" sz="1200" dirty="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任务件要求（详见</a:t>
                      </a:r>
                      <a:r>
                        <a:rPr lang="zh-CN" altLang="en-US" sz="1200" dirty="0">
                          <a:sym typeface="+mn-ea"/>
                        </a:rPr>
                        <a:t>详见国光</a:t>
                      </a:r>
                      <a:r>
                        <a:rPr lang="en-US" altLang="zh-CN" sz="1200" dirty="0">
                          <a:sym typeface="+mn-ea"/>
                        </a:rPr>
                        <a:t>NPI</a:t>
                      </a:r>
                      <a:r>
                        <a:rPr lang="zh-CN" altLang="en-US" sz="1200" dirty="0">
                          <a:sym typeface="+mn-ea"/>
                        </a:rPr>
                        <a:t>功能设计表</a:t>
                      </a:r>
                      <a:r>
                        <a:rPr lang="zh-CN" altLang="en-US" sz="1200" dirty="0"/>
                        <a:t>）</a:t>
                      </a:r>
                      <a:endParaRPr lang="zh-CN" altLang="en-US" sz="1200" dirty="0"/>
                    </a:p>
                  </a:txBody>
                  <a:tcPr/>
                </a:tc>
              </a:tr>
              <a:tr h="381742">
                <a:tc>
                  <a:txBody>
                    <a:bodyPr/>
                    <a:lstStyle/>
                    <a:p>
                      <a:pPr>
                        <a:buNone/>
                      </a:pPr>
                      <a:r>
                        <a:rPr lang="zh-CN" altLang="en-US" sz="1200" dirty="0"/>
                        <a:t>主要功能</a:t>
                      </a:r>
                      <a:endParaRPr lang="zh-CN" altLang="en-US" sz="1200" dirty="0"/>
                    </a:p>
                  </a:txBody>
                  <a:tcPr/>
                </a:tc>
                <a:tc>
                  <a:txBody>
                    <a:bodyPr/>
                    <a:lstStyle/>
                    <a:p>
                      <a:pPr indent="0">
                        <a:buFont typeface="+mj-lt"/>
                        <a:buNone/>
                      </a:pPr>
                      <a:r>
                        <a:rPr lang="en-US" altLang="zh-CN" sz="1200" kern="1200" dirty="0">
                          <a:solidFill>
                            <a:schemeClr val="dk1"/>
                          </a:solidFill>
                          <a:latin typeface="+mn-lt"/>
                          <a:ea typeface="+mn-ea"/>
                          <a:cs typeface="+mn-cs"/>
                          <a:sym typeface="Arial" panose="020B0604020202020204"/>
                        </a:rPr>
                        <a:t>1</a:t>
                      </a:r>
                      <a:r>
                        <a:rPr lang="zh-CN" altLang="en-US" sz="1200" kern="1200" dirty="0">
                          <a:solidFill>
                            <a:schemeClr val="dk1"/>
                          </a:solidFill>
                          <a:latin typeface="+mn-lt"/>
                          <a:ea typeface="+mn-ea"/>
                          <a:cs typeface="+mn-cs"/>
                          <a:sym typeface="Arial" panose="020B0604020202020204"/>
                        </a:rPr>
                        <a:t>、按照计划开始时间生成该任务的任务令，名称：“</a:t>
                      </a:r>
                      <a:r>
                        <a:rPr lang="en-US" altLang="zh-CN" sz="1200" kern="1200" dirty="0">
                          <a:solidFill>
                            <a:schemeClr val="dk1"/>
                          </a:solidFill>
                          <a:latin typeface="+mn-lt"/>
                          <a:ea typeface="+mn-ea"/>
                          <a:cs typeface="+mn-cs"/>
                          <a:sym typeface="Arial" panose="020B0604020202020204"/>
                        </a:rPr>
                        <a:t>XXX</a:t>
                      </a:r>
                      <a:r>
                        <a:rPr lang="zh-CN" altLang="en-US" sz="1200" kern="1200" dirty="0">
                          <a:solidFill>
                            <a:schemeClr val="dk1"/>
                          </a:solidFill>
                          <a:latin typeface="+mn-lt"/>
                          <a:ea typeface="+mn-ea"/>
                          <a:cs typeface="+mn-cs"/>
                          <a:sym typeface="Arial" panose="020B0604020202020204"/>
                        </a:rPr>
                        <a:t>”任务令</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2</a:t>
                      </a:r>
                      <a:r>
                        <a:rPr lang="zh-CN" altLang="en-US" sz="1200" kern="1200" dirty="0">
                          <a:solidFill>
                            <a:schemeClr val="dk1"/>
                          </a:solidFill>
                          <a:latin typeface="+mn-lt"/>
                          <a:ea typeface="+mn-ea"/>
                          <a:cs typeface="+mn-cs"/>
                          <a:sym typeface="Arial" panose="020B0604020202020204"/>
                        </a:rPr>
                        <a:t>、任务令显示：</a:t>
                      </a:r>
                      <a:r>
                        <a:rPr lang="en-US" altLang="zh-CN" sz="1200" kern="1200" dirty="0">
                          <a:solidFill>
                            <a:schemeClr val="dk1"/>
                          </a:solidFill>
                          <a:latin typeface="+mn-lt"/>
                          <a:ea typeface="+mn-ea"/>
                          <a:cs typeface="+mn-cs"/>
                          <a:sym typeface="Arial" panose="020B0604020202020204"/>
                        </a:rPr>
                        <a:t>XX</a:t>
                      </a:r>
                      <a:r>
                        <a:rPr lang="zh-CN" altLang="en-US" sz="1200" kern="1200" dirty="0">
                          <a:solidFill>
                            <a:schemeClr val="dk1"/>
                          </a:solidFill>
                          <a:latin typeface="+mn-lt"/>
                          <a:ea typeface="+mn-ea"/>
                          <a:cs typeface="+mn-cs"/>
                          <a:sym typeface="Arial" panose="020B0604020202020204"/>
                        </a:rPr>
                        <a:t>责任人在</a:t>
                      </a:r>
                      <a:r>
                        <a:rPr lang="en-US" altLang="zh-CN" sz="1200" kern="1200" dirty="0">
                          <a:solidFill>
                            <a:schemeClr val="dk1"/>
                          </a:solidFill>
                          <a:latin typeface="+mn-lt"/>
                          <a:ea typeface="+mn-ea"/>
                          <a:cs typeface="+mn-cs"/>
                          <a:sym typeface="Arial" panose="020B0604020202020204"/>
                        </a:rPr>
                        <a:t>XX</a:t>
                      </a:r>
                      <a:r>
                        <a:rPr lang="zh-CN" altLang="en-US" sz="1200" kern="1200" dirty="0">
                          <a:solidFill>
                            <a:schemeClr val="dk1"/>
                          </a:solidFill>
                          <a:latin typeface="+mn-lt"/>
                          <a:ea typeface="+mn-ea"/>
                          <a:cs typeface="+mn-cs"/>
                          <a:sym typeface="Arial" panose="020B0604020202020204"/>
                        </a:rPr>
                        <a:t>系统在</a:t>
                      </a:r>
                      <a:r>
                        <a:rPr lang="en-US" altLang="zh-CN" sz="1200" kern="1200" dirty="0">
                          <a:solidFill>
                            <a:schemeClr val="dk1"/>
                          </a:solidFill>
                          <a:latin typeface="+mn-lt"/>
                          <a:ea typeface="+mn-ea"/>
                          <a:cs typeface="+mn-cs"/>
                          <a:sym typeface="Arial" panose="020B0604020202020204"/>
                        </a:rPr>
                        <a:t>XX</a:t>
                      </a:r>
                      <a:r>
                        <a:rPr lang="zh-CN" altLang="en-US" sz="1200" kern="1200" dirty="0">
                          <a:solidFill>
                            <a:schemeClr val="dk1"/>
                          </a:solidFill>
                          <a:latin typeface="+mn-lt"/>
                          <a:ea typeface="+mn-ea"/>
                          <a:cs typeface="+mn-cs"/>
                          <a:sym typeface="Arial" panose="020B0604020202020204"/>
                        </a:rPr>
                        <a:t>时间完成</a:t>
                      </a:r>
                      <a:r>
                        <a:rPr lang="en-US" altLang="zh-CN" sz="1200" kern="1200" dirty="0">
                          <a:solidFill>
                            <a:schemeClr val="dk1"/>
                          </a:solidFill>
                          <a:latin typeface="+mn-lt"/>
                          <a:ea typeface="+mn-ea"/>
                          <a:cs typeface="+mn-cs"/>
                          <a:sym typeface="Arial" panose="020B0604020202020204"/>
                        </a:rPr>
                        <a:t>XX</a:t>
                      </a:r>
                      <a:r>
                        <a:rPr lang="zh-CN" altLang="en-US" sz="1200" kern="1200" dirty="0">
                          <a:solidFill>
                            <a:schemeClr val="dk1"/>
                          </a:solidFill>
                          <a:latin typeface="+mn-lt"/>
                          <a:ea typeface="+mn-ea"/>
                          <a:cs typeface="+mn-cs"/>
                          <a:sym typeface="Arial" panose="020B0604020202020204"/>
                        </a:rPr>
                        <a:t>交付件</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3</a:t>
                      </a:r>
                      <a:r>
                        <a:rPr lang="zh-CN" altLang="en-US" sz="1200" kern="1200" dirty="0">
                          <a:solidFill>
                            <a:schemeClr val="dk1"/>
                          </a:solidFill>
                          <a:latin typeface="+mn-lt"/>
                          <a:ea typeface="+mn-ea"/>
                          <a:cs typeface="+mn-cs"/>
                          <a:sym typeface="Arial" panose="020B0604020202020204"/>
                        </a:rPr>
                        <a:t>、</a:t>
                      </a:r>
                      <a:r>
                        <a:rPr lang="en-US" altLang="zh-CN" sz="1200" kern="1200" dirty="0">
                          <a:solidFill>
                            <a:schemeClr val="dk1"/>
                          </a:solidFill>
                          <a:latin typeface="+mn-lt"/>
                          <a:ea typeface="+mn-ea"/>
                          <a:cs typeface="+mn-cs"/>
                          <a:sym typeface="Arial" panose="020B0604020202020204"/>
                        </a:rPr>
                        <a:t>XX</a:t>
                      </a:r>
                      <a:r>
                        <a:rPr lang="zh-CN" altLang="en-US" sz="1200" kern="1200" dirty="0">
                          <a:solidFill>
                            <a:schemeClr val="dk1"/>
                          </a:solidFill>
                          <a:latin typeface="+mn-lt"/>
                          <a:ea typeface="+mn-ea"/>
                          <a:cs typeface="+mn-cs"/>
                          <a:sym typeface="Arial" panose="020B0604020202020204"/>
                        </a:rPr>
                        <a:t>责任人通过任务令链接直接进去到相应系统操作</a:t>
                      </a:r>
                      <a:endParaRPr lang="en-US" altLang="zh-CN" sz="1200" kern="1200" dirty="0">
                        <a:solidFill>
                          <a:schemeClr val="dk1"/>
                        </a:solidFill>
                        <a:latin typeface="+mn-lt"/>
                        <a:ea typeface="+mn-ea"/>
                        <a:cs typeface="+mn-cs"/>
                        <a:sym typeface="Arial" panose="020B0604020202020204"/>
                      </a:endParaRPr>
                    </a:p>
                    <a:p>
                      <a:pPr indent="0">
                        <a:buFont typeface="+mj-lt"/>
                        <a:buNone/>
                      </a:pPr>
                      <a:r>
                        <a:rPr lang="en-US" altLang="zh-CN" sz="1200" kern="1200" dirty="0">
                          <a:solidFill>
                            <a:schemeClr val="dk1"/>
                          </a:solidFill>
                          <a:latin typeface="+mn-lt"/>
                          <a:ea typeface="+mn-ea"/>
                          <a:cs typeface="+mn-cs"/>
                          <a:sym typeface="Arial" panose="020B0604020202020204"/>
                        </a:rPr>
                        <a:t>4</a:t>
                      </a:r>
                      <a:r>
                        <a:rPr lang="zh-CN" altLang="en-US" sz="1200" kern="1200" dirty="0">
                          <a:solidFill>
                            <a:schemeClr val="dk1"/>
                          </a:solidFill>
                          <a:latin typeface="+mn-lt"/>
                          <a:ea typeface="+mn-ea"/>
                          <a:cs typeface="+mn-cs"/>
                          <a:sym typeface="Arial" panose="020B0604020202020204"/>
                        </a:rPr>
                        <a:t>、交付件任务开始直到交付件完成，系统根据交付件已完成状态关闭“</a:t>
                      </a:r>
                      <a:r>
                        <a:rPr lang="en-US" altLang="zh-CN" sz="1200" kern="1200" dirty="0">
                          <a:solidFill>
                            <a:schemeClr val="dk1"/>
                          </a:solidFill>
                          <a:latin typeface="+mn-lt"/>
                          <a:ea typeface="+mn-ea"/>
                          <a:cs typeface="+mn-cs"/>
                          <a:sym typeface="Arial" panose="020B0604020202020204"/>
                        </a:rPr>
                        <a:t>XXX</a:t>
                      </a:r>
                      <a:r>
                        <a:rPr lang="zh-CN" altLang="en-US" sz="1200" kern="1200" dirty="0">
                          <a:solidFill>
                            <a:schemeClr val="dk1"/>
                          </a:solidFill>
                          <a:latin typeface="+mn-lt"/>
                          <a:ea typeface="+mn-ea"/>
                          <a:cs typeface="+mn-cs"/>
                          <a:sym typeface="Arial" panose="020B0604020202020204"/>
                        </a:rPr>
                        <a:t>”任务令</a:t>
                      </a:r>
                      <a:endParaRPr lang="en-US" altLang="zh-CN" sz="1200" kern="1200" dirty="0">
                        <a:solidFill>
                          <a:schemeClr val="dk1"/>
                        </a:solidFill>
                        <a:latin typeface="+mn-lt"/>
                        <a:ea typeface="+mn-ea"/>
                        <a:cs typeface="+mn-cs"/>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en-US" altLang="zh-CN" sz="1200" kern="1200" dirty="0">
                          <a:solidFill>
                            <a:schemeClr val="dk1"/>
                          </a:solidFill>
                          <a:latin typeface="+mn-lt"/>
                          <a:ea typeface="+mn-ea"/>
                          <a:cs typeface="+mn-cs"/>
                          <a:sym typeface="Arial" panose="020B0604020202020204"/>
                        </a:rPr>
                        <a:t>5</a:t>
                      </a:r>
                      <a:r>
                        <a:rPr lang="zh-CN" altLang="en-US" sz="1200" kern="1200" dirty="0">
                          <a:solidFill>
                            <a:schemeClr val="dk1"/>
                          </a:solidFill>
                          <a:latin typeface="+mn-lt"/>
                          <a:ea typeface="+mn-ea"/>
                          <a:cs typeface="+mn-cs"/>
                          <a:sym typeface="Arial" panose="020B0604020202020204"/>
                        </a:rPr>
                        <a:t>、交付件未完成前，任务令一直有效，系统显示：“</a:t>
                      </a:r>
                      <a:r>
                        <a:rPr lang="en-US" altLang="zh-CN" sz="1200" kern="1200" dirty="0">
                          <a:solidFill>
                            <a:schemeClr val="dk1"/>
                          </a:solidFill>
                          <a:latin typeface="+mn-lt"/>
                          <a:ea typeface="+mn-ea"/>
                          <a:cs typeface="+mn-cs"/>
                          <a:sym typeface="Arial" panose="020B0604020202020204"/>
                        </a:rPr>
                        <a:t>XXX</a:t>
                      </a:r>
                      <a:r>
                        <a:rPr lang="zh-CN" altLang="en-US" sz="1200" kern="1200" dirty="0">
                          <a:solidFill>
                            <a:schemeClr val="dk1"/>
                          </a:solidFill>
                          <a:latin typeface="+mn-lt"/>
                          <a:ea typeface="+mn-ea"/>
                          <a:cs typeface="+mn-cs"/>
                          <a:sym typeface="Arial" panose="020B0604020202020204"/>
                        </a:rPr>
                        <a:t>”任务令待完成</a:t>
                      </a:r>
                      <a:endParaRPr lang="zh-CN" altLang="en-US" sz="1200" kern="1200" dirty="0">
                        <a:solidFill>
                          <a:schemeClr val="dk1"/>
                        </a:solidFill>
                        <a:latin typeface="+mn-lt"/>
                        <a:ea typeface="+mn-ea"/>
                        <a:cs typeface="+mn-cs"/>
                        <a:sym typeface="Arial" panose="020B0604020202020204"/>
                      </a:endParaRPr>
                    </a:p>
                  </a:txBody>
                  <a:tcPr/>
                </a:tc>
              </a:tr>
              <a:tr h="343449">
                <a:tc>
                  <a:txBody>
                    <a:bodyPr/>
                    <a:lstStyle/>
                    <a:p>
                      <a:pPr>
                        <a:buNone/>
                      </a:pPr>
                      <a:r>
                        <a:rPr lang="zh-CN" altLang="en-US" sz="1200">
                          <a:sym typeface="+mn-ea"/>
                        </a:rPr>
                        <a:t>关键业务逻辑</a:t>
                      </a:r>
                      <a:endParaRPr lang="zh-CN" alt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有交付件的场景，按如下规则判断：</a:t>
                      </a:r>
                      <a:endParaRPr lang="en-US" altLang="zh-CN" sz="1200" dirty="0"/>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任务令生成：</a:t>
                      </a:r>
                      <a:r>
                        <a:rPr lang="zh-CN" altLang="en-US" sz="1200" dirty="0">
                          <a:latin typeface="微软雅黑" panose="020B0503020204020204" pitchFamily="34" charset="-122"/>
                          <a:ea typeface="微软雅黑" panose="020B0503020204020204" pitchFamily="34" charset="-122"/>
                        </a:rPr>
                        <a:t>责任人根据活动任务、任务计划时间，在系统中跟催完成交付件上传。</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任务令关闭：</a:t>
                      </a:r>
                      <a:r>
                        <a:rPr lang="zh-CN" altLang="en-US" sz="1200" dirty="0">
                          <a:latin typeface="微软雅黑" panose="020B0503020204020204" pitchFamily="34" charset="-122"/>
                          <a:ea typeface="微软雅黑" panose="020B0503020204020204" pitchFamily="34" charset="-122"/>
                        </a:rPr>
                        <a:t>根据交付件上传的状态（已完成）、实际完成时间关闭任务。</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 typeface="+mj-lt"/>
                        <a:buNone/>
                        <a:defRPr/>
                      </a:pPr>
                      <a:r>
                        <a:rPr lang="zh-CN" altLang="en-US" sz="1200" dirty="0"/>
                        <a:t>无交付件的场景（录入实际时间即表示该任务已完成），按如下规则判断：</a:t>
                      </a:r>
                      <a:endParaRPr lang="en-US" altLang="zh-CN" sz="1200" dirty="0"/>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任务令生成：</a:t>
                      </a:r>
                      <a:r>
                        <a:rPr lang="zh-CN" altLang="en-US" sz="1200" dirty="0">
                          <a:latin typeface="微软雅黑" panose="020B0503020204020204" pitchFamily="34" charset="-122"/>
                          <a:ea typeface="微软雅黑" panose="020B0503020204020204" pitchFamily="34" charset="-122"/>
                        </a:rPr>
                        <a:t>责任人根据活动任务、任务计划时间，在系统中跟催完成。</a:t>
                      </a:r>
                      <a:endParaRPr lang="zh-CN" altLang="en-US" sz="1200" dirty="0">
                        <a:latin typeface="微软雅黑" panose="020B0503020204020204" pitchFamily="34" charset="-122"/>
                        <a:ea typeface="微软雅黑" panose="020B0503020204020204" pitchFamily="34" charset="-122"/>
                      </a:endParaRPr>
                    </a:p>
                    <a:p>
                      <a:pPr>
                        <a:lnSpc>
                          <a:spcPct val="100000"/>
                        </a:lnSpc>
                      </a:pPr>
                      <a:r>
                        <a:rPr lang="zh-CN" altLang="en-US" sz="1200" dirty="0">
                          <a:solidFill>
                            <a:srgbClr val="0000FF"/>
                          </a:solidFill>
                          <a:latin typeface="微软雅黑" panose="020B0503020204020204" pitchFamily="34" charset="-122"/>
                          <a:ea typeface="微软雅黑" panose="020B0503020204020204" pitchFamily="34" charset="-122"/>
                        </a:rPr>
                        <a:t>任务令关闭：</a:t>
                      </a:r>
                      <a:r>
                        <a:rPr lang="zh-CN" altLang="en-US" sz="1200" dirty="0">
                          <a:latin typeface="微软雅黑" panose="020B0503020204020204" pitchFamily="34" charset="-122"/>
                          <a:ea typeface="微软雅黑" panose="020B0503020204020204" pitchFamily="34" charset="-122"/>
                        </a:rPr>
                        <a:t>根据实际完成时间关闭任务。</a:t>
                      </a:r>
                      <a:endParaRPr lang="zh-CN" altLang="en-US" sz="1200" dirty="0">
                        <a:latin typeface="微软雅黑" panose="020B0503020204020204" pitchFamily="34" charset="-122"/>
                        <a:ea typeface="微软雅黑" panose="020B0503020204020204" pitchFamily="34" charset="-122"/>
                      </a:endParaRPr>
                    </a:p>
                  </a:txBody>
                  <a:tcPr/>
                </a:tc>
              </a:tr>
            </a:tbl>
          </a:graphicData>
        </a:graphic>
      </p:graphicFrame>
      <p:sp>
        <p:nvSpPr>
          <p:cNvPr id="7" name="矩形 6"/>
          <p:cNvSpPr/>
          <p:nvPr/>
        </p:nvSpPr>
        <p:spPr>
          <a:xfrm>
            <a:off x="665559" y="4853265"/>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G1</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：计划和确定项目</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8" name="矩形 7"/>
          <p:cNvSpPr/>
          <p:nvPr/>
        </p:nvSpPr>
        <p:spPr>
          <a:xfrm>
            <a:off x="5507092" y="4867269"/>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G2</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：产品设计和开发</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0" name="矩形 9"/>
          <p:cNvSpPr/>
          <p:nvPr/>
        </p:nvSpPr>
        <p:spPr>
          <a:xfrm>
            <a:off x="670972" y="5569122"/>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G3</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：过程设计开发</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2" name="矩形 11"/>
          <p:cNvSpPr/>
          <p:nvPr/>
        </p:nvSpPr>
        <p:spPr>
          <a:xfrm>
            <a:off x="5510476" y="5564648"/>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G4</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：产品和过程确认</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4" name="矩形 13"/>
          <p:cNvSpPr/>
          <p:nvPr/>
        </p:nvSpPr>
        <p:spPr>
          <a:xfrm>
            <a:off x="8431199" y="5569122"/>
            <a:ext cx="648000" cy="502142"/>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G5</a:t>
            </a:r>
            <a:r>
              <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rPr>
              <a:t>：量产</a:t>
            </a:r>
            <a:endParaRPr kumimoji="0" lang="zh-CN" altLang="en-US" sz="1000" b="1" i="0" u="none" strike="noStrike" kern="0" cap="none" spc="0" normalizeH="0" baseline="0" dirty="0">
              <a:ln>
                <a:noFill/>
              </a:ln>
              <a:solidFill>
                <a:srgbClr val="000000"/>
              </a:solidFill>
              <a:effectLst/>
              <a:uFillTx/>
              <a:latin typeface="+mn-ea"/>
              <a:ea typeface="+mn-ea"/>
              <a:cs typeface="Arial" panose="020B0604020202020204"/>
              <a:sym typeface="Arial" panose="020B0604020202020204"/>
            </a:endParaRPr>
          </a:p>
        </p:txBody>
      </p:sp>
      <p:sp>
        <p:nvSpPr>
          <p:cNvPr id="15" name="箭头: V 形 14"/>
          <p:cNvSpPr/>
          <p:nvPr/>
        </p:nvSpPr>
        <p:spPr>
          <a:xfrm>
            <a:off x="6216508" y="5024189"/>
            <a:ext cx="1440000" cy="345222"/>
          </a:xfrm>
          <a:prstGeom prst="chevron">
            <a:avLst/>
          </a:prstGeom>
          <a:solidFill>
            <a:srgbClr val="E3E8F3"/>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2.1 </a:t>
            </a:r>
            <a:r>
              <a:rPr lang="zh-CN" altLang="en-US" sz="1050" kern="0" dirty="0">
                <a:solidFill>
                  <a:srgbClr val="000000"/>
                </a:solidFill>
                <a:uFillTx/>
                <a:latin typeface="+mn-ea"/>
                <a:ea typeface="+mn-ea"/>
                <a:cs typeface="Arial" panose="020B0604020202020204"/>
                <a:sym typeface="Arial" panose="020B0604020202020204"/>
              </a:rPr>
              <a:t>产品设计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16" name="箭头: V 形 15"/>
          <p:cNvSpPr/>
          <p:nvPr/>
        </p:nvSpPr>
        <p:spPr>
          <a:xfrm>
            <a:off x="9224443" y="5024189"/>
            <a:ext cx="144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2.5 G2</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17" name="箭头: V 形 16"/>
          <p:cNvSpPr/>
          <p:nvPr/>
        </p:nvSpPr>
        <p:spPr>
          <a:xfrm>
            <a:off x="1416964" y="5726042"/>
            <a:ext cx="1440000" cy="345222"/>
          </a:xfrm>
          <a:prstGeom prst="chevron">
            <a:avLst/>
          </a:prstGeom>
          <a:solidFill>
            <a:srgbClr val="E3E7F3"/>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3.1 </a:t>
            </a:r>
            <a:r>
              <a:rPr lang="zh-CN" altLang="en-US" sz="1050" kern="0" dirty="0">
                <a:solidFill>
                  <a:srgbClr val="000000"/>
                </a:solidFill>
                <a:uFillTx/>
                <a:latin typeface="+mn-ea"/>
                <a:ea typeface="+mn-ea"/>
                <a:cs typeface="Arial" panose="020B0604020202020204"/>
                <a:sym typeface="Arial" panose="020B0604020202020204"/>
              </a:rPr>
              <a:t>制造过程设计输入评审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19" name="箭头: V 形 18"/>
          <p:cNvSpPr/>
          <p:nvPr/>
        </p:nvSpPr>
        <p:spPr>
          <a:xfrm>
            <a:off x="2806108" y="5726042"/>
            <a:ext cx="144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3.5 </a:t>
            </a:r>
            <a:r>
              <a:rPr lang="zh-CN" altLang="en-US" sz="1050" kern="0" dirty="0">
                <a:solidFill>
                  <a:schemeClr val="tx1"/>
                </a:solidFill>
                <a:uFillTx/>
                <a:latin typeface="+mn-ea"/>
                <a:ea typeface="+mn-ea"/>
                <a:cs typeface="Arial" panose="020B0604020202020204"/>
                <a:sym typeface="Arial" panose="020B0604020202020204"/>
              </a:rPr>
              <a:t>过程设计开发输出评审</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0" name="箭头: V 形 19"/>
          <p:cNvSpPr/>
          <p:nvPr/>
        </p:nvSpPr>
        <p:spPr>
          <a:xfrm>
            <a:off x="4191240" y="5726042"/>
            <a:ext cx="1080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3.6 G3</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2" name="箭头: V 形 21"/>
          <p:cNvSpPr/>
          <p:nvPr/>
        </p:nvSpPr>
        <p:spPr>
          <a:xfrm>
            <a:off x="6204337" y="5721568"/>
            <a:ext cx="1440000" cy="345222"/>
          </a:xfrm>
          <a:prstGeom prst="chevron">
            <a:avLst/>
          </a:prstGeom>
          <a:solidFill>
            <a:srgbClr val="B6C0DE"/>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4.4 </a:t>
            </a:r>
            <a:r>
              <a:rPr lang="zh-CN" altLang="en-US" sz="1050" kern="0" dirty="0">
                <a:solidFill>
                  <a:srgbClr val="000000"/>
                </a:solidFill>
                <a:uFillTx/>
                <a:latin typeface="+mn-ea"/>
                <a:ea typeface="+mn-ea"/>
                <a:cs typeface="Arial" panose="020B0604020202020204"/>
                <a:sym typeface="Arial" panose="020B0604020202020204"/>
              </a:rPr>
              <a:t>试产报告输出评审</a:t>
            </a:r>
            <a:endParaRPr lang="zh-CN" altLang="en-US" sz="1050" kern="0" dirty="0">
              <a:solidFill>
                <a:srgbClr val="000000"/>
              </a:solidFill>
              <a:uFillTx/>
              <a:latin typeface="+mn-ea"/>
              <a:ea typeface="+mn-ea"/>
              <a:cs typeface="Arial" panose="020B0604020202020204"/>
              <a:sym typeface="Arial" panose="020B0604020202020204"/>
            </a:endParaRPr>
          </a:p>
        </p:txBody>
      </p:sp>
      <p:sp>
        <p:nvSpPr>
          <p:cNvPr id="23" name="箭头: V 形 22"/>
          <p:cNvSpPr/>
          <p:nvPr/>
        </p:nvSpPr>
        <p:spPr>
          <a:xfrm>
            <a:off x="7576848" y="5721568"/>
            <a:ext cx="756000" cy="345222"/>
          </a:xfrm>
          <a:prstGeom prst="chevron">
            <a:avLst/>
          </a:prstGeom>
          <a:solidFill>
            <a:srgbClr val="B6C0DE"/>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4.5 G4</a:t>
            </a:r>
            <a:r>
              <a:rPr lang="zh-CN" altLang="en-US" sz="1050" kern="0" dirty="0">
                <a:solidFill>
                  <a:schemeClr val="tx1"/>
                </a:solidFill>
                <a:uFillTx/>
                <a:latin typeface="+mn-ea"/>
                <a:ea typeface="+mn-ea"/>
                <a:cs typeface="Arial" panose="020B0604020202020204"/>
                <a:sym typeface="Arial" panose="020B0604020202020204"/>
              </a:rPr>
              <a:t>检查</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7" name="箭头: V 形 26"/>
          <p:cNvSpPr/>
          <p:nvPr/>
        </p:nvSpPr>
        <p:spPr>
          <a:xfrm>
            <a:off x="9140615" y="5726156"/>
            <a:ext cx="2448000" cy="345108"/>
          </a:xfrm>
          <a:prstGeom prst="chevron">
            <a:avLst/>
          </a:prstGeom>
          <a:solidFill>
            <a:srgbClr val="E3E7F3"/>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rgbClr val="000000"/>
                </a:solidFill>
                <a:uFillTx/>
                <a:latin typeface="+mn-ea"/>
                <a:ea typeface="+mn-ea"/>
                <a:cs typeface="Arial" panose="020B0604020202020204"/>
                <a:sym typeface="Arial" panose="020B0604020202020204"/>
              </a:rPr>
              <a:t>5.1</a:t>
            </a:r>
            <a:r>
              <a:rPr lang="zh-CN" altLang="en-US" sz="1050" kern="0" dirty="0">
                <a:solidFill>
                  <a:schemeClr val="tx1"/>
                </a:solidFill>
                <a:uFillTx/>
                <a:latin typeface="+mn-ea"/>
                <a:ea typeface="+mn-ea"/>
                <a:cs typeface="Arial" panose="020B0604020202020204"/>
                <a:sym typeface="Arial" panose="020B0604020202020204"/>
              </a:rPr>
              <a:t>量产准入申请</a:t>
            </a:r>
            <a:r>
              <a:rPr lang="en-US" altLang="zh-CN" sz="1050" kern="0" dirty="0">
                <a:solidFill>
                  <a:schemeClr val="tx1"/>
                </a:solidFill>
                <a:uFillTx/>
                <a:latin typeface="+mn-ea"/>
                <a:ea typeface="+mn-ea"/>
                <a:cs typeface="Arial" panose="020B0604020202020204"/>
                <a:sym typeface="Arial" panose="020B0604020202020204"/>
              </a:rPr>
              <a:t>Deviation Ramp Up/Ramp Up/Deviation/</a:t>
            </a:r>
            <a:r>
              <a:rPr lang="zh-CN" altLang="en-US" sz="1050" kern="0" dirty="0">
                <a:solidFill>
                  <a:schemeClr val="tx1"/>
                </a:solidFill>
                <a:uFillTx/>
                <a:latin typeface="+mn-ea"/>
                <a:ea typeface="+mn-ea"/>
                <a:cs typeface="Arial" panose="020B0604020202020204"/>
                <a:sym typeface="Arial" panose="020B0604020202020204"/>
              </a:rPr>
              <a:t>量产条件</a:t>
            </a:r>
            <a:endParaRPr lang="zh-CN" altLang="en-US" sz="1050" kern="0" dirty="0">
              <a:solidFill>
                <a:schemeClr val="tx1"/>
              </a:solidFill>
              <a:uFillTx/>
              <a:latin typeface="+mn-ea"/>
              <a:ea typeface="+mn-ea"/>
              <a:cs typeface="Arial" panose="020B0604020202020204"/>
              <a:sym typeface="Arial" panose="020B0604020202020204"/>
            </a:endParaRPr>
          </a:p>
        </p:txBody>
      </p:sp>
      <p:sp>
        <p:nvSpPr>
          <p:cNvPr id="28" name="箭头: V 形 27"/>
          <p:cNvSpPr/>
          <p:nvPr/>
        </p:nvSpPr>
        <p:spPr>
          <a:xfrm>
            <a:off x="7595374" y="5024303"/>
            <a:ext cx="1692000" cy="345108"/>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1050" kern="0" dirty="0">
                <a:solidFill>
                  <a:schemeClr val="tx1"/>
                </a:solidFill>
                <a:uFillTx/>
                <a:latin typeface="+mn-ea"/>
                <a:ea typeface="+mn-ea"/>
                <a:cs typeface="Arial" panose="020B0604020202020204"/>
                <a:sym typeface="Arial" panose="020B0604020202020204"/>
              </a:rPr>
              <a:t>2.4 </a:t>
            </a:r>
            <a:r>
              <a:rPr lang="zh-CN" altLang="en-US" sz="1050" kern="0" dirty="0">
                <a:solidFill>
                  <a:schemeClr val="tx1"/>
                </a:solidFill>
                <a:uFillTx/>
                <a:latin typeface="+mn-ea"/>
                <a:ea typeface="+mn-ea"/>
                <a:cs typeface="Arial" panose="020B0604020202020204"/>
                <a:sym typeface="Arial" panose="020B0604020202020204"/>
              </a:rPr>
              <a:t>召开样板总结会，输出</a:t>
            </a:r>
            <a:r>
              <a:rPr lang="en-US" altLang="zh-CN" sz="1050" kern="0" dirty="0">
                <a:solidFill>
                  <a:schemeClr val="tx1"/>
                </a:solidFill>
                <a:uFillTx/>
                <a:latin typeface="+mn-ea"/>
                <a:ea typeface="+mn-ea"/>
                <a:cs typeface="Arial" panose="020B0604020202020204"/>
                <a:sym typeface="Arial" panose="020B0604020202020204"/>
              </a:rPr>
              <a:t>《</a:t>
            </a:r>
            <a:r>
              <a:rPr lang="zh-CN" altLang="en-US" sz="1050" kern="0" dirty="0">
                <a:solidFill>
                  <a:schemeClr val="tx1"/>
                </a:solidFill>
                <a:uFillTx/>
                <a:latin typeface="+mn-ea"/>
                <a:ea typeface="+mn-ea"/>
                <a:cs typeface="Arial" panose="020B0604020202020204"/>
                <a:sym typeface="Arial" panose="020B0604020202020204"/>
              </a:rPr>
              <a:t>样板评估报告</a:t>
            </a:r>
            <a:r>
              <a:rPr lang="en-US" altLang="zh-CN" sz="1050" kern="0" dirty="0">
                <a:solidFill>
                  <a:schemeClr val="tx1"/>
                </a:solidFill>
                <a:uFillTx/>
                <a:latin typeface="+mn-ea"/>
                <a:ea typeface="+mn-ea"/>
                <a:cs typeface="Arial" panose="020B0604020202020204"/>
                <a:sym typeface="Arial" panose="020B0604020202020204"/>
              </a:rPr>
              <a:t>》</a:t>
            </a:r>
            <a:endParaRPr lang="en-US" altLang="zh-CN" sz="1050" kern="0" dirty="0">
              <a:solidFill>
                <a:schemeClr val="tx1"/>
              </a:solidFill>
              <a:uFillTx/>
              <a:latin typeface="+mn-ea"/>
              <a:ea typeface="+mn-ea"/>
              <a:cs typeface="Arial" panose="020B0604020202020204"/>
              <a:sym typeface="Arial" panose="020B0604020202020204"/>
            </a:endParaRPr>
          </a:p>
        </p:txBody>
      </p:sp>
      <p:cxnSp>
        <p:nvCxnSpPr>
          <p:cNvPr id="29" name="直接连接符 28"/>
          <p:cNvCxnSpPr/>
          <p:nvPr/>
        </p:nvCxnSpPr>
        <p:spPr>
          <a:xfrm>
            <a:off x="677588" y="6170095"/>
            <a:ext cx="10872000" cy="0"/>
          </a:xfrm>
          <a:prstGeom prst="line">
            <a:avLst/>
          </a:prstGeom>
          <a:noFill/>
          <a:ln w="19050" cap="flat">
            <a:solidFill>
              <a:schemeClr val="bg1">
                <a:lumMod val="65000"/>
              </a:schemeClr>
            </a:solidFill>
            <a:prstDash val="sysDash"/>
            <a:miter lim="800000"/>
          </a:ln>
        </p:spPr>
        <p:style>
          <a:lnRef idx="0">
            <a:srgbClr val="FFFFFF"/>
          </a:lnRef>
          <a:fillRef idx="0">
            <a:srgbClr val="FFFFFF"/>
          </a:fillRef>
          <a:effectRef idx="0">
            <a:srgbClr val="FFFFFF"/>
          </a:effectRef>
          <a:fontRef idx="none"/>
        </p:style>
      </p:cxnSp>
      <p:cxnSp>
        <p:nvCxnSpPr>
          <p:cNvPr id="31" name="直接连接符 30"/>
          <p:cNvCxnSpPr/>
          <p:nvPr/>
        </p:nvCxnSpPr>
        <p:spPr>
          <a:xfrm>
            <a:off x="677588" y="5458663"/>
            <a:ext cx="10872000" cy="0"/>
          </a:xfrm>
          <a:prstGeom prst="line">
            <a:avLst/>
          </a:prstGeom>
          <a:noFill/>
          <a:ln w="19050" cap="flat">
            <a:solidFill>
              <a:schemeClr val="bg1">
                <a:lumMod val="65000"/>
              </a:schemeClr>
            </a:solidFill>
            <a:prstDash val="sysDash"/>
            <a:miter lim="800000"/>
          </a:ln>
        </p:spPr>
        <p:style>
          <a:lnRef idx="0">
            <a:srgbClr val="FFFFFF"/>
          </a:lnRef>
          <a:fillRef idx="0">
            <a:srgbClr val="FFFFFF"/>
          </a:fillRef>
          <a:effectRef idx="0">
            <a:srgbClr val="FFFFFF"/>
          </a:effectRef>
          <a:fontRef idx="none"/>
        </p:style>
      </p:cxnSp>
      <p:grpSp>
        <p:nvGrpSpPr>
          <p:cNvPr id="32" name="组合 31"/>
          <p:cNvGrpSpPr/>
          <p:nvPr/>
        </p:nvGrpSpPr>
        <p:grpSpPr>
          <a:xfrm>
            <a:off x="6677907" y="6275383"/>
            <a:ext cx="1249598" cy="360000"/>
            <a:chOff x="4055556" y="6143997"/>
            <a:chExt cx="1249598" cy="360000"/>
          </a:xfrm>
        </p:grpSpPr>
        <p:sp>
          <p:nvSpPr>
            <p:cNvPr id="33" name="矩形 32"/>
            <p:cNvSpPr/>
            <p:nvPr/>
          </p:nvSpPr>
          <p:spPr>
            <a:xfrm>
              <a:off x="4055556" y="6240483"/>
              <a:ext cx="445954" cy="167028"/>
            </a:xfrm>
            <a:prstGeom prst="rect">
              <a:avLst/>
            </a:prstGeom>
            <a:solidFill>
              <a:schemeClr val="tx2">
                <a:lumMod val="25000"/>
                <a:lumOff val="75000"/>
                <a:alpha val="9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endParaRPr lang="zh-CN" altLang="en-US" sz="1000" kern="0">
                <a:solidFill>
                  <a:srgbClr val="000000"/>
                </a:solidFill>
                <a:uFillTx/>
                <a:latin typeface="+mn-ea"/>
                <a:ea typeface="+mn-ea"/>
                <a:cs typeface="Arial" panose="020B0604020202020204"/>
                <a:sym typeface="Arial" panose="020B0604020202020204"/>
              </a:endParaRPr>
            </a:p>
          </p:txBody>
        </p:sp>
        <p:sp>
          <p:nvSpPr>
            <p:cNvPr id="34" name="文本框 33"/>
            <p:cNvSpPr txBox="1"/>
            <p:nvPr/>
          </p:nvSpPr>
          <p:spPr>
            <a:xfrm>
              <a:off x="4527920" y="6143997"/>
              <a:ext cx="777234" cy="36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nSpc>
                  <a:spcPct val="150000"/>
                </a:lnSpc>
                <a:defRPr sz="1000">
                  <a:solidFill>
                    <a:schemeClr val="tx1"/>
                  </a:solidFill>
                  <a:latin typeface="+mn-ea"/>
                  <a:ea typeface="+mn-ea"/>
                </a:defRPr>
              </a:lvl1pPr>
            </a:lstStyle>
            <a:p>
              <a:pPr hangingPunct="0">
                <a:lnSpc>
                  <a:spcPct val="100000"/>
                </a:lnSpc>
                <a:spcBef>
                  <a:spcPts val="0"/>
                </a:spcBef>
                <a:spcAft>
                  <a:spcPts val="0"/>
                </a:spcAft>
              </a:pPr>
              <a:r>
                <a:rPr lang="zh-CN" altLang="en-US" sz="800" kern="0" dirty="0">
                  <a:uFillTx/>
                  <a:cs typeface="Arial" panose="020B0604020202020204"/>
                  <a:sym typeface="Arial" panose="020B0604020202020204"/>
                </a:rPr>
                <a:t>活动提醒</a:t>
              </a:r>
              <a:endParaRPr lang="en-US" altLang="zh-CN" sz="800" kern="0" dirty="0">
                <a:uFillTx/>
                <a:cs typeface="Arial" panose="020B0604020202020204"/>
                <a:sym typeface="Arial" panose="020B0604020202020204"/>
              </a:endParaRPr>
            </a:p>
            <a:p>
              <a:pPr hangingPunct="0">
                <a:lnSpc>
                  <a:spcPct val="100000"/>
                </a:lnSpc>
                <a:spcBef>
                  <a:spcPts val="0"/>
                </a:spcBef>
                <a:spcAft>
                  <a:spcPts val="0"/>
                </a:spcAft>
              </a:pPr>
              <a:r>
                <a:rPr lang="zh-CN" altLang="en-US" sz="800" b="1" kern="0" dirty="0">
                  <a:uFillTx/>
                  <a:cs typeface="Arial" panose="020B0604020202020204"/>
                  <a:sym typeface="Arial" panose="020B0604020202020204"/>
                </a:rPr>
                <a:t>交付件齐套</a:t>
              </a:r>
              <a:endParaRPr lang="en-US" altLang="zh-CN" sz="800" b="1" kern="0" dirty="0">
                <a:uFillTx/>
                <a:cs typeface="Arial" panose="020B0604020202020204"/>
                <a:sym typeface="Arial" panose="020B0604020202020204"/>
              </a:endParaRPr>
            </a:p>
            <a:p>
              <a:pPr hangingPunct="0">
                <a:lnSpc>
                  <a:spcPct val="100000"/>
                </a:lnSpc>
                <a:spcBef>
                  <a:spcPts val="0"/>
                </a:spcBef>
                <a:spcAft>
                  <a:spcPts val="0"/>
                </a:spcAft>
              </a:pPr>
              <a:r>
                <a:rPr lang="zh-CN" altLang="en-US" sz="800" b="1" kern="0" dirty="0">
                  <a:solidFill>
                    <a:srgbClr val="0000FF"/>
                  </a:solidFill>
                  <a:uFillTx/>
                  <a:cs typeface="Arial" panose="020B0604020202020204"/>
                  <a:sym typeface="Arial" panose="020B0604020202020204"/>
                </a:rPr>
                <a:t>任务令</a:t>
              </a:r>
              <a:endParaRPr lang="zh-CN" altLang="en-US" sz="800" b="1" kern="0" dirty="0">
                <a:solidFill>
                  <a:srgbClr val="0000FF"/>
                </a:solidFill>
                <a:uFillTx/>
                <a:cs typeface="Arial" panose="020B0604020202020204"/>
                <a:sym typeface="Arial" panose="020B0604020202020204"/>
              </a:endParaRPr>
            </a:p>
          </p:txBody>
        </p:sp>
      </p:grpSp>
      <p:grpSp>
        <p:nvGrpSpPr>
          <p:cNvPr id="35" name="组合 34"/>
          <p:cNvGrpSpPr/>
          <p:nvPr/>
        </p:nvGrpSpPr>
        <p:grpSpPr>
          <a:xfrm>
            <a:off x="7957886" y="6320383"/>
            <a:ext cx="1708895" cy="270000"/>
            <a:chOff x="5340637" y="6188997"/>
            <a:chExt cx="1708895" cy="270000"/>
          </a:xfrm>
        </p:grpSpPr>
        <p:sp>
          <p:nvSpPr>
            <p:cNvPr id="36" name="矩形 35"/>
            <p:cNvSpPr/>
            <p:nvPr/>
          </p:nvSpPr>
          <p:spPr>
            <a:xfrm>
              <a:off x="5340637" y="6240483"/>
              <a:ext cx="445954" cy="167028"/>
            </a:xfrm>
            <a:prstGeom prst="rect">
              <a:avLst/>
            </a:prstGeom>
            <a:solidFill>
              <a:schemeClr val="tx2">
                <a:lumMod val="10000"/>
                <a:lumOff val="90000"/>
                <a:alpha val="8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t">
              <a:noAutofit/>
            </a:bodyPr>
            <a:lstStyle/>
            <a:p>
              <a:pPr algn="ctr" hangingPunct="0">
                <a:spcBef>
                  <a:spcPts val="0"/>
                </a:spcBef>
                <a:spcAft>
                  <a:spcPts val="0"/>
                </a:spcAft>
              </a:pP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37" name="文本框 36"/>
            <p:cNvSpPr txBox="1"/>
            <p:nvPr/>
          </p:nvSpPr>
          <p:spPr>
            <a:xfrm>
              <a:off x="5804305" y="6188997"/>
              <a:ext cx="777234" cy="27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chemeClr val="tx1"/>
                  </a:solidFill>
                  <a:latin typeface="+mn-ea"/>
                  <a:ea typeface="+mn-ea"/>
                </a:defRPr>
              </a:lvl1pPr>
            </a:lstStyle>
            <a:p>
              <a:pPr hangingPunct="0">
                <a:spcBef>
                  <a:spcPts val="0"/>
                </a:spcBef>
                <a:spcAft>
                  <a:spcPts val="0"/>
                </a:spcAft>
              </a:pPr>
              <a:r>
                <a:rPr lang="zh-CN" altLang="en-US" sz="900" kern="0" dirty="0">
                  <a:uFillTx/>
                  <a:cs typeface="Arial" panose="020B0604020202020204"/>
                  <a:sym typeface="Arial" panose="020B0604020202020204"/>
                </a:rPr>
                <a:t>活动提醒</a:t>
              </a:r>
              <a:endParaRPr lang="en-US" altLang="zh-CN" sz="900" kern="0" dirty="0">
                <a:uFillTx/>
                <a:cs typeface="Arial" panose="020B0604020202020204"/>
                <a:sym typeface="Arial" panose="020B0604020202020204"/>
              </a:endParaRPr>
            </a:p>
            <a:p>
              <a:pPr hangingPunct="0">
                <a:spcBef>
                  <a:spcPts val="0"/>
                </a:spcBef>
                <a:spcAft>
                  <a:spcPts val="0"/>
                </a:spcAft>
              </a:pPr>
              <a:r>
                <a:rPr lang="zh-CN" altLang="en-US" sz="900" kern="0" dirty="0">
                  <a:uFillTx/>
                  <a:cs typeface="Arial" panose="020B0604020202020204"/>
                  <a:sym typeface="Arial" panose="020B0604020202020204"/>
                </a:rPr>
                <a:t>状态获取</a:t>
              </a:r>
              <a:endParaRPr lang="zh-CN" altLang="en-US" sz="900" kern="0" dirty="0">
                <a:uFillTx/>
                <a:cs typeface="Arial" panose="020B0604020202020204"/>
                <a:sym typeface="Arial" panose="020B0604020202020204"/>
              </a:endParaRPr>
            </a:p>
          </p:txBody>
        </p:sp>
        <p:sp>
          <p:nvSpPr>
            <p:cNvPr id="38" name="文本框 37"/>
            <p:cNvSpPr txBox="1"/>
            <p:nvPr/>
          </p:nvSpPr>
          <p:spPr>
            <a:xfrm>
              <a:off x="6401532" y="6188997"/>
              <a:ext cx="648000" cy="270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000">
                  <a:solidFill>
                    <a:schemeClr val="tx1"/>
                  </a:solidFill>
                  <a:latin typeface="+mn-ea"/>
                  <a:ea typeface="+mn-ea"/>
                </a:defRPr>
              </a:lvl1pPr>
            </a:lstStyle>
            <a:p>
              <a:pPr hangingPunct="0">
                <a:spcBef>
                  <a:spcPts val="0"/>
                </a:spcBef>
                <a:spcAft>
                  <a:spcPts val="0"/>
                </a:spcAft>
              </a:pPr>
              <a:r>
                <a:rPr lang="zh-CN" altLang="en-US" sz="900" b="1" kern="0" dirty="0">
                  <a:uFillTx/>
                  <a:cs typeface="Arial" panose="020B0604020202020204"/>
                  <a:sym typeface="Arial" panose="020B0604020202020204"/>
                </a:rPr>
                <a:t>交付件齐套</a:t>
              </a:r>
              <a:endParaRPr lang="en-US" altLang="zh-CN" sz="900" b="1" kern="0" dirty="0">
                <a:uFillTx/>
                <a:cs typeface="Arial" panose="020B0604020202020204"/>
                <a:sym typeface="Arial" panose="020B0604020202020204"/>
              </a:endParaRPr>
            </a:p>
            <a:p>
              <a:pPr hangingPunct="0">
                <a:spcBef>
                  <a:spcPts val="0"/>
                </a:spcBef>
                <a:spcAft>
                  <a:spcPts val="0"/>
                </a:spcAft>
              </a:pPr>
              <a:r>
                <a:rPr lang="zh-CN" altLang="en-US" sz="900" b="1" kern="0" dirty="0">
                  <a:solidFill>
                    <a:srgbClr val="0000FF"/>
                  </a:solidFill>
                  <a:uFillTx/>
                  <a:cs typeface="Arial" panose="020B0604020202020204"/>
                  <a:sym typeface="Arial" panose="020B0604020202020204"/>
                </a:rPr>
                <a:t>任务令</a:t>
              </a:r>
              <a:endParaRPr lang="zh-CN" altLang="en-US" sz="900" b="1" kern="0" dirty="0">
                <a:solidFill>
                  <a:srgbClr val="0000FF"/>
                </a:solidFill>
                <a:uFillTx/>
                <a:cs typeface="Arial" panose="020B0604020202020204"/>
                <a:sym typeface="Arial" panose="020B0604020202020204"/>
              </a:endParaRPr>
            </a:p>
          </p:txBody>
        </p:sp>
      </p:grpSp>
      <p:sp>
        <p:nvSpPr>
          <p:cNvPr id="39" name="文本框 38"/>
          <p:cNvSpPr txBox="1"/>
          <p:nvPr/>
        </p:nvSpPr>
        <p:spPr>
          <a:xfrm>
            <a:off x="9900109" y="6298021"/>
            <a:ext cx="1127781" cy="31472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36000" tIns="36000" rIns="3600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nSpc>
                <a:spcPct val="150000"/>
              </a:lnSpc>
              <a:defRPr sz="900">
                <a:solidFill>
                  <a:schemeClr val="tx1"/>
                </a:solidFill>
                <a:latin typeface="+mn-ea"/>
                <a:ea typeface="+mn-ea"/>
              </a:defRPr>
            </a:lvl1pPr>
          </a:lstStyle>
          <a:p>
            <a:pPr hangingPunct="0">
              <a:lnSpc>
                <a:spcPct val="100000"/>
              </a:lnSpc>
              <a:spcBef>
                <a:spcPts val="0"/>
              </a:spcBef>
              <a:spcAft>
                <a:spcPts val="0"/>
              </a:spcAft>
            </a:pPr>
            <a:r>
              <a:rPr lang="zh-CN" altLang="en-US" sz="1000" kern="0" dirty="0">
                <a:solidFill>
                  <a:schemeClr val="bg2">
                    <a:lumMod val="50000"/>
                  </a:schemeClr>
                </a:solidFill>
                <a:uFillTx/>
                <a:cs typeface="Arial" panose="020B0604020202020204"/>
                <a:sym typeface="Arial" panose="020B0604020202020204"/>
              </a:rPr>
              <a:t>活动提醒和任务令发送到企业微信</a:t>
            </a:r>
            <a:endParaRPr lang="zh-CN" altLang="en-US" sz="1000" kern="0" dirty="0">
              <a:solidFill>
                <a:schemeClr val="bg2">
                  <a:lumMod val="50000"/>
                </a:schemeClr>
              </a:solidFill>
              <a:uFillTx/>
              <a:cs typeface="Arial" panose="020B0604020202020204"/>
              <a:sym typeface="Arial" panose="020B0604020202020204"/>
            </a:endParaRPr>
          </a:p>
        </p:txBody>
      </p:sp>
      <p:grpSp>
        <p:nvGrpSpPr>
          <p:cNvPr id="44" name="组合 43"/>
          <p:cNvGrpSpPr/>
          <p:nvPr/>
        </p:nvGrpSpPr>
        <p:grpSpPr>
          <a:xfrm>
            <a:off x="2495608" y="4844822"/>
            <a:ext cx="1152000" cy="510585"/>
            <a:chOff x="7275597" y="2540978"/>
            <a:chExt cx="1152000" cy="510585"/>
          </a:xfrm>
        </p:grpSpPr>
        <p:sp>
          <p:nvSpPr>
            <p:cNvPr id="45" name="箭头: V 形 44"/>
            <p:cNvSpPr/>
            <p:nvPr/>
          </p:nvSpPr>
          <p:spPr>
            <a:xfrm>
              <a:off x="7275597" y="2706341"/>
              <a:ext cx="1152000" cy="345222"/>
            </a:xfrm>
            <a:prstGeom prst="chevron">
              <a:avLst/>
            </a:prstGeom>
            <a:solidFill>
              <a:schemeClr val="tx2">
                <a:lumMod val="25000"/>
                <a:lumOff val="75000"/>
                <a:alpha val="90000"/>
              </a:schemeClr>
            </a:solidFill>
            <a:ln w="12700" cap="flat">
              <a:solidFill>
                <a:schemeClr val="tx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rgbClr val="000000"/>
                  </a:solidFill>
                  <a:uFillTx/>
                  <a:latin typeface="+mn-ea"/>
                  <a:ea typeface="+mn-ea"/>
                  <a:cs typeface="Arial" panose="020B0604020202020204"/>
                  <a:sym typeface="Arial" panose="020B0604020202020204"/>
                </a:rPr>
                <a:t>1.7 </a:t>
              </a:r>
              <a:r>
                <a:rPr lang="zh-CN" altLang="en-US" sz="900" kern="0" dirty="0">
                  <a:solidFill>
                    <a:srgbClr val="000000"/>
                  </a:solidFill>
                  <a:uFillTx/>
                  <a:latin typeface="+mn-ea"/>
                  <a:ea typeface="+mn-ea"/>
                  <a:cs typeface="Arial" panose="020B0604020202020204"/>
                  <a:sym typeface="Arial" panose="020B0604020202020204"/>
                </a:rPr>
                <a:t>汇总各专业可行性分析报告</a:t>
              </a: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49" name="文本框 48"/>
            <p:cNvSpPr txBox="1"/>
            <p:nvPr/>
          </p:nvSpPr>
          <p:spPr>
            <a:xfrm>
              <a:off x="7635597" y="2540978"/>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grpSp>
        <p:nvGrpSpPr>
          <p:cNvPr id="50" name="组合 49"/>
          <p:cNvGrpSpPr/>
          <p:nvPr/>
        </p:nvGrpSpPr>
        <p:grpSpPr>
          <a:xfrm>
            <a:off x="4493611" y="4844822"/>
            <a:ext cx="756000" cy="510585"/>
            <a:chOff x="13468965" y="2540978"/>
            <a:chExt cx="756000" cy="510585"/>
          </a:xfrm>
        </p:grpSpPr>
        <p:sp>
          <p:nvSpPr>
            <p:cNvPr id="51" name="箭头: V 形 50"/>
            <p:cNvSpPr/>
            <p:nvPr/>
          </p:nvSpPr>
          <p:spPr>
            <a:xfrm>
              <a:off x="13468965" y="2706341"/>
              <a:ext cx="756000" cy="345222"/>
            </a:xfrm>
            <a:prstGeom prst="chevron">
              <a:avLst/>
            </a:prstGeom>
            <a:solidFill>
              <a:srgbClr val="B6C0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chemeClr val="tx1"/>
                  </a:solidFill>
                  <a:uFillTx/>
                  <a:latin typeface="+mn-ea"/>
                  <a:ea typeface="+mn-ea"/>
                  <a:cs typeface="Arial" panose="020B0604020202020204"/>
                  <a:sym typeface="Arial" panose="020B0604020202020204"/>
                </a:rPr>
                <a:t>1.13 G1</a:t>
              </a:r>
              <a:r>
                <a:rPr lang="zh-CN" altLang="en-US" sz="900" kern="0" dirty="0">
                  <a:solidFill>
                    <a:schemeClr val="tx1"/>
                  </a:solidFill>
                  <a:uFillTx/>
                  <a:latin typeface="+mn-ea"/>
                  <a:ea typeface="+mn-ea"/>
                  <a:cs typeface="Arial" panose="020B0604020202020204"/>
                  <a:sym typeface="Arial" panose="020B0604020202020204"/>
                </a:rPr>
                <a:t>检查</a:t>
              </a:r>
              <a:endParaRPr lang="zh-CN" altLang="en-US" sz="900" kern="0" dirty="0">
                <a:solidFill>
                  <a:schemeClr val="tx1"/>
                </a:solidFill>
                <a:uFillTx/>
                <a:latin typeface="+mn-ea"/>
                <a:ea typeface="+mn-ea"/>
                <a:cs typeface="Arial" panose="020B0604020202020204"/>
                <a:sym typeface="Arial" panose="020B0604020202020204"/>
              </a:endParaRPr>
            </a:p>
          </p:txBody>
        </p:sp>
        <p:sp>
          <p:nvSpPr>
            <p:cNvPr id="52" name="文本框 51"/>
            <p:cNvSpPr txBox="1"/>
            <p:nvPr/>
          </p:nvSpPr>
          <p:spPr>
            <a:xfrm>
              <a:off x="13557489" y="2540978"/>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sp>
        <p:nvSpPr>
          <p:cNvPr id="53" name="文本框 52"/>
          <p:cNvSpPr txBox="1"/>
          <p:nvPr/>
        </p:nvSpPr>
        <p:spPr>
          <a:xfrm>
            <a:off x="6412915" y="4866523"/>
            <a:ext cx="972000" cy="1583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a:t>
            </a:r>
            <a:r>
              <a:rPr lang="en-US" altLang="zh-CN"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PLM</a:t>
            </a: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状态和时间</a:t>
            </a:r>
            <a:endParaRPr kumimoji="0" lang="zh-CN" altLang="en-US" sz="8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nvGrpSpPr>
          <p:cNvPr id="54" name="组合 53"/>
          <p:cNvGrpSpPr/>
          <p:nvPr/>
        </p:nvGrpSpPr>
        <p:grpSpPr>
          <a:xfrm>
            <a:off x="3596596" y="4756940"/>
            <a:ext cx="936000" cy="598467"/>
            <a:chOff x="11264902" y="2453096"/>
            <a:chExt cx="936000" cy="598467"/>
          </a:xfrm>
        </p:grpSpPr>
        <p:sp>
          <p:nvSpPr>
            <p:cNvPr id="55" name="箭头: V 形 54"/>
            <p:cNvSpPr/>
            <p:nvPr/>
          </p:nvSpPr>
          <p:spPr>
            <a:xfrm>
              <a:off x="11264902" y="2706341"/>
              <a:ext cx="936000" cy="345222"/>
            </a:xfrm>
            <a:prstGeom prst="chevron">
              <a:avLst/>
            </a:prstGeom>
            <a:solidFill>
              <a:schemeClr val="tx2">
                <a:lumMod val="10000"/>
                <a:lumOff val="90000"/>
                <a:alpha val="80000"/>
              </a:schemeClr>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t">
              <a:noAutofit/>
            </a:bodyPr>
            <a:lstStyle/>
            <a:p>
              <a:pPr algn="ctr" hangingPunct="0">
                <a:spcBef>
                  <a:spcPts val="0"/>
                </a:spcBef>
                <a:spcAft>
                  <a:spcPts val="0"/>
                </a:spcAft>
              </a:pPr>
              <a:r>
                <a:rPr lang="en-US" altLang="zh-CN" sz="900" kern="0" dirty="0">
                  <a:solidFill>
                    <a:srgbClr val="000000"/>
                  </a:solidFill>
                  <a:uFillTx/>
                  <a:latin typeface="+mn-ea"/>
                  <a:ea typeface="+mn-ea"/>
                  <a:cs typeface="Arial" panose="020B0604020202020204"/>
                  <a:sym typeface="Arial" panose="020B0604020202020204"/>
                </a:rPr>
                <a:t>1.11 </a:t>
              </a:r>
              <a:r>
                <a:rPr lang="zh-CN" altLang="en-US" sz="900" kern="0" dirty="0">
                  <a:solidFill>
                    <a:srgbClr val="000000"/>
                  </a:solidFill>
                  <a:uFillTx/>
                  <a:latin typeface="+mn-ea"/>
                  <a:ea typeface="+mn-ea"/>
                  <a:cs typeface="Arial" panose="020B0604020202020204"/>
                  <a:sym typeface="Arial" panose="020B0604020202020204"/>
                </a:rPr>
                <a:t>项目立项与启动</a:t>
              </a:r>
              <a:endParaRPr lang="zh-CN" altLang="en-US" sz="900" kern="0" dirty="0">
                <a:solidFill>
                  <a:srgbClr val="000000"/>
                </a:solidFill>
                <a:uFillTx/>
                <a:latin typeface="+mn-ea"/>
                <a:ea typeface="+mn-ea"/>
                <a:cs typeface="Arial" panose="020B0604020202020204"/>
                <a:sym typeface="Arial" panose="020B0604020202020204"/>
              </a:endParaRPr>
            </a:p>
          </p:txBody>
        </p:sp>
        <p:sp>
          <p:nvSpPr>
            <p:cNvPr id="56" name="文本框 55"/>
            <p:cNvSpPr txBox="1"/>
            <p:nvPr/>
          </p:nvSpPr>
          <p:spPr>
            <a:xfrm>
              <a:off x="11354902" y="2453096"/>
              <a:ext cx="756000" cy="252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900">
                  <a:solidFill>
                    <a:schemeClr val="bg2">
                      <a:lumMod val="50000"/>
                    </a:schemeClr>
                  </a:solidFill>
                  <a:latin typeface="微软雅黑" panose="020B0503020204020204" pitchFamily="34" charset="-122"/>
                  <a:ea typeface="微软雅黑" panose="020B0503020204020204" pitchFamily="34" charset="-122"/>
                </a:defRPr>
              </a:lvl1pPr>
            </a:lstStyle>
            <a:p>
              <a:pPr hangingPunct="0">
                <a:spcBef>
                  <a:spcPts val="0"/>
                </a:spcBef>
                <a:spcAft>
                  <a:spcPts val="0"/>
                </a:spcAft>
              </a:pPr>
              <a:r>
                <a:rPr lang="zh-CN" altLang="en-US" sz="800" kern="0" dirty="0">
                  <a:uFillTx/>
                  <a:cs typeface="Arial" panose="020B0604020202020204"/>
                  <a:sym typeface="Arial" panose="020B0604020202020204"/>
                </a:rPr>
                <a:t>触发</a:t>
              </a:r>
              <a:r>
                <a:rPr lang="en-US" altLang="zh-CN" sz="800" kern="0" dirty="0">
                  <a:uFillTx/>
                  <a:cs typeface="Arial" panose="020B0604020202020204"/>
                  <a:sym typeface="Arial" panose="020B0604020202020204"/>
                </a:rPr>
                <a:t>OA/</a:t>
              </a:r>
              <a:r>
                <a:rPr lang="zh-CN" altLang="en-US" sz="800" kern="0" dirty="0">
                  <a:uFillTx/>
                  <a:cs typeface="Arial" panose="020B0604020202020204"/>
                  <a:sym typeface="Arial" panose="020B0604020202020204"/>
                </a:rPr>
                <a:t>取状态</a:t>
              </a:r>
              <a:endParaRPr lang="en-US" altLang="zh-CN" sz="800" kern="0" dirty="0">
                <a:uFillTx/>
                <a:cs typeface="Arial" panose="020B0604020202020204"/>
                <a:sym typeface="Arial" panose="020B0604020202020204"/>
              </a:endParaRPr>
            </a:p>
            <a:p>
              <a:pPr hangingPunct="0">
                <a:spcBef>
                  <a:spcPts val="0"/>
                </a:spcBef>
                <a:spcAft>
                  <a:spcPts val="0"/>
                </a:spcAft>
              </a:pPr>
              <a:r>
                <a:rPr lang="en-US" altLang="zh-CN" sz="800" kern="0" dirty="0">
                  <a:uFillTx/>
                  <a:cs typeface="Arial" panose="020B0604020202020204"/>
                  <a:sym typeface="Arial" panose="020B0604020202020204"/>
                </a:rPr>
                <a:t>NPI</a:t>
              </a:r>
              <a:r>
                <a:rPr lang="zh-CN" altLang="en-US" sz="800" kern="0" dirty="0">
                  <a:uFillTx/>
                  <a:cs typeface="Arial" panose="020B0604020202020204"/>
                  <a:sym typeface="Arial" panose="020B0604020202020204"/>
                </a:rPr>
                <a:t>上载</a:t>
              </a:r>
              <a:r>
                <a:rPr lang="en-US" altLang="zh-CN" sz="800" kern="0" dirty="0">
                  <a:uFillTx/>
                  <a:cs typeface="Arial" panose="020B0604020202020204"/>
                  <a:sym typeface="Arial" panose="020B0604020202020204"/>
                </a:rPr>
                <a:t>/</a:t>
              </a:r>
              <a:r>
                <a:rPr lang="zh-CN" altLang="en-US" sz="800" kern="0" dirty="0">
                  <a:uFillTx/>
                  <a:cs typeface="Arial" panose="020B0604020202020204"/>
                  <a:sym typeface="Arial" panose="020B0604020202020204"/>
                </a:rPr>
                <a:t>录时间</a:t>
              </a:r>
              <a:endParaRPr lang="zh-CN" altLang="en-US" sz="800" kern="0" dirty="0">
                <a:uFillTx/>
                <a:cs typeface="Arial" panose="020B0604020202020204"/>
                <a:sym typeface="Arial" panose="020B0604020202020204"/>
              </a:endParaRPr>
            </a:p>
          </p:txBody>
        </p:sp>
      </p:grpSp>
      <p:sp>
        <p:nvSpPr>
          <p:cNvPr id="57" name="文本框 56"/>
          <p:cNvSpPr txBox="1"/>
          <p:nvPr/>
        </p:nvSpPr>
        <p:spPr>
          <a:xfrm>
            <a:off x="8163436" y="4857921"/>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5" name="文本框 64"/>
          <p:cNvSpPr txBox="1"/>
          <p:nvPr/>
        </p:nvSpPr>
        <p:spPr>
          <a:xfrm>
            <a:off x="9610648" y="4857921"/>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6" name="文本框 65"/>
          <p:cNvSpPr txBox="1"/>
          <p:nvPr/>
        </p:nvSpPr>
        <p:spPr>
          <a:xfrm>
            <a:off x="1627547" y="5557538"/>
            <a:ext cx="972000" cy="17570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a:t>
            </a:r>
            <a:r>
              <a:rPr lang="en-US" altLang="zh-CN"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PLM</a:t>
            </a:r>
            <a:r>
              <a:rPr lang="zh-CN" altLang="en-US" sz="8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状态和时间</a:t>
            </a:r>
            <a:endParaRPr kumimoji="0" lang="zh-CN" altLang="en-US" sz="8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7" name="文本框 66"/>
          <p:cNvSpPr txBox="1"/>
          <p:nvPr/>
        </p:nvSpPr>
        <p:spPr>
          <a:xfrm>
            <a:off x="3215790" y="5566110"/>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8" name="文本框 67"/>
          <p:cNvSpPr txBox="1"/>
          <p:nvPr/>
        </p:nvSpPr>
        <p:spPr>
          <a:xfrm>
            <a:off x="4471229" y="5589242"/>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69" name="文本框 68"/>
          <p:cNvSpPr txBox="1"/>
          <p:nvPr/>
        </p:nvSpPr>
        <p:spPr>
          <a:xfrm>
            <a:off x="6478289" y="5568692"/>
            <a:ext cx="864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触发</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OA/</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取状态</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0" name="文本框 69"/>
          <p:cNvSpPr txBox="1"/>
          <p:nvPr/>
        </p:nvSpPr>
        <p:spPr>
          <a:xfrm>
            <a:off x="7640812" y="5568692"/>
            <a:ext cx="432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在</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NPI</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上载</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1" name="文本框 70"/>
          <p:cNvSpPr txBox="1"/>
          <p:nvPr/>
        </p:nvSpPr>
        <p:spPr>
          <a:xfrm>
            <a:off x="9885498" y="5561600"/>
            <a:ext cx="864000" cy="144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t">
            <a:no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触发</a:t>
            </a:r>
            <a:r>
              <a:rPr lang="en-US" altLang="zh-CN"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OA/</a:t>
            </a:r>
            <a:r>
              <a:rPr lang="zh-CN" altLang="en-US" sz="900"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Arial" panose="020B0604020202020204"/>
              </a:rPr>
              <a:t>取状态</a:t>
            </a:r>
            <a:endParaRPr kumimoji="0" lang="zh-CN" altLang="en-US" sz="900" b="0" i="0" u="none" strike="noStrike" kern="0" cap="none" spc="0" normalizeH="0" baseline="0" dirty="0">
              <a:ln>
                <a:noFill/>
              </a:ln>
              <a:solidFill>
                <a:schemeClr val="bg2">
                  <a:lumMod val="50000"/>
                </a:schemeClr>
              </a:solidFill>
              <a:effectLst/>
              <a:uFillTx/>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2" name="箭头: V 形 71"/>
          <p:cNvSpPr/>
          <p:nvPr/>
        </p:nvSpPr>
        <p:spPr>
          <a:xfrm>
            <a:off x="1394449" y="5010185"/>
            <a:ext cx="1152000" cy="345222"/>
          </a:xfrm>
          <a:prstGeom prst="chevron">
            <a:avLst/>
          </a:prstGeom>
          <a:solidFill>
            <a:srgbClr val="B7C1DF"/>
          </a:solidFill>
          <a:ln w="12700" cap="flat">
            <a:solidFill>
              <a:schemeClr val="tx1">
                <a:lumMod val="95000"/>
                <a:lumOff val="5000"/>
              </a:schemeClr>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p>
            <a:pPr algn="ctr" hangingPunct="0">
              <a:spcBef>
                <a:spcPts val="0"/>
              </a:spcBef>
              <a:spcAft>
                <a:spcPts val="0"/>
              </a:spcAft>
            </a:pPr>
            <a:r>
              <a:rPr lang="en-US" altLang="zh-CN" sz="900" kern="0" dirty="0">
                <a:solidFill>
                  <a:srgbClr val="FF0000"/>
                </a:solidFill>
                <a:uFillTx/>
                <a:latin typeface="+mn-ea"/>
                <a:ea typeface="+mn-ea"/>
                <a:cs typeface="Arial" panose="020B0604020202020204"/>
                <a:sym typeface="Arial" panose="020B0604020202020204"/>
              </a:rPr>
              <a:t>1.5 </a:t>
            </a:r>
            <a:r>
              <a:rPr lang="zh-CN" altLang="en-US" sz="900" kern="0" dirty="0">
                <a:solidFill>
                  <a:srgbClr val="FF0000"/>
                </a:solidFill>
                <a:uFillTx/>
                <a:latin typeface="+mn-ea"/>
                <a:ea typeface="+mn-ea"/>
                <a:cs typeface="Arial" panose="020B0604020202020204"/>
                <a:sym typeface="Arial" panose="020B0604020202020204"/>
              </a:rPr>
              <a:t>上载各专业可行性分析报告</a:t>
            </a:r>
            <a:endParaRPr lang="zh-CN" altLang="en-US" sz="900" kern="0" dirty="0">
              <a:solidFill>
                <a:srgbClr val="FF0000"/>
              </a:solidFill>
              <a:uFillTx/>
              <a:latin typeface="+mn-ea"/>
              <a:ea typeface="+mn-ea"/>
              <a:cs typeface="Arial" panose="020B0604020202020204"/>
              <a:sym typeface="Arial" panose="020B0604020202020204"/>
            </a:endParaRPr>
          </a:p>
        </p:txBody>
      </p:sp>
      <p:sp>
        <p:nvSpPr>
          <p:cNvPr id="9"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zh-CN" altLang="en-US" sz="1200" kern="0" dirty="0">
                <a:uFillTx/>
                <a:latin typeface="+mj-ea"/>
                <a:ea typeface="+mj-ea"/>
                <a:sym typeface="+mn-ea"/>
              </a:rPr>
              <a:t>任务令</a:t>
            </a:r>
            <a:r>
              <a:rPr lang="zh-CN" altLang="en-US" sz="1200" kern="0" dirty="0">
                <a:uFillTx/>
                <a:latin typeface="+mj-ea"/>
                <a:ea typeface="+mj-ea"/>
                <a:sym typeface="+mn-ea"/>
              </a:rPr>
              <a:t>管理</a:t>
            </a:r>
            <a:endParaRPr lang="zh-CN" altLang="en-US" sz="1200" kern="0" dirty="0">
              <a:uFillTx/>
              <a:latin typeface="+mj-ea"/>
              <a:ea typeface="+mj-ea"/>
              <a:sym typeface="+mn-ea"/>
            </a:endParaRPr>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45135" y="417195"/>
            <a:ext cx="9387840" cy="480695"/>
          </a:xfrm>
        </p:spPr>
        <p:txBody>
          <a:bodyPr wrap="square"/>
          <a:lstStyle/>
          <a:p>
            <a:pPr algn="l" defTabSz="685800">
              <a:lnSpc>
                <a:spcPct val="90000"/>
              </a:lnSpc>
              <a:buClrTx/>
              <a:buSzTx/>
              <a:buFontTx/>
            </a:pPr>
            <a:r>
              <a:rPr lang="en-US" altLang="zh-CN" sz="2800">
                <a:solidFill>
                  <a:schemeClr val="tx1"/>
                </a:solidFill>
                <a:sym typeface="+mn-ea"/>
              </a:rPr>
              <a:t>3 </a:t>
            </a:r>
            <a:r>
              <a:rPr lang="zh-CN" altLang="en-US" sz="2800">
                <a:solidFill>
                  <a:schemeClr val="tx1"/>
                </a:solidFill>
                <a:sym typeface="+mn-ea"/>
              </a:rPr>
              <a:t>绩效指标定义及规则</a:t>
            </a:r>
            <a:endParaRPr lang="zh-CN" altLang="en-US" sz="2800">
              <a:solidFill>
                <a:schemeClr val="tx1"/>
              </a:solidFill>
              <a:latin typeface="+mn-ea"/>
              <a:ea typeface="+mn-ea"/>
              <a:sym typeface="+mn-ea"/>
            </a:endParaRPr>
          </a:p>
        </p:txBody>
      </p:sp>
      <p:sp>
        <p:nvSpPr>
          <p:cNvPr id="9" name="圆角矩形 7"/>
          <p:cNvSpPr/>
          <p:nvPr/>
        </p:nvSpPr>
        <p:spPr>
          <a:xfrm>
            <a:off x="8736000" y="-1873"/>
            <a:ext cx="3456000" cy="216000"/>
          </a:xfrm>
          <a:prstGeom prst="roundRect">
            <a:avLst>
              <a:gd name="adj" fmla="val 8997"/>
            </a:avLst>
          </a:prstGeom>
          <a:solidFill>
            <a:srgbClr val="F87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hangingPunct="0">
              <a:spcBef>
                <a:spcPts val="0"/>
              </a:spcBef>
              <a:spcAft>
                <a:spcPts val="0"/>
              </a:spcAft>
            </a:pPr>
            <a:r>
              <a:rPr lang="zh-CN" altLang="en-US" sz="1200" kern="0" dirty="0">
                <a:uFillTx/>
                <a:latin typeface="+mj-ea"/>
                <a:ea typeface="+mj-ea"/>
                <a:sym typeface="+mn-ea"/>
              </a:rPr>
              <a:t>绩效指标</a:t>
            </a:r>
            <a:endParaRPr lang="zh-CN" altLang="en-US" sz="1200" kern="0" dirty="0">
              <a:uFillTx/>
              <a:latin typeface="+mj-ea"/>
              <a:ea typeface="+mj-ea"/>
              <a:sym typeface="+mn-ea"/>
            </a:endParaRPr>
          </a:p>
        </p:txBody>
      </p:sp>
      <p:grpSp>
        <p:nvGrpSpPr>
          <p:cNvPr id="3" name="组合 2"/>
          <p:cNvGrpSpPr/>
          <p:nvPr/>
        </p:nvGrpSpPr>
        <p:grpSpPr>
          <a:xfrm>
            <a:off x="2354096" y="1227852"/>
            <a:ext cx="8439800" cy="4679295"/>
            <a:chOff x="2354096" y="1227852"/>
            <a:chExt cx="8439800" cy="4679295"/>
          </a:xfrm>
        </p:grpSpPr>
        <p:sp>
          <p:nvSpPr>
            <p:cNvPr id="5" name="矩形: 圆角 4"/>
            <p:cNvSpPr/>
            <p:nvPr/>
          </p:nvSpPr>
          <p:spPr>
            <a:xfrm>
              <a:off x="2483304" y="1468896"/>
              <a:ext cx="2808000" cy="306467"/>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nchorCtr="0">
              <a:spAutoFit/>
            </a:bodyPr>
            <a:lstStyle/>
            <a:p>
              <a:pPr hangingPunct="0">
                <a:spcBef>
                  <a:spcPts val="0"/>
                </a:spcBef>
                <a:spcAft>
                  <a:spcPts val="0"/>
                </a:spcAft>
              </a:pPr>
              <a:r>
                <a:rPr lang="zh-CN" altLang="en-US" b="1" kern="0" dirty="0">
                  <a:solidFill>
                    <a:srgbClr val="000000"/>
                  </a:solidFill>
                  <a:uFillTx/>
                  <a:latin typeface="+mn-ea"/>
                  <a:ea typeface="+mn-ea"/>
                  <a:cs typeface="Arial" panose="020B0604020202020204"/>
                  <a:sym typeface="Arial" panose="020B0604020202020204"/>
                </a:rPr>
                <a:t>项目及时率（</a:t>
              </a:r>
              <a:r>
                <a:rPr lang="en-US" altLang="zh-CN" b="1" kern="0" dirty="0">
                  <a:solidFill>
                    <a:srgbClr val="000000"/>
                  </a:solidFill>
                  <a:uFillTx/>
                  <a:latin typeface="+mn-ea"/>
                  <a:ea typeface="+mn-ea"/>
                  <a:cs typeface="Arial" panose="020B0604020202020204"/>
                  <a:sym typeface="Arial" panose="020B0604020202020204"/>
                </a:rPr>
                <a:t>G1-G5</a:t>
              </a:r>
              <a:r>
                <a:rPr lang="zh-CN" altLang="en-US" b="1" kern="0" dirty="0">
                  <a:solidFill>
                    <a:srgbClr val="000000"/>
                  </a:solidFill>
                  <a:uFillTx/>
                  <a:latin typeface="+mn-ea"/>
                  <a:ea typeface="+mn-ea"/>
                  <a:cs typeface="Arial" panose="020B0604020202020204"/>
                  <a:sym typeface="Arial" panose="020B0604020202020204"/>
                </a:rPr>
                <a:t>）</a:t>
              </a:r>
              <a:r>
                <a:rPr lang="en-US" altLang="zh-CN" b="1" kern="0" dirty="0">
                  <a:solidFill>
                    <a:srgbClr val="000000"/>
                  </a:solidFill>
                  <a:uFillTx/>
                  <a:latin typeface="+mn-ea"/>
                  <a:ea typeface="+mn-ea"/>
                  <a:cs typeface="Arial" panose="020B0604020202020204"/>
                  <a:sym typeface="Arial" panose="020B0604020202020204"/>
                </a:rPr>
                <a:t>=</a:t>
              </a:r>
              <a:endParaRPr lang="en-US" altLang="zh-CN" b="1" kern="0" dirty="0">
                <a:solidFill>
                  <a:srgbClr val="000000"/>
                </a:solidFill>
                <a:uFillTx/>
                <a:latin typeface="+mn-ea"/>
                <a:ea typeface="+mn-ea"/>
                <a:cs typeface="Arial" panose="020B0604020202020204"/>
                <a:sym typeface="Arial" panose="020B0604020202020204"/>
              </a:endParaRPr>
            </a:p>
          </p:txBody>
        </p:sp>
        <p:sp>
          <p:nvSpPr>
            <p:cNvPr id="6" name="矩形: 圆角 5"/>
            <p:cNvSpPr/>
            <p:nvPr/>
          </p:nvSpPr>
          <p:spPr>
            <a:xfrm>
              <a:off x="2483306" y="2905847"/>
              <a:ext cx="2808000" cy="306467"/>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nchorCtr="0">
              <a:spAutoFit/>
            </a:bodyPr>
            <a:lstStyle/>
            <a:p>
              <a:pPr hangingPunct="0">
                <a:spcBef>
                  <a:spcPts val="0"/>
                </a:spcBef>
                <a:spcAft>
                  <a:spcPts val="0"/>
                </a:spcAft>
              </a:pPr>
              <a:r>
                <a:rPr lang="zh-CN" altLang="en-US" b="1" kern="0" dirty="0">
                  <a:solidFill>
                    <a:srgbClr val="000000"/>
                  </a:solidFill>
                  <a:uFillTx/>
                  <a:latin typeface="+mn-ea"/>
                  <a:ea typeface="+mn-ea"/>
                  <a:cs typeface="Arial" panose="020B0604020202020204"/>
                  <a:sym typeface="Arial" panose="020B0604020202020204"/>
                </a:rPr>
                <a:t>项目平均周期（</a:t>
              </a:r>
              <a:r>
                <a:rPr lang="en-US" altLang="zh-CN" b="1" kern="0" dirty="0">
                  <a:solidFill>
                    <a:srgbClr val="000000"/>
                  </a:solidFill>
                  <a:uFillTx/>
                  <a:latin typeface="+mn-ea"/>
                  <a:ea typeface="+mn-ea"/>
                  <a:cs typeface="Arial" panose="020B0604020202020204"/>
                  <a:sym typeface="Arial" panose="020B0604020202020204"/>
                </a:rPr>
                <a:t>G1-G5</a:t>
              </a:r>
              <a:r>
                <a:rPr lang="zh-CN" altLang="en-US" b="1" kern="0" dirty="0">
                  <a:solidFill>
                    <a:srgbClr val="000000"/>
                  </a:solidFill>
                  <a:uFillTx/>
                  <a:latin typeface="+mn-ea"/>
                  <a:ea typeface="+mn-ea"/>
                  <a:cs typeface="Arial" panose="020B0604020202020204"/>
                  <a:sym typeface="Arial" panose="020B0604020202020204"/>
                </a:rPr>
                <a:t>）</a:t>
              </a:r>
              <a:r>
                <a:rPr lang="en-US" altLang="zh-CN" b="1" kern="0" dirty="0">
                  <a:solidFill>
                    <a:srgbClr val="000000"/>
                  </a:solidFill>
                  <a:uFillTx/>
                  <a:latin typeface="+mn-ea"/>
                  <a:ea typeface="+mn-ea"/>
                  <a:cs typeface="Arial" panose="020B0604020202020204"/>
                  <a:sym typeface="Arial" panose="020B0604020202020204"/>
                </a:rPr>
                <a:t>=</a:t>
              </a:r>
              <a:endParaRPr lang="en-US" altLang="zh-CN" b="1" kern="0" dirty="0">
                <a:solidFill>
                  <a:srgbClr val="000000"/>
                </a:solidFill>
                <a:uFillTx/>
                <a:latin typeface="+mn-ea"/>
                <a:ea typeface="+mn-ea"/>
                <a:cs typeface="Arial" panose="020B0604020202020204"/>
                <a:sym typeface="Arial" panose="020B0604020202020204"/>
              </a:endParaRPr>
            </a:p>
          </p:txBody>
        </p:sp>
        <p:sp>
          <p:nvSpPr>
            <p:cNvPr id="10" name="文本框 9"/>
            <p:cNvSpPr txBox="1"/>
            <p:nvPr/>
          </p:nvSpPr>
          <p:spPr>
            <a:xfrm>
              <a:off x="2354096" y="3908458"/>
              <a:ext cx="8439800" cy="1998689"/>
            </a:xfrm>
            <a:prstGeom prst="rect">
              <a:avLst/>
            </a:prstGeom>
            <a:noFill/>
          </p:spPr>
          <p:txBody>
            <a:bodyPr wrap="square" rtlCol="0">
              <a:spAutoFit/>
            </a:bodyPr>
            <a:lstStyle/>
            <a:p>
              <a:pPr hangingPunct="0">
                <a:lnSpc>
                  <a:spcPct val="150000"/>
                </a:lnSpc>
                <a:spcBef>
                  <a:spcPts val="0"/>
                </a:spcBef>
                <a:spcAft>
                  <a:spcPts val="0"/>
                </a:spcAft>
              </a:pPr>
              <a:r>
                <a:rPr lang="en-US" altLang="zh-CN" sz="1200" kern="0" dirty="0">
                  <a:solidFill>
                    <a:srgbClr val="000000"/>
                  </a:solidFill>
                  <a:uFillTx/>
                  <a:latin typeface="+mn-ea"/>
                  <a:ea typeface="+mn-ea"/>
                  <a:cs typeface="Arial" panose="020B0604020202020204"/>
                  <a:sym typeface="Arial" panose="020B0604020202020204"/>
                </a:rPr>
                <a:t>1</a:t>
              </a:r>
              <a:r>
                <a:rPr lang="zh-CN" altLang="en-US" sz="1200" kern="0" dirty="0">
                  <a:solidFill>
                    <a:srgbClr val="000000"/>
                  </a:solidFill>
                  <a:uFillTx/>
                  <a:latin typeface="+mn-ea"/>
                  <a:ea typeface="+mn-ea"/>
                  <a:cs typeface="Arial" panose="020B0604020202020204"/>
                  <a:sym typeface="Arial" panose="020B0604020202020204"/>
                </a:rPr>
                <a:t>、统计周期：用户选择统计开始和统计结束时间</a:t>
              </a:r>
              <a:r>
                <a:rPr lang="en-US" altLang="zh-CN" sz="1200" kern="0" dirty="0">
                  <a:solidFill>
                    <a:srgbClr val="000000"/>
                  </a:solidFill>
                  <a:uFillTx/>
                  <a:latin typeface="+mn-ea"/>
                  <a:ea typeface="+mn-ea"/>
                  <a:cs typeface="Arial" panose="020B0604020202020204"/>
                  <a:sym typeface="Arial" panose="020B0604020202020204"/>
                </a:rPr>
                <a:t>YYMMDD</a:t>
              </a:r>
              <a:r>
                <a:rPr lang="zh-CN" altLang="en-US" sz="1200" kern="0" dirty="0">
                  <a:solidFill>
                    <a:srgbClr val="000000"/>
                  </a:solidFill>
                  <a:uFillTx/>
                  <a:latin typeface="+mn-ea"/>
                  <a:ea typeface="+mn-ea"/>
                  <a:cs typeface="Arial" panose="020B0604020202020204"/>
                  <a:sym typeface="Arial" panose="020B0604020202020204"/>
                </a:rPr>
                <a:t>，最长</a:t>
              </a:r>
              <a:r>
                <a:rPr lang="zh-CN" altLang="en-US" sz="1200" kern="0" dirty="0">
                  <a:solidFill>
                    <a:srgbClr val="FF0000"/>
                  </a:solidFill>
                  <a:uFillTx/>
                  <a:latin typeface="+mn-ea"/>
                  <a:ea typeface="+mn-ea"/>
                  <a:cs typeface="Arial" panose="020B0604020202020204"/>
                  <a:sym typeface="Arial" panose="020B0604020202020204"/>
                </a:rPr>
                <a:t>时间跨度为</a:t>
              </a:r>
              <a:r>
                <a:rPr lang="en-US" altLang="zh-CN" sz="1200" kern="0" dirty="0">
                  <a:solidFill>
                    <a:srgbClr val="FF0000"/>
                  </a:solidFill>
                  <a:uFillTx/>
                  <a:latin typeface="+mn-ea"/>
                  <a:ea typeface="+mn-ea"/>
                  <a:cs typeface="Arial" panose="020B0604020202020204"/>
                  <a:sym typeface="Arial" panose="020B0604020202020204"/>
                </a:rPr>
                <a:t>1</a:t>
              </a:r>
              <a:r>
                <a:rPr lang="zh-CN" altLang="en-US" sz="1200" kern="0" dirty="0">
                  <a:solidFill>
                    <a:srgbClr val="FF0000"/>
                  </a:solidFill>
                  <a:uFillTx/>
                  <a:latin typeface="+mn-ea"/>
                  <a:ea typeface="+mn-ea"/>
                  <a:cs typeface="Arial" panose="020B0604020202020204"/>
                  <a:sym typeface="Arial" panose="020B0604020202020204"/>
                </a:rPr>
                <a:t>年（暂定）</a:t>
              </a:r>
              <a:endParaRPr lang="en-US" altLang="zh-CN" sz="1200" kern="0" dirty="0">
                <a:solidFill>
                  <a:srgbClr val="FF0000"/>
                </a:solidFill>
                <a:uFillTx/>
                <a:latin typeface="+mn-ea"/>
                <a:ea typeface="+mn-ea"/>
                <a:cs typeface="Arial" panose="020B0604020202020204"/>
                <a:sym typeface="Arial" panose="020B0604020202020204"/>
              </a:endParaRPr>
            </a:p>
            <a:p>
              <a:pPr hangingPunct="0">
                <a:lnSpc>
                  <a:spcPct val="150000"/>
                </a:lnSpc>
                <a:spcBef>
                  <a:spcPts val="0"/>
                </a:spcBef>
                <a:spcAft>
                  <a:spcPts val="0"/>
                </a:spcAft>
              </a:pPr>
              <a:r>
                <a:rPr lang="en-US" altLang="zh-CN" sz="1200" kern="0" dirty="0">
                  <a:solidFill>
                    <a:srgbClr val="000000"/>
                  </a:solidFill>
                  <a:uFillTx/>
                  <a:latin typeface="+mn-ea"/>
                  <a:ea typeface="+mn-ea"/>
                  <a:cs typeface="Arial" panose="020B0604020202020204"/>
                  <a:sym typeface="Arial" panose="020B0604020202020204"/>
                </a:rPr>
                <a:t>2</a:t>
              </a:r>
              <a:r>
                <a:rPr lang="zh-CN" altLang="en-US" sz="1200" kern="0" dirty="0">
                  <a:solidFill>
                    <a:srgbClr val="000000"/>
                  </a:solidFill>
                  <a:uFillTx/>
                  <a:latin typeface="+mn-ea"/>
                  <a:ea typeface="+mn-ea"/>
                  <a:cs typeface="Arial" panose="020B0604020202020204"/>
                  <a:sym typeface="Arial" panose="020B0604020202020204"/>
                </a:rPr>
                <a:t>、统计周期内按时完成的项目数，项目的</a:t>
              </a:r>
              <a:r>
                <a:rPr lang="en-US" altLang="zh-CN" sz="1200" kern="0" dirty="0">
                  <a:solidFill>
                    <a:srgbClr val="000000"/>
                  </a:solidFill>
                  <a:uFillTx/>
                  <a:latin typeface="+mn-ea"/>
                  <a:ea typeface="+mn-ea"/>
                  <a:cs typeface="Arial" panose="020B0604020202020204"/>
                  <a:sym typeface="Arial" panose="020B0604020202020204"/>
                </a:rPr>
                <a:t>G1</a:t>
              </a:r>
              <a:r>
                <a:rPr lang="zh-CN" altLang="en-US" sz="1200" kern="0" dirty="0">
                  <a:solidFill>
                    <a:srgbClr val="000000"/>
                  </a:solidFill>
                  <a:uFillTx/>
                  <a:latin typeface="+mn-ea"/>
                  <a:ea typeface="+mn-ea"/>
                  <a:cs typeface="Arial" panose="020B0604020202020204"/>
                  <a:sym typeface="Arial" panose="020B0604020202020204"/>
                </a:rPr>
                <a:t>开始时间和</a:t>
              </a:r>
              <a:r>
                <a:rPr lang="en-US" altLang="zh-CN" sz="1200" kern="0" dirty="0">
                  <a:solidFill>
                    <a:srgbClr val="000000"/>
                  </a:solidFill>
                  <a:uFillTx/>
                  <a:latin typeface="+mn-ea"/>
                  <a:ea typeface="+mn-ea"/>
                  <a:cs typeface="Arial" panose="020B0604020202020204"/>
                  <a:sym typeface="Arial" panose="020B0604020202020204"/>
                </a:rPr>
                <a:t>G5 </a:t>
              </a:r>
              <a:r>
                <a:rPr lang="zh-CN" altLang="en-US" sz="1200" kern="0" dirty="0">
                  <a:solidFill>
                    <a:srgbClr val="000000"/>
                  </a:solidFill>
                  <a:uFillTx/>
                  <a:latin typeface="+mn-ea"/>
                  <a:ea typeface="+mn-ea"/>
                  <a:cs typeface="Arial" panose="020B0604020202020204"/>
                  <a:sym typeface="Arial" panose="020B0604020202020204"/>
                </a:rPr>
                <a:t>的结束时间在项目计划时间内判断为项目按时完成，将符合按时完成的项目数量累加</a:t>
              </a:r>
              <a:endParaRPr lang="en-US" altLang="zh-CN" sz="1200" kern="0" dirty="0">
                <a:solidFill>
                  <a:srgbClr val="000000"/>
                </a:solidFill>
                <a:uFillTx/>
                <a:latin typeface="+mn-ea"/>
                <a:ea typeface="+mn-ea"/>
                <a:cs typeface="Arial" panose="020B0604020202020204"/>
                <a:sym typeface="Arial" panose="020B0604020202020204"/>
              </a:endParaRPr>
            </a:p>
            <a:p>
              <a:pPr hangingPunct="0">
                <a:lnSpc>
                  <a:spcPct val="150000"/>
                </a:lnSpc>
                <a:spcBef>
                  <a:spcPts val="0"/>
                </a:spcBef>
                <a:spcAft>
                  <a:spcPts val="0"/>
                </a:spcAft>
              </a:pPr>
              <a:r>
                <a:rPr lang="en-US" altLang="zh-CN" sz="1200" kern="0" dirty="0">
                  <a:solidFill>
                    <a:srgbClr val="000000"/>
                  </a:solidFill>
                  <a:uFillTx/>
                  <a:latin typeface="+mn-ea"/>
                  <a:ea typeface="+mn-ea"/>
                  <a:cs typeface="Arial" panose="020B0604020202020204"/>
                  <a:sym typeface="Arial" panose="020B0604020202020204"/>
                </a:rPr>
                <a:t>3</a:t>
              </a:r>
              <a:r>
                <a:rPr lang="zh-CN" altLang="en-US" sz="1200" kern="0" dirty="0">
                  <a:solidFill>
                    <a:srgbClr val="000000"/>
                  </a:solidFill>
                  <a:uFillTx/>
                  <a:latin typeface="+mn-ea"/>
                  <a:ea typeface="+mn-ea"/>
                  <a:cs typeface="Arial" panose="020B0604020202020204"/>
                  <a:sym typeface="Arial" panose="020B0604020202020204"/>
                </a:rPr>
                <a:t>、项目周期（时间）</a:t>
              </a:r>
              <a:r>
                <a:rPr lang="en-US" altLang="zh-CN" sz="1200" kern="0" dirty="0">
                  <a:solidFill>
                    <a:srgbClr val="000000"/>
                  </a:solidFill>
                  <a:uFillTx/>
                  <a:latin typeface="+mn-ea"/>
                  <a:ea typeface="+mn-ea"/>
                  <a:cs typeface="Arial" panose="020B0604020202020204"/>
                  <a:sym typeface="Arial" panose="020B0604020202020204"/>
                </a:rPr>
                <a:t>0</a:t>
              </a:r>
              <a:r>
                <a:rPr lang="zh-CN" altLang="en-US" sz="1200" kern="0" dirty="0">
                  <a:solidFill>
                    <a:srgbClr val="000000"/>
                  </a:solidFill>
                  <a:uFillTx/>
                  <a:latin typeface="+mn-ea"/>
                  <a:ea typeface="+mn-ea"/>
                  <a:cs typeface="Arial" panose="020B0604020202020204"/>
                  <a:sym typeface="Arial" panose="020B0604020202020204"/>
                </a:rPr>
                <a:t>计算：取</a:t>
              </a:r>
              <a:r>
                <a:rPr lang="en-US" altLang="zh-CN" sz="1200" kern="0" dirty="0">
                  <a:solidFill>
                    <a:srgbClr val="000000"/>
                  </a:solidFill>
                  <a:uFillTx/>
                  <a:latin typeface="+mn-ea"/>
                  <a:ea typeface="+mn-ea"/>
                  <a:cs typeface="Arial" panose="020B0604020202020204"/>
                  <a:sym typeface="Arial" panose="020B0604020202020204"/>
                </a:rPr>
                <a:t>G1</a:t>
              </a:r>
              <a:r>
                <a:rPr lang="zh-CN" altLang="en-US" sz="1200" kern="0" dirty="0">
                  <a:solidFill>
                    <a:srgbClr val="000000"/>
                  </a:solidFill>
                  <a:uFillTx/>
                  <a:latin typeface="+mn-ea"/>
                  <a:ea typeface="+mn-ea"/>
                  <a:cs typeface="Arial" panose="020B0604020202020204"/>
                  <a:sym typeface="Arial" panose="020B0604020202020204"/>
                </a:rPr>
                <a:t>的实际开始时间（项目设计开始设计）和</a:t>
              </a:r>
              <a:r>
                <a:rPr lang="en-US" altLang="zh-CN" sz="1200" kern="0" dirty="0">
                  <a:solidFill>
                    <a:srgbClr val="000000"/>
                  </a:solidFill>
                  <a:uFillTx/>
                  <a:latin typeface="+mn-ea"/>
                  <a:ea typeface="+mn-ea"/>
                  <a:cs typeface="Arial" panose="020B0604020202020204"/>
                  <a:sym typeface="Arial" panose="020B0604020202020204"/>
                </a:rPr>
                <a:t>G5</a:t>
              </a:r>
              <a:r>
                <a:rPr lang="zh-CN" altLang="en-US" sz="1200" kern="0" dirty="0">
                  <a:solidFill>
                    <a:srgbClr val="000000"/>
                  </a:solidFill>
                  <a:uFillTx/>
                  <a:latin typeface="+mn-ea"/>
                  <a:ea typeface="+mn-ea"/>
                  <a:cs typeface="Arial" panose="020B0604020202020204"/>
                  <a:sym typeface="Arial" panose="020B0604020202020204"/>
                </a:rPr>
                <a:t>的实际结束时间（项目的实际结束时间），两者相减即为项目周期</a:t>
              </a:r>
              <a:endParaRPr lang="en-US" altLang="zh-CN" sz="1200" kern="0" dirty="0">
                <a:solidFill>
                  <a:srgbClr val="000000"/>
                </a:solidFill>
                <a:uFillTx/>
                <a:latin typeface="+mn-ea"/>
                <a:ea typeface="+mn-ea"/>
                <a:cs typeface="Arial" panose="020B0604020202020204"/>
                <a:sym typeface="Arial" panose="020B0604020202020204"/>
              </a:endParaRPr>
            </a:p>
            <a:p>
              <a:pPr hangingPunct="0">
                <a:lnSpc>
                  <a:spcPct val="150000"/>
                </a:lnSpc>
                <a:spcBef>
                  <a:spcPts val="0"/>
                </a:spcBef>
                <a:spcAft>
                  <a:spcPts val="0"/>
                </a:spcAft>
              </a:pPr>
              <a:r>
                <a:rPr lang="en-US" altLang="zh-CN" sz="1200" kern="0" dirty="0">
                  <a:solidFill>
                    <a:srgbClr val="000000"/>
                  </a:solidFill>
                  <a:uFillTx/>
                  <a:latin typeface="+mn-ea"/>
                  <a:ea typeface="+mn-ea"/>
                  <a:cs typeface="Arial" panose="020B0604020202020204"/>
                  <a:sym typeface="Arial" panose="020B0604020202020204"/>
                </a:rPr>
                <a:t>4</a:t>
              </a:r>
              <a:r>
                <a:rPr lang="zh-CN" altLang="en-US" sz="1200" kern="0" dirty="0">
                  <a:solidFill>
                    <a:srgbClr val="000000"/>
                  </a:solidFill>
                  <a:uFillTx/>
                  <a:latin typeface="+mn-ea"/>
                  <a:ea typeface="+mn-ea"/>
                  <a:cs typeface="Arial" panose="020B0604020202020204"/>
                  <a:sym typeface="Arial" panose="020B0604020202020204"/>
                </a:rPr>
                <a:t>、统计周期内项目的完成的总时间：根据用户选择的时间段，将所有在此时间段的所有项目周期累加</a:t>
              </a:r>
              <a:endParaRPr lang="en-US" altLang="zh-CN" sz="1200" kern="0" dirty="0">
                <a:solidFill>
                  <a:srgbClr val="000000"/>
                </a:solidFill>
                <a:uFillTx/>
                <a:latin typeface="+mn-ea"/>
                <a:ea typeface="+mn-ea"/>
                <a:cs typeface="Arial" panose="020B0604020202020204"/>
                <a:sym typeface="Arial" panose="020B0604020202020204"/>
              </a:endParaRPr>
            </a:p>
            <a:p>
              <a:pPr hangingPunct="0">
                <a:lnSpc>
                  <a:spcPct val="150000"/>
                </a:lnSpc>
                <a:spcBef>
                  <a:spcPts val="0"/>
                </a:spcBef>
                <a:spcAft>
                  <a:spcPts val="0"/>
                </a:spcAft>
              </a:pPr>
              <a:r>
                <a:rPr lang="en-US" altLang="zh-CN" sz="1200" kern="0" dirty="0">
                  <a:solidFill>
                    <a:srgbClr val="000000"/>
                  </a:solidFill>
                  <a:uFillTx/>
                  <a:latin typeface="+mn-ea"/>
                  <a:ea typeface="+mn-ea"/>
                  <a:cs typeface="Arial" panose="020B0604020202020204"/>
                  <a:sym typeface="Arial" panose="020B0604020202020204"/>
                </a:rPr>
                <a:t>5</a:t>
              </a:r>
              <a:r>
                <a:rPr lang="zh-CN" altLang="en-US" sz="1200" kern="0" dirty="0">
                  <a:solidFill>
                    <a:srgbClr val="000000"/>
                  </a:solidFill>
                  <a:uFillTx/>
                  <a:latin typeface="+mn-ea"/>
                  <a:ea typeface="+mn-ea"/>
                  <a:cs typeface="Arial" panose="020B0604020202020204"/>
                  <a:sym typeface="Arial" panose="020B0604020202020204"/>
                </a:rPr>
                <a:t>、统计周期内项目总数：根据用户选择的时间段，将所有在此时间段的项目数量累加</a:t>
              </a:r>
              <a:endParaRPr lang="zh-CN" altLang="en-US" sz="1200" kern="0" dirty="0">
                <a:solidFill>
                  <a:srgbClr val="000000"/>
                </a:solidFill>
                <a:uFillTx/>
                <a:latin typeface="+mn-ea"/>
                <a:ea typeface="+mn-ea"/>
                <a:cs typeface="Arial" panose="020B0604020202020204"/>
                <a:sym typeface="Arial" panose="020B0604020202020204"/>
              </a:endParaRPr>
            </a:p>
          </p:txBody>
        </p:sp>
        <p:grpSp>
          <p:nvGrpSpPr>
            <p:cNvPr id="24" name="组合 23"/>
            <p:cNvGrpSpPr/>
            <p:nvPr/>
          </p:nvGrpSpPr>
          <p:grpSpPr>
            <a:xfrm>
              <a:off x="5291303" y="1227852"/>
              <a:ext cx="3600000" cy="788223"/>
              <a:chOff x="5291303" y="1227852"/>
              <a:chExt cx="3600000" cy="788223"/>
            </a:xfrm>
          </p:grpSpPr>
          <p:sp>
            <p:nvSpPr>
              <p:cNvPr id="11" name="文本框 10"/>
              <p:cNvSpPr txBox="1"/>
              <p:nvPr/>
            </p:nvSpPr>
            <p:spPr>
              <a:xfrm>
                <a:off x="5839559" y="1227852"/>
                <a:ext cx="2520000"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lnSpc>
                    <a:spcPct val="120000"/>
                  </a:lnSpc>
                  <a:defRPr sz="1200" b="1">
                    <a:solidFill>
                      <a:srgbClr val="0000FF"/>
                    </a:solidFill>
                    <a:latin typeface="+mn-ea"/>
                    <a:ea typeface="+mn-ea"/>
                  </a:defRPr>
                </a:lvl1pPr>
              </a:lstStyle>
              <a:p>
                <a:pPr hangingPunct="0">
                  <a:spcBef>
                    <a:spcPts val="0"/>
                  </a:spcBef>
                  <a:spcAft>
                    <a:spcPts val="0"/>
                  </a:spcAft>
                </a:pPr>
                <a:r>
                  <a:rPr lang="zh-CN" altLang="en-US" sz="1400" kern="0" dirty="0">
                    <a:solidFill>
                      <a:schemeClr val="bg2">
                        <a:lumMod val="50000"/>
                      </a:schemeClr>
                    </a:solidFill>
                    <a:uFillTx/>
                    <a:cs typeface="Arial" panose="020B0604020202020204"/>
                    <a:sym typeface="Arial" panose="020B0604020202020204"/>
                  </a:rPr>
                  <a:t>统计周期内按时完成的项目数</a:t>
                </a:r>
                <a:endParaRPr lang="zh-CN" altLang="en-US" sz="1400" kern="0" dirty="0">
                  <a:solidFill>
                    <a:schemeClr val="bg2">
                      <a:lumMod val="50000"/>
                    </a:schemeClr>
                  </a:solidFill>
                  <a:uFillTx/>
                  <a:cs typeface="Arial" panose="020B0604020202020204"/>
                  <a:sym typeface="Arial" panose="020B0604020202020204"/>
                </a:endParaRPr>
              </a:p>
            </p:txBody>
          </p:sp>
          <p:cxnSp>
            <p:nvCxnSpPr>
              <p:cNvPr id="13" name="直接连接符 12"/>
              <p:cNvCxnSpPr>
                <a:stCxn id="5" idx="3"/>
              </p:cNvCxnSpPr>
              <p:nvPr/>
            </p:nvCxnSpPr>
            <p:spPr>
              <a:xfrm flipV="1">
                <a:off x="5291303" y="1622129"/>
                <a:ext cx="36000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839559" y="1728075"/>
                <a:ext cx="2520000" cy="288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lnSpc>
                    <a:spcPct val="120000"/>
                  </a:lnSpc>
                  <a:defRPr sz="1200" b="1">
                    <a:solidFill>
                      <a:srgbClr val="0000FF"/>
                    </a:solidFill>
                    <a:latin typeface="+mn-ea"/>
                    <a:ea typeface="+mn-ea"/>
                  </a:defRPr>
                </a:lvl1pPr>
              </a:lstStyle>
              <a:p>
                <a:pPr hangingPunct="0">
                  <a:spcBef>
                    <a:spcPts val="0"/>
                  </a:spcBef>
                  <a:spcAft>
                    <a:spcPts val="0"/>
                  </a:spcAft>
                </a:pPr>
                <a:r>
                  <a:rPr lang="zh-CN" altLang="en-US" sz="1400" kern="0" dirty="0">
                    <a:solidFill>
                      <a:schemeClr val="bg2">
                        <a:lumMod val="50000"/>
                      </a:schemeClr>
                    </a:solidFill>
                    <a:uFillTx/>
                    <a:cs typeface="Arial" panose="020B0604020202020204"/>
                    <a:sym typeface="Arial" panose="020B0604020202020204"/>
                  </a:rPr>
                  <a:t>统计周期内项目总数</a:t>
                </a:r>
                <a:endParaRPr lang="zh-CN" altLang="en-US" sz="1400" kern="0" dirty="0">
                  <a:solidFill>
                    <a:schemeClr val="bg2">
                      <a:lumMod val="50000"/>
                    </a:schemeClr>
                  </a:solidFill>
                  <a:uFillTx/>
                  <a:cs typeface="Arial" panose="020B0604020202020204"/>
                  <a:sym typeface="Arial" panose="020B0604020202020204"/>
                </a:endParaRPr>
              </a:p>
            </p:txBody>
          </p:sp>
        </p:grpSp>
        <p:grpSp>
          <p:nvGrpSpPr>
            <p:cNvPr id="23" name="组合 22"/>
            <p:cNvGrpSpPr/>
            <p:nvPr/>
          </p:nvGrpSpPr>
          <p:grpSpPr>
            <a:xfrm>
              <a:off x="5291306" y="2700164"/>
              <a:ext cx="3600000" cy="728836"/>
              <a:chOff x="5291306" y="2700164"/>
              <a:chExt cx="3600000" cy="728836"/>
            </a:xfrm>
          </p:grpSpPr>
          <p:sp>
            <p:nvSpPr>
              <p:cNvPr id="8" name="文本框 7"/>
              <p:cNvSpPr txBox="1"/>
              <p:nvPr/>
            </p:nvSpPr>
            <p:spPr>
              <a:xfrm>
                <a:off x="5839559" y="2700164"/>
                <a:ext cx="2880000" cy="252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lnSpc>
                    <a:spcPct val="120000"/>
                  </a:lnSpc>
                  <a:defRPr sz="1200" b="1">
                    <a:solidFill>
                      <a:srgbClr val="0000FF"/>
                    </a:solidFill>
                    <a:latin typeface="+mn-ea"/>
                    <a:ea typeface="+mn-ea"/>
                  </a:defRPr>
                </a:lvl1pPr>
              </a:lstStyle>
              <a:p>
                <a:pPr hangingPunct="0">
                  <a:spcBef>
                    <a:spcPts val="0"/>
                  </a:spcBef>
                  <a:spcAft>
                    <a:spcPts val="0"/>
                  </a:spcAft>
                </a:pPr>
                <a:r>
                  <a:rPr lang="zh-CN" altLang="en-US" sz="1400" kern="0" dirty="0">
                    <a:solidFill>
                      <a:schemeClr val="bg2">
                        <a:lumMod val="50000"/>
                      </a:schemeClr>
                    </a:solidFill>
                    <a:uFillTx/>
                    <a:cs typeface="Arial" panose="020B0604020202020204"/>
                    <a:sym typeface="Arial" panose="020B0604020202020204"/>
                  </a:rPr>
                  <a:t>统计周期内项目的完成的总时间</a:t>
                </a:r>
                <a:endParaRPr lang="zh-CN" altLang="en-US" sz="1400" kern="0" dirty="0">
                  <a:solidFill>
                    <a:schemeClr val="bg2">
                      <a:lumMod val="50000"/>
                    </a:schemeClr>
                  </a:solidFill>
                  <a:uFillTx/>
                  <a:cs typeface="Arial" panose="020B0604020202020204"/>
                  <a:sym typeface="Arial" panose="020B0604020202020204"/>
                </a:endParaRPr>
              </a:p>
            </p:txBody>
          </p:sp>
          <p:cxnSp>
            <p:nvCxnSpPr>
              <p:cNvPr id="17" name="直接连接符 16"/>
              <p:cNvCxnSpPr>
                <a:stCxn id="6" idx="3"/>
              </p:cNvCxnSpPr>
              <p:nvPr/>
            </p:nvCxnSpPr>
            <p:spPr>
              <a:xfrm>
                <a:off x="5291306" y="3059081"/>
                <a:ext cx="360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839559" y="3177000"/>
                <a:ext cx="2880000" cy="2520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36000" rIns="0" bIns="36000" numCol="1" spcCol="38100" rtlCol="0" anchor="ctr" anchorCtr="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a:lnSpc>
                    <a:spcPct val="120000"/>
                  </a:lnSpc>
                  <a:defRPr sz="1200" b="1">
                    <a:solidFill>
                      <a:srgbClr val="0000FF"/>
                    </a:solidFill>
                    <a:latin typeface="+mn-ea"/>
                    <a:ea typeface="+mn-ea"/>
                  </a:defRPr>
                </a:lvl1pPr>
              </a:lstStyle>
              <a:p>
                <a:pPr hangingPunct="0">
                  <a:spcBef>
                    <a:spcPts val="0"/>
                  </a:spcBef>
                  <a:spcAft>
                    <a:spcPts val="0"/>
                  </a:spcAft>
                </a:pPr>
                <a:r>
                  <a:rPr lang="zh-CN" altLang="en-US" sz="1400" kern="0" dirty="0">
                    <a:solidFill>
                      <a:schemeClr val="bg2">
                        <a:lumMod val="50000"/>
                      </a:schemeClr>
                    </a:solidFill>
                    <a:uFillTx/>
                    <a:cs typeface="Arial" panose="020B0604020202020204"/>
                    <a:sym typeface="Arial" panose="020B0604020202020204"/>
                  </a:rPr>
                  <a:t>统计周期内项目数量</a:t>
                </a:r>
                <a:endParaRPr lang="zh-CN" altLang="en-US" sz="1400" kern="0" dirty="0">
                  <a:solidFill>
                    <a:schemeClr val="bg2">
                      <a:lumMod val="50000"/>
                    </a:schemeClr>
                  </a:solidFill>
                  <a:uFillTx/>
                  <a:cs typeface="Arial" panose="020B0604020202020204"/>
                  <a:sym typeface="Arial" panose="020B0604020202020204"/>
                </a:endParaRPr>
              </a:p>
            </p:txBody>
          </p:sp>
        </p:grpSp>
      </p:grpSp>
    </p:spTree>
    <p:custDataLst>
      <p:tags r:id="rId2"/>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4190" y="288291"/>
            <a:ext cx="9265285" cy="586105"/>
          </a:xfrm>
        </p:spPr>
        <p:txBody>
          <a:bodyPr wrap="square"/>
          <a:lstStyle/>
          <a:p>
            <a:r>
              <a:rPr lang="zh-CN" altLang="en-US"/>
              <a:t>目录</a:t>
            </a:r>
            <a:endParaRPr lang="zh-CN" altLang="en-US"/>
          </a:p>
        </p:txBody>
      </p:sp>
      <p:sp>
        <p:nvSpPr>
          <p:cNvPr id="5" name="圆角矩形 5"/>
          <p:cNvSpPr/>
          <p:nvPr/>
        </p:nvSpPr>
        <p:spPr>
          <a:xfrm>
            <a:off x="2318772" y="2114991"/>
            <a:ext cx="701421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详细方案</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9" name="圆角矩形 9"/>
          <p:cNvSpPr/>
          <p:nvPr/>
        </p:nvSpPr>
        <p:spPr>
          <a:xfrm>
            <a:off x="1542167" y="211499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rPr>
              <a:t>2</a:t>
            </a:r>
            <a:endPar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10" name="圆角矩形 2"/>
          <p:cNvSpPr/>
          <p:nvPr/>
        </p:nvSpPr>
        <p:spPr>
          <a:xfrm>
            <a:off x="2323852" y="4096191"/>
            <a:ext cx="7014210" cy="510540"/>
          </a:xfrm>
          <a:prstGeom prst="roundRect">
            <a:avLst>
              <a:gd name="adj" fmla="val 899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indent="357505" algn="l">
              <a:buClrTx/>
              <a:buSzTx/>
              <a:buFontTx/>
            </a:pP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rPr>
              <a:t>原型图</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1" name="圆角矩形 4"/>
          <p:cNvSpPr/>
          <p:nvPr/>
        </p:nvSpPr>
        <p:spPr>
          <a:xfrm>
            <a:off x="1547247" y="4096191"/>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chemeClr val="bg1">
                    <a:lumMod val="50000"/>
                  </a:schemeClr>
                </a:solidFill>
                <a:latin typeface="微软雅黑" panose="020B0503020204020204" pitchFamily="34" charset="-122"/>
                <a:ea typeface="微软雅黑" panose="020B0503020204020204" pitchFamily="34" charset="-122"/>
              </a:rPr>
              <a:t>3</a:t>
            </a:r>
            <a:endParaRPr lang="en-US" altLang="zh-CN" sz="2400" b="1">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圆角矩形 7"/>
          <p:cNvSpPr/>
          <p:nvPr/>
        </p:nvSpPr>
        <p:spPr>
          <a:xfrm>
            <a:off x="2716282" y="2716336"/>
            <a:ext cx="661670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业务设计详细方案</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14" name="圆角矩形 8"/>
          <p:cNvSpPr/>
          <p:nvPr/>
        </p:nvSpPr>
        <p:spPr>
          <a:xfrm>
            <a:off x="1939677" y="2716336"/>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a:solidFill>
                  <a:schemeClr val="tx1"/>
                </a:solidFill>
                <a:latin typeface="微软雅黑" panose="020B0503020204020204" pitchFamily="34" charset="-122"/>
                <a:ea typeface="微软雅黑" panose="020B0503020204020204" pitchFamily="34" charset="-122"/>
                <a:sym typeface="+mn-ea"/>
              </a:rPr>
              <a:t>2.1</a:t>
            </a:r>
            <a:endParaRPr lang="en-US" altLang="zh-CN" sz="2000">
              <a:solidFill>
                <a:schemeClr val="tx1"/>
              </a:solidFill>
              <a:latin typeface="微软雅黑" panose="020B0503020204020204" pitchFamily="34" charset="-122"/>
              <a:ea typeface="微软雅黑" panose="020B0503020204020204" pitchFamily="34" charset="-122"/>
              <a:sym typeface="+mn-ea"/>
            </a:endParaRPr>
          </a:p>
        </p:txBody>
      </p:sp>
      <p:sp>
        <p:nvSpPr>
          <p:cNvPr id="15" name="圆角矩形 14"/>
          <p:cNvSpPr/>
          <p:nvPr/>
        </p:nvSpPr>
        <p:spPr>
          <a:xfrm>
            <a:off x="2716282" y="3349431"/>
            <a:ext cx="6616700"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b="1" dirty="0">
                <a:solidFill>
                  <a:schemeClr val="bg1"/>
                </a:solidFill>
                <a:latin typeface="微软雅黑" panose="020B0503020204020204" pitchFamily="34" charset="-122"/>
                <a:ea typeface="微软雅黑" panose="020B0503020204020204" pitchFamily="34" charset="-122"/>
                <a:sym typeface="+mn-ea"/>
              </a:rPr>
              <a:t>产品设计详细方案</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16" name="圆角矩形 15"/>
          <p:cNvSpPr/>
          <p:nvPr/>
        </p:nvSpPr>
        <p:spPr>
          <a:xfrm>
            <a:off x="1939677" y="3349431"/>
            <a:ext cx="607695" cy="510540"/>
          </a:xfrm>
          <a:prstGeom prst="roundRect">
            <a:avLst>
              <a:gd name="adj" fmla="val 8997"/>
            </a:avLst>
          </a:prstGeom>
          <a:solidFill>
            <a:srgbClr val="F87D2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b="1" dirty="0">
                <a:latin typeface="微软雅黑" panose="020B0503020204020204" pitchFamily="34" charset="-122"/>
                <a:ea typeface="微软雅黑" panose="020B0503020204020204" pitchFamily="34" charset="-122"/>
                <a:sym typeface="+mn-ea"/>
              </a:rPr>
              <a:t>2.2</a:t>
            </a:r>
            <a:endParaRPr lang="en-US" altLang="zh-CN" sz="2000" b="1" dirty="0">
              <a:latin typeface="微软雅黑" panose="020B0503020204020204" pitchFamily="34" charset="-122"/>
              <a:ea typeface="微软雅黑" panose="020B0503020204020204" pitchFamily="34" charset="-122"/>
              <a:sym typeface="+mn-ea"/>
            </a:endParaRPr>
          </a:p>
        </p:txBody>
      </p:sp>
      <p:sp>
        <p:nvSpPr>
          <p:cNvPr id="17" name="圆角矩形 5"/>
          <p:cNvSpPr/>
          <p:nvPr/>
        </p:nvSpPr>
        <p:spPr>
          <a:xfrm>
            <a:off x="2318772" y="1347323"/>
            <a:ext cx="7014210"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indent="357505" algn="l">
              <a:buClrTx/>
              <a:buSzTx/>
              <a:buFontTx/>
            </a:pPr>
            <a:r>
              <a:rPr lang="zh-CN" altLang="en-US" sz="2400" dirty="0">
                <a:solidFill>
                  <a:schemeClr val="tx1"/>
                </a:solidFill>
                <a:latin typeface="微软雅黑" panose="020B0503020204020204" pitchFamily="34" charset="-122"/>
                <a:ea typeface="微软雅黑" panose="020B0503020204020204" pitchFamily="34" charset="-122"/>
                <a:sym typeface="+mn-ea"/>
              </a:rPr>
              <a:t>架构设计</a:t>
            </a:r>
            <a:endParaRPr lang="zh-CN" altLang="en-US" sz="2400" dirty="0">
              <a:solidFill>
                <a:schemeClr val="tx1"/>
              </a:solidFill>
              <a:latin typeface="微软雅黑" panose="020B0503020204020204" pitchFamily="34" charset="-122"/>
              <a:ea typeface="微软雅黑" panose="020B0503020204020204" pitchFamily="34" charset="-122"/>
              <a:sym typeface="+mn-ea"/>
            </a:endParaRPr>
          </a:p>
        </p:txBody>
      </p:sp>
      <p:sp>
        <p:nvSpPr>
          <p:cNvPr id="18" name="圆角矩形 9"/>
          <p:cNvSpPr/>
          <p:nvPr/>
        </p:nvSpPr>
        <p:spPr>
          <a:xfrm>
            <a:off x="1542167" y="1347323"/>
            <a:ext cx="607695" cy="510540"/>
          </a:xfrm>
          <a:prstGeom prst="roundRect">
            <a:avLst>
              <a:gd name="adj" fmla="val 8997"/>
            </a:avLst>
          </a:prstGeom>
          <a:solidFill>
            <a:srgbClr val="FFF1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rPr>
              <a:t>1</a:t>
            </a:r>
            <a:endParaRPr lang="en-US" altLang="zh-CN" sz="2400" b="1">
              <a:solidFill>
                <a:schemeClr val="bg1">
                  <a:lumMod val="50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矩形 176"/>
          <p:cNvSpPr/>
          <p:nvPr>
            <p:custDataLst>
              <p:tags r:id="rId1"/>
            </p:custDataLst>
          </p:nvPr>
        </p:nvSpPr>
        <p:spPr>
          <a:xfrm>
            <a:off x="7113905" y="3766185"/>
            <a:ext cx="3751580" cy="1080135"/>
          </a:xfrm>
          <a:prstGeom prst="rect">
            <a:avLst/>
          </a:prstGeom>
          <a:solidFill>
            <a:srgbClr val="FCF3E6"/>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项目计划管理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83" name="矩形 182"/>
          <p:cNvSpPr/>
          <p:nvPr>
            <p:custDataLst>
              <p:tags r:id="rId2"/>
            </p:custDataLst>
          </p:nvPr>
        </p:nvSpPr>
        <p:spPr>
          <a:xfrm>
            <a:off x="7261860" y="444055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计划任务</a:t>
            </a:r>
            <a:r>
              <a:rPr lang="zh-CN" altLang="en-US" sz="1050" kern="0" dirty="0">
                <a:solidFill>
                  <a:schemeClr val="tx1"/>
                </a:solidFill>
                <a:uFillTx/>
                <a:sym typeface="+mn-ea"/>
              </a:rPr>
              <a:t>编辑</a:t>
            </a:r>
            <a:endParaRPr lang="zh-CN" altLang="en-US" sz="1050" kern="0" dirty="0">
              <a:solidFill>
                <a:schemeClr val="tx1"/>
              </a:solidFill>
              <a:uFillTx/>
              <a:sym typeface="+mn-ea"/>
            </a:endParaRPr>
          </a:p>
        </p:txBody>
      </p:sp>
      <p:sp>
        <p:nvSpPr>
          <p:cNvPr id="181" name="矩形 180"/>
          <p:cNvSpPr/>
          <p:nvPr>
            <p:custDataLst>
              <p:tags r:id="rId3"/>
            </p:custDataLst>
          </p:nvPr>
        </p:nvSpPr>
        <p:spPr>
          <a:xfrm>
            <a:off x="8470765" y="402526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交付件上载</a:t>
            </a:r>
            <a:endParaRPr lang="zh-CN" altLang="en-US" sz="1050" kern="0" dirty="0">
              <a:solidFill>
                <a:schemeClr val="tx1"/>
              </a:solidFill>
              <a:uFillTx/>
              <a:sym typeface="+mn-ea"/>
            </a:endParaRPr>
          </a:p>
        </p:txBody>
      </p:sp>
      <p:sp>
        <p:nvSpPr>
          <p:cNvPr id="182" name="矩形 181"/>
          <p:cNvSpPr/>
          <p:nvPr>
            <p:custDataLst>
              <p:tags r:id="rId4"/>
            </p:custDataLst>
          </p:nvPr>
        </p:nvSpPr>
        <p:spPr>
          <a:xfrm>
            <a:off x="9672820" y="402526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任务状态更新</a:t>
            </a:r>
            <a:endParaRPr lang="zh-CN" altLang="en-US" sz="1050" kern="0" dirty="0">
              <a:solidFill>
                <a:schemeClr val="tx1"/>
              </a:solidFill>
              <a:uFillTx/>
              <a:sym typeface="+mn-ea"/>
            </a:endParaRPr>
          </a:p>
        </p:txBody>
      </p:sp>
      <p:sp>
        <p:nvSpPr>
          <p:cNvPr id="2" name="标题 1"/>
          <p:cNvSpPr>
            <a:spLocks noGrp="1"/>
          </p:cNvSpPr>
          <p:nvPr>
            <p:ph type="title"/>
          </p:nvPr>
        </p:nvSpPr>
        <p:spPr>
          <a:xfrm>
            <a:off x="510126" y="294229"/>
            <a:ext cx="10515600" cy="524510"/>
          </a:xfrm>
        </p:spPr>
        <p:txBody>
          <a:bodyPr/>
          <a:lstStyle/>
          <a:p>
            <a:r>
              <a:rPr lang="en-US" altLang="zh-CN" dirty="0">
                <a:gradFill>
                  <a:gsLst>
                    <a:gs pos="0">
                      <a:srgbClr val="E30000"/>
                    </a:gs>
                    <a:gs pos="100000">
                      <a:srgbClr val="760303"/>
                    </a:gs>
                  </a:gsLst>
                  <a:lin scaled="0"/>
                </a:gradFill>
                <a:sym typeface="+mn-ea"/>
              </a:rPr>
              <a:t> </a:t>
            </a:r>
            <a:r>
              <a:rPr lang="zh-CN" altLang="en-US" kern="1200" dirty="0">
                <a:gradFill>
                  <a:gsLst>
                    <a:gs pos="0">
                      <a:srgbClr val="E30000"/>
                    </a:gs>
                    <a:gs pos="100000">
                      <a:srgbClr val="760303"/>
                    </a:gs>
                  </a:gsLst>
                  <a:lin scaled="0"/>
                </a:gradFill>
              </a:rPr>
              <a:t>需求及</a:t>
            </a:r>
            <a:r>
              <a:rPr lang="zh-CN" altLang="en-US" kern="1200" dirty="0">
                <a:gradFill>
                  <a:gsLst>
                    <a:gs pos="0">
                      <a:srgbClr val="E30000"/>
                    </a:gs>
                    <a:gs pos="100000">
                      <a:srgbClr val="760303"/>
                    </a:gs>
                  </a:gsLst>
                  <a:lin scaled="0"/>
                </a:gradFill>
              </a:rPr>
              <a:t>研发计划管理</a:t>
            </a:r>
            <a:r>
              <a:rPr lang="zh-CN" altLang="en-US" dirty="0">
                <a:gradFill>
                  <a:gsLst>
                    <a:gs pos="0">
                      <a:srgbClr val="E30000"/>
                    </a:gs>
                    <a:gs pos="100000">
                      <a:srgbClr val="760303"/>
                    </a:gs>
                  </a:gsLst>
                  <a:lin scaled="0"/>
                </a:gradFill>
              </a:rPr>
              <a:t>应用</a:t>
            </a:r>
            <a:r>
              <a:rPr lang="zh-CN" altLang="en-US" kern="1200" dirty="0">
                <a:gradFill>
                  <a:gsLst>
                    <a:gs pos="0">
                      <a:srgbClr val="E30000"/>
                    </a:gs>
                    <a:gs pos="100000">
                      <a:srgbClr val="760303"/>
                    </a:gs>
                  </a:gsLst>
                  <a:lin scaled="0"/>
                </a:gradFill>
              </a:rPr>
              <a:t>架构</a:t>
            </a:r>
            <a:endParaRPr lang="zh-CN" altLang="en-US" dirty="0"/>
          </a:p>
        </p:txBody>
      </p:sp>
      <p:sp>
        <p:nvSpPr>
          <p:cNvPr id="125" name="矩形 124"/>
          <p:cNvSpPr/>
          <p:nvPr>
            <p:custDataLst>
              <p:tags r:id="rId5"/>
            </p:custDataLst>
          </p:nvPr>
        </p:nvSpPr>
        <p:spPr>
          <a:xfrm>
            <a:off x="1202055" y="5117465"/>
            <a:ext cx="9823450" cy="1471295"/>
          </a:xfrm>
          <a:prstGeom prst="rect">
            <a:avLst/>
          </a:prstGeom>
          <a:noFill/>
          <a:ln>
            <a:solidFill>
              <a:schemeClr val="bg1">
                <a:lumMod val="85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hangingPunct="0">
              <a:spcBef>
                <a:spcPts val="0"/>
              </a:spcBef>
              <a:spcAft>
                <a:spcPts val="0"/>
              </a:spcAft>
            </a:pPr>
            <a:endParaRPr lang="zh-CN" altLang="en-US" sz="1200" b="1" kern="0">
              <a:solidFill>
                <a:srgbClr val="F87D2F"/>
              </a:solidFill>
              <a:uFillTx/>
              <a:latin typeface="微软雅黑" panose="020B0503020204020204" pitchFamily="34" charset="-122"/>
              <a:ea typeface="微软雅黑" panose="020B0503020204020204" pitchFamily="34" charset="-122"/>
              <a:sym typeface="+mn-ea"/>
            </a:endParaRPr>
          </a:p>
        </p:txBody>
      </p:sp>
      <p:sp>
        <p:nvSpPr>
          <p:cNvPr id="126" name="矩形 125"/>
          <p:cNvSpPr/>
          <p:nvPr>
            <p:custDataLst>
              <p:tags r:id="rId6"/>
            </p:custDataLst>
          </p:nvPr>
        </p:nvSpPr>
        <p:spPr>
          <a:xfrm>
            <a:off x="1202103" y="1004212"/>
            <a:ext cx="9823623" cy="531646"/>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endParaRPr lang="zh-CN" altLang="en-US" sz="1200" kern="0">
              <a:noFill/>
              <a:uFillTx/>
              <a:sym typeface="+mn-ea"/>
            </a:endParaRPr>
          </a:p>
        </p:txBody>
      </p:sp>
      <p:pic>
        <p:nvPicPr>
          <p:cNvPr id="127" name="图片 126"/>
          <p:cNvPicPr/>
          <p:nvPr/>
        </p:nvPicPr>
        <p:blipFill>
          <a:blip r:embed="rId7"/>
          <a:stretch>
            <a:fillRect/>
          </a:stretch>
        </p:blipFill>
        <p:spPr>
          <a:xfrm>
            <a:off x="5019700" y="1084954"/>
            <a:ext cx="288238" cy="282039"/>
          </a:xfrm>
          <a:prstGeom prst="rect">
            <a:avLst/>
          </a:prstGeom>
        </p:spPr>
      </p:pic>
      <p:pic>
        <p:nvPicPr>
          <p:cNvPr id="128" name="图片 126" descr="app"/>
          <p:cNvPicPr>
            <a:picLocks noChangeAspect="1"/>
          </p:cNvPicPr>
          <p:nvPr/>
        </p:nvPicPr>
        <p:blipFill>
          <a:blip r:embed="rId8"/>
          <a:stretch>
            <a:fillRect/>
          </a:stretch>
        </p:blipFill>
        <p:spPr>
          <a:xfrm>
            <a:off x="6831864" y="1063776"/>
            <a:ext cx="465923" cy="302695"/>
          </a:xfrm>
          <a:prstGeom prst="rect">
            <a:avLst/>
          </a:prstGeom>
        </p:spPr>
      </p:pic>
      <p:sp>
        <p:nvSpPr>
          <p:cNvPr id="129" name="Title 1"/>
          <p:cNvSpPr txBox="1"/>
          <p:nvPr/>
        </p:nvSpPr>
        <p:spPr>
          <a:xfrm>
            <a:off x="4818436" y="1317525"/>
            <a:ext cx="692608" cy="276999"/>
          </a:xfrm>
          <a:prstGeom prst="rect">
            <a:avLst/>
          </a:prstGeom>
          <a:noFill/>
        </p:spPr>
        <p:txBody>
          <a:bodyPr vert="horz" wrap="square" lIns="91440" tIns="45720" rIns="91440" bIns="45720" rtlCol="0" anchor="t">
            <a:spAutoFit/>
          </a:bodyPr>
          <a:lstStyle>
            <a:lvl1pPr algn="l" defTabSz="914400" rtl="0" eaLnBrk="1" latinLnBrk="0" hangingPunct="1">
              <a:lnSpc>
                <a:spcPct val="80000"/>
              </a:lnSpc>
              <a:spcBef>
                <a:spcPct val="0"/>
              </a:spcBef>
              <a:buNone/>
              <a:defRPr sz="3600" kern="1200">
                <a:solidFill>
                  <a:schemeClr val="tx1"/>
                </a:solidFill>
                <a:latin typeface="+mj-lt"/>
                <a:ea typeface="+mj-ea"/>
                <a:cs typeface="+mj-cs"/>
              </a:defRPr>
            </a:lvl1pPr>
          </a:lstStyle>
          <a:p>
            <a:pPr lvl="0" algn="ctr">
              <a:lnSpc>
                <a:spcPct val="100000"/>
              </a:lnSpc>
              <a:spcAft>
                <a:spcPts val="0"/>
              </a:spcAft>
              <a:buClrTx/>
              <a:buSzTx/>
              <a:buFontTx/>
            </a:pPr>
            <a:r>
              <a:rPr lang="zh-CN" altLang="en-US" sz="1200" dirty="0">
                <a:solidFill>
                  <a:srgbClr val="F87D2F"/>
                </a:solidFill>
                <a:uFillTx/>
                <a:latin typeface="微软雅黑" panose="020B0503020204020204" pitchFamily="34" charset="-122"/>
                <a:ea typeface="微软雅黑" panose="020B0503020204020204" pitchFamily="34" charset="-122"/>
                <a:cs typeface="+mn-cs"/>
                <a:sym typeface="+mn-ea"/>
              </a:rPr>
              <a:t>电脑端</a:t>
            </a:r>
            <a:endParaRPr lang="zh-CN" altLang="en-US" sz="1200" dirty="0">
              <a:solidFill>
                <a:srgbClr val="F87D2F"/>
              </a:solidFill>
              <a:uFillTx/>
              <a:latin typeface="微软雅黑" panose="020B0503020204020204" pitchFamily="34" charset="-122"/>
              <a:ea typeface="微软雅黑" panose="020B0503020204020204" pitchFamily="34" charset="-122"/>
              <a:cs typeface="+mn-cs"/>
              <a:sym typeface="+mn-ea"/>
            </a:endParaRPr>
          </a:p>
        </p:txBody>
      </p:sp>
      <p:sp>
        <p:nvSpPr>
          <p:cNvPr id="130" name="Title 1"/>
          <p:cNvSpPr txBox="1"/>
          <p:nvPr/>
        </p:nvSpPr>
        <p:spPr>
          <a:xfrm>
            <a:off x="6672243" y="1309416"/>
            <a:ext cx="714055" cy="251345"/>
          </a:xfrm>
          <a:prstGeom prst="rect">
            <a:avLst/>
          </a:prstGeom>
          <a:noFill/>
        </p:spPr>
        <p:txBody>
          <a:bodyPr vert="horz" wrap="square" lIns="91440" tIns="45720" rIns="91440" bIns="45720" rtlCol="0" anchor="t">
            <a:spAutoFit/>
          </a:bodyPr>
          <a:lstStyle>
            <a:lvl1pPr algn="l" defTabSz="914400" rtl="0" eaLnBrk="1" latinLnBrk="0" hangingPunct="1">
              <a:lnSpc>
                <a:spcPct val="80000"/>
              </a:lnSpc>
              <a:spcBef>
                <a:spcPct val="0"/>
              </a:spcBef>
              <a:buNone/>
              <a:defRPr sz="3600" kern="1200">
                <a:solidFill>
                  <a:schemeClr val="tx1"/>
                </a:solidFill>
                <a:latin typeface="+mj-lt"/>
                <a:ea typeface="+mj-ea"/>
                <a:cs typeface="+mj-cs"/>
              </a:defRPr>
            </a:lvl1pPr>
          </a:lstStyle>
          <a:p>
            <a:pPr lvl="0" algn="ctr">
              <a:lnSpc>
                <a:spcPct val="100000"/>
              </a:lnSpc>
              <a:spcAft>
                <a:spcPts val="0"/>
              </a:spcAft>
              <a:buClrTx/>
              <a:buSzTx/>
              <a:buFontTx/>
            </a:pPr>
            <a:r>
              <a:rPr lang="zh-CN" altLang="en-US" sz="1200">
                <a:solidFill>
                  <a:srgbClr val="F87D2F"/>
                </a:solidFill>
                <a:uFillTx/>
                <a:latin typeface="微软雅黑" panose="020B0503020204020204" pitchFamily="34" charset="-122"/>
                <a:ea typeface="微软雅黑" panose="020B0503020204020204" pitchFamily="34" charset="-122"/>
                <a:cs typeface="+mn-cs"/>
                <a:sym typeface="+mn-ea"/>
              </a:rPr>
              <a:t>移动端</a:t>
            </a:r>
            <a:endParaRPr lang="zh-CN" altLang="en-US" sz="1200">
              <a:solidFill>
                <a:srgbClr val="F87D2F"/>
              </a:solidFill>
              <a:uFillTx/>
              <a:latin typeface="微软雅黑" panose="020B0503020204020204" pitchFamily="34" charset="-122"/>
              <a:ea typeface="微软雅黑" panose="020B0503020204020204" pitchFamily="34" charset="-122"/>
              <a:cs typeface="+mn-cs"/>
              <a:sym typeface="+mn-ea"/>
            </a:endParaRPr>
          </a:p>
        </p:txBody>
      </p:sp>
      <p:sp>
        <p:nvSpPr>
          <p:cNvPr id="131" name="文本框 130"/>
          <p:cNvSpPr txBox="1"/>
          <p:nvPr/>
        </p:nvSpPr>
        <p:spPr>
          <a:xfrm>
            <a:off x="1202103" y="1017532"/>
            <a:ext cx="647096" cy="523220"/>
          </a:xfrm>
          <a:prstGeom prst="rect">
            <a:avLst/>
          </a:prstGeom>
          <a:noFill/>
        </p:spPr>
        <p:txBody>
          <a:bodyPr wrap="square" rtlCol="0" anchor="t">
            <a:spAutoFit/>
          </a:bodyPr>
          <a:lstStyle/>
          <a:p>
            <a:pPr lvl="0" algn="l" hangingPunct="0">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接入</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a:p>
            <a:pPr lvl="0" algn="l" hangingPunct="0">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入口</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32" name="矩形 131"/>
          <p:cNvSpPr/>
          <p:nvPr>
            <p:custDataLst>
              <p:tags r:id="rId9"/>
            </p:custDataLst>
          </p:nvPr>
        </p:nvSpPr>
        <p:spPr>
          <a:xfrm>
            <a:off x="1202055" y="1679575"/>
            <a:ext cx="9823450" cy="1811020"/>
          </a:xfrm>
          <a:prstGeom prst="rect">
            <a:avLst/>
          </a:prstGeom>
          <a:noFill/>
          <a:ln>
            <a:solidFill>
              <a:schemeClr val="bg1">
                <a:lumMod val="85000"/>
              </a:schemeClr>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hangingPunct="0">
              <a:spcBef>
                <a:spcPts val="0"/>
              </a:spcBef>
              <a:spcAft>
                <a:spcPts val="0"/>
              </a:spcAft>
            </a:pPr>
            <a:endParaRPr lang="zh-CN" altLang="en-US" sz="1200" b="1" kern="0">
              <a:solidFill>
                <a:srgbClr val="F87D2F"/>
              </a:solidFill>
              <a:uFillTx/>
              <a:latin typeface="微软雅黑" panose="020B0503020204020204" pitchFamily="34" charset="-122"/>
              <a:ea typeface="微软雅黑" panose="020B0503020204020204" pitchFamily="34" charset="-122"/>
              <a:sym typeface="+mn-ea"/>
            </a:endParaRPr>
          </a:p>
        </p:txBody>
      </p:sp>
      <p:sp>
        <p:nvSpPr>
          <p:cNvPr id="133" name="矩形 132"/>
          <p:cNvSpPr/>
          <p:nvPr/>
        </p:nvSpPr>
        <p:spPr>
          <a:xfrm>
            <a:off x="1685290" y="1844040"/>
            <a:ext cx="4716000" cy="1295400"/>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产品研发过程</a:t>
            </a:r>
            <a:r>
              <a:rPr lang="en-US" altLang="zh-CN" sz="1200" b="1" kern="0" dirty="0">
                <a:solidFill>
                  <a:srgbClr val="F87D2F"/>
                </a:solidFill>
                <a:uFillTx/>
                <a:latin typeface="微软雅黑" panose="020B0503020204020204" pitchFamily="34" charset="-122"/>
                <a:ea typeface="微软雅黑" panose="020B0503020204020204" pitchFamily="34" charset="-122"/>
                <a:sym typeface="+mn-ea"/>
              </a:rPr>
              <a:t>360</a:t>
            </a:r>
            <a:endParaRPr lang="en-US" altLang="zh-CN"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34" name="矩形 133"/>
          <p:cNvSpPr/>
          <p:nvPr/>
        </p:nvSpPr>
        <p:spPr>
          <a:xfrm>
            <a:off x="1877592" y="2182853"/>
            <a:ext cx="2016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研发阶段状态监控</a:t>
            </a:r>
            <a:r>
              <a:rPr lang="en-US" altLang="zh-CN" sz="1200" kern="0" dirty="0">
                <a:solidFill>
                  <a:schemeClr val="tx1"/>
                </a:solidFill>
                <a:uFillTx/>
                <a:sym typeface="+mn-ea"/>
              </a:rPr>
              <a:t>-</a:t>
            </a:r>
            <a:r>
              <a:rPr lang="zh-CN" altLang="en-US" sz="1200" kern="0" dirty="0">
                <a:solidFill>
                  <a:schemeClr val="tx1"/>
                </a:solidFill>
                <a:uFillTx/>
                <a:sym typeface="+mn-ea"/>
              </a:rPr>
              <a:t>汇总</a:t>
            </a:r>
            <a:endParaRPr lang="zh-CN" altLang="en-US" sz="1200" kern="0" dirty="0">
              <a:solidFill>
                <a:schemeClr val="tx1"/>
              </a:solidFill>
              <a:uFillTx/>
              <a:sym typeface="+mn-ea"/>
            </a:endParaRPr>
          </a:p>
        </p:txBody>
      </p:sp>
      <p:sp>
        <p:nvSpPr>
          <p:cNvPr id="135" name="矩形 134"/>
          <p:cNvSpPr/>
          <p:nvPr/>
        </p:nvSpPr>
        <p:spPr>
          <a:xfrm>
            <a:off x="4182417" y="2183488"/>
            <a:ext cx="2016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研发过程状态监控</a:t>
            </a:r>
            <a:r>
              <a:rPr lang="en-US" altLang="zh-CN" sz="1200" kern="0" dirty="0">
                <a:solidFill>
                  <a:schemeClr val="tx1"/>
                </a:solidFill>
                <a:uFillTx/>
                <a:sym typeface="+mn-ea"/>
              </a:rPr>
              <a:t>-</a:t>
            </a:r>
            <a:r>
              <a:rPr lang="zh-CN" altLang="en-US" sz="1200" kern="0" dirty="0">
                <a:solidFill>
                  <a:schemeClr val="tx1"/>
                </a:solidFill>
                <a:uFillTx/>
                <a:sym typeface="+mn-ea"/>
              </a:rPr>
              <a:t>单项</a:t>
            </a:r>
            <a:endParaRPr lang="zh-CN" altLang="en-US" sz="1200" kern="0" dirty="0">
              <a:solidFill>
                <a:schemeClr val="tx1"/>
              </a:solidFill>
              <a:uFillTx/>
              <a:sym typeface="+mn-ea"/>
            </a:endParaRPr>
          </a:p>
        </p:txBody>
      </p:sp>
      <p:sp>
        <p:nvSpPr>
          <p:cNvPr id="136" name="矩形 135"/>
          <p:cNvSpPr/>
          <p:nvPr/>
        </p:nvSpPr>
        <p:spPr>
          <a:xfrm>
            <a:off x="1877695" y="2612390"/>
            <a:ext cx="4320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研发过程多维分析</a:t>
            </a:r>
            <a:r>
              <a:rPr lang="en-US" altLang="zh-CN" sz="1200" kern="0" dirty="0">
                <a:solidFill>
                  <a:schemeClr val="tx1"/>
                </a:solidFill>
                <a:uFillTx/>
                <a:sym typeface="+mn-ea"/>
              </a:rPr>
              <a:t> </a:t>
            </a:r>
            <a:r>
              <a:rPr lang="zh-CN" altLang="en-US" sz="1200" kern="0" dirty="0">
                <a:solidFill>
                  <a:schemeClr val="tx1"/>
                </a:solidFill>
                <a:uFillTx/>
                <a:sym typeface="+mn-ea"/>
              </a:rPr>
              <a:t>（组织、客户、产品）</a:t>
            </a:r>
            <a:endParaRPr lang="zh-CN" altLang="en-US" sz="1200" kern="0" dirty="0">
              <a:solidFill>
                <a:schemeClr val="tx1"/>
              </a:solidFill>
              <a:uFillTx/>
              <a:sym typeface="+mn-ea"/>
            </a:endParaRPr>
          </a:p>
        </p:txBody>
      </p:sp>
      <p:sp>
        <p:nvSpPr>
          <p:cNvPr id="137" name="矩形 136"/>
          <p:cNvSpPr/>
          <p:nvPr/>
        </p:nvSpPr>
        <p:spPr>
          <a:xfrm>
            <a:off x="6667500" y="1844040"/>
            <a:ext cx="4199255" cy="1295400"/>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异常管理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38" name="矩形 137"/>
          <p:cNvSpPr/>
          <p:nvPr/>
        </p:nvSpPr>
        <p:spPr>
          <a:xfrm>
            <a:off x="8230198" y="218370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管理齐套</a:t>
            </a:r>
            <a:endParaRPr lang="zh-CN" altLang="en-US" sz="1200" kern="0" dirty="0">
              <a:solidFill>
                <a:schemeClr val="tx1"/>
              </a:solidFill>
              <a:uFillTx/>
              <a:sym typeface="+mn-ea"/>
            </a:endParaRPr>
          </a:p>
        </p:txBody>
      </p:sp>
      <p:sp>
        <p:nvSpPr>
          <p:cNvPr id="139" name="矩形 138"/>
          <p:cNvSpPr/>
          <p:nvPr/>
        </p:nvSpPr>
        <p:spPr>
          <a:xfrm>
            <a:off x="8230198" y="2612330"/>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管理预警</a:t>
            </a:r>
            <a:endParaRPr lang="zh-CN" altLang="en-US" sz="1200" kern="0">
              <a:solidFill>
                <a:schemeClr val="tx1"/>
              </a:solidFill>
              <a:uFillTx/>
              <a:sym typeface="+mn-ea"/>
            </a:endParaRPr>
          </a:p>
        </p:txBody>
      </p:sp>
      <p:sp>
        <p:nvSpPr>
          <p:cNvPr id="140" name="矩形 139"/>
          <p:cNvSpPr/>
          <p:nvPr/>
        </p:nvSpPr>
        <p:spPr>
          <a:xfrm>
            <a:off x="7970520" y="5307965"/>
            <a:ext cx="2895600" cy="114173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任务令管理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41" name="矩形 140"/>
          <p:cNvSpPr/>
          <p:nvPr/>
        </p:nvSpPr>
        <p:spPr>
          <a:xfrm>
            <a:off x="8177399" y="5601274"/>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创建任务令</a:t>
            </a:r>
            <a:endParaRPr lang="zh-CN" altLang="en-US" sz="1200" kern="0">
              <a:solidFill>
                <a:schemeClr val="tx1"/>
              </a:solidFill>
              <a:uFillTx/>
              <a:sym typeface="+mn-ea"/>
            </a:endParaRPr>
          </a:p>
        </p:txBody>
      </p:sp>
      <p:sp>
        <p:nvSpPr>
          <p:cNvPr id="142" name="矩形 141"/>
          <p:cNvSpPr/>
          <p:nvPr/>
        </p:nvSpPr>
        <p:spPr>
          <a:xfrm>
            <a:off x="9550598" y="5601274"/>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管理任务令</a:t>
            </a:r>
            <a:endParaRPr lang="zh-CN" altLang="en-US" sz="1200" kern="0">
              <a:solidFill>
                <a:schemeClr val="tx1"/>
              </a:solidFill>
              <a:uFillTx/>
              <a:sym typeface="+mn-ea"/>
            </a:endParaRPr>
          </a:p>
        </p:txBody>
      </p:sp>
      <p:sp>
        <p:nvSpPr>
          <p:cNvPr id="143" name="矩形 142"/>
          <p:cNvSpPr/>
          <p:nvPr/>
        </p:nvSpPr>
        <p:spPr>
          <a:xfrm>
            <a:off x="8177399" y="601695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关闭任务令</a:t>
            </a:r>
            <a:endParaRPr lang="zh-CN" altLang="en-US" sz="1200" kern="0">
              <a:solidFill>
                <a:schemeClr val="tx1"/>
              </a:solidFill>
              <a:uFillTx/>
              <a:sym typeface="+mn-ea"/>
            </a:endParaRPr>
          </a:p>
        </p:txBody>
      </p:sp>
      <p:sp>
        <p:nvSpPr>
          <p:cNvPr id="144" name="矩形 143"/>
          <p:cNvSpPr/>
          <p:nvPr/>
        </p:nvSpPr>
        <p:spPr>
          <a:xfrm>
            <a:off x="6858512" y="2172910"/>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基线值管理</a:t>
            </a:r>
            <a:endParaRPr lang="zh-CN" altLang="en-US" sz="1200" kern="0" dirty="0">
              <a:solidFill>
                <a:schemeClr val="tx1"/>
              </a:solidFill>
              <a:uFillTx/>
              <a:sym typeface="+mn-ea"/>
            </a:endParaRPr>
          </a:p>
        </p:txBody>
      </p:sp>
      <p:sp>
        <p:nvSpPr>
          <p:cNvPr id="145" name="矩形 144"/>
          <p:cNvSpPr/>
          <p:nvPr/>
        </p:nvSpPr>
        <p:spPr>
          <a:xfrm>
            <a:off x="6858841" y="260153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目标值管理</a:t>
            </a:r>
            <a:endParaRPr lang="zh-CN" altLang="en-US" sz="1200" kern="0">
              <a:solidFill>
                <a:schemeClr val="tx1"/>
              </a:solidFill>
              <a:uFillTx/>
              <a:sym typeface="+mn-ea"/>
            </a:endParaRPr>
          </a:p>
        </p:txBody>
      </p:sp>
      <p:sp>
        <p:nvSpPr>
          <p:cNvPr id="146" name="矩形 145"/>
          <p:cNvSpPr/>
          <p:nvPr/>
        </p:nvSpPr>
        <p:spPr>
          <a:xfrm>
            <a:off x="1685925" y="5307965"/>
            <a:ext cx="5891530" cy="114173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系统配置</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47" name="矩形 146"/>
          <p:cNvSpPr/>
          <p:nvPr/>
        </p:nvSpPr>
        <p:spPr>
          <a:xfrm>
            <a:off x="1890195" y="5611434"/>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配置业务流</a:t>
            </a:r>
            <a:endParaRPr lang="zh-CN" altLang="en-US" sz="1200" kern="0" dirty="0">
              <a:solidFill>
                <a:schemeClr val="tx1"/>
              </a:solidFill>
              <a:uFillTx/>
              <a:sym typeface="+mn-ea"/>
            </a:endParaRPr>
          </a:p>
        </p:txBody>
      </p:sp>
      <p:sp>
        <p:nvSpPr>
          <p:cNvPr id="148" name="矩形 147"/>
          <p:cNvSpPr/>
          <p:nvPr/>
        </p:nvSpPr>
        <p:spPr>
          <a:xfrm>
            <a:off x="1890195" y="602711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配置业务场景</a:t>
            </a:r>
            <a:endParaRPr lang="zh-CN" altLang="en-US" sz="1200" kern="0">
              <a:solidFill>
                <a:schemeClr val="tx1"/>
              </a:solidFill>
              <a:uFillTx/>
              <a:sym typeface="+mn-ea"/>
            </a:endParaRPr>
          </a:p>
        </p:txBody>
      </p:sp>
      <p:sp>
        <p:nvSpPr>
          <p:cNvPr id="149" name="矩形 148"/>
          <p:cNvSpPr/>
          <p:nvPr/>
        </p:nvSpPr>
        <p:spPr>
          <a:xfrm>
            <a:off x="3343785" y="6027115"/>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配置业务规则</a:t>
            </a:r>
            <a:endParaRPr lang="zh-CN" altLang="en-US" sz="1200" kern="0">
              <a:solidFill>
                <a:schemeClr val="tx1"/>
              </a:solidFill>
              <a:uFillTx/>
              <a:sym typeface="+mn-ea"/>
            </a:endParaRPr>
          </a:p>
        </p:txBody>
      </p:sp>
      <p:sp>
        <p:nvSpPr>
          <p:cNvPr id="150" name="矩形 149"/>
          <p:cNvSpPr/>
          <p:nvPr/>
        </p:nvSpPr>
        <p:spPr>
          <a:xfrm>
            <a:off x="4797300" y="5611434"/>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配置业务指标</a:t>
            </a:r>
            <a:endParaRPr lang="zh-CN" altLang="en-US" sz="1200" kern="0">
              <a:solidFill>
                <a:schemeClr val="tx1"/>
              </a:solidFill>
              <a:uFillTx/>
              <a:sym typeface="+mn-ea"/>
            </a:endParaRPr>
          </a:p>
        </p:txBody>
      </p:sp>
      <p:sp>
        <p:nvSpPr>
          <p:cNvPr id="151" name="矩形 150"/>
          <p:cNvSpPr/>
          <p:nvPr/>
        </p:nvSpPr>
        <p:spPr>
          <a:xfrm>
            <a:off x="4797300" y="6027115"/>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配置业务节点</a:t>
            </a:r>
            <a:endParaRPr lang="zh-CN" altLang="en-US" sz="1200" kern="0">
              <a:solidFill>
                <a:schemeClr val="tx1"/>
              </a:solidFill>
              <a:uFillTx/>
              <a:sym typeface="+mn-ea"/>
            </a:endParaRPr>
          </a:p>
        </p:txBody>
      </p:sp>
      <p:sp>
        <p:nvSpPr>
          <p:cNvPr id="152" name="矩形 151"/>
          <p:cNvSpPr/>
          <p:nvPr/>
        </p:nvSpPr>
        <p:spPr>
          <a:xfrm>
            <a:off x="6250815" y="5611434"/>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配置角色权限</a:t>
            </a:r>
            <a:endParaRPr lang="zh-CN" altLang="en-US" sz="1200" kern="0">
              <a:solidFill>
                <a:schemeClr val="tx1"/>
              </a:solidFill>
              <a:uFillTx/>
              <a:sym typeface="+mn-ea"/>
            </a:endParaRPr>
          </a:p>
        </p:txBody>
      </p:sp>
      <p:sp>
        <p:nvSpPr>
          <p:cNvPr id="153" name="文本框 152"/>
          <p:cNvSpPr txBox="1"/>
          <p:nvPr/>
        </p:nvSpPr>
        <p:spPr>
          <a:xfrm>
            <a:off x="7113905" y="3141980"/>
            <a:ext cx="3637915" cy="349250"/>
          </a:xfrm>
          <a:prstGeom prst="rect">
            <a:avLst/>
          </a:prstGeom>
          <a:noFill/>
        </p:spPr>
        <p:txBody>
          <a:bodyPr wrap="square" rtlCol="0" anchor="t">
            <a:spAutoFit/>
          </a:bodyPr>
          <a:lstStyle/>
          <a:p>
            <a:pPr lvl="0" algn="ctr" hangingPunct="0">
              <a:lnSpc>
                <a:spcPct val="120000"/>
              </a:lnSpc>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可控</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4" name="文本框 153"/>
          <p:cNvSpPr txBox="1"/>
          <p:nvPr/>
        </p:nvSpPr>
        <p:spPr>
          <a:xfrm>
            <a:off x="2026285" y="3141980"/>
            <a:ext cx="3484245" cy="349250"/>
          </a:xfrm>
          <a:prstGeom prst="rect">
            <a:avLst/>
          </a:prstGeom>
          <a:noFill/>
        </p:spPr>
        <p:txBody>
          <a:bodyPr wrap="square" rtlCol="0" anchor="t">
            <a:spAutoFit/>
          </a:bodyPr>
          <a:lstStyle/>
          <a:p>
            <a:pPr lvl="0" algn="ctr" hangingPunct="0">
              <a:lnSpc>
                <a:spcPct val="120000"/>
              </a:lnSpc>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可视</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5" name="矩形 154"/>
          <p:cNvSpPr/>
          <p:nvPr>
            <p:custDataLst>
              <p:tags r:id="rId10"/>
            </p:custDataLst>
          </p:nvPr>
        </p:nvSpPr>
        <p:spPr>
          <a:xfrm>
            <a:off x="6250815" y="6027115"/>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数据集成</a:t>
            </a:r>
            <a:endParaRPr lang="zh-CN" altLang="en-US" sz="1200" kern="0" dirty="0">
              <a:solidFill>
                <a:schemeClr val="tx1"/>
              </a:solidFill>
              <a:uFillTx/>
              <a:sym typeface="+mn-ea"/>
            </a:endParaRPr>
          </a:p>
        </p:txBody>
      </p:sp>
      <p:sp>
        <p:nvSpPr>
          <p:cNvPr id="156" name="矩形 155"/>
          <p:cNvSpPr/>
          <p:nvPr>
            <p:custDataLst>
              <p:tags r:id="rId11"/>
            </p:custDataLst>
          </p:nvPr>
        </p:nvSpPr>
        <p:spPr>
          <a:xfrm>
            <a:off x="3343785" y="5611434"/>
            <a:ext cx="110998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配置场景任务</a:t>
            </a:r>
            <a:endParaRPr lang="zh-CN" altLang="en-US" sz="1200" kern="0">
              <a:solidFill>
                <a:schemeClr val="tx1"/>
              </a:solidFill>
              <a:uFillTx/>
              <a:sym typeface="+mn-ea"/>
            </a:endParaRPr>
          </a:p>
        </p:txBody>
      </p:sp>
      <p:sp>
        <p:nvSpPr>
          <p:cNvPr id="157" name="文本框 156"/>
          <p:cNvSpPr txBox="1"/>
          <p:nvPr>
            <p:custDataLst>
              <p:tags r:id="rId12"/>
            </p:custDataLst>
          </p:nvPr>
        </p:nvSpPr>
        <p:spPr>
          <a:xfrm>
            <a:off x="1274445" y="5324475"/>
            <a:ext cx="360045" cy="1079500"/>
          </a:xfrm>
          <a:prstGeom prst="rect">
            <a:avLst/>
          </a:prstGeom>
          <a:noFill/>
        </p:spPr>
        <p:txBody>
          <a:bodyPr wrap="square" rtlCol="0" anchor="ctr" anchorCtr="0">
            <a:noAutofit/>
          </a:bodyPr>
          <a:lstStyle/>
          <a:p>
            <a:pPr lvl="0" algn="ctr" hangingPunct="0">
              <a:spcBef>
                <a:spcPts val="0"/>
              </a:spcBef>
              <a:spcAft>
                <a:spcPts val="0"/>
              </a:spcAft>
              <a:buClrTx/>
              <a:buSzTx/>
              <a:buFont typeface="Arial" panose="020B0604020202020204" pitchFamily="34" charset="0"/>
            </a:pPr>
            <a:r>
              <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配置层</a:t>
            </a:r>
            <a:endPar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8" name="矩形 157"/>
          <p:cNvSpPr/>
          <p:nvPr>
            <p:custDataLst>
              <p:tags r:id="rId13"/>
            </p:custDataLst>
          </p:nvPr>
        </p:nvSpPr>
        <p:spPr>
          <a:xfrm>
            <a:off x="1202103" y="3650696"/>
            <a:ext cx="9823623" cy="1296000"/>
          </a:xfrm>
          <a:prstGeom prst="rect">
            <a:avLst/>
          </a:prstGeom>
          <a:noFill/>
          <a:ln>
            <a:solidFill>
              <a:schemeClr val="bg1">
                <a:lumMod val="85000"/>
              </a:schemeClr>
            </a:solidFill>
          </a:ln>
          <a:extLst>
            <a:ext uri="{909E8E84-426E-40DD-AFC4-6F175D3DCCD1}">
              <a14:hiddenFill xmlns:a14="http://schemas.microsoft.com/office/drawing/2010/main">
                <a:solidFill>
                  <a:schemeClr val="accent4">
                    <a:lumMod val="20000"/>
                    <a:lumOff val="80000"/>
                    <a:alpha val="7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hangingPunct="0">
              <a:spcBef>
                <a:spcPts val="0"/>
              </a:spcBef>
              <a:spcAft>
                <a:spcPts val="0"/>
              </a:spcAft>
            </a:pPr>
            <a:endParaRPr lang="zh-CN" altLang="en-US" sz="1200" b="1" kern="0">
              <a:solidFill>
                <a:srgbClr val="F87D2F"/>
              </a:solidFill>
              <a:uFillTx/>
              <a:latin typeface="微软雅黑" panose="020B0503020204020204" pitchFamily="34" charset="-122"/>
              <a:ea typeface="微软雅黑" panose="020B0503020204020204" pitchFamily="34" charset="-122"/>
              <a:sym typeface="+mn-ea"/>
            </a:endParaRPr>
          </a:p>
        </p:txBody>
      </p:sp>
      <p:sp>
        <p:nvSpPr>
          <p:cNvPr id="168" name="文本框 167"/>
          <p:cNvSpPr txBox="1"/>
          <p:nvPr>
            <p:custDataLst>
              <p:tags r:id="rId14"/>
            </p:custDataLst>
          </p:nvPr>
        </p:nvSpPr>
        <p:spPr>
          <a:xfrm>
            <a:off x="1274445" y="3766185"/>
            <a:ext cx="360045" cy="1079500"/>
          </a:xfrm>
          <a:prstGeom prst="rect">
            <a:avLst/>
          </a:prstGeom>
          <a:noFill/>
        </p:spPr>
        <p:txBody>
          <a:bodyPr wrap="square" rtlCol="0" anchor="ctr" anchorCtr="0">
            <a:noAutofit/>
          </a:bodyPr>
          <a:lstStyle/>
          <a:p>
            <a:pPr lvl="0" algn="ctr" hangingPunct="0">
              <a:spcBef>
                <a:spcPts val="0"/>
              </a:spcBef>
              <a:spcAft>
                <a:spcPts val="0"/>
              </a:spcAft>
              <a:buClrTx/>
              <a:buSzTx/>
              <a:buFont typeface="Arial" panose="020B0604020202020204" pitchFamily="34" charset="0"/>
            </a:pPr>
            <a:r>
              <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作业层</a:t>
            </a:r>
            <a:endPar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73" name="矩形 172"/>
          <p:cNvSpPr/>
          <p:nvPr>
            <p:custDataLst>
              <p:tags r:id="rId15"/>
            </p:custDataLst>
          </p:nvPr>
        </p:nvSpPr>
        <p:spPr>
          <a:xfrm>
            <a:off x="9672820" y="444055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计划模板</a:t>
            </a:r>
            <a:r>
              <a:rPr lang="zh-CN" altLang="en-US" sz="1050" kern="0" dirty="0">
                <a:solidFill>
                  <a:schemeClr val="tx1"/>
                </a:solidFill>
                <a:uFillTx/>
                <a:sym typeface="+mn-ea"/>
              </a:rPr>
              <a:t>管理</a:t>
            </a:r>
            <a:endParaRPr lang="zh-CN" altLang="en-US" sz="1050" kern="0" dirty="0">
              <a:solidFill>
                <a:schemeClr val="tx1"/>
              </a:solidFill>
              <a:uFillTx/>
              <a:sym typeface="+mn-ea"/>
            </a:endParaRPr>
          </a:p>
        </p:txBody>
      </p:sp>
      <p:sp>
        <p:nvSpPr>
          <p:cNvPr id="172" name="矩形 171"/>
          <p:cNvSpPr/>
          <p:nvPr>
            <p:custDataLst>
              <p:tags r:id="rId16"/>
            </p:custDataLst>
          </p:nvPr>
        </p:nvSpPr>
        <p:spPr>
          <a:xfrm>
            <a:off x="8467590" y="444055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交付件</a:t>
            </a:r>
            <a:r>
              <a:rPr lang="zh-CN" altLang="en-US" sz="1050" kern="0" dirty="0">
                <a:solidFill>
                  <a:schemeClr val="tx1"/>
                </a:solidFill>
                <a:uFillTx/>
                <a:sym typeface="+mn-ea"/>
              </a:rPr>
              <a:t>查看</a:t>
            </a:r>
            <a:endParaRPr lang="zh-CN" altLang="en-US" sz="1050" kern="0" dirty="0">
              <a:solidFill>
                <a:schemeClr val="tx1"/>
              </a:solidFill>
              <a:uFillTx/>
              <a:sym typeface="+mn-ea"/>
            </a:endParaRPr>
          </a:p>
        </p:txBody>
      </p:sp>
      <p:sp>
        <p:nvSpPr>
          <p:cNvPr id="185" name="文本框 184"/>
          <p:cNvSpPr txBox="1"/>
          <p:nvPr>
            <p:custDataLst>
              <p:tags r:id="rId17"/>
            </p:custDataLst>
          </p:nvPr>
        </p:nvSpPr>
        <p:spPr>
          <a:xfrm>
            <a:off x="1274445" y="1951990"/>
            <a:ext cx="360045" cy="1079500"/>
          </a:xfrm>
          <a:prstGeom prst="rect">
            <a:avLst/>
          </a:prstGeom>
          <a:noFill/>
        </p:spPr>
        <p:txBody>
          <a:bodyPr wrap="square" rtlCol="0" anchor="ctr" anchorCtr="0">
            <a:noAutofit/>
          </a:bodyPr>
          <a:lstStyle/>
          <a:p>
            <a:pPr lvl="0" algn="ctr" hangingPunct="0">
              <a:spcBef>
                <a:spcPts val="0"/>
              </a:spcBef>
              <a:spcAft>
                <a:spcPts val="0"/>
              </a:spcAft>
              <a:buClrTx/>
              <a:buSzTx/>
              <a:buFont typeface="Arial" panose="020B0604020202020204" pitchFamily="34" charset="0"/>
            </a:pPr>
            <a:r>
              <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运营层</a:t>
            </a:r>
            <a:endPar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86" name="矩形 185"/>
          <p:cNvSpPr/>
          <p:nvPr>
            <p:custDataLst>
              <p:tags r:id="rId18"/>
            </p:custDataLst>
          </p:nvPr>
        </p:nvSpPr>
        <p:spPr>
          <a:xfrm>
            <a:off x="9549728" y="218370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管理告警</a:t>
            </a:r>
            <a:endParaRPr lang="zh-CN" altLang="en-US" sz="1200" kern="0">
              <a:solidFill>
                <a:schemeClr val="tx1"/>
              </a:solidFill>
              <a:uFillTx/>
              <a:sym typeface="+mn-ea"/>
            </a:endParaRPr>
          </a:p>
        </p:txBody>
      </p:sp>
      <p:sp>
        <p:nvSpPr>
          <p:cNvPr id="11" name="矩形 10"/>
          <p:cNvSpPr/>
          <p:nvPr>
            <p:custDataLst>
              <p:tags r:id="rId19"/>
            </p:custDataLst>
          </p:nvPr>
        </p:nvSpPr>
        <p:spPr>
          <a:xfrm>
            <a:off x="7268210" y="402526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项目</a:t>
            </a:r>
            <a:r>
              <a:rPr lang="zh-CN" altLang="en-US" sz="1050" kern="0" dirty="0">
                <a:solidFill>
                  <a:schemeClr val="tx1"/>
                </a:solidFill>
                <a:uFillTx/>
                <a:sym typeface="+mn-ea"/>
              </a:rPr>
              <a:t>创建</a:t>
            </a:r>
            <a:endParaRPr lang="zh-CN" altLang="en-US" sz="1050" kern="0" dirty="0">
              <a:solidFill>
                <a:schemeClr val="tx1"/>
              </a:solidFill>
              <a:uFillTx/>
              <a:sym typeface="+mn-ea"/>
            </a:endParaRPr>
          </a:p>
        </p:txBody>
      </p:sp>
      <p:sp>
        <p:nvSpPr>
          <p:cNvPr id="160" name="矩形 159"/>
          <p:cNvSpPr/>
          <p:nvPr>
            <p:custDataLst>
              <p:tags r:id="rId20"/>
            </p:custDataLst>
          </p:nvPr>
        </p:nvSpPr>
        <p:spPr>
          <a:xfrm>
            <a:off x="1682750" y="3765550"/>
            <a:ext cx="5241290" cy="1080135"/>
          </a:xfrm>
          <a:prstGeom prst="rect">
            <a:avLst/>
          </a:prstGeom>
          <a:solidFill>
            <a:srgbClr val="FCF3E6"/>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产品需求管理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66" name="矩形 165"/>
          <p:cNvSpPr/>
          <p:nvPr>
            <p:custDataLst>
              <p:tags r:id="rId21"/>
            </p:custDataLst>
          </p:nvPr>
        </p:nvSpPr>
        <p:spPr>
          <a:xfrm>
            <a:off x="1863725" y="4025265"/>
            <a:ext cx="97091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需求创建</a:t>
            </a:r>
            <a:endParaRPr lang="zh-CN" altLang="en-US" sz="1050" kern="0" dirty="0">
              <a:solidFill>
                <a:schemeClr val="tx1"/>
              </a:solidFill>
              <a:uFillTx/>
              <a:sym typeface="+mn-ea"/>
            </a:endParaRPr>
          </a:p>
        </p:txBody>
      </p:sp>
      <p:sp>
        <p:nvSpPr>
          <p:cNvPr id="167" name="矩形 166"/>
          <p:cNvSpPr/>
          <p:nvPr>
            <p:custDataLst>
              <p:tags r:id="rId22"/>
            </p:custDataLst>
          </p:nvPr>
        </p:nvSpPr>
        <p:spPr>
          <a:xfrm>
            <a:off x="2961640" y="4025265"/>
            <a:ext cx="97155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a:t>
            </a:r>
            <a:r>
              <a:rPr lang="zh-CN" altLang="en-US" sz="1050" kern="0" dirty="0">
                <a:solidFill>
                  <a:schemeClr val="tx1"/>
                </a:solidFill>
                <a:uFillTx/>
                <a:sym typeface="+mn-ea"/>
              </a:rPr>
              <a:t>分派</a:t>
            </a:r>
            <a:endParaRPr lang="zh-CN" altLang="en-US" sz="1050" kern="0" dirty="0">
              <a:solidFill>
                <a:schemeClr val="tx1"/>
              </a:solidFill>
              <a:uFillTx/>
              <a:sym typeface="+mn-ea"/>
            </a:endParaRPr>
          </a:p>
        </p:txBody>
      </p:sp>
      <p:sp>
        <p:nvSpPr>
          <p:cNvPr id="164" name="矩形 163"/>
          <p:cNvSpPr/>
          <p:nvPr>
            <p:custDataLst>
              <p:tags r:id="rId23"/>
            </p:custDataLst>
          </p:nvPr>
        </p:nvSpPr>
        <p:spPr>
          <a:xfrm>
            <a:off x="4060190" y="402526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专业分析</a:t>
            </a:r>
            <a:r>
              <a:rPr lang="zh-CN" altLang="en-US" sz="1050" kern="0" dirty="0">
                <a:solidFill>
                  <a:schemeClr val="tx1"/>
                </a:solidFill>
                <a:uFillTx/>
                <a:sym typeface="+mn-ea"/>
              </a:rPr>
              <a:t>审核</a:t>
            </a:r>
            <a:endParaRPr lang="zh-CN" altLang="en-US" sz="1050" kern="0" dirty="0">
              <a:solidFill>
                <a:schemeClr val="tx1"/>
              </a:solidFill>
              <a:uFillTx/>
              <a:sym typeface="+mn-ea"/>
            </a:endParaRPr>
          </a:p>
        </p:txBody>
      </p:sp>
      <p:sp>
        <p:nvSpPr>
          <p:cNvPr id="165" name="矩形 164"/>
          <p:cNvSpPr/>
          <p:nvPr>
            <p:custDataLst>
              <p:tags r:id="rId24"/>
            </p:custDataLst>
          </p:nvPr>
        </p:nvSpPr>
        <p:spPr>
          <a:xfrm>
            <a:off x="4060190" y="444055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可行性分析</a:t>
            </a:r>
            <a:endParaRPr lang="zh-CN" altLang="en-US" sz="1050" kern="0" dirty="0">
              <a:solidFill>
                <a:schemeClr val="tx1"/>
              </a:solidFill>
              <a:uFillTx/>
              <a:sym typeface="+mn-ea"/>
            </a:endParaRPr>
          </a:p>
        </p:txBody>
      </p:sp>
      <p:sp>
        <p:nvSpPr>
          <p:cNvPr id="5" name="矩形 4"/>
          <p:cNvSpPr/>
          <p:nvPr>
            <p:custDataLst>
              <p:tags r:id="rId25"/>
            </p:custDataLst>
          </p:nvPr>
        </p:nvSpPr>
        <p:spPr>
          <a:xfrm>
            <a:off x="1863725" y="4440555"/>
            <a:ext cx="97091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pPr>
            <a:r>
              <a:rPr lang="zh-CN" altLang="en-US" sz="1050" kern="0" dirty="0">
                <a:solidFill>
                  <a:schemeClr val="tx1"/>
                </a:solidFill>
                <a:uFillTx/>
                <a:sym typeface="+mn-ea"/>
              </a:rPr>
              <a:t>需求审核</a:t>
            </a:r>
            <a:endParaRPr lang="zh-CN" altLang="en-US" sz="1050" kern="0" dirty="0">
              <a:solidFill>
                <a:schemeClr val="tx1"/>
              </a:solidFill>
              <a:uFillTx/>
              <a:sym typeface="+mn-ea"/>
            </a:endParaRPr>
          </a:p>
        </p:txBody>
      </p:sp>
      <p:sp>
        <p:nvSpPr>
          <p:cNvPr id="7" name="矩形 6"/>
          <p:cNvSpPr/>
          <p:nvPr>
            <p:custDataLst>
              <p:tags r:id="rId26"/>
            </p:custDataLst>
          </p:nvPr>
        </p:nvSpPr>
        <p:spPr>
          <a:xfrm>
            <a:off x="2961640" y="4439285"/>
            <a:ext cx="97155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pPr>
            <a:r>
              <a:rPr lang="zh-CN" altLang="en-US" sz="1050" kern="0" dirty="0">
                <a:solidFill>
                  <a:schemeClr val="tx1"/>
                </a:solidFill>
                <a:uFillTx/>
                <a:sym typeface="+mn-ea"/>
              </a:rPr>
              <a:t>专业分析</a:t>
            </a:r>
            <a:endParaRPr lang="zh-CN" altLang="en-US" sz="1050" kern="0" dirty="0">
              <a:solidFill>
                <a:schemeClr val="tx1"/>
              </a:solidFill>
              <a:uFillTx/>
              <a:sym typeface="+mn-ea"/>
            </a:endParaRPr>
          </a:p>
        </p:txBody>
      </p:sp>
      <p:sp>
        <p:nvSpPr>
          <p:cNvPr id="12" name="矩形 11"/>
          <p:cNvSpPr/>
          <p:nvPr>
            <p:custDataLst>
              <p:tags r:id="rId27"/>
            </p:custDataLst>
          </p:nvPr>
        </p:nvSpPr>
        <p:spPr>
          <a:xfrm>
            <a:off x="5483225" y="402526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可行性分析</a:t>
            </a:r>
            <a:r>
              <a:rPr lang="zh-CN" altLang="en-US" sz="1050" kern="0" dirty="0">
                <a:solidFill>
                  <a:schemeClr val="tx1"/>
                </a:solidFill>
                <a:uFillTx/>
                <a:sym typeface="+mn-ea"/>
              </a:rPr>
              <a:t>审核</a:t>
            </a:r>
            <a:endParaRPr lang="zh-CN" altLang="en-US" sz="1050" kern="0" dirty="0">
              <a:solidFill>
                <a:schemeClr val="tx1"/>
              </a:solidFill>
              <a:uFillTx/>
              <a:sym typeface="+mn-ea"/>
            </a:endParaRPr>
          </a:p>
        </p:txBody>
      </p:sp>
      <p:sp>
        <p:nvSpPr>
          <p:cNvPr id="13" name="矩形 12"/>
          <p:cNvSpPr/>
          <p:nvPr>
            <p:custDataLst>
              <p:tags r:id="rId28"/>
            </p:custDataLst>
          </p:nvPr>
        </p:nvSpPr>
        <p:spPr>
          <a:xfrm>
            <a:off x="5483225" y="444055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开发任务</a:t>
            </a:r>
            <a:r>
              <a:rPr lang="zh-CN" altLang="en-US" sz="1050" kern="0" dirty="0">
                <a:solidFill>
                  <a:schemeClr val="tx1"/>
                </a:solidFill>
                <a:uFillTx/>
                <a:sym typeface="+mn-ea"/>
              </a:rPr>
              <a:t>发起</a:t>
            </a:r>
            <a:endParaRPr lang="zh-CN" altLang="en-US" sz="1050" kern="0" dirty="0">
              <a:solidFill>
                <a:schemeClr val="tx1"/>
              </a:solidFill>
              <a:uFillTx/>
              <a:sym typeface="+mn-ea"/>
            </a:endParaRPr>
          </a:p>
        </p:txBody>
      </p:sp>
      <p:sp>
        <p:nvSpPr>
          <p:cNvPr id="16" name="矩形 15"/>
          <p:cNvSpPr/>
          <p:nvPr>
            <p:custDataLst>
              <p:tags r:id="rId29"/>
            </p:custDataLst>
          </p:nvPr>
        </p:nvSpPr>
        <p:spPr>
          <a:xfrm>
            <a:off x="9551233" y="6017199"/>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hangingPunct="0">
              <a:spcBef>
                <a:spcPts val="0"/>
              </a:spcBef>
              <a:spcAft>
                <a:spcPts val="0"/>
              </a:spcAft>
              <a:buClrTx/>
              <a:buSzTx/>
              <a:buFontTx/>
            </a:pPr>
            <a:r>
              <a:rPr lang="zh-CN" altLang="en-US" sz="1200" kern="0">
                <a:solidFill>
                  <a:schemeClr val="tx1"/>
                </a:solidFill>
                <a:uFillTx/>
                <a:sym typeface="+mn-ea"/>
              </a:rPr>
              <a:t>跟踪任务令</a:t>
            </a:r>
            <a:endParaRPr lang="zh-CN" altLang="en-US" sz="1200" kern="0">
              <a:solidFill>
                <a:schemeClr val="tx1"/>
              </a:solidFill>
              <a:uFillTx/>
              <a:sym typeface="+mn-ea"/>
            </a:endParaRPr>
          </a:p>
        </p:txBody>
      </p:sp>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矩形 176"/>
          <p:cNvSpPr/>
          <p:nvPr>
            <p:custDataLst>
              <p:tags r:id="rId1"/>
            </p:custDataLst>
          </p:nvPr>
        </p:nvSpPr>
        <p:spPr>
          <a:xfrm>
            <a:off x="6953885" y="3342005"/>
            <a:ext cx="3751580" cy="1080135"/>
          </a:xfrm>
          <a:prstGeom prst="rect">
            <a:avLst/>
          </a:prstGeom>
          <a:solidFill>
            <a:srgbClr val="FCF3E6"/>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项目计划管理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83" name="矩形 182"/>
          <p:cNvSpPr/>
          <p:nvPr>
            <p:custDataLst>
              <p:tags r:id="rId2"/>
            </p:custDataLst>
          </p:nvPr>
        </p:nvSpPr>
        <p:spPr>
          <a:xfrm>
            <a:off x="7101840" y="401637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计划任务</a:t>
            </a:r>
            <a:r>
              <a:rPr lang="zh-CN" altLang="en-US" sz="1050" kern="0" dirty="0">
                <a:solidFill>
                  <a:schemeClr val="tx1"/>
                </a:solidFill>
                <a:uFillTx/>
                <a:sym typeface="+mn-ea"/>
              </a:rPr>
              <a:t>编辑</a:t>
            </a:r>
            <a:endParaRPr lang="zh-CN" altLang="en-US" sz="1050" kern="0" dirty="0">
              <a:solidFill>
                <a:schemeClr val="tx1"/>
              </a:solidFill>
              <a:uFillTx/>
              <a:sym typeface="+mn-ea"/>
            </a:endParaRPr>
          </a:p>
        </p:txBody>
      </p:sp>
      <p:sp>
        <p:nvSpPr>
          <p:cNvPr id="181" name="矩形 180"/>
          <p:cNvSpPr/>
          <p:nvPr>
            <p:custDataLst>
              <p:tags r:id="rId3"/>
            </p:custDataLst>
          </p:nvPr>
        </p:nvSpPr>
        <p:spPr>
          <a:xfrm>
            <a:off x="8310745" y="360108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交付件上载</a:t>
            </a:r>
            <a:endParaRPr lang="zh-CN" altLang="en-US" sz="1050" kern="0" dirty="0">
              <a:solidFill>
                <a:schemeClr val="tx1"/>
              </a:solidFill>
              <a:uFillTx/>
              <a:sym typeface="+mn-ea"/>
            </a:endParaRPr>
          </a:p>
        </p:txBody>
      </p:sp>
      <p:sp>
        <p:nvSpPr>
          <p:cNvPr id="182" name="矩形 181"/>
          <p:cNvSpPr/>
          <p:nvPr>
            <p:custDataLst>
              <p:tags r:id="rId4"/>
            </p:custDataLst>
          </p:nvPr>
        </p:nvSpPr>
        <p:spPr>
          <a:xfrm>
            <a:off x="9512800" y="360108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任务状态更新</a:t>
            </a:r>
            <a:endParaRPr lang="zh-CN" altLang="en-US" sz="1050" kern="0" dirty="0">
              <a:solidFill>
                <a:schemeClr val="tx1"/>
              </a:solidFill>
              <a:uFillTx/>
              <a:sym typeface="+mn-ea"/>
            </a:endParaRPr>
          </a:p>
        </p:txBody>
      </p:sp>
      <p:sp>
        <p:nvSpPr>
          <p:cNvPr id="132" name="矩形 131"/>
          <p:cNvSpPr/>
          <p:nvPr>
            <p:custDataLst>
              <p:tags r:id="rId5"/>
            </p:custDataLst>
          </p:nvPr>
        </p:nvSpPr>
        <p:spPr>
          <a:xfrm>
            <a:off x="615315" y="1255395"/>
            <a:ext cx="10250170" cy="1811020"/>
          </a:xfrm>
          <a:prstGeom prst="rect">
            <a:avLst/>
          </a:prstGeom>
          <a:noFill/>
          <a:ln>
            <a:solidFill>
              <a:schemeClr val="bg1">
                <a:lumMod val="85000"/>
              </a:schemeClr>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hangingPunct="0">
              <a:spcBef>
                <a:spcPts val="0"/>
              </a:spcBef>
              <a:spcAft>
                <a:spcPts val="0"/>
              </a:spcAft>
            </a:pPr>
            <a:endParaRPr lang="zh-CN" altLang="en-US" sz="1200" b="1" kern="0">
              <a:solidFill>
                <a:srgbClr val="F87D2F"/>
              </a:solidFill>
              <a:uFillTx/>
              <a:latin typeface="微软雅黑" panose="020B0503020204020204" pitchFamily="34" charset="-122"/>
              <a:ea typeface="微软雅黑" panose="020B0503020204020204" pitchFamily="34" charset="-122"/>
              <a:sym typeface="+mn-ea"/>
            </a:endParaRPr>
          </a:p>
        </p:txBody>
      </p:sp>
      <p:sp>
        <p:nvSpPr>
          <p:cNvPr id="133" name="矩形 132"/>
          <p:cNvSpPr/>
          <p:nvPr/>
        </p:nvSpPr>
        <p:spPr>
          <a:xfrm>
            <a:off x="1525270" y="1419860"/>
            <a:ext cx="4716000" cy="1295400"/>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产品研发过程</a:t>
            </a:r>
            <a:r>
              <a:rPr lang="en-US" altLang="zh-CN" sz="1200" b="1" kern="0" dirty="0">
                <a:solidFill>
                  <a:srgbClr val="F87D2F"/>
                </a:solidFill>
                <a:uFillTx/>
                <a:latin typeface="微软雅黑" panose="020B0503020204020204" pitchFamily="34" charset="-122"/>
                <a:ea typeface="微软雅黑" panose="020B0503020204020204" pitchFamily="34" charset="-122"/>
                <a:sym typeface="+mn-ea"/>
              </a:rPr>
              <a:t>360</a:t>
            </a:r>
            <a:endParaRPr lang="en-US" altLang="zh-CN"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34" name="矩形 133"/>
          <p:cNvSpPr/>
          <p:nvPr/>
        </p:nvSpPr>
        <p:spPr>
          <a:xfrm>
            <a:off x="1717572" y="1758673"/>
            <a:ext cx="2016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研发阶段状态监控</a:t>
            </a:r>
            <a:r>
              <a:rPr lang="en-US" altLang="zh-CN" sz="1200" kern="0" dirty="0">
                <a:solidFill>
                  <a:schemeClr val="tx1"/>
                </a:solidFill>
                <a:uFillTx/>
                <a:sym typeface="+mn-ea"/>
              </a:rPr>
              <a:t>-</a:t>
            </a:r>
            <a:r>
              <a:rPr lang="zh-CN" altLang="en-US" sz="1200" kern="0" dirty="0">
                <a:solidFill>
                  <a:schemeClr val="tx1"/>
                </a:solidFill>
                <a:uFillTx/>
                <a:sym typeface="+mn-ea"/>
              </a:rPr>
              <a:t>汇总</a:t>
            </a:r>
            <a:endParaRPr lang="zh-CN" altLang="en-US" sz="1200" kern="0" dirty="0">
              <a:solidFill>
                <a:schemeClr val="tx1"/>
              </a:solidFill>
              <a:uFillTx/>
              <a:sym typeface="+mn-ea"/>
            </a:endParaRPr>
          </a:p>
        </p:txBody>
      </p:sp>
      <p:sp>
        <p:nvSpPr>
          <p:cNvPr id="135" name="矩形 134"/>
          <p:cNvSpPr/>
          <p:nvPr/>
        </p:nvSpPr>
        <p:spPr>
          <a:xfrm>
            <a:off x="4022397" y="1759308"/>
            <a:ext cx="2016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研发过程状态监控</a:t>
            </a:r>
            <a:r>
              <a:rPr lang="en-US" altLang="zh-CN" sz="1200" kern="0" dirty="0">
                <a:solidFill>
                  <a:schemeClr val="tx1"/>
                </a:solidFill>
                <a:uFillTx/>
                <a:sym typeface="+mn-ea"/>
              </a:rPr>
              <a:t>-</a:t>
            </a:r>
            <a:r>
              <a:rPr lang="zh-CN" altLang="en-US" sz="1200" kern="0" dirty="0">
                <a:solidFill>
                  <a:schemeClr val="tx1"/>
                </a:solidFill>
                <a:uFillTx/>
                <a:sym typeface="+mn-ea"/>
              </a:rPr>
              <a:t>单项</a:t>
            </a:r>
            <a:endParaRPr lang="zh-CN" altLang="en-US" sz="1200" kern="0" dirty="0">
              <a:solidFill>
                <a:schemeClr val="tx1"/>
              </a:solidFill>
              <a:uFillTx/>
              <a:sym typeface="+mn-ea"/>
            </a:endParaRPr>
          </a:p>
        </p:txBody>
      </p:sp>
      <p:sp>
        <p:nvSpPr>
          <p:cNvPr id="136" name="矩形 135"/>
          <p:cNvSpPr/>
          <p:nvPr/>
        </p:nvSpPr>
        <p:spPr>
          <a:xfrm>
            <a:off x="1717675" y="2188210"/>
            <a:ext cx="4320000"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研发过程多维分析</a:t>
            </a:r>
            <a:r>
              <a:rPr lang="en-US" altLang="zh-CN" sz="1200" kern="0" dirty="0">
                <a:solidFill>
                  <a:schemeClr val="tx1"/>
                </a:solidFill>
                <a:uFillTx/>
                <a:sym typeface="+mn-ea"/>
              </a:rPr>
              <a:t> </a:t>
            </a:r>
            <a:r>
              <a:rPr lang="zh-CN" altLang="en-US" sz="1200" kern="0" dirty="0">
                <a:solidFill>
                  <a:schemeClr val="tx1"/>
                </a:solidFill>
                <a:uFillTx/>
                <a:sym typeface="+mn-ea"/>
              </a:rPr>
              <a:t>（组织、客户、产品）</a:t>
            </a:r>
            <a:endParaRPr lang="zh-CN" altLang="en-US" sz="1200" kern="0" dirty="0">
              <a:solidFill>
                <a:schemeClr val="tx1"/>
              </a:solidFill>
              <a:uFillTx/>
              <a:sym typeface="+mn-ea"/>
            </a:endParaRPr>
          </a:p>
        </p:txBody>
      </p:sp>
      <p:sp>
        <p:nvSpPr>
          <p:cNvPr id="137" name="矩形 136"/>
          <p:cNvSpPr/>
          <p:nvPr/>
        </p:nvSpPr>
        <p:spPr>
          <a:xfrm>
            <a:off x="6507480" y="1419860"/>
            <a:ext cx="4199255" cy="1295400"/>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异常管理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38" name="矩形 137"/>
          <p:cNvSpPr/>
          <p:nvPr/>
        </p:nvSpPr>
        <p:spPr>
          <a:xfrm>
            <a:off x="8070178" y="175952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管理齐套</a:t>
            </a:r>
            <a:endParaRPr lang="zh-CN" altLang="en-US" sz="1200" kern="0" dirty="0">
              <a:solidFill>
                <a:schemeClr val="tx1"/>
              </a:solidFill>
              <a:uFillTx/>
              <a:sym typeface="+mn-ea"/>
            </a:endParaRPr>
          </a:p>
        </p:txBody>
      </p:sp>
      <p:sp>
        <p:nvSpPr>
          <p:cNvPr id="139" name="矩形 138"/>
          <p:cNvSpPr/>
          <p:nvPr/>
        </p:nvSpPr>
        <p:spPr>
          <a:xfrm>
            <a:off x="8070178" y="2188150"/>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管理预警</a:t>
            </a:r>
            <a:endParaRPr lang="zh-CN" altLang="en-US" sz="1200" kern="0">
              <a:solidFill>
                <a:schemeClr val="tx1"/>
              </a:solidFill>
              <a:uFillTx/>
              <a:sym typeface="+mn-ea"/>
            </a:endParaRPr>
          </a:p>
        </p:txBody>
      </p:sp>
      <p:sp>
        <p:nvSpPr>
          <p:cNvPr id="144" name="矩形 143"/>
          <p:cNvSpPr/>
          <p:nvPr/>
        </p:nvSpPr>
        <p:spPr>
          <a:xfrm>
            <a:off x="6698492" y="1748730"/>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dirty="0">
                <a:solidFill>
                  <a:schemeClr val="tx1"/>
                </a:solidFill>
                <a:uFillTx/>
                <a:sym typeface="+mn-ea"/>
              </a:rPr>
              <a:t>基线值管理</a:t>
            </a:r>
            <a:endParaRPr lang="zh-CN" altLang="en-US" sz="1200" kern="0" dirty="0">
              <a:solidFill>
                <a:schemeClr val="tx1"/>
              </a:solidFill>
              <a:uFillTx/>
              <a:sym typeface="+mn-ea"/>
            </a:endParaRPr>
          </a:p>
        </p:txBody>
      </p:sp>
      <p:sp>
        <p:nvSpPr>
          <p:cNvPr id="145" name="矩形 144"/>
          <p:cNvSpPr/>
          <p:nvPr/>
        </p:nvSpPr>
        <p:spPr>
          <a:xfrm>
            <a:off x="6698821" y="217735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目标值管理</a:t>
            </a:r>
            <a:endParaRPr lang="zh-CN" altLang="en-US" sz="1200" kern="0">
              <a:solidFill>
                <a:schemeClr val="tx1"/>
              </a:solidFill>
              <a:uFillTx/>
              <a:sym typeface="+mn-ea"/>
            </a:endParaRPr>
          </a:p>
        </p:txBody>
      </p:sp>
      <p:sp>
        <p:nvSpPr>
          <p:cNvPr id="153" name="文本框 152"/>
          <p:cNvSpPr txBox="1"/>
          <p:nvPr/>
        </p:nvSpPr>
        <p:spPr>
          <a:xfrm>
            <a:off x="6953885" y="2717800"/>
            <a:ext cx="3637915" cy="349250"/>
          </a:xfrm>
          <a:prstGeom prst="rect">
            <a:avLst/>
          </a:prstGeom>
          <a:noFill/>
        </p:spPr>
        <p:txBody>
          <a:bodyPr wrap="square" rtlCol="0" anchor="t">
            <a:spAutoFit/>
          </a:bodyPr>
          <a:lstStyle/>
          <a:p>
            <a:pPr lvl="0" algn="ctr" hangingPunct="0">
              <a:lnSpc>
                <a:spcPct val="120000"/>
              </a:lnSpc>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可控</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4" name="文本框 153"/>
          <p:cNvSpPr txBox="1"/>
          <p:nvPr/>
        </p:nvSpPr>
        <p:spPr>
          <a:xfrm>
            <a:off x="1866265" y="2717800"/>
            <a:ext cx="3484245" cy="349250"/>
          </a:xfrm>
          <a:prstGeom prst="rect">
            <a:avLst/>
          </a:prstGeom>
          <a:noFill/>
        </p:spPr>
        <p:txBody>
          <a:bodyPr wrap="square" rtlCol="0" anchor="t">
            <a:spAutoFit/>
          </a:bodyPr>
          <a:lstStyle/>
          <a:p>
            <a:pPr lvl="0" algn="ctr" hangingPunct="0">
              <a:lnSpc>
                <a:spcPct val="120000"/>
              </a:lnSpc>
              <a:spcBef>
                <a:spcPts val="0"/>
              </a:spcBef>
              <a:spcAft>
                <a:spcPts val="0"/>
              </a:spcAft>
              <a:buClrTx/>
              <a:buSzTx/>
              <a:buFont typeface="Arial" panose="020B0604020202020204" pitchFamily="34" charset="0"/>
            </a:pPr>
            <a:r>
              <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rPr>
              <a:t>可视</a:t>
            </a:r>
            <a:endParaRPr lang="zh-CN" altLang="en-US" sz="1400" b="1" kern="0" dirty="0">
              <a:solidFill>
                <a:srgbClr val="F87D2F"/>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8" name="矩形 157"/>
          <p:cNvSpPr/>
          <p:nvPr>
            <p:custDataLst>
              <p:tags r:id="rId6"/>
            </p:custDataLst>
          </p:nvPr>
        </p:nvSpPr>
        <p:spPr>
          <a:xfrm>
            <a:off x="615315" y="3226435"/>
            <a:ext cx="10250170" cy="1296035"/>
          </a:xfrm>
          <a:prstGeom prst="rect">
            <a:avLst/>
          </a:prstGeom>
          <a:noFill/>
          <a:ln>
            <a:solidFill>
              <a:schemeClr val="bg1">
                <a:lumMod val="85000"/>
              </a:schemeClr>
            </a:solidFill>
          </a:ln>
          <a:extLst>
            <a:ext uri="{909E8E84-426E-40DD-AFC4-6F175D3DCCD1}">
              <a14:hiddenFill xmlns:a14="http://schemas.microsoft.com/office/drawing/2010/main">
                <a:solidFill>
                  <a:schemeClr val="accent4">
                    <a:lumMod val="20000"/>
                    <a:lumOff val="80000"/>
                    <a:alpha val="7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hangingPunct="0">
              <a:spcBef>
                <a:spcPts val="0"/>
              </a:spcBef>
              <a:spcAft>
                <a:spcPts val="0"/>
              </a:spcAft>
            </a:pPr>
            <a:endParaRPr lang="zh-CN" altLang="en-US" sz="1200" b="1" kern="0">
              <a:solidFill>
                <a:srgbClr val="F87D2F"/>
              </a:solidFill>
              <a:uFillTx/>
              <a:latin typeface="微软雅黑" panose="020B0503020204020204" pitchFamily="34" charset="-122"/>
              <a:ea typeface="微软雅黑" panose="020B0503020204020204" pitchFamily="34" charset="-122"/>
              <a:sym typeface="+mn-ea"/>
            </a:endParaRPr>
          </a:p>
        </p:txBody>
      </p:sp>
      <p:sp>
        <p:nvSpPr>
          <p:cNvPr id="173" name="矩形 172"/>
          <p:cNvSpPr/>
          <p:nvPr>
            <p:custDataLst>
              <p:tags r:id="rId7"/>
            </p:custDataLst>
          </p:nvPr>
        </p:nvSpPr>
        <p:spPr>
          <a:xfrm>
            <a:off x="9512800" y="401637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计划模板</a:t>
            </a:r>
            <a:r>
              <a:rPr lang="zh-CN" altLang="en-US" sz="1050" kern="0" dirty="0">
                <a:solidFill>
                  <a:schemeClr val="tx1"/>
                </a:solidFill>
                <a:uFillTx/>
                <a:sym typeface="+mn-ea"/>
              </a:rPr>
              <a:t>管理</a:t>
            </a:r>
            <a:endParaRPr lang="zh-CN" altLang="en-US" sz="1050" kern="0" dirty="0">
              <a:solidFill>
                <a:schemeClr val="tx1"/>
              </a:solidFill>
              <a:uFillTx/>
              <a:sym typeface="+mn-ea"/>
            </a:endParaRPr>
          </a:p>
        </p:txBody>
      </p:sp>
      <p:sp>
        <p:nvSpPr>
          <p:cNvPr id="172" name="矩形 171"/>
          <p:cNvSpPr/>
          <p:nvPr>
            <p:custDataLst>
              <p:tags r:id="rId8"/>
            </p:custDataLst>
          </p:nvPr>
        </p:nvSpPr>
        <p:spPr>
          <a:xfrm>
            <a:off x="8307570" y="401637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交付件</a:t>
            </a:r>
            <a:r>
              <a:rPr lang="zh-CN" altLang="en-US" sz="1050" kern="0" dirty="0">
                <a:solidFill>
                  <a:schemeClr val="tx1"/>
                </a:solidFill>
                <a:uFillTx/>
                <a:sym typeface="+mn-ea"/>
              </a:rPr>
              <a:t>查看</a:t>
            </a:r>
            <a:endParaRPr lang="zh-CN" altLang="en-US" sz="1050" kern="0" dirty="0">
              <a:solidFill>
                <a:schemeClr val="tx1"/>
              </a:solidFill>
              <a:uFillTx/>
              <a:sym typeface="+mn-ea"/>
            </a:endParaRPr>
          </a:p>
        </p:txBody>
      </p:sp>
      <p:sp>
        <p:nvSpPr>
          <p:cNvPr id="186" name="矩形 185"/>
          <p:cNvSpPr/>
          <p:nvPr>
            <p:custDataLst>
              <p:tags r:id="rId9"/>
            </p:custDataLst>
          </p:nvPr>
        </p:nvSpPr>
        <p:spPr>
          <a:xfrm>
            <a:off x="9389708" y="1759525"/>
            <a:ext cx="1110055" cy="28800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hangingPunct="0">
              <a:spcBef>
                <a:spcPts val="0"/>
              </a:spcBef>
              <a:spcAft>
                <a:spcPts val="0"/>
              </a:spcAft>
              <a:buClrTx/>
              <a:buSzTx/>
              <a:buFontTx/>
            </a:pPr>
            <a:r>
              <a:rPr lang="zh-CN" altLang="en-US" sz="1200" kern="0">
                <a:solidFill>
                  <a:schemeClr val="tx1"/>
                </a:solidFill>
                <a:uFillTx/>
                <a:sym typeface="+mn-ea"/>
              </a:rPr>
              <a:t>管理告警</a:t>
            </a:r>
            <a:endParaRPr lang="zh-CN" altLang="en-US" sz="1200" kern="0">
              <a:solidFill>
                <a:schemeClr val="tx1"/>
              </a:solidFill>
              <a:uFillTx/>
              <a:sym typeface="+mn-ea"/>
            </a:endParaRPr>
          </a:p>
        </p:txBody>
      </p:sp>
      <p:sp>
        <p:nvSpPr>
          <p:cNvPr id="11" name="矩形 10"/>
          <p:cNvSpPr/>
          <p:nvPr>
            <p:custDataLst>
              <p:tags r:id="rId10"/>
            </p:custDataLst>
          </p:nvPr>
        </p:nvSpPr>
        <p:spPr>
          <a:xfrm>
            <a:off x="7108190" y="3601085"/>
            <a:ext cx="108000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项目</a:t>
            </a:r>
            <a:r>
              <a:rPr lang="zh-CN" altLang="en-US" sz="1050" kern="0" dirty="0">
                <a:solidFill>
                  <a:schemeClr val="tx1"/>
                </a:solidFill>
                <a:uFillTx/>
                <a:sym typeface="+mn-ea"/>
              </a:rPr>
              <a:t>创建</a:t>
            </a:r>
            <a:endParaRPr lang="zh-CN" altLang="en-US" sz="1050" kern="0" dirty="0">
              <a:solidFill>
                <a:schemeClr val="tx1"/>
              </a:solidFill>
              <a:uFillTx/>
              <a:sym typeface="+mn-ea"/>
            </a:endParaRPr>
          </a:p>
        </p:txBody>
      </p:sp>
      <p:sp>
        <p:nvSpPr>
          <p:cNvPr id="160" name="矩形 159"/>
          <p:cNvSpPr/>
          <p:nvPr>
            <p:custDataLst>
              <p:tags r:id="rId11"/>
            </p:custDataLst>
          </p:nvPr>
        </p:nvSpPr>
        <p:spPr>
          <a:xfrm>
            <a:off x="1522730" y="3341370"/>
            <a:ext cx="5241290" cy="1080135"/>
          </a:xfrm>
          <a:prstGeom prst="rect">
            <a:avLst/>
          </a:prstGeom>
          <a:solidFill>
            <a:srgbClr val="FCF3E6"/>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t" anchorCtr="0"/>
          <a:lstStyle/>
          <a:p>
            <a:pPr algn="ctr" hangingPunct="0">
              <a:spcBef>
                <a:spcPts val="0"/>
              </a:spcBef>
              <a:spcAft>
                <a:spcPts val="0"/>
              </a:spcAft>
            </a:pPr>
            <a:r>
              <a:rPr lang="zh-CN" altLang="en-US" sz="1200" b="1" kern="0" dirty="0">
                <a:solidFill>
                  <a:srgbClr val="F87D2F"/>
                </a:solidFill>
                <a:uFillTx/>
                <a:latin typeface="微软雅黑" panose="020B0503020204020204" pitchFamily="34" charset="-122"/>
                <a:ea typeface="微软雅黑" panose="020B0503020204020204" pitchFamily="34" charset="-122"/>
                <a:sym typeface="+mn-ea"/>
              </a:rPr>
              <a:t>产品需求管理</a:t>
            </a:r>
            <a:endParaRPr lang="zh-CN" altLang="en-US" sz="1200" b="1" kern="0" dirty="0">
              <a:solidFill>
                <a:srgbClr val="F87D2F"/>
              </a:solidFill>
              <a:uFillTx/>
              <a:latin typeface="微软雅黑" panose="020B0503020204020204" pitchFamily="34" charset="-122"/>
              <a:ea typeface="微软雅黑" panose="020B0503020204020204" pitchFamily="34" charset="-122"/>
              <a:sym typeface="+mn-ea"/>
            </a:endParaRPr>
          </a:p>
        </p:txBody>
      </p:sp>
      <p:sp>
        <p:nvSpPr>
          <p:cNvPr id="166" name="矩形 165"/>
          <p:cNvSpPr/>
          <p:nvPr>
            <p:custDataLst>
              <p:tags r:id="rId12"/>
            </p:custDataLst>
          </p:nvPr>
        </p:nvSpPr>
        <p:spPr>
          <a:xfrm>
            <a:off x="1703705" y="3601085"/>
            <a:ext cx="97091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需求创建</a:t>
            </a:r>
            <a:endParaRPr lang="zh-CN" altLang="en-US" sz="1050" kern="0" dirty="0">
              <a:solidFill>
                <a:schemeClr val="tx1"/>
              </a:solidFill>
              <a:uFillTx/>
              <a:sym typeface="+mn-ea"/>
            </a:endParaRPr>
          </a:p>
        </p:txBody>
      </p:sp>
      <p:sp>
        <p:nvSpPr>
          <p:cNvPr id="167" name="矩形 166"/>
          <p:cNvSpPr/>
          <p:nvPr>
            <p:custDataLst>
              <p:tags r:id="rId13"/>
            </p:custDataLst>
          </p:nvPr>
        </p:nvSpPr>
        <p:spPr>
          <a:xfrm>
            <a:off x="2801620" y="3601085"/>
            <a:ext cx="97155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pPr>
            <a:r>
              <a:rPr lang="zh-CN" altLang="en-US" sz="1050" kern="0" dirty="0">
                <a:solidFill>
                  <a:schemeClr val="tx1"/>
                </a:solidFill>
                <a:uFillTx/>
                <a:sym typeface="+mn-ea"/>
              </a:rPr>
              <a:t>需求</a:t>
            </a:r>
            <a:r>
              <a:rPr lang="zh-CN" altLang="en-US" sz="1050" kern="0" dirty="0">
                <a:solidFill>
                  <a:schemeClr val="tx1"/>
                </a:solidFill>
                <a:uFillTx/>
                <a:sym typeface="+mn-ea"/>
              </a:rPr>
              <a:t>分派</a:t>
            </a:r>
            <a:endParaRPr lang="zh-CN" altLang="en-US" sz="1050" kern="0" dirty="0">
              <a:solidFill>
                <a:schemeClr val="tx1"/>
              </a:solidFill>
              <a:uFillTx/>
              <a:sym typeface="+mn-ea"/>
            </a:endParaRPr>
          </a:p>
        </p:txBody>
      </p:sp>
      <p:sp>
        <p:nvSpPr>
          <p:cNvPr id="164" name="矩形 163"/>
          <p:cNvSpPr/>
          <p:nvPr>
            <p:custDataLst>
              <p:tags r:id="rId14"/>
            </p:custDataLst>
          </p:nvPr>
        </p:nvSpPr>
        <p:spPr>
          <a:xfrm>
            <a:off x="3900170" y="360108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专业分析</a:t>
            </a:r>
            <a:r>
              <a:rPr lang="zh-CN" altLang="en-US" sz="1050" kern="0" dirty="0">
                <a:solidFill>
                  <a:schemeClr val="tx1"/>
                </a:solidFill>
                <a:uFillTx/>
                <a:sym typeface="+mn-ea"/>
              </a:rPr>
              <a:t>审核</a:t>
            </a:r>
            <a:endParaRPr lang="zh-CN" altLang="en-US" sz="1050" kern="0" dirty="0">
              <a:solidFill>
                <a:schemeClr val="tx1"/>
              </a:solidFill>
              <a:uFillTx/>
              <a:sym typeface="+mn-ea"/>
            </a:endParaRPr>
          </a:p>
        </p:txBody>
      </p:sp>
      <p:sp>
        <p:nvSpPr>
          <p:cNvPr id="165" name="矩形 164"/>
          <p:cNvSpPr/>
          <p:nvPr>
            <p:custDataLst>
              <p:tags r:id="rId15"/>
            </p:custDataLst>
          </p:nvPr>
        </p:nvSpPr>
        <p:spPr>
          <a:xfrm>
            <a:off x="3900170" y="401637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lstStyle/>
          <a:p>
            <a:pPr lvl="0" algn="ctr" hangingPunct="0">
              <a:spcBef>
                <a:spcPts val="0"/>
              </a:spcBef>
              <a:spcAft>
                <a:spcPts val="0"/>
              </a:spcAft>
              <a:buClrTx/>
              <a:buSzTx/>
              <a:buFontTx/>
            </a:pPr>
            <a:r>
              <a:rPr lang="zh-CN" altLang="en-US" sz="1050" kern="0" dirty="0">
                <a:solidFill>
                  <a:schemeClr val="tx1"/>
                </a:solidFill>
                <a:uFillTx/>
                <a:sym typeface="+mn-ea"/>
              </a:rPr>
              <a:t>可行性分析</a:t>
            </a:r>
            <a:endParaRPr lang="zh-CN" altLang="en-US" sz="1050" kern="0" dirty="0">
              <a:solidFill>
                <a:schemeClr val="tx1"/>
              </a:solidFill>
              <a:uFillTx/>
              <a:sym typeface="+mn-ea"/>
            </a:endParaRPr>
          </a:p>
        </p:txBody>
      </p:sp>
      <p:sp>
        <p:nvSpPr>
          <p:cNvPr id="5" name="矩形 4"/>
          <p:cNvSpPr/>
          <p:nvPr>
            <p:custDataLst>
              <p:tags r:id="rId16"/>
            </p:custDataLst>
          </p:nvPr>
        </p:nvSpPr>
        <p:spPr>
          <a:xfrm>
            <a:off x="1703705" y="4016375"/>
            <a:ext cx="97091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pPr>
            <a:r>
              <a:rPr lang="zh-CN" altLang="en-US" sz="1050" kern="0" dirty="0">
                <a:solidFill>
                  <a:schemeClr val="tx1"/>
                </a:solidFill>
                <a:uFillTx/>
                <a:sym typeface="+mn-ea"/>
              </a:rPr>
              <a:t>需求审核</a:t>
            </a:r>
            <a:endParaRPr lang="zh-CN" altLang="en-US" sz="1050" kern="0" dirty="0">
              <a:solidFill>
                <a:schemeClr val="tx1"/>
              </a:solidFill>
              <a:uFillTx/>
              <a:sym typeface="+mn-ea"/>
            </a:endParaRPr>
          </a:p>
        </p:txBody>
      </p:sp>
      <p:sp>
        <p:nvSpPr>
          <p:cNvPr id="7" name="矩形 6"/>
          <p:cNvSpPr/>
          <p:nvPr>
            <p:custDataLst>
              <p:tags r:id="rId17"/>
            </p:custDataLst>
          </p:nvPr>
        </p:nvSpPr>
        <p:spPr>
          <a:xfrm>
            <a:off x="2801620" y="4015105"/>
            <a:ext cx="971550"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pPr>
            <a:r>
              <a:rPr lang="zh-CN" altLang="en-US" sz="1050" kern="0" dirty="0">
                <a:solidFill>
                  <a:schemeClr val="tx1"/>
                </a:solidFill>
                <a:uFillTx/>
                <a:sym typeface="+mn-ea"/>
              </a:rPr>
              <a:t>专业分析</a:t>
            </a:r>
            <a:endParaRPr lang="zh-CN" altLang="en-US" sz="1050" kern="0" dirty="0">
              <a:solidFill>
                <a:schemeClr val="tx1"/>
              </a:solidFill>
              <a:uFillTx/>
              <a:sym typeface="+mn-ea"/>
            </a:endParaRPr>
          </a:p>
        </p:txBody>
      </p:sp>
      <p:sp>
        <p:nvSpPr>
          <p:cNvPr id="12" name="矩形 11"/>
          <p:cNvSpPr/>
          <p:nvPr>
            <p:custDataLst>
              <p:tags r:id="rId18"/>
            </p:custDataLst>
          </p:nvPr>
        </p:nvSpPr>
        <p:spPr>
          <a:xfrm>
            <a:off x="5323205" y="360108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可行性分析</a:t>
            </a:r>
            <a:r>
              <a:rPr lang="zh-CN" altLang="en-US" sz="1050" kern="0" dirty="0">
                <a:solidFill>
                  <a:schemeClr val="tx1"/>
                </a:solidFill>
                <a:uFillTx/>
                <a:sym typeface="+mn-ea"/>
              </a:rPr>
              <a:t>审核</a:t>
            </a:r>
            <a:endParaRPr lang="zh-CN" altLang="en-US" sz="1050" kern="0" dirty="0">
              <a:solidFill>
                <a:schemeClr val="tx1"/>
              </a:solidFill>
              <a:uFillTx/>
              <a:sym typeface="+mn-ea"/>
            </a:endParaRPr>
          </a:p>
        </p:txBody>
      </p:sp>
      <p:sp>
        <p:nvSpPr>
          <p:cNvPr id="13" name="矩形 12"/>
          <p:cNvSpPr/>
          <p:nvPr>
            <p:custDataLst>
              <p:tags r:id="rId19"/>
            </p:custDataLst>
          </p:nvPr>
        </p:nvSpPr>
        <p:spPr>
          <a:xfrm>
            <a:off x="5323205" y="4016375"/>
            <a:ext cx="1296035" cy="288290"/>
          </a:xfrm>
          <a:prstGeom prst="rect">
            <a:avLst/>
          </a:prstGeom>
          <a:solidFill>
            <a:schemeClr val="bg1">
              <a:lumMod val="85000"/>
            </a:schemeClr>
          </a:solidFill>
          <a:ln>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36000" rIns="0" bIns="36000" numCol="1" spcCol="0" rtlCol="0" fromWordArt="0" anchor="ctr" anchorCtr="0" forceAA="0" compatLnSpc="1">
            <a:noAutofit/>
          </a:bodyPr>
          <a:p>
            <a:pPr lvl="0" algn="ctr" hangingPunct="0">
              <a:spcBef>
                <a:spcPts val="0"/>
              </a:spcBef>
              <a:spcAft>
                <a:spcPts val="0"/>
              </a:spcAft>
              <a:buClrTx/>
              <a:buSzTx/>
              <a:buFontTx/>
            </a:pPr>
            <a:r>
              <a:rPr lang="zh-CN" altLang="en-US" sz="1050" kern="0" dirty="0">
                <a:solidFill>
                  <a:schemeClr val="tx1"/>
                </a:solidFill>
                <a:uFillTx/>
                <a:sym typeface="+mn-ea"/>
              </a:rPr>
              <a:t>开发任务</a:t>
            </a:r>
            <a:r>
              <a:rPr lang="zh-CN" altLang="en-US" sz="1050" kern="0" dirty="0">
                <a:solidFill>
                  <a:schemeClr val="tx1"/>
                </a:solidFill>
                <a:uFillTx/>
                <a:sym typeface="+mn-ea"/>
              </a:rPr>
              <a:t>发起</a:t>
            </a:r>
            <a:endParaRPr lang="zh-CN" altLang="en-US" sz="1050" kern="0" dirty="0">
              <a:solidFill>
                <a:schemeClr val="tx1"/>
              </a:solidFill>
              <a:uFillTx/>
              <a:sym typeface="+mn-ea"/>
            </a:endParaRPr>
          </a:p>
        </p:txBody>
      </p:sp>
      <p:sp>
        <p:nvSpPr>
          <p:cNvPr id="46" name="矩形 45"/>
          <p:cNvSpPr/>
          <p:nvPr>
            <p:custDataLst>
              <p:tags r:id="rId20"/>
            </p:custDataLst>
          </p:nvPr>
        </p:nvSpPr>
        <p:spPr>
          <a:xfrm>
            <a:off x="2703830" y="5040630"/>
            <a:ext cx="719455" cy="210185"/>
          </a:xfrm>
          <a:prstGeom prst="rect">
            <a:avLst/>
          </a:prstGeom>
        </p:spPr>
        <p:txBody>
          <a:bodyPr wrap="square">
            <a:no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b="1" kern="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国光OA</a:t>
            </a:r>
            <a:endPar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矩形 46"/>
          <p:cNvSpPr/>
          <p:nvPr>
            <p:custDataLst>
              <p:tags r:id="rId21"/>
            </p:custDataLst>
          </p:nvPr>
        </p:nvSpPr>
        <p:spPr>
          <a:xfrm>
            <a:off x="1493520" y="5006975"/>
            <a:ext cx="3202305" cy="1054735"/>
          </a:xfrm>
          <a:prstGeom prst="rect">
            <a:avLst/>
          </a:prstGeom>
          <a:noFill/>
          <a:ln w="19050" cap="sq">
            <a:solidFill>
              <a:schemeClr val="tx1"/>
            </a:solidFill>
            <a:miter lim="800000"/>
          </a:ln>
        </p:spPr>
        <p:style>
          <a:lnRef idx="0">
            <a:schemeClr val="accent1"/>
          </a:lnRef>
          <a:fillRef idx="1">
            <a:schemeClr val="accent1"/>
          </a:fillRef>
          <a:effectRef idx="0">
            <a:srgbClr val="000000"/>
          </a:effectRef>
          <a:fontRef idx="minor">
            <a:schemeClr val="bg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48" name="矩形 47"/>
          <p:cNvSpPr/>
          <p:nvPr>
            <p:custDataLst>
              <p:tags r:id="rId22"/>
            </p:custDataLst>
          </p:nvPr>
        </p:nvSpPr>
        <p:spPr bwMode="auto">
          <a:xfrm>
            <a:off x="1739900" y="5297805"/>
            <a:ext cx="1296035" cy="585470"/>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硕磐</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NPI</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系统触发</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OA</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系统《</a:t>
            </a:r>
            <a:r>
              <a:rPr lang="zh-CN" altLang="en-US" sz="800" kern="1200" noProof="0" dirty="0">
                <a:solidFill>
                  <a:prstClr val="black"/>
                </a:solidFill>
                <a:uLnTx/>
                <a:uFillTx/>
                <a:latin typeface="微软雅黑" panose="020B0503020204020204" pitchFamily="34" charset="-122"/>
                <a:ea typeface="微软雅黑" panose="020B0503020204020204" pitchFamily="34" charset="-122"/>
                <a:sym typeface="+mn-ea"/>
              </a:rPr>
              <a:t>新产品开发任务书流程</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85" name="矩形 84"/>
          <p:cNvSpPr/>
          <p:nvPr>
            <p:custDataLst>
              <p:tags r:id="rId23"/>
            </p:custDataLst>
          </p:nvPr>
        </p:nvSpPr>
        <p:spPr bwMode="auto">
          <a:xfrm>
            <a:off x="3245485" y="5286375"/>
            <a:ext cx="1143635" cy="585470"/>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国光OA系统返回新产品开发任务书</a:t>
            </a: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编号</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cxnSp>
        <p:nvCxnSpPr>
          <p:cNvPr id="34" name="直接箭头连接符 33"/>
          <p:cNvCxnSpPr/>
          <p:nvPr>
            <p:custDataLst>
              <p:tags r:id="rId24"/>
            </p:custDataLst>
          </p:nvPr>
        </p:nvCxnSpPr>
        <p:spPr>
          <a:xfrm>
            <a:off x="3275965"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5" name="矩形 34"/>
          <p:cNvSpPr/>
          <p:nvPr>
            <p:custDataLst>
              <p:tags r:id="rId25"/>
            </p:custDataLst>
          </p:nvPr>
        </p:nvSpPr>
        <p:spPr>
          <a:xfrm>
            <a:off x="4985385" y="5006975"/>
            <a:ext cx="2756535" cy="1054735"/>
          </a:xfrm>
          <a:prstGeom prst="rect">
            <a:avLst/>
          </a:prstGeom>
          <a:noFill/>
          <a:ln w="19050" cap="sq">
            <a:solidFill>
              <a:schemeClr val="tx1"/>
            </a:solidFill>
            <a:miter lim="800000"/>
          </a:ln>
        </p:spPr>
        <p:style>
          <a:lnRef idx="0">
            <a:schemeClr val="accent1"/>
          </a:lnRef>
          <a:fillRef idx="1">
            <a:schemeClr val="accent1"/>
          </a:fillRef>
          <a:effectRef idx="0">
            <a:srgbClr val="000000"/>
          </a:effectRef>
          <a:fontRef idx="minor">
            <a:schemeClr val="bg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36" name="矩形 35"/>
          <p:cNvSpPr/>
          <p:nvPr>
            <p:custDataLst>
              <p:tags r:id="rId26"/>
            </p:custDataLst>
          </p:nvPr>
        </p:nvSpPr>
        <p:spPr bwMode="auto">
          <a:xfrm>
            <a:off x="5203190" y="5285045"/>
            <a:ext cx="1144270" cy="586800"/>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NPI提醒项目负责人跟踪通知申请PVT试产完成的进度</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180" name="矩形 179"/>
          <p:cNvSpPr/>
          <p:nvPr>
            <p:custDataLst>
              <p:tags r:id="rId27"/>
            </p:custDataLst>
          </p:nvPr>
        </p:nvSpPr>
        <p:spPr>
          <a:xfrm>
            <a:off x="5944158" y="4995818"/>
            <a:ext cx="744901" cy="260350"/>
          </a:xfrm>
          <a:prstGeom prst="rect">
            <a:avLst/>
          </a:prstGeom>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国光智数</a:t>
            </a:r>
            <a:endParaRPr kumimoji="0" lang="en-US" altLang="zh-CN"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7" name="矩形 36"/>
          <p:cNvSpPr/>
          <p:nvPr>
            <p:custDataLst>
              <p:tags r:id="rId28"/>
            </p:custDataLst>
          </p:nvPr>
        </p:nvSpPr>
        <p:spPr bwMode="auto">
          <a:xfrm>
            <a:off x="6463030" y="5285045"/>
            <a:ext cx="1144270" cy="586800"/>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NPI根据计划起/止时间与实际起/止时间进行对比，对进度完成状态进行监控和判定</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59" name="矩形 58"/>
          <p:cNvSpPr/>
          <p:nvPr>
            <p:custDataLst>
              <p:tags r:id="rId29"/>
            </p:custDataLst>
          </p:nvPr>
        </p:nvSpPr>
        <p:spPr>
          <a:xfrm>
            <a:off x="7909560" y="5006975"/>
            <a:ext cx="2955925" cy="1055370"/>
          </a:xfrm>
          <a:prstGeom prst="rect">
            <a:avLst/>
          </a:prstGeom>
          <a:noFill/>
          <a:ln w="19050" cap="sq">
            <a:solidFill>
              <a:schemeClr val="tx1"/>
            </a:solidFill>
            <a:miter lim="800000"/>
          </a:ln>
        </p:spPr>
        <p:style>
          <a:lnRef idx="0">
            <a:schemeClr val="accent1"/>
          </a:lnRef>
          <a:fillRef idx="1">
            <a:schemeClr val="accent1"/>
          </a:fillRef>
          <a:effectRef idx="0">
            <a:srgbClr val="000000"/>
          </a:effectRef>
          <a:fontRef idx="minor">
            <a:schemeClr val="bg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60" name="矩形 59"/>
          <p:cNvSpPr/>
          <p:nvPr>
            <p:custDataLst>
              <p:tags r:id="rId30"/>
            </p:custDataLst>
          </p:nvPr>
        </p:nvSpPr>
        <p:spPr bwMode="auto">
          <a:xfrm>
            <a:off x="8120380" y="5266690"/>
            <a:ext cx="1110615" cy="605155"/>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NPI提醒项目负责人跟踪研发成员上传交付件到PLM</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sp>
        <p:nvSpPr>
          <p:cNvPr id="61" name="矩形 60"/>
          <p:cNvSpPr/>
          <p:nvPr>
            <p:custDataLst>
              <p:tags r:id="rId31"/>
            </p:custDataLst>
          </p:nvPr>
        </p:nvSpPr>
        <p:spPr>
          <a:xfrm>
            <a:off x="8766810" y="5002530"/>
            <a:ext cx="991235" cy="260350"/>
          </a:xfrm>
          <a:prstGeom prst="rect">
            <a:avLst/>
          </a:prstGeom>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国光PLM</a:t>
            </a:r>
            <a:endPar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2" name="矩形 61"/>
          <p:cNvSpPr/>
          <p:nvPr>
            <p:custDataLst>
              <p:tags r:id="rId32"/>
            </p:custDataLst>
          </p:nvPr>
        </p:nvSpPr>
        <p:spPr bwMode="auto">
          <a:xfrm>
            <a:off x="9387840" y="5284470"/>
            <a:ext cx="1200785" cy="587375"/>
          </a:xfrm>
          <a:prstGeom prst="rect">
            <a:avLst/>
          </a:prstGeom>
          <a:solidFill>
            <a:srgbClr val="A9D18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rPr>
              <a:t>NPI获取PLM中研发成员的设计文档交付件的上传状态</a:t>
            </a: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a:endParaRPr>
          </a:p>
        </p:txBody>
      </p:sp>
      <p:cxnSp>
        <p:nvCxnSpPr>
          <p:cNvPr id="3" name="直接箭头连接符 2"/>
          <p:cNvCxnSpPr/>
          <p:nvPr>
            <p:custDataLst>
              <p:tags r:id="rId33"/>
            </p:custDataLst>
          </p:nvPr>
        </p:nvCxnSpPr>
        <p:spPr>
          <a:xfrm flipV="1">
            <a:off x="3072130"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custDataLst>
              <p:tags r:id="rId34"/>
            </p:custDataLst>
          </p:nvPr>
        </p:nvCxnSpPr>
        <p:spPr>
          <a:xfrm>
            <a:off x="6316980"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custDataLst>
              <p:tags r:id="rId35"/>
            </p:custDataLst>
          </p:nvPr>
        </p:nvCxnSpPr>
        <p:spPr>
          <a:xfrm>
            <a:off x="9244965"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custDataLst>
              <p:tags r:id="rId36"/>
            </p:custDataLst>
          </p:nvPr>
        </p:nvCxnSpPr>
        <p:spPr>
          <a:xfrm flipV="1">
            <a:off x="6507480"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custDataLst>
              <p:tags r:id="rId37"/>
            </p:custDataLst>
          </p:nvPr>
        </p:nvCxnSpPr>
        <p:spPr>
          <a:xfrm flipV="1">
            <a:off x="9474200" y="4577080"/>
            <a:ext cx="0" cy="360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custDataLst>
              <p:tags r:id="rId38"/>
            </p:custDataLst>
          </p:nvPr>
        </p:nvSpPr>
        <p:spPr>
          <a:xfrm>
            <a:off x="530860" y="3341370"/>
            <a:ext cx="991870" cy="1079500"/>
          </a:xfrm>
          <a:prstGeom prst="rect">
            <a:avLst/>
          </a:prstGeom>
          <a:noFill/>
        </p:spPr>
        <p:txBody>
          <a:bodyPr wrap="square" rtlCol="0" anchor="ctr" anchorCtr="0">
            <a:noAutofit/>
          </a:bodyPr>
          <a:p>
            <a:pPr lvl="0" algn="ctr" hangingPunct="0">
              <a:spcBef>
                <a:spcPts val="0"/>
              </a:spcBef>
              <a:spcAft>
                <a:spcPts val="0"/>
              </a:spcAft>
              <a:buClrTx/>
              <a:buSzTx/>
              <a:buFont typeface="Arial" panose="020B0604020202020204" pitchFamily="34" charset="0"/>
            </a:pPr>
            <a:r>
              <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硕磐</a:t>
            </a:r>
            <a:r>
              <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NPI</a:t>
            </a:r>
            <a:endPar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4" name="文本框 13"/>
          <p:cNvSpPr txBox="1"/>
          <p:nvPr>
            <p:custDataLst>
              <p:tags r:id="rId39"/>
            </p:custDataLst>
          </p:nvPr>
        </p:nvSpPr>
        <p:spPr>
          <a:xfrm>
            <a:off x="509905" y="1527810"/>
            <a:ext cx="991870" cy="1079500"/>
          </a:xfrm>
          <a:prstGeom prst="rect">
            <a:avLst/>
          </a:prstGeom>
          <a:noFill/>
        </p:spPr>
        <p:txBody>
          <a:bodyPr wrap="square" rtlCol="0" anchor="ctr" anchorCtr="0">
            <a:noAutofit/>
          </a:bodyPr>
          <a:p>
            <a:pPr lvl="0" algn="ctr" hangingPunct="0">
              <a:spcBef>
                <a:spcPts val="0"/>
              </a:spcBef>
              <a:spcAft>
                <a:spcPts val="0"/>
              </a:spcAft>
              <a:buClrTx/>
              <a:buSzTx/>
              <a:buFont typeface="Arial" panose="020B0604020202020204" pitchFamily="34" charset="0"/>
            </a:pPr>
            <a:r>
              <a:rPr lang="zh-CN" altLang="en-US"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硕磐</a:t>
            </a:r>
            <a:r>
              <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rPr>
              <a:t>NPI 360</a:t>
            </a:r>
            <a:endParaRPr lang="en-US" altLang="zh-CN" sz="1200" b="1" kern="0" dirty="0">
              <a:solidFill>
                <a:schemeClr val="bg2">
                  <a:lumMod val="50000"/>
                </a:schemeClr>
              </a:solidFill>
              <a:uFillTx/>
              <a:latin typeface="微软雅黑" panose="020B0503020204020204" pitchFamily="34" charset="-122"/>
              <a:ea typeface="微软雅黑" panose="020B0503020204020204" pitchFamily="34" charset="-122"/>
              <a:cs typeface="Arial" panose="020B0604020202020204"/>
              <a:sym typeface="+mn-ea"/>
            </a:endParaRPr>
          </a:p>
        </p:txBody>
      </p:sp>
      <p:sp>
        <p:nvSpPr>
          <p:cNvPr id="15" name="文本框 14"/>
          <p:cNvSpPr txBox="1"/>
          <p:nvPr/>
        </p:nvSpPr>
        <p:spPr>
          <a:xfrm>
            <a:off x="2007870" y="4832350"/>
            <a:ext cx="4064000" cy="368300"/>
          </a:xfrm>
          <a:prstGeom prst="rect">
            <a:avLst/>
          </a:prstGeom>
          <a:noFill/>
        </p:spPr>
        <p:txBody>
          <a:bodyPr wrap="square" rtlCol="0">
            <a:spAutoFit/>
          </a:bodyPr>
          <a:p>
            <a:pPr hangingPunct="0">
              <a:spcBef>
                <a:spcPts val="0"/>
              </a:spcBef>
              <a:spcAft>
                <a:spcPts val="0"/>
              </a:spcAft>
            </a:pPr>
            <a:endParaRPr lang="zh-CN" altLang="en-US" kern="0">
              <a:solidFill>
                <a:srgbClr val="000000"/>
              </a:solidFill>
              <a:uFillTx/>
              <a:latin typeface="Arial" panose="020B0604020202020204"/>
              <a:ea typeface="Arial" panose="020B0604020202020204"/>
              <a:cs typeface="Arial" panose="020B0604020202020204"/>
              <a:sym typeface="Arial" panose="020B0604020202020204"/>
            </a:endParaRPr>
          </a:p>
        </p:txBody>
      </p:sp>
      <p:sp>
        <p:nvSpPr>
          <p:cNvPr id="19" name="标题 1"/>
          <p:cNvSpPr>
            <a:spLocks noGrp="1"/>
          </p:cNvSpPr>
          <p:nvPr>
            <p:ph type="title"/>
            <p:custDataLst>
              <p:tags r:id="rId40"/>
            </p:custDataLst>
          </p:nvPr>
        </p:nvSpPr>
        <p:spPr>
          <a:xfrm>
            <a:off x="510126" y="294229"/>
            <a:ext cx="9478700" cy="524510"/>
          </a:xfrm>
        </p:spPr>
        <p:txBody>
          <a:bodyPr/>
          <a:lstStyle/>
          <a:p>
            <a:r>
              <a:rPr dirty="0">
                <a:gradFill>
                  <a:gsLst>
                    <a:gs pos="0">
                      <a:srgbClr val="E30000"/>
                    </a:gs>
                    <a:gs pos="100000">
                      <a:srgbClr val="760303"/>
                    </a:gs>
                  </a:gsLst>
                  <a:lin scaled="0"/>
                </a:gradFill>
              </a:rPr>
              <a:t>产品需求管理</a:t>
            </a:r>
            <a:r>
              <a:rPr lang="en-US" altLang="zh-CN" dirty="0">
                <a:gradFill>
                  <a:gsLst>
                    <a:gs pos="0">
                      <a:srgbClr val="E30000"/>
                    </a:gs>
                    <a:gs pos="100000">
                      <a:srgbClr val="760303"/>
                    </a:gs>
                  </a:gsLst>
                  <a:lin scaled="0"/>
                </a:gradFill>
              </a:rPr>
              <a:t>IT</a:t>
            </a:r>
            <a:r>
              <a:rPr dirty="0">
                <a:gradFill>
                  <a:gsLst>
                    <a:gs pos="0">
                      <a:srgbClr val="E30000"/>
                    </a:gs>
                    <a:gs pos="100000">
                      <a:srgbClr val="760303"/>
                    </a:gs>
                  </a:gsLst>
                  <a:lin scaled="0"/>
                </a:gradFill>
              </a:rPr>
              <a:t>集成</a:t>
            </a:r>
            <a:r>
              <a:rPr dirty="0">
                <a:gradFill>
                  <a:gsLst>
                    <a:gs pos="0">
                      <a:srgbClr val="E30000"/>
                    </a:gs>
                    <a:gs pos="100000">
                      <a:srgbClr val="760303"/>
                    </a:gs>
                  </a:gsLst>
                  <a:lin scaled="0"/>
                </a:gradFill>
              </a:rPr>
              <a:t>架构</a:t>
            </a:r>
            <a:endParaRPr dirty="0">
              <a:gradFill>
                <a:gsLst>
                  <a:gs pos="0">
                    <a:srgbClr val="E30000"/>
                  </a:gs>
                  <a:gs pos="100000">
                    <a:srgbClr val="760303"/>
                  </a:gs>
                </a:gsLst>
                <a:lin scaled="0"/>
              </a:gradFill>
            </a:endParaRPr>
          </a:p>
        </p:txBody>
      </p:sp>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510126" y="294229"/>
            <a:ext cx="9478700" cy="524510"/>
          </a:xfrm>
        </p:spPr>
        <p:txBody>
          <a:bodyPr/>
          <a:lstStyle/>
          <a:p>
            <a:r>
              <a:rPr dirty="0">
                <a:gradFill>
                  <a:gsLst>
                    <a:gs pos="0">
                      <a:srgbClr val="E30000"/>
                    </a:gs>
                    <a:gs pos="100000">
                      <a:srgbClr val="760303"/>
                    </a:gs>
                  </a:gsLst>
                  <a:lin scaled="0"/>
                </a:gradFill>
              </a:rPr>
              <a:t>产品需求管理整体操作</a:t>
            </a:r>
            <a:r>
              <a:rPr dirty="0">
                <a:gradFill>
                  <a:gsLst>
                    <a:gs pos="0">
                      <a:srgbClr val="E30000"/>
                    </a:gs>
                    <a:gs pos="100000">
                      <a:srgbClr val="760303"/>
                    </a:gs>
                  </a:gsLst>
                  <a:lin scaled="0"/>
                </a:gradFill>
              </a:rPr>
              <a:t>流程</a:t>
            </a:r>
            <a:endParaRPr dirty="0">
              <a:gradFill>
                <a:gsLst>
                  <a:gs pos="0">
                    <a:srgbClr val="E30000"/>
                  </a:gs>
                  <a:gs pos="100000">
                    <a:srgbClr val="760303"/>
                  </a:gs>
                </a:gsLst>
                <a:lin scaled="0"/>
              </a:gradFill>
            </a:endParaRPr>
          </a:p>
        </p:txBody>
      </p:sp>
      <p:pic>
        <p:nvPicPr>
          <p:cNvPr id="4" name="图片 3"/>
          <p:cNvPicPr>
            <a:picLocks noChangeAspect="1"/>
          </p:cNvPicPr>
          <p:nvPr>
            <p:custDataLst>
              <p:tags r:id="rId1"/>
            </p:custDataLst>
          </p:nvPr>
        </p:nvPicPr>
        <p:blipFill>
          <a:blip r:embed="rId2"/>
          <a:stretch>
            <a:fillRect/>
          </a:stretch>
        </p:blipFill>
        <p:spPr>
          <a:xfrm>
            <a:off x="509905" y="897890"/>
            <a:ext cx="8042275" cy="59601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510126" y="294229"/>
            <a:ext cx="9478700" cy="524510"/>
          </a:xfrm>
        </p:spPr>
        <p:txBody>
          <a:bodyPr/>
          <a:lstStyle/>
          <a:p>
            <a:r>
              <a:rPr lang="en-US" altLang="zh-CN" dirty="0">
                <a:gradFill>
                  <a:gsLst>
                    <a:gs pos="0">
                      <a:srgbClr val="E30000"/>
                    </a:gs>
                    <a:gs pos="100000">
                      <a:srgbClr val="760303"/>
                    </a:gs>
                  </a:gsLst>
                  <a:lin scaled="0"/>
                </a:gradFill>
              </a:rPr>
              <a:t>1 </a:t>
            </a:r>
            <a:r>
              <a:rPr dirty="0">
                <a:gradFill>
                  <a:gsLst>
                    <a:gs pos="0">
                      <a:srgbClr val="E30000"/>
                    </a:gs>
                    <a:gs pos="100000">
                      <a:srgbClr val="760303"/>
                    </a:gs>
                  </a:gsLst>
                  <a:lin scaled="0"/>
                </a:gradFill>
              </a:rPr>
              <a:t>产品需求</a:t>
            </a:r>
            <a:r>
              <a:rPr dirty="0">
                <a:gradFill>
                  <a:gsLst>
                    <a:gs pos="0">
                      <a:srgbClr val="E30000"/>
                    </a:gs>
                    <a:gs pos="100000">
                      <a:srgbClr val="760303"/>
                    </a:gs>
                  </a:gsLst>
                  <a:lin scaled="0"/>
                </a:gradFill>
              </a:rPr>
              <a:t>目录</a:t>
            </a:r>
            <a:endParaRPr dirty="0">
              <a:gradFill>
                <a:gsLst>
                  <a:gs pos="0">
                    <a:srgbClr val="E30000"/>
                  </a:gs>
                  <a:gs pos="100000">
                    <a:srgbClr val="760303"/>
                  </a:gs>
                </a:gsLst>
                <a:lin scaled="0"/>
              </a:gradFill>
            </a:endParaRPr>
          </a:p>
        </p:txBody>
      </p:sp>
      <p:pic>
        <p:nvPicPr>
          <p:cNvPr id="2" name="图片 1"/>
          <p:cNvPicPr>
            <a:picLocks noChangeAspect="1"/>
          </p:cNvPicPr>
          <p:nvPr>
            <p:custDataLst>
              <p:tags r:id="rId1"/>
            </p:custDataLst>
          </p:nvPr>
        </p:nvPicPr>
        <p:blipFill>
          <a:blip r:embed="rId2"/>
          <a:stretch>
            <a:fillRect/>
          </a:stretch>
        </p:blipFill>
        <p:spPr>
          <a:xfrm>
            <a:off x="509905" y="1123950"/>
            <a:ext cx="10617200" cy="56146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680" y="337821"/>
            <a:ext cx="9387840" cy="462915"/>
          </a:xfrm>
        </p:spPr>
        <p:txBody>
          <a:bodyPr/>
          <a:lstStyle/>
          <a:p>
            <a:r>
              <a:rPr lang="zh-CN" altLang="en-US" sz="2400"/>
              <a:t>初步计划（工作日）</a:t>
            </a:r>
            <a:r>
              <a:rPr lang="en-US" altLang="zh-CN" sz="2400"/>
              <a:t>-</a:t>
            </a:r>
            <a:r>
              <a:rPr lang="zh-CN" altLang="en-US" sz="2400"/>
              <a:t>以完成</a:t>
            </a:r>
            <a:r>
              <a:rPr lang="en-US" altLang="zh-CN" sz="2400"/>
              <a:t>DEMO</a:t>
            </a:r>
            <a:r>
              <a:rPr lang="zh-CN" altLang="en-US" sz="2400"/>
              <a:t>为第一期目标</a:t>
            </a:r>
            <a:endParaRPr lang="zh-CN" altLang="en-US" sz="2400"/>
          </a:p>
        </p:txBody>
      </p:sp>
      <p:graphicFrame>
        <p:nvGraphicFramePr>
          <p:cNvPr id="4" name="表格 3"/>
          <p:cNvGraphicFramePr/>
          <p:nvPr>
            <p:custDataLst>
              <p:tags r:id="rId1"/>
            </p:custDataLst>
          </p:nvPr>
        </p:nvGraphicFramePr>
        <p:xfrm>
          <a:off x="755015" y="1095375"/>
          <a:ext cx="9394825" cy="4495165"/>
        </p:xfrm>
        <a:graphic>
          <a:graphicData uri="http://schemas.openxmlformats.org/drawingml/2006/table">
            <a:tbl>
              <a:tblPr firstRow="1" bandRow="1">
                <a:tableStyleId>{5C22544A-7EE6-4342-B048-85BDC9FD1C3A}</a:tableStyleId>
              </a:tblPr>
              <a:tblGrid>
                <a:gridCol w="778510"/>
                <a:gridCol w="1823085"/>
                <a:gridCol w="1424940"/>
                <a:gridCol w="1341755"/>
                <a:gridCol w="1342390"/>
                <a:gridCol w="1341755"/>
                <a:gridCol w="1342390"/>
              </a:tblGrid>
              <a:tr h="666750">
                <a:tc>
                  <a:txBody>
                    <a:bodyPr/>
                    <a:p>
                      <a:pPr>
                        <a:buNone/>
                      </a:pPr>
                      <a:r>
                        <a:rPr lang="en-US" altLang="zh-CN">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事项</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责任人</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初步</a:t>
                      </a:r>
                      <a:r>
                        <a:rPr lang="zh-CN" altLang="en-US">
                          <a:latin typeface="微软雅黑" panose="020B0503020204020204" pitchFamily="34" charset="-122"/>
                          <a:ea typeface="微软雅黑" panose="020B0503020204020204" pitchFamily="34" charset="-122"/>
                        </a:rPr>
                        <a:t>设计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拉通评审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Boss</a:t>
                      </a:r>
                      <a:r>
                        <a:rPr lang="zh-CN" altLang="en-US">
                          <a:latin typeface="微软雅黑" panose="020B0503020204020204" pitchFamily="34" charset="-122"/>
                          <a:ea typeface="微软雅黑" panose="020B0503020204020204" pitchFamily="34" charset="-122"/>
                        </a:rPr>
                        <a:t>汇报</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完善</a:t>
                      </a:r>
                      <a:endParaRPr lang="zh-CN" altLang="en-US">
                        <a:latin typeface="微软雅黑" panose="020B0503020204020204" pitchFamily="34" charset="-122"/>
                        <a:ea typeface="微软雅黑" panose="020B0503020204020204" pitchFamily="34" charset="-122"/>
                      </a:endParaRPr>
                    </a:p>
                  </a:txBody>
                  <a:tcPr anchor="ctr" anchorCtr="1"/>
                </a:tc>
              </a:tr>
              <a:tr h="914400">
                <a:tc>
                  <a:txBody>
                    <a:bodyPr/>
                    <a:p>
                      <a:pPr>
                        <a:buNone/>
                      </a:pPr>
                      <a:r>
                        <a:rPr lang="en-US" altLang="zh-CN">
                          <a:latin typeface="微软雅黑" panose="020B0503020204020204" pitchFamily="34" charset="-122"/>
                          <a:ea typeface="微软雅黑" panose="020B0503020204020204" pitchFamily="34" charset="-122"/>
                        </a:rPr>
                        <a:t>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完善整体</a:t>
                      </a:r>
                      <a:r>
                        <a:rPr lang="en-US" altLang="zh-CN">
                          <a:latin typeface="微软雅黑" panose="020B0503020204020204" pitchFamily="34" charset="-122"/>
                          <a:ea typeface="微软雅黑" panose="020B0503020204020204" pitchFamily="34" charset="-122"/>
                        </a:rPr>
                        <a:t>BA</a:t>
                      </a:r>
                      <a:r>
                        <a:rPr lang="zh-CN" altLang="en-US">
                          <a:latin typeface="微软雅黑" panose="020B0503020204020204" pitchFamily="34" charset="-122"/>
                          <a:ea typeface="微软雅黑" panose="020B0503020204020204" pitchFamily="34" charset="-122"/>
                        </a:rPr>
                        <a:t>设计，完成</a:t>
                      </a:r>
                      <a:r>
                        <a:rPr lang="en-US" altLang="zh-CN">
                          <a:latin typeface="微软雅黑" panose="020B0503020204020204" pitchFamily="34" charset="-122"/>
                          <a:ea typeface="微软雅黑" panose="020B0503020204020204" pitchFamily="34" charset="-122"/>
                        </a:rPr>
                        <a:t>1-4</a:t>
                      </a:r>
                      <a:r>
                        <a:rPr lang="zh-CN" altLang="en-US">
                          <a:latin typeface="微软雅黑" panose="020B0503020204020204" pitchFamily="34" charset="-122"/>
                          <a:ea typeface="微软雅黑" panose="020B0503020204020204" pitchFamily="34" charset="-122"/>
                        </a:rPr>
                        <a:t>步的</a:t>
                      </a:r>
                      <a:r>
                        <a:rPr lang="en-US" altLang="zh-CN">
                          <a:latin typeface="微软雅黑" panose="020B0503020204020204" pitchFamily="34" charset="-122"/>
                          <a:ea typeface="微软雅黑" panose="020B0503020204020204" pitchFamily="34" charset="-122"/>
                        </a:rPr>
                        <a:t>BA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高中军</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7.10</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7.25</a:t>
                      </a:r>
                      <a:endParaRPr lang="en-US" altLang="zh-CN">
                        <a:latin typeface="微软雅黑" panose="020B0503020204020204" pitchFamily="34" charset="-122"/>
                        <a:ea typeface="微软雅黑" panose="020B0503020204020204" pitchFamily="34" charset="-122"/>
                      </a:endParaRPr>
                    </a:p>
                  </a:txBody>
                  <a:tcPr anchor="ctr" anchorCtr="1"/>
                </a:tc>
              </a:tr>
              <a:tr h="914400">
                <a:tc>
                  <a:txBody>
                    <a:bodyPr/>
                    <a:p>
                      <a:pPr>
                        <a:buNone/>
                      </a:pPr>
                      <a:r>
                        <a:rPr lang="en-US" altLang="zh-CN">
                          <a:latin typeface="微软雅黑" panose="020B0503020204020204" pitchFamily="34" charset="-122"/>
                          <a:ea typeface="微软雅黑" panose="020B0503020204020204" pitchFamily="34" charset="-122"/>
                        </a:rPr>
                        <a:t>2</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完善基于</a:t>
                      </a:r>
                      <a:r>
                        <a:rPr lang="en-US" altLang="zh-CN">
                          <a:latin typeface="微软雅黑" panose="020B0503020204020204" pitchFamily="34" charset="-122"/>
                          <a:ea typeface="微软雅黑" panose="020B0503020204020204" pitchFamily="34" charset="-122"/>
                        </a:rPr>
                        <a:t>1-4</a:t>
                      </a:r>
                      <a:r>
                        <a:rPr lang="zh-CN" altLang="en-US">
                          <a:latin typeface="微软雅黑" panose="020B0503020204020204" pitchFamily="34" charset="-122"/>
                          <a:ea typeface="微软雅黑" panose="020B0503020204020204" pitchFamily="34" charset="-122"/>
                        </a:rPr>
                        <a:t>的</a:t>
                      </a:r>
                      <a:r>
                        <a:rPr lang="en-US" altLang="zh-CN">
                          <a:latin typeface="微软雅黑" panose="020B0503020204020204" pitchFamily="34" charset="-122"/>
                          <a:ea typeface="微软雅黑" panose="020B0503020204020204" pitchFamily="34" charset="-122"/>
                        </a:rPr>
                        <a:t>DA</a:t>
                      </a:r>
                      <a:r>
                        <a:rPr lang="zh-CN" altLang="en-US">
                          <a:latin typeface="微软雅黑" panose="020B0503020204020204" pitchFamily="34" charset="-122"/>
                          <a:ea typeface="微软雅黑" panose="020B0503020204020204" pitchFamily="34" charset="-122"/>
                        </a:rPr>
                        <a:t>设计：对象、逻辑</a:t>
                      </a:r>
                      <a:r>
                        <a:rPr lang="zh-CN" altLang="en-US">
                          <a:latin typeface="微软雅黑" panose="020B0503020204020204" pitchFamily="34" charset="-122"/>
                          <a:ea typeface="微软雅黑" panose="020B0503020204020204" pitchFamily="34" charset="-122"/>
                        </a:rPr>
                        <a:t>实体</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王海波</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7.10</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7.11</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7.25</a:t>
                      </a:r>
                      <a:endParaRPr lang="zh-CN" altLang="en-US">
                        <a:latin typeface="微软雅黑" panose="020B0503020204020204" pitchFamily="34" charset="-122"/>
                        <a:ea typeface="微软雅黑" panose="020B0503020204020204" pitchFamily="34" charset="-122"/>
                      </a:endParaRPr>
                    </a:p>
                  </a:txBody>
                  <a:tcPr anchor="ctr" anchorCtr="1"/>
                </a:tc>
              </a:tr>
              <a:tr h="666750">
                <a:tc>
                  <a:txBody>
                    <a:bodyPr/>
                    <a:p>
                      <a:pPr>
                        <a:buNone/>
                      </a:pPr>
                      <a:r>
                        <a:rPr lang="en-US" altLang="zh-CN">
                          <a:latin typeface="微软雅黑" panose="020B0503020204020204" pitchFamily="34" charset="-122"/>
                          <a:ea typeface="微软雅黑" panose="020B0503020204020204" pitchFamily="34" charset="-122"/>
                        </a:rPr>
                        <a:t>3</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完成</a:t>
                      </a:r>
                      <a:r>
                        <a:rPr lang="en-US" altLang="zh-CN">
                          <a:latin typeface="微软雅黑" panose="020B0503020204020204" pitchFamily="34" charset="-122"/>
                          <a:ea typeface="微软雅黑" panose="020B0503020204020204" pitchFamily="34" charset="-122"/>
                        </a:rPr>
                        <a:t>1-4</a:t>
                      </a:r>
                      <a:r>
                        <a:rPr lang="zh-CN" altLang="en-US">
                          <a:latin typeface="微软雅黑" panose="020B0503020204020204" pitchFamily="34" charset="-122"/>
                          <a:ea typeface="微软雅黑" panose="020B0503020204020204" pitchFamily="34" charset="-122"/>
                        </a:rPr>
                        <a:t>步的界面</a:t>
                      </a:r>
                      <a:r>
                        <a:rPr lang="zh-CN" altLang="en-US">
                          <a:latin typeface="微软雅黑" panose="020B0503020204020204" pitchFamily="34" charset="-122"/>
                          <a:ea typeface="微软雅黑" panose="020B0503020204020204" pitchFamily="34" charset="-122"/>
                        </a:rPr>
                        <a:t>设计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牛灏茵</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7.10</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7.11</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7.25</a:t>
                      </a:r>
                      <a:endParaRPr lang="zh-CN" altLang="en-US">
                        <a:latin typeface="微软雅黑" panose="020B0503020204020204" pitchFamily="34" charset="-122"/>
                        <a:ea typeface="微软雅黑" panose="020B0503020204020204" pitchFamily="34" charset="-122"/>
                      </a:endParaRPr>
                    </a:p>
                  </a:txBody>
                  <a:tcPr anchor="ctr" anchorCtr="1"/>
                </a:tc>
              </a:tr>
              <a:tr h="666115">
                <a:tc>
                  <a:txBody>
                    <a:bodyPr/>
                    <a:p>
                      <a:pPr>
                        <a:buNone/>
                      </a:pPr>
                      <a:r>
                        <a:rPr lang="en-US" altLang="zh-CN">
                          <a:latin typeface="微软雅黑" panose="020B0503020204020204" pitchFamily="34" charset="-122"/>
                          <a:ea typeface="微软雅黑" panose="020B0503020204020204" pitchFamily="34" charset="-122"/>
                        </a:rPr>
                        <a:t>4</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完成</a:t>
                      </a:r>
                      <a:r>
                        <a:rPr lang="en-US" altLang="zh-CN">
                          <a:latin typeface="微软雅黑" panose="020B0503020204020204" pitchFamily="34" charset="-122"/>
                          <a:ea typeface="微软雅黑" panose="020B0503020204020204" pitchFamily="34" charset="-122"/>
                        </a:rPr>
                        <a:t>1-4</a:t>
                      </a:r>
                      <a:r>
                        <a:rPr lang="zh-CN" altLang="en-US">
                          <a:latin typeface="微软雅黑" panose="020B0503020204020204" pitchFamily="34" charset="-122"/>
                          <a:ea typeface="微软雅黑" panose="020B0503020204020204" pitchFamily="34" charset="-122"/>
                        </a:rPr>
                        <a:t>步的</a:t>
                      </a:r>
                      <a:r>
                        <a:rPr lang="en-US" altLang="zh-CN">
                          <a:latin typeface="微软雅黑" panose="020B0503020204020204" pitchFamily="34" charset="-122"/>
                          <a:ea typeface="微软雅黑" panose="020B0503020204020204" pitchFamily="34" charset="-122"/>
                        </a:rPr>
                        <a:t>AI Aengt</a:t>
                      </a:r>
                      <a:r>
                        <a:rPr lang="zh-CN" altLang="en-US">
                          <a:latin typeface="微软雅黑" panose="020B0503020204020204" pitchFamily="34" charset="-122"/>
                          <a:ea typeface="微软雅黑" panose="020B0503020204020204" pitchFamily="34" charset="-122"/>
                        </a:rPr>
                        <a:t>设计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田子敬</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7.1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7.10</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7.11</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sz="1800">
                          <a:latin typeface="微软雅黑" panose="020B0503020204020204" pitchFamily="34" charset="-122"/>
                          <a:ea typeface="微软雅黑" panose="020B0503020204020204" pitchFamily="34" charset="-122"/>
                          <a:sym typeface="+mn-ea"/>
                        </a:rPr>
                        <a:t>7.25</a:t>
                      </a:r>
                      <a:endParaRPr lang="zh-CN" altLang="en-US">
                        <a:latin typeface="微软雅黑" panose="020B0503020204020204" pitchFamily="34" charset="-122"/>
                        <a:ea typeface="微软雅黑" panose="020B0503020204020204" pitchFamily="34" charset="-122"/>
                      </a:endParaRPr>
                    </a:p>
                  </a:txBody>
                  <a:tcPr anchor="ctr" anchorCtr="1"/>
                </a:tc>
              </a:tr>
              <a:tr h="666750">
                <a:tc>
                  <a:txBody>
                    <a:bodyPr/>
                    <a:p>
                      <a:pPr>
                        <a:buNone/>
                      </a:pPr>
                      <a:r>
                        <a:rPr lang="zh-CN" altLang="en-US">
                          <a:latin typeface="微软雅黑" panose="020B0503020204020204" pitchFamily="34" charset="-122"/>
                          <a:ea typeface="微软雅黑" panose="020B0503020204020204" pitchFamily="34" charset="-122"/>
                        </a:rPr>
                        <a:t>合计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r>
            </a:tbl>
          </a:graphicData>
        </a:graphic>
      </p:graphicFrame>
      <p:sp>
        <p:nvSpPr>
          <p:cNvPr id="3" name="文本框 2"/>
          <p:cNvSpPr txBox="1"/>
          <p:nvPr/>
        </p:nvSpPr>
        <p:spPr>
          <a:xfrm>
            <a:off x="873760" y="5796915"/>
            <a:ext cx="7667625" cy="681355"/>
          </a:xfrm>
          <a:prstGeom prst="rect">
            <a:avLst/>
          </a:prstGeom>
          <a:noFill/>
        </p:spPr>
        <p:txBody>
          <a:bodyPr wrap="square" rtlCol="0" anchor="t">
            <a:spAutoFit/>
          </a:bodyPr>
          <a:p>
            <a:pPr marL="285750" indent="-285750" fontAlgn="auto">
              <a:lnSpc>
                <a:spcPct val="120000"/>
              </a:lnSpc>
              <a:spcBef>
                <a:spcPts val="0"/>
              </a:spcBef>
              <a:buFont typeface="Wingdings" panose="05000000000000000000" charset="0"/>
              <a:buChar char="p"/>
            </a:pP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可每</a:t>
            </a:r>
            <a:r>
              <a:rPr lang="en-US" altLang="zh-CN"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天进行内部小范围碰头，快速解决过程中的问题</a:t>
            </a:r>
            <a:endPar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20000"/>
              </a:lnSpc>
              <a:spcBef>
                <a:spcPts val="0"/>
              </a:spcBef>
              <a:buFont typeface="Wingdings" panose="05000000000000000000" charset="0"/>
              <a:buChar char="p"/>
            </a:pPr>
            <a:r>
              <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目标是可对外部客户展示和运行，具备实际功能运作</a:t>
            </a:r>
            <a:endParaRPr lang="zh-CN" altLang="en-US" sz="16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680" y="307023"/>
            <a:ext cx="9387840" cy="524510"/>
          </a:xfrm>
        </p:spPr>
        <p:txBody>
          <a:bodyPr/>
          <a:lstStyle/>
          <a:p>
            <a:r>
              <a:rPr lang="zh-CN" altLang="en-US" sz="2800"/>
              <a:t>资源投入预估（</a:t>
            </a:r>
            <a:r>
              <a:rPr lang="zh-CN" altLang="en-US" sz="2800"/>
              <a:t>工作日）</a:t>
            </a:r>
            <a:endParaRPr lang="zh-CN" altLang="en-US" sz="2800"/>
          </a:p>
        </p:txBody>
      </p:sp>
      <p:graphicFrame>
        <p:nvGraphicFramePr>
          <p:cNvPr id="4" name="表格 3"/>
          <p:cNvGraphicFramePr/>
          <p:nvPr>
            <p:custDataLst>
              <p:tags r:id="rId1"/>
            </p:custDataLst>
          </p:nvPr>
        </p:nvGraphicFramePr>
        <p:xfrm>
          <a:off x="755015" y="1095375"/>
          <a:ext cx="9394825" cy="4198620"/>
        </p:xfrm>
        <a:graphic>
          <a:graphicData uri="http://schemas.openxmlformats.org/drawingml/2006/table">
            <a:tbl>
              <a:tblPr firstRow="1" bandRow="1">
                <a:tableStyleId>{5C22544A-7EE6-4342-B048-85BDC9FD1C3A}</a:tableStyleId>
              </a:tblPr>
              <a:tblGrid>
                <a:gridCol w="1878965"/>
                <a:gridCol w="1878965"/>
                <a:gridCol w="1878965"/>
                <a:gridCol w="1878965"/>
                <a:gridCol w="1878965"/>
              </a:tblGrid>
              <a:tr h="699770">
                <a:tc>
                  <a:txBody>
                    <a:bodyPr/>
                    <a:p>
                      <a:pPr>
                        <a:buNone/>
                      </a:pPr>
                      <a:r>
                        <a:rPr lang="en-US" altLang="zh-CN">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模块</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已投入</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还需投入</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zh-CN" altLang="en-US">
                          <a:latin typeface="微软雅黑" panose="020B0503020204020204" pitchFamily="34" charset="-122"/>
                          <a:ea typeface="微软雅黑" panose="020B0503020204020204" pitchFamily="34" charset="-122"/>
                        </a:rPr>
                        <a:t>小计</a:t>
                      </a:r>
                      <a:endParaRPr lang="zh-CN" altLang="en-US">
                        <a:latin typeface="微软雅黑" panose="020B0503020204020204" pitchFamily="34" charset="-122"/>
                        <a:ea typeface="微软雅黑" panose="020B0503020204020204" pitchFamily="34" charset="-122"/>
                      </a:endParaRPr>
                    </a:p>
                  </a:txBody>
                  <a:tcPr anchor="ctr" anchorCtr="1"/>
                </a:tc>
              </a:tr>
              <a:tr h="699770">
                <a:tc>
                  <a:txBody>
                    <a:bodyPr/>
                    <a:p>
                      <a:pPr>
                        <a:buNone/>
                      </a:pPr>
                      <a:r>
                        <a:rPr lang="en-US" altLang="zh-CN">
                          <a:latin typeface="微软雅黑" panose="020B0503020204020204" pitchFamily="34" charset="-122"/>
                          <a:ea typeface="微软雅黑" panose="020B0503020204020204" pitchFamily="34" charset="-122"/>
                        </a:rPr>
                        <a:t>1</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BA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15</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15</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30</a:t>
                      </a:r>
                      <a:endParaRPr lang="en-US" altLang="zh-CN">
                        <a:latin typeface="微软雅黑" panose="020B0503020204020204" pitchFamily="34" charset="-122"/>
                        <a:ea typeface="微软雅黑" panose="020B0503020204020204" pitchFamily="34" charset="-122"/>
                      </a:endParaRPr>
                    </a:p>
                  </a:txBody>
                  <a:tcPr anchor="ctr" anchorCtr="1"/>
                </a:tc>
              </a:tr>
              <a:tr h="699770">
                <a:tc>
                  <a:txBody>
                    <a:bodyPr/>
                    <a:p>
                      <a:pPr>
                        <a:buNone/>
                      </a:pPr>
                      <a:r>
                        <a:rPr lang="en-US" altLang="zh-CN">
                          <a:latin typeface="微软雅黑" panose="020B0503020204020204" pitchFamily="34" charset="-122"/>
                          <a:ea typeface="微软雅黑" panose="020B0503020204020204" pitchFamily="34" charset="-122"/>
                        </a:rPr>
                        <a:t>2</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DA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5</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r>
              <a:tr h="699770">
                <a:tc>
                  <a:txBody>
                    <a:bodyPr/>
                    <a:p>
                      <a:pPr>
                        <a:buNone/>
                      </a:pPr>
                      <a:r>
                        <a:rPr lang="en-US" altLang="zh-CN">
                          <a:latin typeface="微软雅黑" panose="020B0503020204020204" pitchFamily="34" charset="-122"/>
                          <a:ea typeface="微软雅黑" panose="020B0503020204020204" pitchFamily="34" charset="-122"/>
                        </a:rPr>
                        <a:t>3</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AA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0</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r>
              <a:tr h="699770">
                <a:tc>
                  <a:txBody>
                    <a:bodyPr/>
                    <a:p>
                      <a:pPr>
                        <a:buNone/>
                      </a:pPr>
                      <a:r>
                        <a:rPr lang="en-US" altLang="zh-CN">
                          <a:latin typeface="微软雅黑" panose="020B0503020204020204" pitchFamily="34" charset="-122"/>
                          <a:ea typeface="微软雅黑" panose="020B0503020204020204" pitchFamily="34" charset="-122"/>
                        </a:rPr>
                        <a:t>4</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TA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15</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r>
              <a:tr h="699770">
                <a:tc>
                  <a:txBody>
                    <a:bodyPr/>
                    <a:p>
                      <a:pPr>
                        <a:buNone/>
                      </a:pPr>
                      <a:r>
                        <a:rPr lang="zh-CN" altLang="en-US">
                          <a:latin typeface="微软雅黑" panose="020B0503020204020204" pitchFamily="34" charset="-122"/>
                          <a:ea typeface="微软雅黑" panose="020B0503020204020204" pitchFamily="34" charset="-122"/>
                        </a:rPr>
                        <a:t>合计</a:t>
                      </a: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4A</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r>
                        <a:rPr lang="en-US" altLang="zh-CN">
                          <a:latin typeface="微软雅黑" panose="020B0503020204020204" pitchFamily="34" charset="-122"/>
                          <a:ea typeface="微软雅黑" panose="020B0503020204020204" pitchFamily="34" charset="-122"/>
                        </a:rPr>
                        <a:t>35</a:t>
                      </a:r>
                      <a:endParaRPr lang="en-US" altLang="zh-CN">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c>
                  <a:txBody>
                    <a:bodyPr/>
                    <a:p>
                      <a:pPr>
                        <a:buNone/>
                      </a:pPr>
                      <a:endParaRPr lang="zh-CN" altLang="en-US">
                        <a:latin typeface="微软雅黑" panose="020B0503020204020204" pitchFamily="34" charset="-122"/>
                        <a:ea typeface="微软雅黑" panose="020B0503020204020204" pitchFamily="34" charset="-122"/>
                      </a:endParaRPr>
                    </a:p>
                  </a:txBody>
                  <a:tcPr anchor="ctr" anchorCtr="1"/>
                </a:tc>
              </a:tr>
            </a:tbl>
          </a:graphicData>
        </a:graphic>
      </p:graphicFrame>
      <p:sp>
        <p:nvSpPr>
          <p:cNvPr id="5" name="文本框 4"/>
          <p:cNvSpPr txBox="1"/>
          <p:nvPr/>
        </p:nvSpPr>
        <p:spPr>
          <a:xfrm>
            <a:off x="8488680" y="5670550"/>
            <a:ext cx="1861820" cy="349250"/>
          </a:xfrm>
          <a:prstGeom prst="rect">
            <a:avLst/>
          </a:prstGeom>
          <a:noFill/>
        </p:spPr>
        <p:txBody>
          <a:bodyPr wrap="square" rtlCol="0" anchor="t">
            <a:spAutoFit/>
          </a:bodyPr>
          <a:p>
            <a:pPr indent="0" algn="ctr" fontAlgn="auto">
              <a:lnSpc>
                <a:spcPct val="120000"/>
              </a:lnSpc>
              <a:spcBef>
                <a:spcPts val="0"/>
              </a:spcBef>
              <a:buFont typeface="Arial" panose="020B0604020202020204" pitchFamily="34" charset="0"/>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截止</a:t>
            </a: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2026/06/24</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p:txBody>
          <a:bodyPr/>
          <a:p>
            <a:endParaRPr lang="zh-CN" altLang="en-US"/>
          </a:p>
        </p:txBody>
      </p:sp>
      <p:sp>
        <p:nvSpPr>
          <p:cNvPr id="6" name="文本占位符 5"/>
          <p:cNvSpPr>
            <a:spLocks noGrp="1"/>
          </p:cNvSpPr>
          <p:nvPr>
            <p:ph type="body" sz="half" idx="2"/>
            <p:custDataLst>
              <p:tags r:id="rId2"/>
            </p:custDataLst>
          </p:nvPr>
        </p:nvSpPr>
        <p:spPr/>
        <p:txBody>
          <a:bodyPr/>
          <a:p>
            <a:endParaRPr lang="zh-CN" altLang="en-US"/>
          </a:p>
        </p:txBody>
      </p:sp>
      <p:pic>
        <p:nvPicPr>
          <p:cNvPr id="2" name="图片 1" descr="封"/>
          <p:cNvPicPr>
            <a:picLocks noChangeAspect="1"/>
          </p:cNvPicPr>
          <p:nvPr/>
        </p:nvPicPr>
        <p:blipFill>
          <a:blip r:embed="rId3"/>
          <a:stretch>
            <a:fillRect/>
          </a:stretch>
        </p:blipFill>
        <p:spPr>
          <a:xfrm>
            <a:off x="0" y="0"/>
            <a:ext cx="12192000" cy="6858000"/>
          </a:xfrm>
          <a:prstGeom prst="rect">
            <a:avLst/>
          </a:prstGeom>
        </p:spPr>
      </p:pic>
      <p:sp>
        <p:nvSpPr>
          <p:cNvPr id="7" name="矩形 6"/>
          <p:cNvSpPr/>
          <p:nvPr/>
        </p:nvSpPr>
        <p:spPr>
          <a:xfrm>
            <a:off x="-635" y="0"/>
            <a:ext cx="12192635" cy="6858635"/>
          </a:xfrm>
          <a:prstGeom prst="rect">
            <a:avLst/>
          </a:prstGeom>
          <a:solidFill>
            <a:schemeClr val="bg1">
              <a:alpha val="59000"/>
            </a:schemeClr>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solidFill>
                <a:schemeClr val="tx1"/>
              </a:solidFill>
            </a:endParaRPr>
          </a:p>
        </p:txBody>
      </p:sp>
      <p:sp>
        <p:nvSpPr>
          <p:cNvPr id="67" name="TextBox 1"/>
          <p:cNvSpPr txBox="1"/>
          <p:nvPr/>
        </p:nvSpPr>
        <p:spPr>
          <a:xfrm>
            <a:off x="1687093" y="3245545"/>
            <a:ext cx="9283903" cy="1568450"/>
          </a:xfrm>
          <a:prstGeom prst="rect">
            <a:avLst/>
          </a:prstGeom>
          <a:noFill/>
        </p:spPr>
        <p:txBody>
          <a:bodyPr wrap="square">
            <a:spAutoFit/>
          </a:bodyPr>
          <a:lstStyle/>
          <a:p>
            <a:pPr algn="ctr"/>
            <a:r>
              <a:rPr lang="zh-CN" altLang="id-ID" sz="9600" b="1" dirty="0">
                <a:solidFill>
                  <a:srgbClr val="EC6D2A"/>
                </a:solidFill>
                <a:latin typeface="微软雅黑" panose="020B0503020204020204" pitchFamily="34" charset="-122"/>
                <a:ea typeface="微软雅黑" panose="020B0503020204020204" pitchFamily="34" charset="-122"/>
                <a:cs typeface="Saturday Sans Regular" panose="02010600010101010101" charset="-122"/>
              </a:rPr>
              <a:t>谢</a:t>
            </a:r>
            <a:r>
              <a:rPr lang="en-US" altLang="zh-CN" sz="9600" b="1" dirty="0">
                <a:solidFill>
                  <a:srgbClr val="EC6D2A"/>
                </a:solidFill>
                <a:latin typeface="微软雅黑" panose="020B0503020204020204" pitchFamily="34" charset="-122"/>
                <a:ea typeface="微软雅黑" panose="020B0503020204020204" pitchFamily="34" charset="-122"/>
                <a:cs typeface="Saturday Sans Regular" panose="02010600010101010101" charset="-122"/>
              </a:rPr>
              <a:t> </a:t>
            </a:r>
            <a:r>
              <a:rPr lang="zh-CN" altLang="id-ID" sz="9600" b="1" dirty="0">
                <a:solidFill>
                  <a:srgbClr val="EC6D2A"/>
                </a:solidFill>
                <a:latin typeface="微软雅黑" panose="020B0503020204020204" pitchFamily="34" charset="-122"/>
                <a:ea typeface="微软雅黑" panose="020B0503020204020204" pitchFamily="34" charset="-122"/>
                <a:cs typeface="Saturday Sans Regular" panose="02010600010101010101" charset="-122"/>
              </a:rPr>
              <a:t>谢！</a:t>
            </a:r>
            <a:endParaRPr lang="zh-CN" altLang="id-ID" sz="9600" b="1" dirty="0">
              <a:solidFill>
                <a:srgbClr val="EC6D2A"/>
              </a:solidFill>
              <a:latin typeface="微软雅黑" panose="020B0503020204020204" pitchFamily="34" charset="-122"/>
              <a:ea typeface="微软雅黑" panose="020B0503020204020204" pitchFamily="34" charset="-122"/>
              <a:cs typeface="Saturday Sans Regular" panose="02010600010101010101" charset="-122"/>
            </a:endParaRPr>
          </a:p>
        </p:txBody>
      </p:sp>
      <p:pic>
        <p:nvPicPr>
          <p:cNvPr id="9" name="图片 8" descr="1-1"/>
          <p:cNvPicPr>
            <a:picLocks noChangeAspect="1"/>
          </p:cNvPicPr>
          <p:nvPr/>
        </p:nvPicPr>
        <p:blipFill>
          <a:blip r:embed="rId4"/>
          <a:stretch>
            <a:fillRect/>
          </a:stretch>
        </p:blipFill>
        <p:spPr>
          <a:xfrm>
            <a:off x="-133350" y="-381000"/>
            <a:ext cx="3481705" cy="1958975"/>
          </a:xfrm>
          <a:prstGeom prst="rect">
            <a:avLst/>
          </a:prstGeom>
        </p:spPr>
      </p:pic>
      <p:pic>
        <p:nvPicPr>
          <p:cNvPr id="10" name="图片 9" descr="b00f5286384adb97f19ad534450ad1d"/>
          <p:cNvPicPr>
            <a:picLocks noChangeAspect="1"/>
          </p:cNvPicPr>
          <p:nvPr/>
        </p:nvPicPr>
        <p:blipFill>
          <a:blip r:embed="rId5"/>
          <a:stretch>
            <a:fillRect/>
          </a:stretch>
        </p:blipFill>
        <p:spPr>
          <a:xfrm>
            <a:off x="2622550" y="1690370"/>
            <a:ext cx="6651625" cy="1096010"/>
          </a:xfrm>
          <a:prstGeom prst="rect">
            <a:avLst/>
          </a:prstGeom>
        </p:spPr>
      </p:pic>
    </p:spTree>
    <p:custDataLst>
      <p:tags r:id="rId6"/>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5.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AICARD_INVALID" val="Invalid"/>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69.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0.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1.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2.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3.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4.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5.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6.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7.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8.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79.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2.xml><?xml version="1.0" encoding="utf-8"?>
<p:tagLst xmlns:p="http://schemas.openxmlformats.org/presentationml/2006/main">
  <p:tag name="KSO_WM_AICARD_INVALID" val="Invalid"/>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AICARD_INVALID" val="Invalid"/>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AICARD_INVALID" val="Invalid"/>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8.xml><?xml version="1.0" encoding="utf-8"?>
<p:tagLst xmlns:p="http://schemas.openxmlformats.org/presentationml/2006/main">
  <p:tag name="KSO_WM_AICARD_INVALID" val="Invalid"/>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AICARD_INVALID" val="Invalid"/>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AICARD_INVALID" val="Invalid"/>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3.xml><?xml version="1.0" encoding="utf-8"?>
<p:tagLst xmlns:p="http://schemas.openxmlformats.org/presentationml/2006/main">
  <p:tag name="KSO_WM_AICARD_INVALID" val="Invalid"/>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5.xml><?xml version="1.0" encoding="utf-8"?>
<p:tagLst xmlns:p="http://schemas.openxmlformats.org/presentationml/2006/main">
  <p:tag name="KSO_WM_AICARD_INVALID" val="Invalid"/>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AICARD_INVALID" val="Invalid"/>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AICARD_INVALID" val="Invalid"/>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1.xml><?xml version="1.0" encoding="utf-8"?>
<p:tagLst xmlns:p="http://schemas.openxmlformats.org/presentationml/2006/main">
  <p:tag name="KSO_WM_AICARD_INVALID" val="Invalid"/>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3.xml><?xml version="1.0" encoding="utf-8"?>
<p:tagLst xmlns:p="http://schemas.openxmlformats.org/presentationml/2006/main">
  <p:tag name="KSO_WM_AICARD_INVALID" val="Invalid"/>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5.xml><?xml version="1.0" encoding="utf-8"?>
<p:tagLst xmlns:p="http://schemas.openxmlformats.org/presentationml/2006/main">
  <p:tag name="KSO_WM_AICARD_INVALID" val="Invalid"/>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AICARD_INVALID" val="Invalid"/>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0.xml><?xml version="1.0" encoding="utf-8"?>
<p:tagLst xmlns:p="http://schemas.openxmlformats.org/presentationml/2006/main">
  <p:tag name="TABLE_ENDDRAG_ORIGIN_RECT" val="900*354"/>
  <p:tag name="TABLE_ENDDRAG_RECT" val="41*79*900*354"/>
</p:tagLst>
</file>

<file path=ppt/tags/tag161.xml><?xml version="1.0" encoding="utf-8"?>
<p:tagLst xmlns:p="http://schemas.openxmlformats.org/presentationml/2006/main">
  <p:tag name="KSO_WM_AICARD_INVALID" val="Invalid"/>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3.xml><?xml version="1.0" encoding="utf-8"?>
<p:tagLst xmlns:p="http://schemas.openxmlformats.org/presentationml/2006/main">
  <p:tag name="TABLE_ENDDRAG_ORIGIN_RECT" val="878*182"/>
  <p:tag name="TABLE_ENDDRAG_RECT" val="48*76*878*182"/>
</p:tagLst>
</file>

<file path=ppt/tags/tag164.xml><?xml version="1.0" encoding="utf-8"?>
<p:tagLst xmlns:p="http://schemas.openxmlformats.org/presentationml/2006/main">
  <p:tag name="TABLE_ENDDRAG_ORIGIN_RECT" val="878*65"/>
  <p:tag name="TABLE_ENDDRAG_RECT" val="48*351*878*65"/>
</p:tagLst>
</file>

<file path=ppt/tags/tag165.xml><?xml version="1.0" encoding="utf-8"?>
<p:tagLst xmlns:p="http://schemas.openxmlformats.org/presentationml/2006/main">
  <p:tag name="TABLE_ENDDRAG_ORIGIN_RECT" val="878*57"/>
  <p:tag name="TABLE_ENDDRAG_RECT" val="48*263*878*57"/>
</p:tagLst>
</file>

<file path=ppt/tags/tag166.xml><?xml version="1.0" encoding="utf-8"?>
<p:tagLst xmlns:p="http://schemas.openxmlformats.org/presentationml/2006/main">
  <p:tag name="TABLE_ENDDRAG_ORIGIN_RECT" val="870*60"/>
  <p:tag name="TABLE_ENDDRAG_RECT" val="48*434*870*60"/>
</p:tagLst>
</file>

<file path=ppt/tags/tag167.xml><?xml version="1.0" encoding="utf-8"?>
<p:tagLst xmlns:p="http://schemas.openxmlformats.org/presentationml/2006/main">
  <p:tag name="KSO_WM_AICARD_INVALID" val="Invalid"/>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9.xml><?xml version="1.0" encoding="utf-8"?>
<p:tagLst xmlns:p="http://schemas.openxmlformats.org/presentationml/2006/main">
  <p:tag name="TABLE_ENDDRAG_ORIGIN_RECT" val="838*211"/>
  <p:tag name="TABLE_ENDDRAG_RECT" val="41*76*838*211"/>
</p:tagLst>
</file>

<file path=ppt/tags/tag170.xml><?xml version="1.0" encoding="utf-8"?>
<p:tagLst xmlns:p="http://schemas.openxmlformats.org/presentationml/2006/main">
  <p:tag name="KSO_WM_AICARD_INVALID" val="Invalid"/>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2.xml><?xml version="1.0" encoding="utf-8"?>
<p:tagLst xmlns:p="http://schemas.openxmlformats.org/presentationml/2006/main">
  <p:tag name="TABLE_ENDDRAG_ORIGIN_RECT" val="846*176"/>
  <p:tag name="TABLE_ENDDRAG_RECT" val="45*74*846*176"/>
</p:tagLst>
</file>

<file path=ppt/tags/tag173.xml><?xml version="1.0" encoding="utf-8"?>
<p:tagLst xmlns:p="http://schemas.openxmlformats.org/presentationml/2006/main">
  <p:tag name="TABLE_ENDDRAG_ORIGIN_RECT" val="846*176"/>
  <p:tag name="TABLE_ENDDRAG_RECT" val="45*74*846*176"/>
</p:tagLst>
</file>

<file path=ppt/tags/tag174.xml><?xml version="1.0" encoding="utf-8"?>
<p:tagLst xmlns:p="http://schemas.openxmlformats.org/presentationml/2006/main">
  <p:tag name="KSO_WM_AICARD_INVALID" val="Invalid"/>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6.xml><?xml version="1.0" encoding="utf-8"?>
<p:tagLst xmlns:p="http://schemas.openxmlformats.org/presentationml/2006/main">
  <p:tag name="TABLE_ENDDRAG_ORIGIN_RECT" val="862*321"/>
  <p:tag name="TABLE_ENDDRAG_RECT" val="45*93*862*321"/>
</p:tagLst>
</file>

<file path=ppt/tags/tag177.xml><?xml version="1.0" encoding="utf-8"?>
<p:tagLst xmlns:p="http://schemas.openxmlformats.org/presentationml/2006/main">
  <p:tag name="KSO_WM_AICARD_INVALID" val="Invalid"/>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9.xml><?xml version="1.0" encoding="utf-8"?>
<p:tagLst xmlns:p="http://schemas.openxmlformats.org/presentationml/2006/main">
  <p:tag name="TABLE_ENDDRAG_ORIGIN_RECT" val="862*321"/>
  <p:tag name="TABLE_ENDDRAG_RECT" val="45*93*862*321"/>
</p:tagLst>
</file>

<file path=ppt/tags/tag180.xml><?xml version="1.0" encoding="utf-8"?>
<p:tagLst xmlns:p="http://schemas.openxmlformats.org/presentationml/2006/main">
  <p:tag name="KSO_WM_AICARD_INVALID" val="Invalid"/>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2.xml><?xml version="1.0" encoding="utf-8"?>
<p:tagLst xmlns:p="http://schemas.openxmlformats.org/presentationml/2006/main">
  <p:tag name="TABLE_ENDDRAG_ORIGIN_RECT" val="813*379"/>
  <p:tag name="TABLE_ENDDRAG_RECT" val="50*84*813*379"/>
</p:tagLst>
</file>

<file path=ppt/tags/tag183.xml><?xml version="1.0" encoding="utf-8"?>
<p:tagLst xmlns:p="http://schemas.openxmlformats.org/presentationml/2006/main">
  <p:tag name="KSO_WM_AICARD_INVALID" val="Invalid"/>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5.xml><?xml version="1.0" encoding="utf-8"?>
<p:tagLst xmlns:p="http://schemas.openxmlformats.org/presentationml/2006/main">
  <p:tag name="TABLE_ENDDRAG_ORIGIN_RECT" val="862*321"/>
  <p:tag name="TABLE_ENDDRAG_RECT" val="45*93*862*321"/>
</p:tagLst>
</file>

<file path=ppt/tags/tag186.xml><?xml version="1.0" encoding="utf-8"?>
<p:tagLst xmlns:p="http://schemas.openxmlformats.org/presentationml/2006/main">
  <p:tag name="KSO_WM_AICARD_INVALID" val="Invalid"/>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p="http://schemas.openxmlformats.org/presentationml/2006/main">
  <p:tag name="TABLE_ENDDRAG_ORIGIN_RECT" val="846*176"/>
  <p:tag name="TABLE_ENDDRAG_RECT" val="45*74*846*176"/>
</p:tagLst>
</file>

<file path=ppt/tags/tag189.xml><?xml version="1.0" encoding="utf-8"?>
<p:tagLst xmlns:p="http://schemas.openxmlformats.org/presentationml/2006/main">
  <p:tag name="KSO_WM_AICARD_INVALID" val="Invalid"/>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1.xml><?xml version="1.0" encoding="utf-8"?>
<p:tagLst xmlns:p="http://schemas.openxmlformats.org/presentationml/2006/main">
  <p:tag name="TABLE_ENDDRAG_ORIGIN_RECT" val="846*176"/>
  <p:tag name="TABLE_ENDDRAG_RECT" val="45*74*846*176"/>
</p:tagLst>
</file>

<file path=ppt/tags/tag192.xml><?xml version="1.0" encoding="utf-8"?>
<p:tagLst xmlns:p="http://schemas.openxmlformats.org/presentationml/2006/main">
  <p:tag name="KSO_WM_AICARD_INVALID" val="Invalid"/>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4.xml><?xml version="1.0" encoding="utf-8"?>
<p:tagLst xmlns:p="http://schemas.openxmlformats.org/presentationml/2006/main">
  <p:tag name="KSO_WM_AICARD_INVALID" val="Invalid"/>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6.xml><?xml version="1.0" encoding="utf-8"?>
<p:tagLst xmlns:p="http://schemas.openxmlformats.org/presentationml/2006/main">
  <p:tag name="TABLE_ENDDRAG_ORIGIN_RECT" val="846*176"/>
  <p:tag name="TABLE_ENDDRAG_RECT" val="45*74*846*176"/>
</p:tagLst>
</file>

<file path=ppt/tags/tag197.xml><?xml version="1.0" encoding="utf-8"?>
<p:tagLst xmlns:p="http://schemas.openxmlformats.org/presentationml/2006/main">
  <p:tag name="KSO_WM_AICARD_INVALID" val="Invalid"/>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9.xml><?xml version="1.0" encoding="utf-8"?>
<p:tagLst xmlns:p="http://schemas.openxmlformats.org/presentationml/2006/main">
  <p:tag name="TABLE_ENDDRAG_ORIGIN_RECT" val="846*176"/>
  <p:tag name="TABLE_ENDDRAG_RECT" val="45*74*846*176"/>
</p:tagLst>
</file>

<file path=ppt/tags/tag200.xml><?xml version="1.0" encoding="utf-8"?>
<p:tagLst xmlns:p="http://schemas.openxmlformats.org/presentationml/2006/main">
  <p:tag name="KSO_WM_AICARD_INVALID" val="Invalid"/>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2.xml><?xml version="1.0" encoding="utf-8"?>
<p:tagLst xmlns:p="http://schemas.openxmlformats.org/presentationml/2006/main">
  <p:tag name="TABLE_ENDDRAG_ORIGIN_RECT" val="846*176"/>
  <p:tag name="TABLE_ENDDRAG_RECT" val="45*74*846*176"/>
</p:tagLst>
</file>

<file path=ppt/tags/tag203.xml><?xml version="1.0" encoding="utf-8"?>
<p:tagLst xmlns:p="http://schemas.openxmlformats.org/presentationml/2006/main">
  <p:tag name="KSO_WM_AICARD_INVALID" val="Invalid"/>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5.xml><?xml version="1.0" encoding="utf-8"?>
<p:tagLst xmlns:p="http://schemas.openxmlformats.org/presentationml/2006/main">
  <p:tag name="TABLE_ENDDRAG_ORIGIN_RECT" val="846*176"/>
  <p:tag name="TABLE_ENDDRAG_RECT" val="45*74*846*176"/>
</p:tagLst>
</file>

<file path=ppt/tags/tag206.xml><?xml version="1.0" encoding="utf-8"?>
<p:tagLst xmlns:p="http://schemas.openxmlformats.org/presentationml/2006/main">
  <p:tag name="KSO_WM_AICARD_INVALID" val="Invalid"/>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8.xml><?xml version="1.0" encoding="utf-8"?>
<p:tagLst xmlns:p="http://schemas.openxmlformats.org/presentationml/2006/main">
  <p:tag name="TABLE_ENDDRAG_ORIGIN_RECT" val="846*176"/>
  <p:tag name="TABLE_ENDDRAG_RECT" val="45*74*846*176"/>
</p:tagLst>
</file>

<file path=ppt/tags/tag209.xml><?xml version="1.0" encoding="utf-8"?>
<p:tagLst xmlns:p="http://schemas.openxmlformats.org/presentationml/2006/main">
  <p:tag name="KSO_WM_AICARD_INVALID" val="Invalid"/>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1.xml><?xml version="1.0" encoding="utf-8"?>
<p:tagLst xmlns:p="http://schemas.openxmlformats.org/presentationml/2006/main">
  <p:tag name="TABLE_ENDDRAG_ORIGIN_RECT" val="846*176"/>
  <p:tag name="TABLE_ENDDRAG_RECT" val="45*74*846*176"/>
</p:tagLst>
</file>

<file path=ppt/tags/tag212.xml><?xml version="1.0" encoding="utf-8"?>
<p:tagLst xmlns:p="http://schemas.openxmlformats.org/presentationml/2006/main">
  <p:tag name="KSO_WM_AICARD_INVALID" val="Invalid"/>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4.xml><?xml version="1.0" encoding="utf-8"?>
<p:tagLst xmlns:p="http://schemas.openxmlformats.org/presentationml/2006/main">
  <p:tag name="TABLE_ENDDRAG_ORIGIN_RECT" val="846*176"/>
  <p:tag name="TABLE_ENDDRAG_RECT" val="45*74*846*176"/>
</p:tagLst>
</file>

<file path=ppt/tags/tag215.xml><?xml version="1.0" encoding="utf-8"?>
<p:tagLst xmlns:p="http://schemas.openxmlformats.org/presentationml/2006/main">
  <p:tag name="KSO_WM_AICARD_INVALID" val="Invalid"/>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7.xml><?xml version="1.0" encoding="utf-8"?>
<p:tagLst xmlns:p="http://schemas.openxmlformats.org/presentationml/2006/main">
  <p:tag name="TABLE_ENDDRAG_ORIGIN_RECT" val="846*176"/>
  <p:tag name="TABLE_ENDDRAG_RECT" val="45*74*846*176"/>
</p:tagLst>
</file>

<file path=ppt/tags/tag218.xml><?xml version="1.0" encoding="utf-8"?>
<p:tagLst xmlns:p="http://schemas.openxmlformats.org/presentationml/2006/main">
  <p:tag name="KSO_WM_AICARD_INVALID" val="Invalid"/>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0.xml><?xml version="1.0" encoding="utf-8"?>
<p:tagLst xmlns:p="http://schemas.openxmlformats.org/presentationml/2006/main">
  <p:tag name="KSO_WM_AICARD_INVALID" val="Invalid"/>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2.xml><?xml version="1.0" encoding="utf-8"?>
<p:tagLst xmlns:p="http://schemas.openxmlformats.org/presentationml/2006/main">
  <p:tag name="TABLE_ENDDRAG_ORIGIN_RECT" val="846*176"/>
  <p:tag name="TABLE_ENDDRAG_RECT" val="45*74*846*176"/>
</p:tagLst>
</file>

<file path=ppt/tags/tag223.xml><?xml version="1.0" encoding="utf-8"?>
<p:tagLst xmlns:p="http://schemas.openxmlformats.org/presentationml/2006/main">
  <p:tag name="KSO_WM_AICARD_INVALID" val="Invalid"/>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5.xml><?xml version="1.0" encoding="utf-8"?>
<p:tagLst xmlns:p="http://schemas.openxmlformats.org/presentationml/2006/main">
  <p:tag name="TABLE_ENDDRAG_ORIGIN_RECT" val="846*176"/>
  <p:tag name="TABLE_ENDDRAG_RECT" val="45*74*846*176"/>
</p:tagLst>
</file>

<file path=ppt/tags/tag226.xml><?xml version="1.0" encoding="utf-8"?>
<p:tagLst xmlns:p="http://schemas.openxmlformats.org/presentationml/2006/main">
  <p:tag name="KSO_WM_AICARD_INVALID" val="Invalid"/>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8.xml><?xml version="1.0" encoding="utf-8"?>
<p:tagLst xmlns:p="http://schemas.openxmlformats.org/presentationml/2006/main">
  <p:tag name="KSO_WM_AICARD_INVALID" val="Invalid"/>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TABLE_ENDDRAG_ORIGIN_RECT" val="739*347"/>
  <p:tag name="TABLE_ENDDRAG_RECT" val="59*86*739*347"/>
</p:tagLst>
</file>

<file path=ppt/tags/tag300.xml><?xml version="1.0" encoding="utf-8"?>
<p:tagLst xmlns:p="http://schemas.openxmlformats.org/presentationml/2006/main">
  <p:tag name="TABLE_ENDDRAG_ORIGIN_RECT" val="739*330"/>
  <p:tag name="TABLE_ENDDRAG_RECT" val="76*109*739*330"/>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3.xml><?xml version="1.0" encoding="utf-8"?>
<p:tagLst xmlns:p="http://schemas.openxmlformats.org/presentationml/2006/main">
  <p:tag name="KSO_WM_AICARD_INVALID" val="Invalid"/>
</p:tagLst>
</file>

<file path=ppt/tags/tag304.xml><?xml version="1.0" encoding="utf-8"?>
<p:tagLst xmlns:p="http://schemas.openxmlformats.org/presentationml/2006/main">
  <p:tag name="KSO_WPP_MARK_KEY" val="42302ca7-c949-4c1d-b20a-34bb7816507a"/>
  <p:tag name="COMMONDATA" val="eyJoZGlkIjoiOGYxNjM0Y2IyNGQ2NDE1ZmI2NGZiMjk2ZmY5MzVlODEifQ=="/>
  <p:tag name="resource_record_key" val="{&quot;10&quot;:[50063272],&quot;70&quot;:[3331500]}"/>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lang="zh-CN" altLang="en-US" sz="1400">
            <a:solidFill>
              <a:schemeClr val="tx1"/>
            </a:solidFill>
          </a:defRPr>
        </a:defPPr>
      </a:lstStyle>
      <a:style>
        <a:lnRef idx="2">
          <a:schemeClr val="accent1"/>
        </a:lnRef>
        <a:fillRef idx="0">
          <a:srgbClr val="FFFFFF"/>
        </a:fillRef>
        <a:effectRef idx="0">
          <a:srgbClr val="FFFFFF"/>
        </a:effectRef>
        <a:fontRef idx="minor">
          <a:schemeClr val="tx1"/>
        </a:fontRef>
      </a:style>
    </a:spDef>
    <a:lnDef>
      <a:spPr>
        <a:ln>
          <a:solidFill>
            <a:schemeClr val="tx1">
              <a:lumMod val="65000"/>
              <a:lumOff val="35000"/>
            </a:schemeClr>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chor="t">
        <a:spAutoFit/>
      </a:bodyPr>
      <a:lstStyle>
        <a:defPPr marL="285750" indent="-285750" fontAlgn="auto">
          <a:lnSpc>
            <a:spcPct val="120000"/>
          </a:lnSpc>
          <a:spcBef>
            <a:spcPts val="0"/>
          </a:spcBef>
          <a:buFont typeface="Arial" panose="020B0604020202020204" pitchFamily="34" charset="0"/>
          <a:buChar char="•"/>
          <a:defRPr lang="zh-CN" altLang="en-US" sz="140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0000">
            <a:alpha val="0"/>
          </a:srgbClr>
        </a:solidFill>
        <a:ln>
          <a:solidFill>
            <a:schemeClr val="bg1">
              <a:lumMod val="65000"/>
            </a:schemeClr>
          </a:solidFill>
        </a:ln>
      </a:spPr>
      <a:bodyPr rtlCol="0" anchor="ctr"/>
      <a:lstStyle>
        <a:defPPr algn="ctr">
          <a:def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65000"/>
              <a:lumOff val="35000"/>
            </a:schemeClr>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chor="t">
        <a:spAutoFit/>
      </a:bodyPr>
      <a:lstStyle>
        <a:defPPr indent="0" fontAlgn="auto">
          <a:lnSpc>
            <a:spcPct val="290000"/>
          </a:lnSpc>
          <a:spcBef>
            <a:spcPts val="0"/>
          </a:spcBef>
          <a:buFont typeface="Arial" panose="020B0604020202020204" pitchFamily="34" charset="0"/>
          <a:buNone/>
          <a:defRPr lang="zh-CN" altLang="en-US" sz="1400" b="1">
            <a:solidFill>
              <a:srgbClr val="191B1F"/>
            </a:solidFill>
            <a:latin typeface="+mn-ea"/>
            <a:cs typeface="+mn-ea"/>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lang="zh-CN" altLang="en-US" sz="1400">
            <a:solidFill>
              <a:schemeClr val="tx1"/>
            </a:solidFill>
          </a:defRPr>
        </a:defPPr>
      </a:lstStyle>
      <a:style>
        <a:lnRef idx="2">
          <a:schemeClr val="accent1"/>
        </a:lnRef>
        <a:fillRef idx="0">
          <a:srgbClr val="FFFFFF"/>
        </a:fillRef>
        <a:effectRef idx="0">
          <a:srgbClr val="FFFFFF"/>
        </a:effectRef>
        <a:fontRef idx="minor">
          <a:schemeClr val="tx1"/>
        </a:fontRef>
      </a:style>
    </a:spDef>
    <a:lnDef>
      <a:spPr>
        <a:ln>
          <a:solidFill>
            <a:schemeClr val="tx1">
              <a:lumMod val="65000"/>
              <a:lumOff val="35000"/>
            </a:schemeClr>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chor="t">
        <a:spAutoFit/>
      </a:bodyPr>
      <a:lstStyle>
        <a:defPPr marL="285750" indent="-285750" fontAlgn="auto">
          <a:lnSpc>
            <a:spcPct val="120000"/>
          </a:lnSpc>
          <a:spcBef>
            <a:spcPts val="0"/>
          </a:spcBef>
          <a:buFont typeface="Arial" panose="020B0604020202020204" pitchFamily="34" charset="0"/>
          <a:buChar char="•"/>
          <a:defRPr lang="zh-CN" altLang="en-US" sz="140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lang="zh-CN" altLang="en-US" sz="1400">
            <a:solidFill>
              <a:schemeClr val="tx1"/>
            </a:solidFill>
          </a:defRPr>
        </a:defPPr>
      </a:lstStyle>
      <a:style>
        <a:lnRef idx="2">
          <a:schemeClr val="accent1"/>
        </a:lnRef>
        <a:fillRef idx="0">
          <a:srgbClr val="FFFFFF"/>
        </a:fillRef>
        <a:effectRef idx="0">
          <a:srgbClr val="FFFFFF"/>
        </a:effectRef>
        <a:fontRef idx="minor">
          <a:schemeClr val="tx1"/>
        </a:fontRef>
      </a:style>
    </a:spDef>
    <a:lnDef>
      <a:spPr>
        <a:ln>
          <a:solidFill>
            <a:schemeClr val="tx1">
              <a:lumMod val="65000"/>
              <a:lumOff val="35000"/>
            </a:schemeClr>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chor="t">
        <a:spAutoFit/>
      </a:bodyPr>
      <a:lstStyle>
        <a:defPPr marL="285750" indent="-285750" fontAlgn="auto">
          <a:lnSpc>
            <a:spcPct val="120000"/>
          </a:lnSpc>
          <a:spcBef>
            <a:spcPts val="0"/>
          </a:spcBef>
          <a:buFont typeface="Arial" panose="020B0604020202020204" pitchFamily="34" charset="0"/>
          <a:buChar char="•"/>
          <a:defRPr lang="zh-CN" altLang="en-US" sz="140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29948</Words>
  <Application>WPS 演示</Application>
  <PresentationFormat>宽屏</PresentationFormat>
  <Paragraphs>5676</Paragraphs>
  <Slides>72</Slides>
  <Notes>6</Notes>
  <HiddenSlides>0</HiddenSlides>
  <MMClips>0</MMClips>
  <ScaleCrop>false</ScaleCrop>
  <HeadingPairs>
    <vt:vector size="8" baseType="variant">
      <vt:variant>
        <vt:lpstr>已用的字体</vt:lpstr>
      </vt:variant>
      <vt:variant>
        <vt:i4>17</vt:i4>
      </vt:variant>
      <vt:variant>
        <vt:lpstr>主题</vt:lpstr>
      </vt:variant>
      <vt:variant>
        <vt:i4>5</vt:i4>
      </vt:variant>
      <vt:variant>
        <vt:lpstr>嵌入 OLE 服务器</vt:lpstr>
      </vt:variant>
      <vt:variant>
        <vt:i4>7</vt:i4>
      </vt:variant>
      <vt:variant>
        <vt:lpstr>幻灯片标题</vt:lpstr>
      </vt:variant>
      <vt:variant>
        <vt:i4>72</vt:i4>
      </vt:variant>
    </vt:vector>
  </HeadingPairs>
  <TitlesOfParts>
    <vt:vector size="101" baseType="lpstr">
      <vt:lpstr>Arial</vt:lpstr>
      <vt:lpstr>宋体</vt:lpstr>
      <vt:lpstr>Wingdings</vt:lpstr>
      <vt:lpstr>微软雅黑</vt:lpstr>
      <vt:lpstr>Wingdings</vt:lpstr>
      <vt:lpstr>等线</vt:lpstr>
      <vt:lpstr>Poppins</vt:lpstr>
      <vt:lpstr>FontName</vt:lpstr>
      <vt:lpstr>Arial</vt:lpstr>
      <vt:lpstr>Open Sans</vt:lpstr>
      <vt:lpstr>Segoe Print</vt:lpstr>
      <vt:lpstr>Arial Unicode MS</vt:lpstr>
      <vt:lpstr>微软雅黑 Light</vt:lpstr>
      <vt:lpstr>Calibri</vt:lpstr>
      <vt:lpstr>黑体</vt:lpstr>
      <vt:lpstr>Segoe UI</vt:lpstr>
      <vt:lpstr>Saturday Sans Regular</vt:lpstr>
      <vt:lpstr>Office 主题​​</vt:lpstr>
      <vt:lpstr>3_Office 主题​​</vt:lpstr>
      <vt:lpstr>1_Office 主题​​</vt:lpstr>
      <vt:lpstr>2_Office 主题​​</vt:lpstr>
      <vt:lpstr>4_Office 主题​​</vt:lpstr>
      <vt:lpstr>Excel.Sheet.12</vt:lpstr>
      <vt:lpstr>Excel.Sheet.12</vt:lpstr>
      <vt:lpstr>Excel.Sheet.12</vt:lpstr>
      <vt:lpstr>Excel.Sheet.12</vt:lpstr>
      <vt:lpstr>Excel.Sheet.12</vt:lpstr>
      <vt:lpstr>Excel.Sheet.12</vt:lpstr>
      <vt:lpstr>Excel.Sheet.12</vt:lpstr>
      <vt:lpstr>PowerPoint 演示文稿</vt:lpstr>
      <vt:lpstr>主页面-1-新建与查询功能</vt:lpstr>
      <vt:lpstr>主页面-1-查询单个需求单详情</vt:lpstr>
      <vt:lpstr>查询页面：ZK-合同/订单360项目具体实施过程-参考</vt:lpstr>
      <vt:lpstr>主页面-1-参考</vt:lpstr>
      <vt:lpstr>页面2-创建需求（对应流程步骤1）</vt:lpstr>
      <vt:lpstr>页面2-创建需求（对应流程步骤1）-续</vt:lpstr>
      <vt:lpstr>页面3-确认需求（对应流程步骤2）</vt:lpstr>
      <vt:lpstr>页面4-审核需求（对应流程步骤3）</vt:lpstr>
      <vt:lpstr>页面5-图纸解析与设计工艺转化（对应流程步骤4）</vt:lpstr>
      <vt:lpstr>页面5-图纸解析与设计工艺转化（对应流程步骤4）</vt:lpstr>
      <vt:lpstr>页面6-汇总报告（对应流程步骤10）</vt:lpstr>
      <vt:lpstr>页面7-汇总报告（对应流程步骤11&amp;12）</vt:lpstr>
      <vt:lpstr>目录</vt:lpstr>
      <vt:lpstr>技术工艺评估在业务流程中的位置</vt:lpstr>
      <vt:lpstr>技术工艺评估的被调用流程（业务集成视图）</vt:lpstr>
      <vt:lpstr>技术工艺评估涉及的流程架构（L1-L6）</vt:lpstr>
      <vt:lpstr>验证机会点流程规则（建议）</vt:lpstr>
      <vt:lpstr>验证机会点流程指标（建议）</vt:lpstr>
      <vt:lpstr>验证机会点流程KCP（建议）</vt:lpstr>
      <vt:lpstr>技术工艺评估的BA设计（AI Agent）</vt:lpstr>
      <vt:lpstr>AI工艺初步收益评估-42项任务，33项可AI完成，提效78%+</vt:lpstr>
      <vt:lpstr>AI工艺总体收益：效率提升80%+，质量提升30%+、成本降低40%+，更加合规</vt:lpstr>
      <vt:lpstr>技术工艺评估业务架构</vt:lpstr>
      <vt:lpstr>技术工艺评估业务价值流</vt:lpstr>
      <vt:lpstr>基于价值流向的业务对象识别</vt:lpstr>
      <vt:lpstr>数据架构–业务对象清单</vt:lpstr>
      <vt:lpstr>技术工艺评估业务架构</vt:lpstr>
      <vt:lpstr>数据架构–数据模型</vt:lpstr>
      <vt:lpstr>技术工艺评估业务能力架构</vt:lpstr>
      <vt:lpstr>数据架构– 数据资产目录L3 – 识别业务对象</vt:lpstr>
      <vt:lpstr>数据架构– 数据资产目录L1-L4（1/2）</vt:lpstr>
      <vt:lpstr>数据架构– 数据资产目录L1-L4（2/2）</vt:lpstr>
      <vt:lpstr>输入输出BI——接受技术工艺评估需求（1/4）</vt:lpstr>
      <vt:lpstr>输入输出BI——解析技术工艺（2/4）</vt:lpstr>
      <vt:lpstr>输入输出BI——解析技术工艺（3/4）</vt:lpstr>
      <vt:lpstr>输入输出BI——输出工艺评估结果（4/4）</vt:lpstr>
      <vt:lpstr>江丰电子智能工艺数据架构-概念模型设计</vt:lpstr>
      <vt:lpstr>江丰电子能工艺数据架构-逻辑模型设计</vt:lpstr>
      <vt:lpstr>目录</vt:lpstr>
      <vt:lpstr>技术工艺评估业务流程</vt:lpstr>
      <vt:lpstr>技术工艺评估管理流程活动简述</vt:lpstr>
      <vt:lpstr>0 技术工艺评估需求单列表</vt:lpstr>
      <vt:lpstr>1 创建工艺评估需求-对应步骤1</vt:lpstr>
      <vt:lpstr>1 创建需求（具体参见附件EXCEL）</vt:lpstr>
      <vt:lpstr>2 确认需求-对应步骤2</vt:lpstr>
      <vt:lpstr>2-1 确认需求，AI检测结果-结构化表格</vt:lpstr>
      <vt:lpstr>3 审核需求--对应步骤3</vt:lpstr>
      <vt:lpstr>3-1 审核需求，AI审核结果-结构化表格</vt:lpstr>
      <vt:lpstr>4 需求分派专业工程师</vt:lpstr>
      <vt:lpstr>5 专业可行性分析-对应步骤4</vt:lpstr>
      <vt:lpstr>5-1 专业可行性分析-图纸解析与设计工艺转化</vt:lpstr>
      <vt:lpstr>6 专业可行性分析审核</vt:lpstr>
      <vt:lpstr>7 汇总专业可行性分析报告</vt:lpstr>
      <vt:lpstr>7-1 汇总专业可行性分析报告-初稿（对应步骤10）</vt:lpstr>
      <vt:lpstr>8 审核汇总的可行性分析报告</vt:lpstr>
      <vt:lpstr>8 审核汇总的可行性分析报告-定稿（对应步骤11&amp;12）</vt:lpstr>
      <vt:lpstr>9 确认是否开发-发布</vt:lpstr>
      <vt:lpstr>1 创建结构化项目计划表</vt:lpstr>
      <vt:lpstr>1 上载交付件</vt:lpstr>
      <vt:lpstr>2 任务与交付件对应关系</vt:lpstr>
      <vt:lpstr>1 状态可视</vt:lpstr>
      <vt:lpstr>2 任务令管理</vt:lpstr>
      <vt:lpstr>3 绩效指标定义及规则</vt:lpstr>
      <vt:lpstr>目录</vt:lpstr>
      <vt:lpstr> 需求及研发计划管理应用架构</vt:lpstr>
      <vt:lpstr>产品需求管理IT集成架构</vt:lpstr>
      <vt:lpstr>产品需求管理整体操作流程</vt:lpstr>
      <vt:lpstr>1 产品需求目录</vt:lpstr>
      <vt:lpstr>初步计划（工作日）-以完成DEMO为第一期目标</vt:lpstr>
      <vt:lpstr>资源投入预估（工作日）</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硕磐智能</dc:title>
  <dc:creator>Xu Bo</dc:creator>
  <cp:lastModifiedBy>高中军</cp:lastModifiedBy>
  <cp:revision>7252</cp:revision>
  <dcterms:created xsi:type="dcterms:W3CDTF">2021-12-13T12:18:00Z</dcterms:created>
  <dcterms:modified xsi:type="dcterms:W3CDTF">2026-07-03T03:01:04Z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BBE09524BB624C03A1E796EA78E5F659_13</vt:lpwstr>
  </property>
</Properties>
</file>